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 Bapak dan Ibu juri. Kami tim BISMILLAH, dan kami mulai dari kesimpulan. Dari lima besaran energi untuk 613 ribu kawasan, 184 ribu di antaranya kami prediksi, kami menyusun urutan program untuk 330 zona: retrofit dulu di zona yang boros gas, kapasitas gardu dinilai sebelum subsidi pompa panas, dan pilot pompa panas di kawasan bergas. Model di baliknya meraih peringkat 8 di leaderboard privat dan lulus uji kebocoran.</a:t>
            </a:r>
          </a:p>
          <a:p/>
          <a:p>
            <a:r>
              <a:t>Sumber: sel 0, 25, 49, 50; Kaggle LB privat; bukti/uji_kebocoran_*.json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Mengapa masalah ini layak diselesaikan? Kota yang beralih dari pemanas gas ke pemanas listrik harus memenuhi tiga tuntutan sekaligus: emisi turun, jaringan listrik tetap andal, dan biaya tetap terjangkau. Kelima target lomba mengukur ketiganya. Hasil kami memperlihatkan risikonya. Bila seluruh pemanas gas diganti pompa panas, konsumsi listrik tahunan zona naik dengan median hampir 95 persen. Jadi pertanyaannya bukan apakah kota beralih, tetapi zona mana yang didahulukan dan dengan program apa.</a:t>
            </a:r>
          </a:p>
          <a:p/>
          <a:p>
            <a:r>
              <a:t>Sumber: sel 49, 50 (In [34], In [35])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pertama datang dari struktur data, sebelum model dilatih. Pemeriksaan di sel 25 menemukan tiga hal. Gas selalu sama dengan EUI dikali luas lantai, dengan galat setara presisi mesin, jadi satu keluarga model cukup untuk dua kolom. Porsi bangunan bersih tepat sama dengan satu rumus di seluruh baris latih, jadi dihitung, bukan ditebak. Adopsi pemanas listrik seragam dalam satu subzona, dan 91,86 persen kawasan uji berada di subzona yang sudah dikenal. Model besar hanya dibutuhkan untuk gas, EUI, dan listrik.</a:t>
            </a:r>
          </a:p>
          <a:p/>
          <a:p>
            <a:r>
              <a:t>Sumber: sel 25 (In [22])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Fitur fisik terkuat kami sangat sederhana: luas lantai dibagi jumlah meteran, kira-kira luas rata-rata satu rumah. Gas total sebuah kawasan terutama ditentukan oleh banyaknya rumah, sedangkan ukuran rumah menentukan cara energi dipakai. Pada model penjelas, fitur ini peringkat pertama untuk intensitas gas dan untuk listrik per rumah, hampir tiga kali fitur kedua. Fitur ini tidak mungkin membocorkan jawaban, karena hanya membagi dua kolom input yang juga tersedia di data uji, baris demi baris.</a:t>
            </a:r>
          </a:p>
          <a:p/>
          <a:p>
            <a:r>
              <a:t>Sumber: sel 28, sel 45 (In [32])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Fitur kedua bertanya: berapa konsumsi kawasan lain yang stok bangunannya paling mirip? Pencarian dibatasi pada jendela nomor subzona, karena nomor subzona ternyata berurutan secara geografis: 99,07 persen baris berurutan berada di zona yang sama. Fitur ini memakai target tetangga, jadi kami menghitungnya out-of-fold dua lapis, seperti skema di kiri. Lalu kami mengujinya: label baris validasi kami acak, lalu label satu bagian dalam baris latih. Fitur yang tidak boleh membaca label itu tetap identik sampai bit terakhir, sedangkan versi yang sengaja dibuat bocor langsung berubah. Jadi uji ini mampu menangkap kebocoran, dan fitur kami lolos.</a:t>
            </a:r>
          </a:p>
          <a:p/>
          <a:p>
            <a:r>
              <a:t>Sumber: sel 28, sel 54 (In [36]), bukti/uji_kebocoran_*.json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Karena metrik menilai setiap kolom terpisah, setiap target boleh memakai cara terbaiknya. Jalur pertama untuk gas dan EUI: 28 model, karena keduanya satu besaran. Jalur kedua untuk listrik: 13 model, karena pendorongnya berbeda. Jalur ketiga hampir tanpa model: porsi bangunan bersih dihitung dengan rumus, adopsi disalin dari subzonanya, dan dua LightGBM hanya untuk 8 persen kawasan di subzona baru. Model di dua jalur pertama beragam, lalu digabung, dikoreksi, dan disesuaikan dengan batas data. Angka di kanan adalah galat jujur gabungan sebelum koreksi; koreksi dan penyesuaian menurunkan skor lebih jauh. Notebook-nya 56 sel dengan satu sakelar, dan hasilnya identik byte setiap diulang di perangkat yang sama.</a:t>
            </a:r>
          </a:p>
          <a:p/>
          <a:p>
            <a:r>
              <a:t>Sumber: sel 23, 31, 35, 39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Apakah skor ini bisa dipercaya? Ada tiga bukti. Pertama, data uji diambil acak per baris. Model yang dilatih untuk membedakan data latih dan data uji hanya mencapai AUC 0,4997, setara menebak acak. Karena itu validasi acak sepuluh fold meniru data uji. Kedua, komponen yang diterima dipilih di holdout set internal; leaderboard publik hanya mengonfirmasi arahnya, dan satu kali kami menolak perubahan karena leaderboard tidak mengonfirmasi. Ketiga, skor privat dari data yang tidak pernah kami lihat, 0,24844, tidak memburuk dibanding publik 0,24913. Bila model terlalu menyesuaikan diri dengan leaderboard, skor privat biasanya turun.</a:t>
            </a:r>
          </a:p>
          <a:p/>
          <a:p>
            <a:r>
              <a:t>Sumber: sel 37, 54, 55; Kaggle LB privat; reports/DECISIONS.md D011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Sekarang bagian kebijakan. Pertanyaannya: apa yang mendorong konsumsi? Kami melatih satu model penjelas per target yang hanya memakai karakteristik kawasan yang terukur, lalu membacanya dengan SHAP, yaitu pembagian setiap tebakan menjadi sumbangan tiap variabel. Ukuran rumah mendorong dua arah. Pada lima persen kawasan dengan rumah terkecil, sumbangan ke gas per meter persegi sekitar 65 persen lebih tinggi daripada lima persen rumah terbesar, kemungkinan karena dinding dan atapnya relatif luas. Untuk listrik per rumah arahnya terbalik, sekitar 75 persen. Antara kuartil bawah dan atas, selisihnya sekitar sepertiga. Ini sumbangan pada prediksi, bukan sebab-akibat.</a:t>
            </a:r>
          </a:p>
          <a:p/>
          <a:p>
            <a:r>
              <a:t>Sumber: sel 41, 45, 47, 48; bukti/cek_kebijakan.json (kontras ukuran)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Supaya bisa dipakai, data latih dan prediksi kawasan uji kami ringkas menjadi 330 zona. Sumbu mendatar adalah intensitas gas; sumbu tegak adalah kenaikan konsumsi listrik tahunan bila pemanas gas diganti pompa panas, dengan asumsi 80 persen gas untuk pemanasan dan efisiensi pompa panas 3. Kuadran pertama berisi 118 zona dengan 47 persen konsumsi gas dan hampir separuh potensi retrofit, yang merupakan batas atas. Asumsi seragam hanya menggeser angka. Uji yang lebih sulit menunjukkan urutan zona tahan terhadap galat prediksi, tetapi berubah bila efisiensi pompa panas berbeda per iklim, jadi daftar zona adalah kandidat, bukan keputusan akhir.</a:t>
            </a:r>
          </a:p>
          <a:p/>
          <a:p>
            <a:r>
              <a:t>Sumber: sel 48, 49, 50, 51; bukti/cek_kebijakan.json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Rekomendasi pertama: retrofit selubung bangunan lebih dulu di zona kuadran pertama. Dasarnya temuan SHAP tadi: kawasan rumah kecil dan bangunan periode tertentu memakai gas per meter persegi paling banyak, jadi tagihannya juga paling berat. Kandidat awalnya REG_273, REG_270, dan REG_045. Pelaksananya pemerintah kota bersama penyedia jasa retrofit, dimulai dari audit energi, karena angka potensi kami adalah batas atas. Retrofit dijalankan sebelum subsidi pompa panas, supaya kebutuhan panas turun lebih dulu. Keberhasilannya diukur dari turunnya gas per meter persegi di kawasan peserta dibanding kawasan pembanding.</a:t>
            </a:r>
          </a:p>
          <a:p/>
          <a:p>
            <a:r>
              <a:t>Sumber: sel 47, 48, 49, 50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Rekomendasi kedua: nilai kapasitas gardu sebelum subsidi pompa panas dibuka. Di lima zona tertinggi, konsumsi listrik tahunan bisa naik 113 sampai 121 persen, jauh di atas median 95 persen, karena gas di zona itu besar dibanding listriknya hari ini. Dalam tambahan absolut, zona terbesar adalah REG_263, yang juga kandidat retrofit. Urutan ini peka terhadap efisiensi pompa panas per iklim, jadi daftar ini adalah kandidat penilaian. Operator jaringan menilai gardu dengan data lokal, lalu subsidi dibuka bertahap dengan tarif berbasis waktu pemakaian. Ukurannya: tidak ada gardu yang melampaui kapasitas setelah setiap tahap.</a:t>
            </a:r>
          </a:p>
          <a:p/>
          <a:p>
            <a:r>
              <a:t>Sumber: sel 50, 51; bukti/cek_kebijakan.json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Rekomendasi ketiga menyangkut adopsi. Tingkat adopsi pemanas listrik sekitar 40 persen di kawasan yang sedikit tersambung gas, tetapi hanya sekitar 3 persen di kawasan bergas di atas 80 persen, padahal kawasan seperti itu 70 persen dari semua kawasan. Sosiodemografi hanya menyumbang sekitar 15 persen. Karena porsi pemanas berjumlah 100 persen, ini pola, bukan tombol. Usulan kami: bantuan pasang pompa panas dan bongkar ketel lama, dimulai sebagai pilot di zona Q2 seperti REG_249 yang kenaikan listriknya lebih rendah; di Q1 setelah retrofit dan cek gardu.</a:t>
            </a:r>
          </a:p>
          <a:p/>
          <a:p>
            <a:r>
              <a:t>Sumber: sel 42, 47, 48, 50; bukti/cek_kebijakan.json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Kami juga jujur soal batasnya. Pertama, SHAP tidak membuktikan sebab-akibat, jadi semua program kami usulkan sebagai pilot dengan zona pembanding. Kedua, data hanya memuat energi tahunan, dan urutan zona peka terhadap efisiensi pompa panas per iklim; jadi daftar zona adalah kandidat yang dinilai operator dengan data lokal. Ketiga, potensi retrofit 7,39 terawatt-jam adalah batas atas; periode bangunan saja sekitar separuhnya, dan audit energi yang menentukan angka nyatanya.</a:t>
            </a:r>
          </a:p>
          <a:p/>
          <a:p>
            <a:r>
              <a:t>Sumber: sel 48, 51; bukti/cek_kebijakan.json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Jadi, mengapa solusi ini layak dipilih? Akurat: skor privat 0,24844, peringkat 8. Jujur: lulus uji kebocoran, dan hasilnya identik setiap diulang di perangkat yang sama. Siap dijalankan: 330 zona sudah berurutan sebagai kandidat, dengan tiga program dan ukuran keberhasilannya. Langkah berikutnya: meminta data beban puncak dan kapasitas gardu dari operator jaringan, lalu memulai pilot retrofit di tiga zona pertama. Terima kasih, kami siap menjawab pertanyaan.</a:t>
            </a:r>
          </a:p>
          <a:p/>
          <a:p>
            <a:r>
              <a:t>Sumber: Kaggle LB privat; sel 35, 49, 50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Pedoman jawaban (P2): model yang paling akurat di kawasan kecil belum tentu paling akurat di kawasan besar. Setiap model punya bobot di ujung kecil dan ujung besar untuk luas, meter, dan besar tebakan; kawasan di antaranya mendapat campuran. Skor jujur bobot adaptif kini dihitung ulang dengan fungsi notebook yang sama (KFold 5): ketiga kolom membaik, terbesar di EUI, rata-rata lima target sekitar minus 0,000125, sejalan dengan catatan D012 (minus 0,000124). Catatan jujur: bentuk ini dipilih di baris yang sama, jadi hitungan ulang ini bukan bukti independen; bukti independennya adalah leaderboard, minus 0,00009. Tiga simpul tidak lebih baik daripada dua.</a:t>
            </a:r>
          </a:p>
          <a:p/>
          <a:p>
            <a:r>
              <a:t>Sumber: sel 23, 35, 37; bukti/skor_jujur_bobot_adaptif.json; reports/DECISIONS.md D012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Pedoman jawaban (P3): setelah digabung, galat masih berkelompok; kalau tetangga yang mirip sama-sama ditebak terlalu rendah, kawasan ini kemungkinan juga terlalu rendah. Target data uji tidak pernah dipakai; λ dipilih di holdout yang tidak ikut menyusun tetangga. Konstanta K, WIN, dan KSHR diperiksa ulang di audit akhir (D015). Bila ditanya langkah v12 ke v15 di tabel sel 37: langkah itu menggabungkan beberapa perubahan; koreksi kNN sendiri sekitar minus 0,0004 di leaderboard.</a:t>
            </a:r>
          </a:p>
          <a:p/>
          <a:p>
            <a:r>
              <a:t>Sumber: sel 22, 35, 37; reports/DECISIONS.md D015; reports/JOURNAL.md 15 sampai 16 Okt dan audit akhir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Pedoman jawaban (P5): assemble menjalankan urutan tetap: gabung, koreksi, sesuaikan batas, salin duplikat, periksa, tulis. Yang di-fit di dalamnya hanya bobot gabungan. S1 berasal dari prediksi out-of-fold penuh, k pada S3 dari holdout, dan batas S4 dari data latih; semuanya dibekukan di satu berkas konfigurasi (D015). Efeknya 0,00007 di leaderboard, sama dengan perkiraan holdout.</a:t>
            </a:r>
          </a:p>
          <a:p/>
          <a:p>
            <a:r>
              <a:t>Sumber: sel 22, 35, 37; reports/DECISIONS.md D015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Pedoman jawaban: asumsi seragam hanya menskalakan semua zona, jadi tidak menguji apa pun. Kami menguji dua hal yang bisa mengubah urutan. Galat prediksi pada baris uji hampir tidak berpengaruh karena zona merata-ratakan banyak kawasan. COP yang berbeda per iklim berpengaruh besar, sehingga daftar zona kami sebut kandidat dan operator menilai dengan data lokal. Beban puncak bisa jauh lebih besar karena pemanasan menumpuk di bulan terdingin dan COP turun saat dingin.</a:t>
            </a:r>
          </a:p>
          <a:p/>
          <a:p>
            <a:r>
              <a:t>Sumber: sel 50, 51; bukti/cek_kebijakan.json; writeup Tabel 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Pedoman jawaban: untuk data spasial, pembagian per wilayah sering dianjurkan. Namun 92% kawasan uji berada di subzona yang juga ada di data latih, dan validasi adversarial tidak bisa membedakan latih dan uji. Jadi validasi acak per baris adalah skema yang meniru data uji.</a:t>
            </a:r>
          </a:p>
          <a:p/>
          <a:p>
            <a:r>
              <a:t>Sumber: writeup Tabel 1; sel 54, 55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Pedoman jawaban: adopsi seragam per subzona, jadi kawasan di subzona yang dikenal cukup disalin. Untuk subzona baru, struktur cacah rumah tangga dipakai: N dari pecahan komposisi pemanas, K rumah tangga di luar kategori tercatat. Galatnya dekat batas derau binomial.</a:t>
            </a:r>
          </a:p>
          <a:p/>
          <a:p>
            <a:r>
              <a:t>Sumber: sel 28, 35, 39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Pedoman jawaban (P1 dan P4): untuk fitur kNN-target dan rata-rata wilayah, baris validasi dan uji tidak membaca label validasi, dan baris latih tidak membaca label bagian dalamnya sendiri; keduanya diuji dengan label acak. Cakupannya satu fold; koreksi galat wilayah hanya memakai galat baris latih untuk baris uji. Untuk pergeseran bobot (P1): di holdout, prediksi berasal dari rata-rata model fold seperti data uji, dan bobot dari prediksi out-of-fold memberi skor setara dengan bobot yang di-fit di holdout (bukti pengembangan, ensemble 13 Okt). Catatan jujur: XGBoost dan LightGBM memakai early stopping pada fold validasinya sendiri (sel 36), sehingga galat out-of-fold sedikit optimistis; keputusan diambil dari holdout.</a:t>
            </a:r>
          </a:p>
          <a:p/>
          <a:p>
            <a:r>
              <a:t>Sumber: bukti/uji_kebocoran_*.json; reports/DECISIONS.md D002; sel 36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Pedoman jawaban: kecocokan model penjelas dilaporkan supaya batas keyakinannya terlihat. SHAP dihitung dengan TreeSHAP eksak pada sampel 20.000 baris latih untuk tabel dan grafik; peta zona memakai kontribusi pada seluruh 613 ribu kawasan.</a:t>
            </a:r>
          </a:p>
          <a:p/>
          <a:p>
            <a:r>
              <a:t>Sumber: sel 40, 41, 42, 43, 45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324F"/>
        </a:solidFill>
        <a:effectLst/>
      </p:bgPr>
    </p:bg>
    <p:spTree>
      <p:nvGrpSpPr>
        <p:cNvPr id="1" name=""/>
        <p:cNvGrpSpPr/>
        <p:nvPr/>
      </p:nvGrpSpPr>
      <p:grpSpPr/>
      <p:sp>
        <p:nvSpPr>
          <p:cNvPr id="2" name="Title 1"/>
          <p:cNvSpPr>
            <a:spLocks noGrp="1"/>
          </p:cNvSpPr>
          <p:nvPr>
            <p:ph type="title"/>
          </p:nvPr>
        </p:nvSpPr>
        <p:spPr>
          <a:xfrm>
            <a:off x="548640" y="914400"/>
            <a:ext cx="10241280" cy="1600200"/>
          </a:xfrm>
        </p:spPr>
        <p:txBody>
          <a:bodyPr wrap="square" lIns="0" rIns="0" tIns="0" bIns="0" anchor="t">
            <a:noAutofit/>
          </a:bodyPr>
          <a:lstStyle/>
          <a:p>
            <a:pPr algn="l">
              <a:lnSpc>
                <a:spcPct val="92000"/>
              </a:lnSpc>
              <a:spcBef>
                <a:spcPts val="0"/>
              </a:spcBef>
              <a:spcAft>
                <a:spcPts val="0"/>
              </a:spcAft>
            </a:pPr>
            <a:r>
              <a:rPr sz="4000" b="1" i="0">
                <a:solidFill>
                  <a:srgbClr val="FFFFFF"/>
                </a:solidFill>
                <a:latin typeface="Calibri"/>
              </a:rPr>
              <a:t>Dari energi 613 ribu kawasan ke urutan program untuk 330 zona</a:t>
            </a:r>
          </a:p>
        </p:txBody>
      </p:sp>
      <p:sp>
        <p:nvSpPr>
          <p:cNvPr id="3" name="kicker"/>
          <p:cNvSpPr txBox="1"/>
          <p:nvPr/>
        </p:nvSpPr>
        <p:spPr>
          <a:xfrm>
            <a:off x="548640" y="502920"/>
            <a:ext cx="11094415" cy="274320"/>
          </a:xfrm>
          <a:prstGeom prst="rect">
            <a:avLst/>
          </a:prstGeom>
          <a:noFill/>
        </p:spPr>
        <p:txBody>
          <a:bodyPr wrap="square" lIns="0" rIns="0" tIns="0" bIns="0" anchor="t">
            <a:noAutofit/>
          </a:bodyPr>
          <a:lstStyle/>
          <a:p>
            <a:pPr algn="l">
              <a:lnSpc>
                <a:spcPct val="100000"/>
              </a:lnSpc>
              <a:spcBef>
                <a:spcPts val="0"/>
              </a:spcBef>
              <a:spcAft>
                <a:spcPts val="0"/>
              </a:spcAft>
            </a:pPr>
            <a:r>
              <a:rPr sz="1300" b="1" i="0" spc="150">
                <a:solidFill>
                  <a:srgbClr val="C3D0DE"/>
                </a:solidFill>
                <a:latin typeface="Calibri"/>
              </a:rPr>
              <a:t>DICE FEST 2026 · BABAK FINAL · TIM BISMILLAH</a:t>
            </a:r>
          </a:p>
        </p:txBody>
      </p:sp>
      <p:sp>
        <p:nvSpPr>
          <p:cNvPr id="4" name="body"/>
          <p:cNvSpPr txBox="1"/>
          <p:nvPr/>
        </p:nvSpPr>
        <p:spPr>
          <a:xfrm>
            <a:off x="548640" y="2606040"/>
            <a:ext cx="10058400" cy="3657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C3D0DE"/>
                </a:solidFill>
                <a:latin typeface="Calibri"/>
              </a:rPr>
              <a:t>Trilema transisi energi perkotaan: emisi, keandalan jaringan, keterjangkauan</a:t>
            </a:r>
          </a:p>
        </p:txBody>
      </p:sp>
      <p:sp>
        <p:nvSpPr>
          <p:cNvPr id="5" name="Rounded Rectangle 4"/>
          <p:cNvSpPr/>
          <p:nvPr/>
        </p:nvSpPr>
        <p:spPr>
          <a:xfrm>
            <a:off x="548640" y="3246120"/>
            <a:ext cx="3515258" cy="1325880"/>
          </a:xfrm>
          <a:prstGeom prst="roundRect">
            <a:avLst>
              <a:gd name="adj" fmla="val 6896"/>
            </a:avLst>
          </a:prstGeom>
          <a:solidFill>
            <a:srgbClr val="22476A"/>
          </a:solidFill>
          <a:ln>
            <a:noFill/>
          </a:ln>
        </p:spPr>
        <p:txBody>
          <a:bodyPr rtlCol="0" anchor="ctr"/>
          <a:lstStyle/>
          <a:p>
            <a:pPr algn="ctr"/>
          </a:p>
        </p:txBody>
      </p:sp>
      <p:sp>
        <p:nvSpPr>
          <p:cNvPr id="6" name="Oval 5"/>
          <p:cNvSpPr/>
          <p:nvPr/>
        </p:nvSpPr>
        <p:spPr>
          <a:xfrm>
            <a:off x="749808" y="3474720"/>
            <a:ext cx="457200" cy="457200"/>
          </a:xfrm>
          <a:prstGeom prst="ellipse">
            <a:avLst/>
          </a:prstGeom>
          <a:solidFill>
            <a:srgbClr val="D97B29"/>
          </a:solidFill>
          <a:ln>
            <a:noFill/>
          </a:ln>
        </p:spPr>
        <p:txBody>
          <a:bodyPr rtlCol="0" anchor="ctr"/>
          <a:lstStyle/>
          <a:p>
            <a:pPr algn="ctr"/>
          </a:p>
        </p:txBody>
      </p:sp>
      <p:sp>
        <p:nvSpPr>
          <p:cNvPr id="7" name="angka"/>
          <p:cNvSpPr txBox="1"/>
          <p:nvPr/>
        </p:nvSpPr>
        <p:spPr>
          <a:xfrm>
            <a:off x="749808" y="3474720"/>
            <a:ext cx="457200" cy="457200"/>
          </a:xfrm>
          <a:prstGeom prst="rect">
            <a:avLst/>
          </a:prstGeom>
          <a:noFill/>
        </p:spPr>
        <p:txBody>
          <a:bodyPr wrap="square" lIns="0" rIns="0" tIns="0" bIns="0" anchor="ctr">
            <a:noAutofit/>
          </a:bodyPr>
          <a:lstStyle/>
          <a:p>
            <a:pPr algn="ctr">
              <a:lnSpc>
                <a:spcPct val="100000"/>
              </a:lnSpc>
              <a:spcBef>
                <a:spcPts val="0"/>
              </a:spcBef>
              <a:spcAft>
                <a:spcPts val="0"/>
              </a:spcAft>
            </a:pPr>
            <a:r>
              <a:rPr sz="2000" b="1" i="0">
                <a:solidFill>
                  <a:srgbClr val="FFFFFF"/>
                </a:solidFill>
                <a:latin typeface="Calibri"/>
              </a:rPr>
              <a:t>1</a:t>
            </a:r>
          </a:p>
        </p:txBody>
      </p:sp>
      <p:sp>
        <p:nvSpPr>
          <p:cNvPr id="8" name="body"/>
          <p:cNvSpPr txBox="1"/>
          <p:nvPr/>
        </p:nvSpPr>
        <p:spPr>
          <a:xfrm>
            <a:off x="1371600" y="3401568"/>
            <a:ext cx="2509418" cy="1051560"/>
          </a:xfrm>
          <a:prstGeom prst="rect">
            <a:avLst/>
          </a:prstGeom>
          <a:noFill/>
        </p:spPr>
        <p:txBody>
          <a:bodyPr wrap="square" lIns="0" rIns="0" tIns="0" bIns="0" anchor="ctr">
            <a:noAutofit/>
          </a:bodyPr>
          <a:lstStyle/>
          <a:p>
            <a:pPr algn="l">
              <a:lnSpc>
                <a:spcPct val="98000"/>
              </a:lnSpc>
              <a:spcBef>
                <a:spcPts val="0"/>
              </a:spcBef>
              <a:spcAft>
                <a:spcPts val="0"/>
              </a:spcAft>
            </a:pPr>
            <a:r>
              <a:rPr sz="1800" b="0" i="1">
                <a:solidFill>
                  <a:srgbClr val="FFFFFF"/>
                </a:solidFill>
                <a:latin typeface="Calibri"/>
              </a:rPr>
              <a:t>Retrofit</a:t>
            </a:r>
            <a:r>
              <a:rPr sz="1800" b="0" i="0">
                <a:solidFill>
                  <a:srgbClr val="FFFFFF"/>
                </a:solidFill>
                <a:latin typeface="Calibri"/>
              </a:rPr>
              <a:t> dulu di 118 zona Q1 (47% konsumsi gas)</a:t>
            </a:r>
          </a:p>
        </p:txBody>
      </p:sp>
      <p:sp>
        <p:nvSpPr>
          <p:cNvPr id="9" name="Rounded Rectangle 8"/>
          <p:cNvSpPr/>
          <p:nvPr/>
        </p:nvSpPr>
        <p:spPr>
          <a:xfrm>
            <a:off x="4338218" y="3246120"/>
            <a:ext cx="3515258" cy="1325880"/>
          </a:xfrm>
          <a:prstGeom prst="roundRect">
            <a:avLst>
              <a:gd name="adj" fmla="val 6896"/>
            </a:avLst>
          </a:prstGeom>
          <a:solidFill>
            <a:srgbClr val="22476A"/>
          </a:solidFill>
          <a:ln>
            <a:noFill/>
          </a:ln>
        </p:spPr>
        <p:txBody>
          <a:bodyPr rtlCol="0" anchor="ctr"/>
          <a:lstStyle/>
          <a:p>
            <a:pPr algn="ctr"/>
          </a:p>
        </p:txBody>
      </p:sp>
      <p:sp>
        <p:nvSpPr>
          <p:cNvPr id="10" name="Oval 9"/>
          <p:cNvSpPr/>
          <p:nvPr/>
        </p:nvSpPr>
        <p:spPr>
          <a:xfrm>
            <a:off x="4539386" y="3474720"/>
            <a:ext cx="457200" cy="457200"/>
          </a:xfrm>
          <a:prstGeom prst="ellipse">
            <a:avLst/>
          </a:prstGeom>
          <a:solidFill>
            <a:srgbClr val="D97B29"/>
          </a:solidFill>
          <a:ln>
            <a:noFill/>
          </a:ln>
        </p:spPr>
        <p:txBody>
          <a:bodyPr rtlCol="0" anchor="ctr"/>
          <a:lstStyle/>
          <a:p>
            <a:pPr algn="ctr"/>
          </a:p>
        </p:txBody>
      </p:sp>
      <p:sp>
        <p:nvSpPr>
          <p:cNvPr id="11" name="angka"/>
          <p:cNvSpPr txBox="1"/>
          <p:nvPr/>
        </p:nvSpPr>
        <p:spPr>
          <a:xfrm>
            <a:off x="4539386" y="3474720"/>
            <a:ext cx="457200" cy="457200"/>
          </a:xfrm>
          <a:prstGeom prst="rect">
            <a:avLst/>
          </a:prstGeom>
          <a:noFill/>
        </p:spPr>
        <p:txBody>
          <a:bodyPr wrap="square" lIns="0" rIns="0" tIns="0" bIns="0" anchor="ctr">
            <a:noAutofit/>
          </a:bodyPr>
          <a:lstStyle/>
          <a:p>
            <a:pPr algn="ctr">
              <a:lnSpc>
                <a:spcPct val="100000"/>
              </a:lnSpc>
              <a:spcBef>
                <a:spcPts val="0"/>
              </a:spcBef>
              <a:spcAft>
                <a:spcPts val="0"/>
              </a:spcAft>
            </a:pPr>
            <a:r>
              <a:rPr sz="2000" b="1" i="0">
                <a:solidFill>
                  <a:srgbClr val="FFFFFF"/>
                </a:solidFill>
                <a:latin typeface="Calibri"/>
              </a:rPr>
              <a:t>2</a:t>
            </a:r>
          </a:p>
        </p:txBody>
      </p:sp>
      <p:sp>
        <p:nvSpPr>
          <p:cNvPr id="12" name="body"/>
          <p:cNvSpPr txBox="1"/>
          <p:nvPr/>
        </p:nvSpPr>
        <p:spPr>
          <a:xfrm>
            <a:off x="5161178" y="3401568"/>
            <a:ext cx="2509418" cy="1051560"/>
          </a:xfrm>
          <a:prstGeom prst="rect">
            <a:avLst/>
          </a:prstGeom>
          <a:noFill/>
        </p:spPr>
        <p:txBody>
          <a:bodyPr wrap="square" lIns="0" rIns="0" tIns="0" bIns="0" anchor="ctr">
            <a:noAutofit/>
          </a:bodyPr>
          <a:lstStyle/>
          <a:p>
            <a:pPr algn="l">
              <a:lnSpc>
                <a:spcPct val="98000"/>
              </a:lnSpc>
              <a:spcBef>
                <a:spcPts val="0"/>
              </a:spcBef>
              <a:spcAft>
                <a:spcPts val="0"/>
              </a:spcAft>
            </a:pPr>
            <a:r>
              <a:rPr sz="1800" b="0" i="0">
                <a:solidFill>
                  <a:srgbClr val="FFFFFF"/>
                </a:solidFill>
                <a:latin typeface="Calibri"/>
              </a:rPr>
              <a:t>Gardu dinilai sebelum subsidi pompa panas</a:t>
            </a:r>
          </a:p>
        </p:txBody>
      </p:sp>
      <p:sp>
        <p:nvSpPr>
          <p:cNvPr id="13" name="Rounded Rectangle 12"/>
          <p:cNvSpPr/>
          <p:nvPr/>
        </p:nvSpPr>
        <p:spPr>
          <a:xfrm>
            <a:off x="8127796" y="3246120"/>
            <a:ext cx="3515258" cy="1325880"/>
          </a:xfrm>
          <a:prstGeom prst="roundRect">
            <a:avLst>
              <a:gd name="adj" fmla="val 6896"/>
            </a:avLst>
          </a:prstGeom>
          <a:solidFill>
            <a:srgbClr val="22476A"/>
          </a:solidFill>
          <a:ln>
            <a:noFill/>
          </a:ln>
        </p:spPr>
        <p:txBody>
          <a:bodyPr rtlCol="0" anchor="ctr"/>
          <a:lstStyle/>
          <a:p>
            <a:pPr algn="ctr"/>
          </a:p>
        </p:txBody>
      </p:sp>
      <p:sp>
        <p:nvSpPr>
          <p:cNvPr id="14" name="Oval 13"/>
          <p:cNvSpPr/>
          <p:nvPr/>
        </p:nvSpPr>
        <p:spPr>
          <a:xfrm>
            <a:off x="8328964" y="3474720"/>
            <a:ext cx="457200" cy="457200"/>
          </a:xfrm>
          <a:prstGeom prst="ellipse">
            <a:avLst/>
          </a:prstGeom>
          <a:solidFill>
            <a:srgbClr val="D97B29"/>
          </a:solidFill>
          <a:ln>
            <a:noFill/>
          </a:ln>
        </p:spPr>
        <p:txBody>
          <a:bodyPr rtlCol="0" anchor="ctr"/>
          <a:lstStyle/>
          <a:p>
            <a:pPr algn="ctr"/>
          </a:p>
        </p:txBody>
      </p:sp>
      <p:sp>
        <p:nvSpPr>
          <p:cNvPr id="15" name="angka"/>
          <p:cNvSpPr txBox="1"/>
          <p:nvPr/>
        </p:nvSpPr>
        <p:spPr>
          <a:xfrm>
            <a:off x="8328964" y="3474720"/>
            <a:ext cx="457200" cy="457200"/>
          </a:xfrm>
          <a:prstGeom prst="rect">
            <a:avLst/>
          </a:prstGeom>
          <a:noFill/>
        </p:spPr>
        <p:txBody>
          <a:bodyPr wrap="square" lIns="0" rIns="0" tIns="0" bIns="0" anchor="ctr">
            <a:noAutofit/>
          </a:bodyPr>
          <a:lstStyle/>
          <a:p>
            <a:pPr algn="ctr">
              <a:lnSpc>
                <a:spcPct val="100000"/>
              </a:lnSpc>
              <a:spcBef>
                <a:spcPts val="0"/>
              </a:spcBef>
              <a:spcAft>
                <a:spcPts val="0"/>
              </a:spcAft>
            </a:pPr>
            <a:r>
              <a:rPr sz="2000" b="1" i="0">
                <a:solidFill>
                  <a:srgbClr val="FFFFFF"/>
                </a:solidFill>
                <a:latin typeface="Calibri"/>
              </a:rPr>
              <a:t>3</a:t>
            </a:r>
          </a:p>
        </p:txBody>
      </p:sp>
      <p:sp>
        <p:nvSpPr>
          <p:cNvPr id="16" name="body"/>
          <p:cNvSpPr txBox="1"/>
          <p:nvPr/>
        </p:nvSpPr>
        <p:spPr>
          <a:xfrm>
            <a:off x="8950756" y="3401568"/>
            <a:ext cx="2509418" cy="1051560"/>
          </a:xfrm>
          <a:prstGeom prst="rect">
            <a:avLst/>
          </a:prstGeom>
          <a:noFill/>
        </p:spPr>
        <p:txBody>
          <a:bodyPr wrap="square" lIns="0" rIns="0" tIns="0" bIns="0" anchor="ctr">
            <a:noAutofit/>
          </a:bodyPr>
          <a:lstStyle/>
          <a:p>
            <a:pPr algn="l">
              <a:lnSpc>
                <a:spcPct val="98000"/>
              </a:lnSpc>
              <a:spcBef>
                <a:spcPts val="0"/>
              </a:spcBef>
              <a:spcAft>
                <a:spcPts val="0"/>
              </a:spcAft>
            </a:pPr>
            <a:r>
              <a:rPr sz="1800" b="0" i="0">
                <a:solidFill>
                  <a:srgbClr val="FFFFFF"/>
                </a:solidFill>
                <a:latin typeface="Calibri"/>
              </a:rPr>
              <a:t>Pilot pompa panas di kawasan bergas, mulai zona Q2</a:t>
            </a:r>
          </a:p>
        </p:txBody>
      </p:sp>
      <p:sp>
        <p:nvSpPr>
          <p:cNvPr id="17" name="angka"/>
          <p:cNvSpPr txBox="1"/>
          <p:nvPr/>
        </p:nvSpPr>
        <p:spPr>
          <a:xfrm>
            <a:off x="548640" y="4846320"/>
            <a:ext cx="3515258" cy="45720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D97B29"/>
                </a:solidFill>
                <a:latin typeface="Calibri"/>
              </a:rPr>
              <a:t>0,24844</a:t>
            </a:r>
          </a:p>
        </p:txBody>
      </p:sp>
      <p:sp>
        <p:nvSpPr>
          <p:cNvPr id="18" name="body"/>
          <p:cNvSpPr txBox="1"/>
          <p:nvPr/>
        </p:nvSpPr>
        <p:spPr>
          <a:xfrm>
            <a:off x="548640" y="5321808"/>
            <a:ext cx="3515258" cy="45720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C3D0DE"/>
                </a:solidFill>
                <a:latin typeface="Calibri"/>
              </a:rPr>
              <a:t>skor </a:t>
            </a:r>
            <a:r>
              <a:rPr sz="1400" b="0" i="1">
                <a:solidFill>
                  <a:srgbClr val="C3D0DE"/>
                </a:solidFill>
                <a:latin typeface="Calibri"/>
              </a:rPr>
              <a:t>leaderboard</a:t>
            </a:r>
            <a:r>
              <a:rPr sz="1400" b="0" i="0">
                <a:solidFill>
                  <a:srgbClr val="C3D0DE"/>
                </a:solidFill>
                <a:latin typeface="Calibri"/>
              </a:rPr>
              <a:t> privat, peringkat 8</a:t>
            </a:r>
          </a:p>
        </p:txBody>
      </p:sp>
      <p:sp>
        <p:nvSpPr>
          <p:cNvPr id="19" name="angka"/>
          <p:cNvSpPr txBox="1"/>
          <p:nvPr/>
        </p:nvSpPr>
        <p:spPr>
          <a:xfrm>
            <a:off x="4338218" y="4846320"/>
            <a:ext cx="3515258" cy="45720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FFFFFF"/>
                </a:solidFill>
                <a:latin typeface="Calibri"/>
              </a:rPr>
              <a:t>Lulus uji label acak</a:t>
            </a:r>
          </a:p>
        </p:txBody>
      </p:sp>
      <p:sp>
        <p:nvSpPr>
          <p:cNvPr id="20" name="body"/>
          <p:cNvSpPr txBox="1"/>
          <p:nvPr/>
        </p:nvSpPr>
        <p:spPr>
          <a:xfrm>
            <a:off x="4338218" y="5321808"/>
            <a:ext cx="3515258" cy="45720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C3D0DE"/>
                </a:solidFill>
                <a:latin typeface="Calibri"/>
              </a:rPr>
              <a:t>fitur bertarget, baris validasi dan latih</a:t>
            </a:r>
          </a:p>
        </p:txBody>
      </p:sp>
      <p:sp>
        <p:nvSpPr>
          <p:cNvPr id="21" name="angka"/>
          <p:cNvSpPr txBox="1"/>
          <p:nvPr/>
        </p:nvSpPr>
        <p:spPr>
          <a:xfrm>
            <a:off x="8127796" y="4846320"/>
            <a:ext cx="3515258" cy="45720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FFFFFF"/>
                </a:solidFill>
                <a:latin typeface="Calibri"/>
              </a:rPr>
              <a:t>Identik byte</a:t>
            </a:r>
          </a:p>
        </p:txBody>
      </p:sp>
      <p:sp>
        <p:nvSpPr>
          <p:cNvPr id="22" name="body"/>
          <p:cNvSpPr txBox="1"/>
          <p:nvPr/>
        </p:nvSpPr>
        <p:spPr>
          <a:xfrm>
            <a:off x="8127796" y="5321808"/>
            <a:ext cx="3515258" cy="45720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C3D0DE"/>
                </a:solidFill>
                <a:latin typeface="Calibri"/>
              </a:rPr>
              <a:t>hasil sama setiap diulang di perangkat sama</a:t>
            </a:r>
          </a:p>
        </p:txBody>
      </p:sp>
      <p:sp>
        <p:nvSpPr>
          <p:cNvPr id="23" name="istilah"/>
          <p:cNvSpPr txBox="1"/>
          <p:nvPr/>
        </p:nvSpPr>
        <p:spPr>
          <a:xfrm>
            <a:off x="548640" y="6035040"/>
            <a:ext cx="11094415" cy="36576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C3D0DE"/>
                </a:solidFill>
                <a:latin typeface="Calibri"/>
              </a:rPr>
              <a:t>Istilah.</a:t>
            </a:r>
            <a:r>
              <a:rPr sz="1200" b="0" i="0">
                <a:solidFill>
                  <a:srgbClr val="C3D0DE"/>
                </a:solidFill>
                <a:latin typeface="Calibri"/>
              </a:rPr>
              <a:t> </a:t>
            </a:r>
            <a:r>
              <a:rPr sz="1200" b="0" i="1">
                <a:solidFill>
                  <a:srgbClr val="C3D0DE"/>
                </a:solidFill>
                <a:latin typeface="Calibri"/>
              </a:rPr>
              <a:t>Retrofit</a:t>
            </a:r>
            <a:r>
              <a:rPr sz="1200" b="0" i="0">
                <a:solidFill>
                  <a:srgbClr val="C3D0DE"/>
                </a:solidFill>
                <a:latin typeface="Calibri"/>
              </a:rPr>
              <a:t>: perbaikan dinding, atap, dan jendela agar rumah tidak boros panas. Pompa panas: pemanas listrik yang menghasilkan sekitar 3 kWh panas dari 1 kWh listrik.</a:t>
            </a:r>
          </a:p>
        </p:txBody>
      </p:sp>
      <p:sp>
        <p:nvSpPr>
          <p:cNvPr id="24"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C3D0DE"/>
                </a:solidFill>
                <a:latin typeface="Calibri"/>
              </a:rPr>
              <a:t>Tim BISMILLAH · DICE FEST 2026 · Babak final</a:t>
            </a:r>
          </a:p>
        </p:txBody>
      </p:sp>
      <p:sp>
        <p:nvSpPr>
          <p:cNvPr id="25"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C3D0DE"/>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Elektrifikasi penuh hampir menggandakan konsumsi listrik zona, jadi urutan program menentukan kesiapan jaringan</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MASALAH</a:t>
            </a:r>
          </a:p>
        </p:txBody>
      </p:sp>
      <p:sp>
        <p:nvSpPr>
          <p:cNvPr id="4" name="istilah"/>
          <p:cNvSpPr txBox="1"/>
          <p:nvPr/>
        </p:nvSpPr>
        <p:spPr>
          <a:xfrm>
            <a:off x="548640" y="6035040"/>
            <a:ext cx="11094415" cy="365760"/>
          </a:xfrm>
          <a:prstGeom prst="rect">
            <a:avLst/>
          </a:prstGeom>
          <a:noFill/>
        </p:spPr>
        <p:txBody>
          <a:bodyPr wrap="square" lIns="0" rIns="0" tIns="0" bIns="0" anchor="t">
            <a:noAutofit/>
          </a:bodyPr>
          <a:lstStyle/>
          <a:p>
            <a:pPr algn="l">
              <a:lnSpc>
                <a:spcPct val="95000"/>
              </a:lnSpc>
              <a:spcBef>
                <a:spcPts val="0"/>
              </a:spcBef>
              <a:spcAft>
                <a:spcPts val="0"/>
              </a:spcAft>
            </a:pPr>
            <a:r>
              <a:rPr sz="1200" b="1" i="0">
                <a:solidFill>
                  <a:srgbClr val="5F6B7A"/>
                </a:solidFill>
                <a:latin typeface="Calibri"/>
              </a:rPr>
              <a:t>Istilah.</a:t>
            </a:r>
            <a:r>
              <a:rPr sz="1200" b="0" i="0">
                <a:solidFill>
                  <a:srgbClr val="5F6B7A"/>
                </a:solidFill>
                <a:latin typeface="Calibri"/>
              </a:rPr>
              <a:t> COP (</a:t>
            </a:r>
            <a:r>
              <a:rPr sz="1200" b="0" i="1">
                <a:solidFill>
                  <a:srgbClr val="5F6B7A"/>
                </a:solidFill>
                <a:latin typeface="Calibri"/>
              </a:rPr>
              <a:t>coefficient of performance</a:t>
            </a:r>
            <a:r>
              <a:rPr sz="1200" b="0" i="0">
                <a:solidFill>
                  <a:srgbClr val="5F6B7A"/>
                </a:solidFill>
                <a:latin typeface="Calibri"/>
              </a:rPr>
              <a:t>): efisiensi pompa panas; COP 3 berarti 1 kWh listrik menghasilkan 3 kWh panas. Median: nilai tengah dari 330 zona.</a:t>
            </a:r>
          </a:p>
        </p:txBody>
      </p:sp>
      <p:sp>
        <p:nvSpPr>
          <p:cNvPr id="5"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6"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2</a:t>
            </a:r>
          </a:p>
        </p:txBody>
      </p:sp>
      <p:sp>
        <p:nvSpPr>
          <p:cNvPr id="7" name="body"/>
          <p:cNvSpPr txBox="1"/>
          <p:nvPr/>
        </p:nvSpPr>
        <p:spPr>
          <a:xfrm>
            <a:off x="548640" y="1783080"/>
            <a:ext cx="6035040" cy="365760"/>
          </a:xfrm>
          <a:prstGeom prst="rect">
            <a:avLst/>
          </a:prstGeom>
          <a:noFill/>
        </p:spPr>
        <p:txBody>
          <a:bodyPr wrap="square" lIns="0" rIns="0" tIns="0" bIns="0" anchor="t">
            <a:noAutofit/>
          </a:bodyPr>
          <a:lstStyle/>
          <a:p>
            <a:pPr algn="l">
              <a:lnSpc>
                <a:spcPct val="100000"/>
              </a:lnSpc>
              <a:spcBef>
                <a:spcPts val="0"/>
              </a:spcBef>
              <a:spcAft>
                <a:spcPts val="0"/>
              </a:spcAft>
            </a:pPr>
            <a:r>
              <a:rPr sz="1700" b="1" i="0">
                <a:solidFill>
                  <a:srgbClr val="1F2933"/>
                </a:solidFill>
                <a:latin typeface="Calibri"/>
              </a:rPr>
              <a:t>Tiga tuntutan transisi, diukur oleh lima target lomba</a:t>
            </a:r>
          </a:p>
        </p:txBody>
      </p:sp>
      <p:sp>
        <p:nvSpPr>
          <p:cNvPr id="8" name="Rounded Rectangle 7"/>
          <p:cNvSpPr/>
          <p:nvPr/>
        </p:nvSpPr>
        <p:spPr>
          <a:xfrm>
            <a:off x="548640" y="2240280"/>
            <a:ext cx="6035040" cy="786384"/>
          </a:xfrm>
          <a:prstGeom prst="roundRect">
            <a:avLst>
              <a:gd name="adj" fmla="val 9302"/>
            </a:avLst>
          </a:prstGeom>
          <a:solidFill>
            <a:srgbClr val="EEF2F6"/>
          </a:solidFill>
          <a:ln>
            <a:noFill/>
          </a:ln>
        </p:spPr>
        <p:txBody>
          <a:bodyPr rtlCol="0" anchor="ctr"/>
          <a:lstStyle/>
          <a:p>
            <a:pPr algn="ctr"/>
          </a:p>
        </p:txBody>
      </p:sp>
      <p:sp>
        <p:nvSpPr>
          <p:cNvPr id="9" name="Oval 8"/>
          <p:cNvSpPr/>
          <p:nvPr/>
        </p:nvSpPr>
        <p:spPr>
          <a:xfrm>
            <a:off x="749808" y="2450592"/>
            <a:ext cx="365760" cy="365760"/>
          </a:xfrm>
          <a:prstGeom prst="ellipse">
            <a:avLst/>
          </a:prstGeom>
          <a:solidFill>
            <a:srgbClr val="1F7A8C"/>
          </a:solidFill>
          <a:ln>
            <a:noFill/>
          </a:ln>
        </p:spPr>
        <p:txBody>
          <a:bodyPr rtlCol="0" anchor="ctr"/>
          <a:lstStyle/>
          <a:p>
            <a:pPr algn="ctr"/>
          </a:p>
        </p:txBody>
      </p:sp>
      <p:sp>
        <p:nvSpPr>
          <p:cNvPr id="10" name="body"/>
          <p:cNvSpPr txBox="1"/>
          <p:nvPr/>
        </p:nvSpPr>
        <p:spPr>
          <a:xfrm>
            <a:off x="1325880" y="2313432"/>
            <a:ext cx="5120640" cy="329184"/>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F2933"/>
                </a:solidFill>
                <a:latin typeface="Calibri"/>
              </a:rPr>
              <a:t>Emisi turun</a:t>
            </a:r>
          </a:p>
        </p:txBody>
      </p:sp>
      <p:sp>
        <p:nvSpPr>
          <p:cNvPr id="11" name="body"/>
          <p:cNvSpPr txBox="1"/>
          <p:nvPr/>
        </p:nvSpPr>
        <p:spPr>
          <a:xfrm>
            <a:off x="1325880" y="2651760"/>
            <a:ext cx="5120640" cy="3291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5F6B7A"/>
                </a:solidFill>
                <a:latin typeface="Calibri"/>
              </a:rPr>
              <a:t>gas total; adopsi pemanas listrik</a:t>
            </a:r>
          </a:p>
        </p:txBody>
      </p:sp>
      <p:sp>
        <p:nvSpPr>
          <p:cNvPr id="12" name="Rounded Rectangle 11"/>
          <p:cNvSpPr/>
          <p:nvPr/>
        </p:nvSpPr>
        <p:spPr>
          <a:xfrm>
            <a:off x="548640" y="3154680"/>
            <a:ext cx="6035040" cy="786384"/>
          </a:xfrm>
          <a:prstGeom prst="roundRect">
            <a:avLst>
              <a:gd name="adj" fmla="val 9302"/>
            </a:avLst>
          </a:prstGeom>
          <a:solidFill>
            <a:srgbClr val="EEF2F6"/>
          </a:solidFill>
          <a:ln>
            <a:noFill/>
          </a:ln>
        </p:spPr>
        <p:txBody>
          <a:bodyPr rtlCol="0" anchor="ctr"/>
          <a:lstStyle/>
          <a:p>
            <a:pPr algn="ctr"/>
          </a:p>
        </p:txBody>
      </p:sp>
      <p:sp>
        <p:nvSpPr>
          <p:cNvPr id="13" name="Oval 12"/>
          <p:cNvSpPr/>
          <p:nvPr/>
        </p:nvSpPr>
        <p:spPr>
          <a:xfrm>
            <a:off x="749808" y="3364992"/>
            <a:ext cx="365760" cy="365760"/>
          </a:xfrm>
          <a:prstGeom prst="ellipse">
            <a:avLst/>
          </a:prstGeom>
          <a:solidFill>
            <a:srgbClr val="16324F"/>
          </a:solidFill>
          <a:ln>
            <a:noFill/>
          </a:ln>
        </p:spPr>
        <p:txBody>
          <a:bodyPr rtlCol="0" anchor="ctr"/>
          <a:lstStyle/>
          <a:p>
            <a:pPr algn="ctr"/>
          </a:p>
        </p:txBody>
      </p:sp>
      <p:sp>
        <p:nvSpPr>
          <p:cNvPr id="14" name="body"/>
          <p:cNvSpPr txBox="1"/>
          <p:nvPr/>
        </p:nvSpPr>
        <p:spPr>
          <a:xfrm>
            <a:off x="1325880" y="3227832"/>
            <a:ext cx="5120640" cy="329184"/>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F2933"/>
                </a:solidFill>
                <a:latin typeface="Calibri"/>
              </a:rPr>
              <a:t>Jaringan listrik tetap andal</a:t>
            </a:r>
          </a:p>
        </p:txBody>
      </p:sp>
      <p:sp>
        <p:nvSpPr>
          <p:cNvPr id="15" name="body"/>
          <p:cNvSpPr txBox="1"/>
          <p:nvPr/>
        </p:nvSpPr>
        <p:spPr>
          <a:xfrm>
            <a:off x="1325880" y="3566160"/>
            <a:ext cx="5120640" cy="3291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5F6B7A"/>
                </a:solidFill>
                <a:latin typeface="Calibri"/>
              </a:rPr>
              <a:t>listrik total</a:t>
            </a:r>
          </a:p>
        </p:txBody>
      </p:sp>
      <p:sp>
        <p:nvSpPr>
          <p:cNvPr id="16" name="Rounded Rectangle 15"/>
          <p:cNvSpPr/>
          <p:nvPr/>
        </p:nvSpPr>
        <p:spPr>
          <a:xfrm>
            <a:off x="548640" y="4069080"/>
            <a:ext cx="6035040" cy="786384"/>
          </a:xfrm>
          <a:prstGeom prst="roundRect">
            <a:avLst>
              <a:gd name="adj" fmla="val 9302"/>
            </a:avLst>
          </a:prstGeom>
          <a:solidFill>
            <a:srgbClr val="EEF2F6"/>
          </a:solidFill>
          <a:ln>
            <a:noFill/>
          </a:ln>
        </p:spPr>
        <p:txBody>
          <a:bodyPr rtlCol="0" anchor="ctr"/>
          <a:lstStyle/>
          <a:p>
            <a:pPr algn="ctr"/>
          </a:p>
        </p:txBody>
      </p:sp>
      <p:sp>
        <p:nvSpPr>
          <p:cNvPr id="17" name="Oval 16"/>
          <p:cNvSpPr/>
          <p:nvPr/>
        </p:nvSpPr>
        <p:spPr>
          <a:xfrm>
            <a:off x="749808" y="4279392"/>
            <a:ext cx="365760" cy="365760"/>
          </a:xfrm>
          <a:prstGeom prst="ellipse">
            <a:avLst/>
          </a:prstGeom>
          <a:solidFill>
            <a:srgbClr val="D97B29"/>
          </a:solidFill>
          <a:ln>
            <a:noFill/>
          </a:ln>
        </p:spPr>
        <p:txBody>
          <a:bodyPr rtlCol="0" anchor="ctr"/>
          <a:lstStyle/>
          <a:p>
            <a:pPr algn="ctr"/>
          </a:p>
        </p:txBody>
      </p:sp>
      <p:sp>
        <p:nvSpPr>
          <p:cNvPr id="18" name="body"/>
          <p:cNvSpPr txBox="1"/>
          <p:nvPr/>
        </p:nvSpPr>
        <p:spPr>
          <a:xfrm>
            <a:off x="1325880" y="4142232"/>
            <a:ext cx="5120640" cy="329184"/>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F2933"/>
                </a:solidFill>
                <a:latin typeface="Calibri"/>
              </a:rPr>
              <a:t>Biaya tetap terjangkau</a:t>
            </a:r>
          </a:p>
        </p:txBody>
      </p:sp>
      <p:sp>
        <p:nvSpPr>
          <p:cNvPr id="19" name="body"/>
          <p:cNvSpPr txBox="1"/>
          <p:nvPr/>
        </p:nvSpPr>
        <p:spPr>
          <a:xfrm>
            <a:off x="1325880" y="4480560"/>
            <a:ext cx="5120640" cy="3291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5F6B7A"/>
                </a:solidFill>
                <a:latin typeface="Calibri"/>
              </a:rPr>
              <a:t>intensitas gas per m² (EUI); porsi bangunan bersih</a:t>
            </a:r>
          </a:p>
        </p:txBody>
      </p:sp>
      <p:sp>
        <p:nvSpPr>
          <p:cNvPr id="20" name="Rounded Rectangle 19"/>
          <p:cNvSpPr/>
          <p:nvPr/>
        </p:nvSpPr>
        <p:spPr>
          <a:xfrm>
            <a:off x="548640" y="4983480"/>
            <a:ext cx="3699804" cy="292608"/>
          </a:xfrm>
          <a:prstGeom prst="roundRect">
            <a:avLst>
              <a:gd name="adj" fmla="val 25000"/>
            </a:avLst>
          </a:prstGeom>
          <a:solidFill>
            <a:srgbClr val="ECE8F4"/>
          </a:solidFill>
          <a:ln>
            <a:noFill/>
          </a:ln>
        </p:spPr>
        <p:txBody>
          <a:bodyPr rtlCol="0" anchor="ctr"/>
          <a:lstStyle/>
          <a:p>
            <a:pPr algn="ctr"/>
          </a:p>
        </p:txBody>
      </p:sp>
      <p:sp>
        <p:nvSpPr>
          <p:cNvPr id="21" name="sumber"/>
          <p:cNvSpPr txBox="1"/>
          <p:nvPr/>
        </p:nvSpPr>
        <p:spPr>
          <a:xfrm>
            <a:off x="667512" y="5020056"/>
            <a:ext cx="3480348"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5B4A86"/>
                </a:solidFill>
                <a:latin typeface="Calibri"/>
              </a:rPr>
              <a:t>INTERPRETASI</a:t>
            </a:r>
            <a:r>
              <a:rPr sz="1200" b="0" i="0">
                <a:solidFill>
                  <a:srgbClr val="5B4A86"/>
                </a:solidFill>
                <a:latin typeface="Calibri"/>
              </a:rPr>
              <a:t> · pemetaan target ke tuntutan oleh tim</a:t>
            </a:r>
          </a:p>
        </p:txBody>
      </p:sp>
      <p:sp>
        <p:nvSpPr>
          <p:cNvPr id="22" name="Rounded Rectangle 21"/>
          <p:cNvSpPr/>
          <p:nvPr/>
        </p:nvSpPr>
        <p:spPr>
          <a:xfrm>
            <a:off x="6949440" y="1783080"/>
            <a:ext cx="4690872" cy="2560320"/>
          </a:xfrm>
          <a:prstGeom prst="roundRect">
            <a:avLst>
              <a:gd name="adj" fmla="val 3571"/>
            </a:avLst>
          </a:prstGeom>
          <a:solidFill>
            <a:srgbClr val="FBEEDF"/>
          </a:solidFill>
          <a:ln>
            <a:noFill/>
          </a:ln>
        </p:spPr>
        <p:txBody>
          <a:bodyPr rtlCol="0" anchor="ctr"/>
          <a:lstStyle/>
          <a:p>
            <a:pPr algn="ctr"/>
          </a:p>
        </p:txBody>
      </p:sp>
      <p:sp>
        <p:nvSpPr>
          <p:cNvPr id="23" name="angka"/>
          <p:cNvSpPr txBox="1"/>
          <p:nvPr/>
        </p:nvSpPr>
        <p:spPr>
          <a:xfrm>
            <a:off x="7223760" y="1920240"/>
            <a:ext cx="4206240" cy="932688"/>
          </a:xfrm>
          <a:prstGeom prst="rect">
            <a:avLst/>
          </a:prstGeom>
          <a:noFill/>
        </p:spPr>
        <p:txBody>
          <a:bodyPr wrap="square" lIns="0" rIns="0" tIns="0" bIns="0" anchor="t">
            <a:noAutofit/>
          </a:bodyPr>
          <a:lstStyle/>
          <a:p>
            <a:pPr algn="l">
              <a:lnSpc>
                <a:spcPct val="100000"/>
              </a:lnSpc>
              <a:spcBef>
                <a:spcPts val="0"/>
              </a:spcBef>
              <a:spcAft>
                <a:spcPts val="0"/>
              </a:spcAft>
            </a:pPr>
            <a:r>
              <a:rPr sz="5800" b="1" i="0">
                <a:solidFill>
                  <a:srgbClr val="D97B29"/>
                </a:solidFill>
                <a:latin typeface="Calibri"/>
              </a:rPr>
              <a:t>+94,85%</a:t>
            </a:r>
          </a:p>
        </p:txBody>
      </p:sp>
      <p:sp>
        <p:nvSpPr>
          <p:cNvPr id="24" name="body"/>
          <p:cNvSpPr txBox="1"/>
          <p:nvPr/>
        </p:nvSpPr>
        <p:spPr>
          <a:xfrm>
            <a:off x="7223760" y="2816352"/>
            <a:ext cx="4206240" cy="914400"/>
          </a:xfrm>
          <a:prstGeom prst="rect">
            <a:avLst/>
          </a:prstGeom>
          <a:noFill/>
        </p:spPr>
        <p:txBody>
          <a:bodyPr wrap="square" lIns="0" rIns="0" tIns="0" bIns="0" anchor="t">
            <a:noAutofit/>
          </a:bodyPr>
          <a:lstStyle/>
          <a:p>
            <a:pPr algn="l">
              <a:lnSpc>
                <a:spcPct val="98000"/>
              </a:lnSpc>
              <a:spcBef>
                <a:spcPts val="0"/>
              </a:spcBef>
              <a:spcAft>
                <a:spcPts val="0"/>
              </a:spcAft>
            </a:pPr>
            <a:r>
              <a:rPr sz="1600" b="0" i="0">
                <a:solidFill>
                  <a:srgbClr val="1F2933"/>
                </a:solidFill>
                <a:latin typeface="Calibri"/>
              </a:rPr>
              <a:t>median kenaikan konsumsi listrik tahunan zona bila semua pemanas gas diganti pompa panas</a:t>
            </a:r>
          </a:p>
        </p:txBody>
      </p:sp>
      <p:sp>
        <p:nvSpPr>
          <p:cNvPr id="25" name="Rounded Rectangle 24"/>
          <p:cNvSpPr/>
          <p:nvPr/>
        </p:nvSpPr>
        <p:spPr>
          <a:xfrm>
            <a:off x="7223760" y="3822191"/>
            <a:ext cx="3541504" cy="292608"/>
          </a:xfrm>
          <a:prstGeom prst="roundRect">
            <a:avLst>
              <a:gd name="adj" fmla="val 25000"/>
            </a:avLst>
          </a:prstGeom>
          <a:solidFill>
            <a:srgbClr val="FFFFFF"/>
          </a:solidFill>
          <a:ln>
            <a:noFill/>
          </a:ln>
        </p:spPr>
        <p:txBody>
          <a:bodyPr rtlCol="0" anchor="ctr"/>
          <a:lstStyle/>
          <a:p>
            <a:pPr algn="ctr"/>
          </a:p>
        </p:txBody>
      </p:sp>
      <p:sp>
        <p:nvSpPr>
          <p:cNvPr id="26" name="sumber"/>
          <p:cNvSpPr txBox="1"/>
          <p:nvPr/>
        </p:nvSpPr>
        <p:spPr>
          <a:xfrm>
            <a:off x="7342632" y="3858768"/>
            <a:ext cx="3322048"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9A5212"/>
                </a:solidFill>
                <a:latin typeface="Calibri"/>
              </a:rPr>
              <a:t>ASUMSI</a:t>
            </a:r>
            <a:r>
              <a:rPr sz="1200" b="0" i="0">
                <a:solidFill>
                  <a:srgbClr val="9A5212"/>
                </a:solidFill>
                <a:latin typeface="Calibri"/>
              </a:rPr>
              <a:t> · 80% gas untuk pemanasan, COP 3 · sel 50</a:t>
            </a:r>
          </a:p>
        </p:txBody>
      </p:sp>
      <p:sp>
        <p:nvSpPr>
          <p:cNvPr id="27" name="angka"/>
          <p:cNvSpPr txBox="1"/>
          <p:nvPr/>
        </p:nvSpPr>
        <p:spPr>
          <a:xfrm>
            <a:off x="6949440" y="4544568"/>
            <a:ext cx="2194560" cy="548640"/>
          </a:xfrm>
          <a:prstGeom prst="rect">
            <a:avLst/>
          </a:prstGeom>
          <a:noFill/>
        </p:spPr>
        <p:txBody>
          <a:bodyPr wrap="square" lIns="0" rIns="0" tIns="0" bIns="0" anchor="t">
            <a:noAutofit/>
          </a:bodyPr>
          <a:lstStyle/>
          <a:p>
            <a:pPr algn="l">
              <a:lnSpc>
                <a:spcPct val="100000"/>
              </a:lnSpc>
              <a:spcBef>
                <a:spcPts val="0"/>
              </a:spcBef>
              <a:spcAft>
                <a:spcPts val="0"/>
              </a:spcAft>
            </a:pPr>
            <a:r>
              <a:rPr sz="2800" b="1" i="0">
                <a:solidFill>
                  <a:srgbClr val="16324F"/>
                </a:solidFill>
                <a:latin typeface="Calibri"/>
              </a:rPr>
              <a:t>141,35 TWh</a:t>
            </a:r>
          </a:p>
        </p:txBody>
      </p:sp>
      <p:sp>
        <p:nvSpPr>
          <p:cNvPr id="28" name="body"/>
          <p:cNvSpPr txBox="1"/>
          <p:nvPr/>
        </p:nvSpPr>
        <p:spPr>
          <a:xfrm>
            <a:off x="9189720" y="4544568"/>
            <a:ext cx="2450592" cy="640080"/>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5F6B7A"/>
                </a:solidFill>
                <a:latin typeface="Calibri"/>
              </a:rPr>
              <a:t>konsumsi gas 330 zona (sel 50)</a:t>
            </a:r>
          </a:p>
        </p:txBody>
      </p:sp>
      <p:sp>
        <p:nvSpPr>
          <p:cNvPr id="29" name="Rounded Rectangle 28"/>
          <p:cNvSpPr/>
          <p:nvPr/>
        </p:nvSpPr>
        <p:spPr>
          <a:xfrm>
            <a:off x="548640" y="5468112"/>
            <a:ext cx="11094415" cy="420624"/>
          </a:xfrm>
          <a:prstGeom prst="roundRect">
            <a:avLst>
              <a:gd name="adj" fmla="val 13043"/>
            </a:avLst>
          </a:prstGeom>
          <a:solidFill>
            <a:srgbClr val="E3EAF2"/>
          </a:solidFill>
          <a:ln>
            <a:noFill/>
          </a:ln>
        </p:spPr>
        <p:txBody>
          <a:bodyPr rtlCol="0" anchor="ctr"/>
          <a:lstStyle/>
          <a:p>
            <a:pPr algn="ctr"/>
          </a:p>
        </p:txBody>
      </p:sp>
      <p:sp>
        <p:nvSpPr>
          <p:cNvPr id="30" name="body"/>
          <p:cNvSpPr txBox="1"/>
          <p:nvPr/>
        </p:nvSpPr>
        <p:spPr>
          <a:xfrm>
            <a:off x="731520" y="5468112"/>
            <a:ext cx="10728655" cy="420624"/>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16324F"/>
                </a:solidFill>
                <a:latin typeface="Calibri"/>
              </a:rPr>
              <a:t>Pertanyaan kebijakan:</a:t>
            </a:r>
            <a:r>
              <a:rPr sz="1500" b="0" i="0">
                <a:solidFill>
                  <a:srgbClr val="16324F"/>
                </a:solidFill>
                <a:latin typeface="Calibri"/>
              </a:rPr>
              <a:t> zona mana di-</a:t>
            </a:r>
            <a:r>
              <a:rPr sz="1500" b="0" i="1">
                <a:solidFill>
                  <a:srgbClr val="16324F"/>
                </a:solidFill>
                <a:latin typeface="Calibri"/>
              </a:rPr>
              <a:t>retrofit</a:t>
            </a:r>
            <a:r>
              <a:rPr sz="1500" b="0" i="0">
                <a:solidFill>
                  <a:srgbClr val="16324F"/>
                </a:solidFill>
                <a:latin typeface="Calibri"/>
              </a:rPr>
              <a:t> dulu, mana siap dielektrifikasi, dan mana yang jaringannya disiapkan lebih dulu?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Struktur data menjawab dua target sebelum model dilatih</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DATA DAN FITUR · PRA-PEMROSESAN</a:t>
            </a:r>
          </a:p>
        </p:txBody>
      </p:sp>
      <p:sp>
        <p:nvSpPr>
          <p:cNvPr id="4" name="istilah"/>
          <p:cNvSpPr txBox="1"/>
          <p:nvPr/>
        </p:nvSpPr>
        <p:spPr>
          <a:xfrm>
            <a:off x="548640" y="6035040"/>
            <a:ext cx="11094415" cy="365760"/>
          </a:xfrm>
          <a:prstGeom prst="rect">
            <a:avLst/>
          </a:prstGeom>
          <a:noFill/>
        </p:spPr>
        <p:txBody>
          <a:bodyPr wrap="square" lIns="0" rIns="0" tIns="0" bIns="0" anchor="t">
            <a:noAutofit/>
          </a:bodyPr>
          <a:lstStyle/>
          <a:p>
            <a:pPr algn="l">
              <a:lnSpc>
                <a:spcPct val="95000"/>
              </a:lnSpc>
              <a:spcBef>
                <a:spcPts val="0"/>
              </a:spcBef>
              <a:spcAft>
                <a:spcPts val="0"/>
              </a:spcAft>
            </a:pPr>
            <a:r>
              <a:rPr sz="1200" b="1" i="0">
                <a:solidFill>
                  <a:srgbClr val="5F6B7A"/>
                </a:solidFill>
                <a:latin typeface="Calibri"/>
              </a:rPr>
              <a:t>Istilah.</a:t>
            </a:r>
            <a:r>
              <a:rPr sz="1200" b="0" i="0">
                <a:solidFill>
                  <a:srgbClr val="5F6B7A"/>
                </a:solidFill>
                <a:latin typeface="Calibri"/>
              </a:rPr>
              <a:t> EUI: konsumsi gas per m² lantai. Subzona: wilayah kecil setingkat unit sensus; satu zona memuat banyak subzona.</a:t>
            </a:r>
          </a:p>
        </p:txBody>
      </p:sp>
      <p:sp>
        <p:nvSpPr>
          <p:cNvPr id="5"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6"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3</a:t>
            </a:r>
          </a:p>
        </p:txBody>
      </p:sp>
      <p:sp>
        <p:nvSpPr>
          <p:cNvPr id="7" name="Rounded Rectangle 6"/>
          <p:cNvSpPr/>
          <p:nvPr/>
        </p:nvSpPr>
        <p:spPr>
          <a:xfrm>
            <a:off x="548640" y="1783080"/>
            <a:ext cx="3515258" cy="3566160"/>
          </a:xfrm>
          <a:prstGeom prst="roundRect">
            <a:avLst>
              <a:gd name="adj" fmla="val 2601"/>
            </a:avLst>
          </a:prstGeom>
          <a:solidFill>
            <a:srgbClr val="EEF2F6"/>
          </a:solidFill>
          <a:ln>
            <a:noFill/>
          </a:ln>
        </p:spPr>
        <p:txBody>
          <a:bodyPr rtlCol="0" anchor="ctr"/>
          <a:lstStyle/>
          <a:p>
            <a:pPr algn="ctr"/>
          </a:p>
        </p:txBody>
      </p:sp>
      <p:sp>
        <p:nvSpPr>
          <p:cNvPr id="8" name="body"/>
          <p:cNvSpPr txBox="1"/>
          <p:nvPr/>
        </p:nvSpPr>
        <p:spPr>
          <a:xfrm>
            <a:off x="777240" y="1938528"/>
            <a:ext cx="3058058" cy="603504"/>
          </a:xfrm>
          <a:prstGeom prst="rect">
            <a:avLst/>
          </a:prstGeom>
          <a:noFill/>
        </p:spPr>
        <p:txBody>
          <a:bodyPr wrap="square" lIns="0" rIns="0" tIns="0" bIns="0" anchor="t">
            <a:noAutofit/>
          </a:bodyPr>
          <a:lstStyle/>
          <a:p>
            <a:pPr algn="l">
              <a:lnSpc>
                <a:spcPct val="95000"/>
              </a:lnSpc>
              <a:spcBef>
                <a:spcPts val="0"/>
              </a:spcBef>
              <a:spcAft>
                <a:spcPts val="0"/>
              </a:spcAft>
            </a:pPr>
            <a:r>
              <a:rPr sz="1900" b="1" i="0">
                <a:solidFill>
                  <a:srgbClr val="1F2933"/>
                </a:solidFill>
                <a:latin typeface="Calibri"/>
              </a:rPr>
              <a:t>Gas = EUI × luas lantai</a:t>
            </a:r>
          </a:p>
        </p:txBody>
      </p:sp>
      <p:sp>
        <p:nvSpPr>
          <p:cNvPr id="9" name="body"/>
          <p:cNvSpPr txBox="1"/>
          <p:nvPr/>
        </p:nvSpPr>
        <p:spPr>
          <a:xfrm>
            <a:off x="777240" y="2560320"/>
            <a:ext cx="3058058" cy="566928"/>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5F6B7A"/>
                </a:solidFill>
                <a:latin typeface="Calibri"/>
              </a:rPr>
              <a:t>luas lantai = bld_dim_06</a:t>
            </a:r>
          </a:p>
        </p:txBody>
      </p:sp>
      <p:sp>
        <p:nvSpPr>
          <p:cNvPr id="10" name="angka"/>
          <p:cNvSpPr txBox="1"/>
          <p:nvPr/>
        </p:nvSpPr>
        <p:spPr>
          <a:xfrm>
            <a:off x="777240" y="3127248"/>
            <a:ext cx="3058058" cy="685800"/>
          </a:xfrm>
          <a:prstGeom prst="rect">
            <a:avLst/>
          </a:prstGeom>
          <a:noFill/>
        </p:spPr>
        <p:txBody>
          <a:bodyPr wrap="square" lIns="0" rIns="0" tIns="0" bIns="0" anchor="t">
            <a:noAutofit/>
          </a:bodyPr>
          <a:lstStyle/>
          <a:p>
            <a:pPr algn="l">
              <a:lnSpc>
                <a:spcPct val="100000"/>
              </a:lnSpc>
              <a:spcBef>
                <a:spcPts val="0"/>
              </a:spcBef>
              <a:spcAft>
                <a:spcPts val="0"/>
              </a:spcAft>
            </a:pPr>
            <a:r>
              <a:rPr sz="4000" b="1" i="0">
                <a:solidFill>
                  <a:srgbClr val="1F7A8C"/>
                </a:solidFill>
                <a:latin typeface="Calibri"/>
              </a:rPr>
              <a:t>6,7 × 10</a:t>
            </a:r>
            <a:r>
              <a:rPr sz="4000" b="1" i="0" baseline="30000">
                <a:solidFill>
                  <a:srgbClr val="1F7A8C"/>
                </a:solidFill>
                <a:latin typeface="Calibri"/>
              </a:rPr>
              <a:t>−16</a:t>
            </a:r>
          </a:p>
        </p:txBody>
      </p:sp>
      <p:sp>
        <p:nvSpPr>
          <p:cNvPr id="11" name="body"/>
          <p:cNvSpPr txBox="1"/>
          <p:nvPr/>
        </p:nvSpPr>
        <p:spPr>
          <a:xfrm>
            <a:off x="777240" y="3794760"/>
            <a:ext cx="3058058" cy="36576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F2933"/>
                </a:solidFill>
                <a:latin typeface="Calibri"/>
              </a:rPr>
              <a:t>galat relatif maksimum</a:t>
            </a:r>
          </a:p>
        </p:txBody>
      </p:sp>
      <p:cxnSp>
        <p:nvCxnSpPr>
          <p:cNvPr id="12" name="Connector 11"/>
          <p:cNvCxnSpPr/>
          <p:nvPr/>
        </p:nvCxnSpPr>
        <p:spPr>
          <a:xfrm>
            <a:off x="777240" y="4261104"/>
            <a:ext cx="3058058" cy="0"/>
          </a:xfrm>
          <a:prstGeom prst="line">
            <a:avLst/>
          </a:prstGeom>
          <a:ln w="12700">
            <a:solidFill>
              <a:srgbClr val="D5DBE3"/>
            </a:solidFill>
          </a:ln>
        </p:spPr>
      </p:cxnSp>
      <p:sp>
        <p:nvSpPr>
          <p:cNvPr id="13" name="body"/>
          <p:cNvSpPr txBox="1"/>
          <p:nvPr/>
        </p:nvSpPr>
        <p:spPr>
          <a:xfrm>
            <a:off x="777240" y="4389120"/>
            <a:ext cx="3058058" cy="868680"/>
          </a:xfrm>
          <a:prstGeom prst="rect">
            <a:avLst/>
          </a:prstGeom>
          <a:noFill/>
        </p:spPr>
        <p:txBody>
          <a:bodyPr wrap="square" lIns="0" rIns="0" tIns="0" bIns="0" anchor="t">
            <a:noAutofit/>
          </a:bodyPr>
          <a:lstStyle/>
          <a:p>
            <a:pPr algn="l">
              <a:lnSpc>
                <a:spcPct val="98000"/>
              </a:lnSpc>
              <a:spcBef>
                <a:spcPts val="0"/>
              </a:spcBef>
              <a:spcAft>
                <a:spcPts val="0"/>
              </a:spcAft>
            </a:pPr>
            <a:r>
              <a:rPr sz="1700" b="1" i="0">
                <a:solidFill>
                  <a:srgbClr val="16324F"/>
                </a:solidFill>
                <a:latin typeface="Calibri"/>
              </a:rPr>
              <a:t>Satu keluarga model untuk gas dan EUI</a:t>
            </a:r>
          </a:p>
        </p:txBody>
      </p:sp>
      <p:sp>
        <p:nvSpPr>
          <p:cNvPr id="14" name="Rounded Rectangle 13"/>
          <p:cNvSpPr/>
          <p:nvPr/>
        </p:nvSpPr>
        <p:spPr>
          <a:xfrm>
            <a:off x="4338218" y="1783080"/>
            <a:ext cx="3515258" cy="3566160"/>
          </a:xfrm>
          <a:prstGeom prst="roundRect">
            <a:avLst>
              <a:gd name="adj" fmla="val 2601"/>
            </a:avLst>
          </a:prstGeom>
          <a:solidFill>
            <a:srgbClr val="EEF2F6"/>
          </a:solidFill>
          <a:ln>
            <a:noFill/>
          </a:ln>
        </p:spPr>
        <p:txBody>
          <a:bodyPr rtlCol="0" anchor="ctr"/>
          <a:lstStyle/>
          <a:p>
            <a:pPr algn="ctr"/>
          </a:p>
        </p:txBody>
      </p:sp>
      <p:sp>
        <p:nvSpPr>
          <p:cNvPr id="15" name="body"/>
          <p:cNvSpPr txBox="1"/>
          <p:nvPr/>
        </p:nvSpPr>
        <p:spPr>
          <a:xfrm>
            <a:off x="4566818" y="1938528"/>
            <a:ext cx="3058058" cy="603504"/>
          </a:xfrm>
          <a:prstGeom prst="rect">
            <a:avLst/>
          </a:prstGeom>
          <a:noFill/>
        </p:spPr>
        <p:txBody>
          <a:bodyPr wrap="square" lIns="0" rIns="0" tIns="0" bIns="0" anchor="t">
            <a:noAutofit/>
          </a:bodyPr>
          <a:lstStyle/>
          <a:p>
            <a:pPr algn="l">
              <a:lnSpc>
                <a:spcPct val="95000"/>
              </a:lnSpc>
              <a:spcBef>
                <a:spcPts val="0"/>
              </a:spcBef>
              <a:spcAft>
                <a:spcPts val="0"/>
              </a:spcAft>
            </a:pPr>
            <a:r>
              <a:rPr sz="1900" b="1" i="0">
                <a:solidFill>
                  <a:srgbClr val="1F2933"/>
                </a:solidFill>
                <a:latin typeface="Calibri"/>
              </a:rPr>
              <a:t>Porsi bersih = rumus</a:t>
            </a:r>
          </a:p>
        </p:txBody>
      </p:sp>
      <p:sp>
        <p:nvSpPr>
          <p:cNvPr id="16" name="body"/>
          <p:cNvSpPr txBox="1"/>
          <p:nvPr/>
        </p:nvSpPr>
        <p:spPr>
          <a:xfrm>
            <a:off x="4566818" y="2560320"/>
            <a:ext cx="3058058" cy="566928"/>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5F6B7A"/>
                </a:solidFill>
                <a:latin typeface="Calibri"/>
              </a:rPr>
              <a:t>100 × bld_dim_02 / bld_dim_01</a:t>
            </a:r>
          </a:p>
        </p:txBody>
      </p:sp>
      <p:sp>
        <p:nvSpPr>
          <p:cNvPr id="17" name="angka"/>
          <p:cNvSpPr txBox="1"/>
          <p:nvPr/>
        </p:nvSpPr>
        <p:spPr>
          <a:xfrm>
            <a:off x="4566818" y="3127248"/>
            <a:ext cx="3058058" cy="685800"/>
          </a:xfrm>
          <a:prstGeom prst="rect">
            <a:avLst/>
          </a:prstGeom>
          <a:noFill/>
        </p:spPr>
        <p:txBody>
          <a:bodyPr wrap="square" lIns="0" rIns="0" tIns="0" bIns="0" anchor="t">
            <a:noAutofit/>
          </a:bodyPr>
          <a:lstStyle/>
          <a:p>
            <a:pPr algn="l">
              <a:lnSpc>
                <a:spcPct val="100000"/>
              </a:lnSpc>
              <a:spcBef>
                <a:spcPts val="0"/>
              </a:spcBef>
              <a:spcAft>
                <a:spcPts val="0"/>
              </a:spcAft>
            </a:pPr>
            <a:r>
              <a:rPr sz="4000" b="1" i="0">
                <a:solidFill>
                  <a:srgbClr val="1F7A8C"/>
                </a:solidFill>
                <a:latin typeface="Calibri"/>
              </a:rPr>
              <a:t>100%</a:t>
            </a:r>
          </a:p>
        </p:txBody>
      </p:sp>
      <p:sp>
        <p:nvSpPr>
          <p:cNvPr id="18" name="body"/>
          <p:cNvSpPr txBox="1"/>
          <p:nvPr/>
        </p:nvSpPr>
        <p:spPr>
          <a:xfrm>
            <a:off x="4566818" y="3794760"/>
            <a:ext cx="3058058" cy="36576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F2933"/>
                </a:solidFill>
                <a:latin typeface="Calibri"/>
              </a:rPr>
              <a:t>baris latih tepat sama</a:t>
            </a:r>
          </a:p>
        </p:txBody>
      </p:sp>
      <p:cxnSp>
        <p:nvCxnSpPr>
          <p:cNvPr id="19" name="Connector 18"/>
          <p:cNvCxnSpPr/>
          <p:nvPr/>
        </p:nvCxnSpPr>
        <p:spPr>
          <a:xfrm>
            <a:off x="4566818" y="4261104"/>
            <a:ext cx="3058058" cy="0"/>
          </a:xfrm>
          <a:prstGeom prst="line">
            <a:avLst/>
          </a:prstGeom>
          <a:ln w="12700">
            <a:solidFill>
              <a:srgbClr val="D5DBE3"/>
            </a:solidFill>
          </a:ln>
        </p:spPr>
      </p:cxnSp>
      <p:sp>
        <p:nvSpPr>
          <p:cNvPr id="20" name="body"/>
          <p:cNvSpPr txBox="1"/>
          <p:nvPr/>
        </p:nvSpPr>
        <p:spPr>
          <a:xfrm>
            <a:off x="4566818" y="4389120"/>
            <a:ext cx="3058058" cy="868680"/>
          </a:xfrm>
          <a:prstGeom prst="rect">
            <a:avLst/>
          </a:prstGeom>
          <a:noFill/>
        </p:spPr>
        <p:txBody>
          <a:bodyPr wrap="square" lIns="0" rIns="0" tIns="0" bIns="0" anchor="t">
            <a:noAutofit/>
          </a:bodyPr>
          <a:lstStyle/>
          <a:p>
            <a:pPr algn="l">
              <a:lnSpc>
                <a:spcPct val="98000"/>
              </a:lnSpc>
              <a:spcBef>
                <a:spcPts val="0"/>
              </a:spcBef>
              <a:spcAft>
                <a:spcPts val="0"/>
              </a:spcAft>
            </a:pPr>
            <a:r>
              <a:rPr sz="1700" b="1" i="0">
                <a:solidFill>
                  <a:srgbClr val="16324F"/>
                </a:solidFill>
                <a:latin typeface="Calibri"/>
              </a:rPr>
              <a:t>Dihitung, tidak ditebak</a:t>
            </a:r>
          </a:p>
        </p:txBody>
      </p:sp>
      <p:sp>
        <p:nvSpPr>
          <p:cNvPr id="21" name="Rounded Rectangle 20"/>
          <p:cNvSpPr/>
          <p:nvPr/>
        </p:nvSpPr>
        <p:spPr>
          <a:xfrm>
            <a:off x="8127796" y="1783080"/>
            <a:ext cx="3515258" cy="3566160"/>
          </a:xfrm>
          <a:prstGeom prst="roundRect">
            <a:avLst>
              <a:gd name="adj" fmla="val 2601"/>
            </a:avLst>
          </a:prstGeom>
          <a:solidFill>
            <a:srgbClr val="EEF2F6"/>
          </a:solidFill>
          <a:ln>
            <a:noFill/>
          </a:ln>
        </p:spPr>
        <p:txBody>
          <a:bodyPr rtlCol="0" anchor="ctr"/>
          <a:lstStyle/>
          <a:p>
            <a:pPr algn="ctr"/>
          </a:p>
        </p:txBody>
      </p:sp>
      <p:sp>
        <p:nvSpPr>
          <p:cNvPr id="22" name="body"/>
          <p:cNvSpPr txBox="1"/>
          <p:nvPr/>
        </p:nvSpPr>
        <p:spPr>
          <a:xfrm>
            <a:off x="8356396" y="1938528"/>
            <a:ext cx="3058058" cy="603504"/>
          </a:xfrm>
          <a:prstGeom prst="rect">
            <a:avLst/>
          </a:prstGeom>
          <a:noFill/>
        </p:spPr>
        <p:txBody>
          <a:bodyPr wrap="square" lIns="0" rIns="0" tIns="0" bIns="0" anchor="t">
            <a:noAutofit/>
          </a:bodyPr>
          <a:lstStyle/>
          <a:p>
            <a:pPr algn="l">
              <a:lnSpc>
                <a:spcPct val="95000"/>
              </a:lnSpc>
              <a:spcBef>
                <a:spcPts val="0"/>
              </a:spcBef>
              <a:spcAft>
                <a:spcPts val="0"/>
              </a:spcAft>
            </a:pPr>
            <a:r>
              <a:rPr sz="1900" b="1" i="0">
                <a:solidFill>
                  <a:srgbClr val="1F2933"/>
                </a:solidFill>
                <a:latin typeface="Calibri"/>
              </a:rPr>
              <a:t>Adopsi seragam per subzona</a:t>
            </a:r>
          </a:p>
        </p:txBody>
      </p:sp>
      <p:sp>
        <p:nvSpPr>
          <p:cNvPr id="23" name="body"/>
          <p:cNvSpPr txBox="1"/>
          <p:nvPr/>
        </p:nvSpPr>
        <p:spPr>
          <a:xfrm>
            <a:off x="8356396" y="2560320"/>
            <a:ext cx="3058058" cy="566928"/>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5F6B7A"/>
                </a:solidFill>
                <a:latin typeface="Calibri"/>
              </a:rPr>
              <a:t>di 100% subzona data latih</a:t>
            </a:r>
          </a:p>
        </p:txBody>
      </p:sp>
      <p:sp>
        <p:nvSpPr>
          <p:cNvPr id="24" name="angka"/>
          <p:cNvSpPr txBox="1"/>
          <p:nvPr/>
        </p:nvSpPr>
        <p:spPr>
          <a:xfrm>
            <a:off x="8356396" y="3127248"/>
            <a:ext cx="3058058" cy="685800"/>
          </a:xfrm>
          <a:prstGeom prst="rect">
            <a:avLst/>
          </a:prstGeom>
          <a:noFill/>
        </p:spPr>
        <p:txBody>
          <a:bodyPr wrap="square" lIns="0" rIns="0" tIns="0" bIns="0" anchor="t">
            <a:noAutofit/>
          </a:bodyPr>
          <a:lstStyle/>
          <a:p>
            <a:pPr algn="l">
              <a:lnSpc>
                <a:spcPct val="100000"/>
              </a:lnSpc>
              <a:spcBef>
                <a:spcPts val="0"/>
              </a:spcBef>
              <a:spcAft>
                <a:spcPts val="0"/>
              </a:spcAft>
            </a:pPr>
            <a:r>
              <a:rPr sz="4000" b="1" i="0">
                <a:solidFill>
                  <a:srgbClr val="1F7A8C"/>
                </a:solidFill>
                <a:latin typeface="Calibri"/>
              </a:rPr>
              <a:t>91,86%</a:t>
            </a:r>
          </a:p>
        </p:txBody>
      </p:sp>
      <p:sp>
        <p:nvSpPr>
          <p:cNvPr id="25" name="body"/>
          <p:cNvSpPr txBox="1"/>
          <p:nvPr/>
        </p:nvSpPr>
        <p:spPr>
          <a:xfrm>
            <a:off x="8356396" y="3794760"/>
            <a:ext cx="3058058" cy="36576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F2933"/>
                </a:solidFill>
                <a:latin typeface="Calibri"/>
              </a:rPr>
              <a:t>kawasan uji di subzona yang dikenal</a:t>
            </a:r>
          </a:p>
        </p:txBody>
      </p:sp>
      <p:cxnSp>
        <p:nvCxnSpPr>
          <p:cNvPr id="26" name="Connector 25"/>
          <p:cNvCxnSpPr/>
          <p:nvPr/>
        </p:nvCxnSpPr>
        <p:spPr>
          <a:xfrm>
            <a:off x="8356396" y="4261104"/>
            <a:ext cx="3058059" cy="0"/>
          </a:xfrm>
          <a:prstGeom prst="line">
            <a:avLst/>
          </a:prstGeom>
          <a:ln w="12700">
            <a:solidFill>
              <a:srgbClr val="D5DBE3"/>
            </a:solidFill>
          </a:ln>
        </p:spPr>
      </p:cxnSp>
      <p:sp>
        <p:nvSpPr>
          <p:cNvPr id="27" name="body"/>
          <p:cNvSpPr txBox="1"/>
          <p:nvPr/>
        </p:nvSpPr>
        <p:spPr>
          <a:xfrm>
            <a:off x="8356396" y="4389120"/>
            <a:ext cx="3058058" cy="868680"/>
          </a:xfrm>
          <a:prstGeom prst="rect">
            <a:avLst/>
          </a:prstGeom>
          <a:noFill/>
        </p:spPr>
        <p:txBody>
          <a:bodyPr wrap="square" lIns="0" rIns="0" tIns="0" bIns="0" anchor="t">
            <a:noAutofit/>
          </a:bodyPr>
          <a:lstStyle/>
          <a:p>
            <a:pPr algn="l">
              <a:lnSpc>
                <a:spcPct val="98000"/>
              </a:lnSpc>
              <a:spcBef>
                <a:spcPts val="0"/>
              </a:spcBef>
              <a:spcAft>
                <a:spcPts val="0"/>
              </a:spcAft>
            </a:pPr>
            <a:r>
              <a:rPr sz="1700" b="1" i="0">
                <a:solidFill>
                  <a:srgbClr val="16324F"/>
                </a:solidFill>
                <a:latin typeface="Calibri"/>
              </a:rPr>
              <a:t>Disalin; model hanya untuk 8,14% sisanya</a:t>
            </a:r>
          </a:p>
        </p:txBody>
      </p:sp>
      <p:sp>
        <p:nvSpPr>
          <p:cNvPr id="28" name="Rounded Rectangle 27"/>
          <p:cNvSpPr/>
          <p:nvPr/>
        </p:nvSpPr>
        <p:spPr>
          <a:xfrm>
            <a:off x="548640" y="5504688"/>
            <a:ext cx="4513279" cy="292608"/>
          </a:xfrm>
          <a:prstGeom prst="roundRect">
            <a:avLst>
              <a:gd name="adj" fmla="val 25000"/>
            </a:avLst>
          </a:prstGeom>
          <a:solidFill>
            <a:srgbClr val="E3EAF2"/>
          </a:solidFill>
          <a:ln>
            <a:noFill/>
          </a:ln>
        </p:spPr>
        <p:txBody>
          <a:bodyPr rtlCol="0" anchor="ctr"/>
          <a:lstStyle/>
          <a:p>
            <a:pPr algn="ctr"/>
          </a:p>
        </p:txBody>
      </p:sp>
      <p:sp>
        <p:nvSpPr>
          <p:cNvPr id="29" name="sumber"/>
          <p:cNvSpPr txBox="1"/>
          <p:nvPr/>
        </p:nvSpPr>
        <p:spPr>
          <a:xfrm>
            <a:off x="667512" y="5541264"/>
            <a:ext cx="4293823"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6324F"/>
                </a:solidFill>
                <a:latin typeface="Calibri"/>
              </a:rPr>
              <a:t>FAKTA</a:t>
            </a:r>
            <a:r>
              <a:rPr sz="1200" b="0" i="0">
                <a:solidFill>
                  <a:srgbClr val="16324F"/>
                </a:solidFill>
                <a:latin typeface="Calibri"/>
              </a:rPr>
              <a:t> · pemeriksaan identitas di sel 25 (In [22]), seluruh baris latih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Luas lantai per meter, proksi ukuran rumah, paling berpengaruh di model penjelas</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DATA DAN FITUR · FITUR FISIK</a:t>
            </a:r>
          </a:p>
        </p:txBody>
      </p:sp>
      <p:sp>
        <p:nvSpPr>
          <p:cNvPr id="4" name="istilah"/>
          <p:cNvSpPr txBox="1"/>
          <p:nvPr/>
        </p:nvSpPr>
        <p:spPr>
          <a:xfrm>
            <a:off x="548640" y="6035040"/>
            <a:ext cx="11094415" cy="365760"/>
          </a:xfrm>
          <a:prstGeom prst="rect">
            <a:avLst/>
          </a:prstGeom>
          <a:noFill/>
        </p:spPr>
        <p:txBody>
          <a:bodyPr wrap="square" lIns="0" rIns="0" tIns="0" bIns="0" anchor="t">
            <a:noAutofit/>
          </a:bodyPr>
          <a:lstStyle/>
          <a:p>
            <a:pPr algn="l">
              <a:lnSpc>
                <a:spcPct val="95000"/>
              </a:lnSpc>
              <a:spcBef>
                <a:spcPts val="0"/>
              </a:spcBef>
              <a:spcAft>
                <a:spcPts val="0"/>
              </a:spcAft>
            </a:pPr>
            <a:r>
              <a:rPr sz="1200" b="1" i="0">
                <a:solidFill>
                  <a:srgbClr val="5F6B7A"/>
                </a:solidFill>
                <a:latin typeface="Calibri"/>
              </a:rPr>
              <a:t>Istilah.</a:t>
            </a:r>
            <a:r>
              <a:rPr sz="1200" b="0" i="0">
                <a:solidFill>
                  <a:srgbClr val="5F6B7A"/>
                </a:solidFill>
                <a:latin typeface="Calibri"/>
              </a:rPr>
              <a:t> SHAP: pembagian setiap tebakan model menjadi sumbangan tiap variabel. Model penjelas: satu LightGBM per target yang hanya memakai karakteristik kawasan terukur.</a:t>
            </a:r>
          </a:p>
        </p:txBody>
      </p:sp>
      <p:sp>
        <p:nvSpPr>
          <p:cNvPr id="5"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6"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4</a:t>
            </a:r>
          </a:p>
        </p:txBody>
      </p:sp>
      <p:sp>
        <p:nvSpPr>
          <p:cNvPr id="7" name="Rounded Rectangle 6"/>
          <p:cNvSpPr/>
          <p:nvPr/>
        </p:nvSpPr>
        <p:spPr>
          <a:xfrm>
            <a:off x="548640" y="1783080"/>
            <a:ext cx="4343400" cy="3931920"/>
          </a:xfrm>
          <a:prstGeom prst="roundRect">
            <a:avLst>
              <a:gd name="adj" fmla="val 2325"/>
            </a:avLst>
          </a:prstGeom>
          <a:solidFill>
            <a:srgbClr val="EEF2F6"/>
          </a:solidFill>
          <a:ln>
            <a:noFill/>
          </a:ln>
        </p:spPr>
        <p:txBody>
          <a:bodyPr rtlCol="0" anchor="ctr"/>
          <a:lstStyle/>
          <a:p>
            <a:pPr algn="ctr"/>
          </a:p>
        </p:txBody>
      </p:sp>
      <p:sp>
        <p:nvSpPr>
          <p:cNvPr id="8" name="label"/>
          <p:cNvSpPr txBox="1"/>
          <p:nvPr/>
        </p:nvSpPr>
        <p:spPr>
          <a:xfrm>
            <a:off x="777240" y="1938528"/>
            <a:ext cx="3931920" cy="32004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RUMUS</a:t>
            </a:r>
          </a:p>
        </p:txBody>
      </p:sp>
      <p:sp>
        <p:nvSpPr>
          <p:cNvPr id="9" name="body"/>
          <p:cNvSpPr txBox="1"/>
          <p:nvPr/>
        </p:nvSpPr>
        <p:spPr>
          <a:xfrm>
            <a:off x="777240" y="2212848"/>
            <a:ext cx="3931920" cy="566928"/>
          </a:xfrm>
          <a:prstGeom prst="rect">
            <a:avLst/>
          </a:prstGeom>
          <a:noFill/>
        </p:spPr>
        <p:txBody>
          <a:bodyPr wrap="square" lIns="0" rIns="0" tIns="0" bIns="0" anchor="t">
            <a:noAutofit/>
          </a:bodyPr>
          <a:lstStyle/>
          <a:p>
            <a:pPr algn="l">
              <a:lnSpc>
                <a:spcPct val="95000"/>
              </a:lnSpc>
              <a:spcBef>
                <a:spcPts val="0"/>
              </a:spcBef>
              <a:spcAft>
                <a:spcPts val="0"/>
              </a:spcAft>
            </a:pPr>
            <a:r>
              <a:rPr sz="1700" b="1" i="0">
                <a:solidFill>
                  <a:srgbClr val="16324F"/>
                </a:solidFill>
                <a:latin typeface="Calibri"/>
              </a:rPr>
              <a:t>area_per_meter =</a:t>
            </a:r>
          </a:p>
          <a:p>
            <a:pPr algn="l">
              <a:lnSpc>
                <a:spcPct val="95000"/>
              </a:lnSpc>
              <a:spcBef>
                <a:spcPts val="0"/>
              </a:spcBef>
              <a:spcAft>
                <a:spcPts val="0"/>
              </a:spcAft>
            </a:pPr>
            <a:r>
              <a:rPr sz="1700" b="1" i="0">
                <a:solidFill>
                  <a:srgbClr val="16324F"/>
                </a:solidFill>
                <a:latin typeface="Calibri"/>
              </a:rPr>
              <a:t>bld_dim_06 / bld_dim_12</a:t>
            </a:r>
          </a:p>
        </p:txBody>
      </p:sp>
      <p:sp>
        <p:nvSpPr>
          <p:cNvPr id="10" name="body"/>
          <p:cNvSpPr txBox="1"/>
          <p:nvPr/>
        </p:nvSpPr>
        <p:spPr>
          <a:xfrm>
            <a:off x="777240" y="2834640"/>
            <a:ext cx="3931920" cy="566928"/>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5F6B7A"/>
                </a:solidFill>
                <a:latin typeface="Calibri"/>
              </a:rPr>
              <a:t>luas lantai dibagi jumlah meter, kira-kira luas rata-rata satu rumah</a:t>
            </a:r>
          </a:p>
        </p:txBody>
      </p:sp>
      <p:sp>
        <p:nvSpPr>
          <p:cNvPr id="11" name="body"/>
          <p:cNvSpPr txBox="1"/>
          <p:nvPr/>
        </p:nvSpPr>
        <p:spPr>
          <a:xfrm>
            <a:off x="777240" y="3493008"/>
            <a:ext cx="3931920" cy="1280160"/>
          </a:xfrm>
          <a:prstGeom prst="rect">
            <a:avLst/>
          </a:prstGeom>
          <a:noFill/>
        </p:spPr>
        <p:txBody>
          <a:bodyPr wrap="square" lIns="0" rIns="0" tIns="0" bIns="0" anchor="t">
            <a:noAutofit/>
          </a:bodyPr>
          <a:lstStyle/>
          <a:p>
            <a:pPr algn="l" marL="228600" indent="-228600">
              <a:lnSpc>
                <a:spcPct val="100000"/>
              </a:lnSpc>
              <a:spcBef>
                <a:spcPts val="0"/>
              </a:spcBef>
              <a:spcAft>
                <a:spcPts val="400"/>
              </a:spcAft>
              <a:buFont typeface="Arial"/>
              <a:buChar char="•"/>
            </a:pPr>
            <a:r>
              <a:rPr sz="1500" b="0" i="0">
                <a:solidFill>
                  <a:srgbClr val="1F2933"/>
                </a:solidFill>
                <a:latin typeface="Calibri"/>
              </a:rPr>
              <a:t>dihitung per baris dari dua kolom input</a:t>
            </a:r>
          </a:p>
          <a:p>
            <a:pPr algn="l" marL="228600" indent="-228600">
              <a:lnSpc>
                <a:spcPct val="100000"/>
              </a:lnSpc>
              <a:spcBef>
                <a:spcPts val="0"/>
              </a:spcBef>
              <a:spcAft>
                <a:spcPts val="400"/>
              </a:spcAft>
              <a:buFont typeface="Arial"/>
              <a:buChar char="•"/>
            </a:pPr>
            <a:r>
              <a:rPr sz="1500" b="0" i="0">
                <a:solidFill>
                  <a:srgbClr val="1F2933"/>
                </a:solidFill>
                <a:latin typeface="Calibri"/>
              </a:rPr>
              <a:t>tanpa target dan tanpa statistik lintas baris</a:t>
            </a:r>
          </a:p>
          <a:p>
            <a:pPr algn="l" marL="228600" indent="-228600">
              <a:lnSpc>
                <a:spcPct val="100000"/>
              </a:lnSpc>
              <a:spcBef>
                <a:spcPts val="0"/>
              </a:spcBef>
              <a:spcAft>
                <a:spcPts val="0"/>
              </a:spcAft>
              <a:buFont typeface="Arial"/>
              <a:buChar char="•"/>
            </a:pPr>
            <a:r>
              <a:rPr sz="1500" b="0" i="0">
                <a:solidFill>
                  <a:srgbClr val="1F2933"/>
                </a:solidFill>
                <a:latin typeface="Calibri"/>
              </a:rPr>
              <a:t>rumus sama untuk data latih dan data uji</a:t>
            </a:r>
          </a:p>
        </p:txBody>
      </p:sp>
      <p:sp>
        <p:nvSpPr>
          <p:cNvPr id="12" name="body"/>
          <p:cNvSpPr txBox="1"/>
          <p:nvPr/>
        </p:nvSpPr>
        <p:spPr>
          <a:xfrm>
            <a:off x="777240" y="4709160"/>
            <a:ext cx="3931920" cy="411480"/>
          </a:xfrm>
          <a:prstGeom prst="rect">
            <a:avLst/>
          </a:prstGeom>
          <a:noFill/>
        </p:spPr>
        <p:txBody>
          <a:bodyPr wrap="square" lIns="0" rIns="0" tIns="0" bIns="0" anchor="t">
            <a:noAutofit/>
          </a:bodyPr>
          <a:lstStyle/>
          <a:p>
            <a:pPr algn="l">
              <a:lnSpc>
                <a:spcPct val="98000"/>
              </a:lnSpc>
              <a:spcBef>
                <a:spcPts val="0"/>
              </a:spcBef>
              <a:spcAft>
                <a:spcPts val="0"/>
              </a:spcAft>
            </a:pPr>
            <a:r>
              <a:rPr sz="1800" b="1" i="0">
                <a:solidFill>
                  <a:srgbClr val="16324F"/>
                </a:solidFill>
                <a:latin typeface="Calibri"/>
              </a:rPr>
              <a:t>Tidak dapat membocorkan target</a:t>
            </a:r>
          </a:p>
        </p:txBody>
      </p:sp>
      <p:sp>
        <p:nvSpPr>
          <p:cNvPr id="13" name="Rounded Rectangle 12"/>
          <p:cNvSpPr/>
          <p:nvPr/>
        </p:nvSpPr>
        <p:spPr>
          <a:xfrm>
            <a:off x="777240" y="5230368"/>
            <a:ext cx="1894166" cy="292608"/>
          </a:xfrm>
          <a:prstGeom prst="roundRect">
            <a:avLst>
              <a:gd name="adj" fmla="val 25000"/>
            </a:avLst>
          </a:prstGeom>
          <a:solidFill>
            <a:srgbClr val="FFFFFF"/>
          </a:solidFill>
          <a:ln>
            <a:noFill/>
          </a:ln>
        </p:spPr>
        <p:txBody>
          <a:bodyPr rtlCol="0" anchor="ctr"/>
          <a:lstStyle/>
          <a:p>
            <a:pPr algn="ctr"/>
          </a:p>
        </p:txBody>
      </p:sp>
      <p:sp>
        <p:nvSpPr>
          <p:cNvPr id="14" name="sumber"/>
          <p:cNvSpPr txBox="1"/>
          <p:nvPr/>
        </p:nvSpPr>
        <p:spPr>
          <a:xfrm>
            <a:off x="896112" y="5266944"/>
            <a:ext cx="1674710"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6324F"/>
                </a:solidFill>
                <a:latin typeface="Calibri"/>
              </a:rPr>
              <a:t>FAKTA</a:t>
            </a:r>
            <a:r>
              <a:rPr sz="1200" b="0" i="0">
                <a:solidFill>
                  <a:srgbClr val="16324F"/>
                </a:solidFill>
                <a:latin typeface="Calibri"/>
              </a:rPr>
              <a:t> · sel 28, bagian 2.1</a:t>
            </a:r>
          </a:p>
        </p:txBody>
      </p:sp>
      <p:pic>
        <p:nvPicPr>
          <p:cNvPr id="15" name="Picture 14" descr="Lima fitur teratas menurut rata-rata |SHAP| untuk log EUI dan log listrik per meter; area_per_meter peringkat 1 di keduanya"/>
          <p:cNvPicPr>
            <a:picLocks noChangeAspect="1"/>
          </p:cNvPicPr>
          <p:nvPr/>
        </p:nvPicPr>
        <p:blipFill>
          <a:blip r:embed="rId2"/>
          <a:stretch>
            <a:fillRect/>
          </a:stretch>
        </p:blipFill>
        <p:spPr>
          <a:xfrm>
            <a:off x="5166360" y="1737360"/>
            <a:ext cx="6473952" cy="3329461"/>
          </a:xfrm>
          <a:prstGeom prst="rect">
            <a:avLst/>
          </a:prstGeom>
        </p:spPr>
      </p:pic>
      <p:sp>
        <p:nvSpPr>
          <p:cNvPr id="16" name="body"/>
          <p:cNvSpPr txBox="1"/>
          <p:nvPr/>
        </p:nvSpPr>
        <p:spPr>
          <a:xfrm>
            <a:off x="5257800" y="5120640"/>
            <a:ext cx="3840480" cy="411480"/>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D97B29"/>
                </a:solidFill>
                <a:latin typeface="Calibri"/>
              </a:rPr>
              <a:t>2,8× dan 3,0×</a:t>
            </a:r>
            <a:r>
              <a:rPr sz="1700" b="0" i="0">
                <a:solidFill>
                  <a:srgbClr val="1F2933"/>
                </a:solidFill>
                <a:latin typeface="Calibri"/>
              </a:rPr>
              <a:t> fitur peringkat kedua</a:t>
            </a:r>
          </a:p>
        </p:txBody>
      </p:sp>
      <p:sp>
        <p:nvSpPr>
          <p:cNvPr id="17" name="Rounded Rectangle 16"/>
          <p:cNvSpPr/>
          <p:nvPr/>
        </p:nvSpPr>
        <p:spPr>
          <a:xfrm>
            <a:off x="5257800" y="5596128"/>
            <a:ext cx="3421577" cy="292608"/>
          </a:xfrm>
          <a:prstGeom prst="roundRect">
            <a:avLst>
              <a:gd name="adj" fmla="val 25000"/>
            </a:avLst>
          </a:prstGeom>
          <a:solidFill>
            <a:srgbClr val="E3F1F4"/>
          </a:solidFill>
          <a:ln>
            <a:noFill/>
          </a:ln>
        </p:spPr>
        <p:txBody>
          <a:bodyPr rtlCol="0" anchor="ctr"/>
          <a:lstStyle/>
          <a:p>
            <a:pPr algn="ctr"/>
          </a:p>
        </p:txBody>
      </p:sp>
      <p:sp>
        <p:nvSpPr>
          <p:cNvPr id="18" name="sumber"/>
          <p:cNvSpPr txBox="1"/>
          <p:nvPr/>
        </p:nvSpPr>
        <p:spPr>
          <a:xfrm>
            <a:off x="5376672" y="5632704"/>
            <a:ext cx="3202121"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7606E"/>
                </a:solidFill>
                <a:latin typeface="Calibri"/>
              </a:rPr>
              <a:t>HASIL</a:t>
            </a:r>
            <a:r>
              <a:rPr sz="1200" b="0" i="0">
                <a:solidFill>
                  <a:srgbClr val="17606E"/>
                </a:solidFill>
                <a:latin typeface="Calibri"/>
              </a:rPr>
              <a:t> · model penjelas LightGBM · sel 45 (In [32])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Kawasan termirip memakai target tetangga tanpa pernah melihat target baris yang dinilai</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DATA DAN FITUR · FITUR SPASIAL</a:t>
            </a:r>
          </a:p>
        </p:txBody>
      </p:sp>
      <p:sp>
        <p:nvSpPr>
          <p:cNvPr id="4" name="istilah"/>
          <p:cNvSpPr txBox="1"/>
          <p:nvPr/>
        </p:nvSpPr>
        <p:spPr>
          <a:xfrm>
            <a:off x="548640" y="6035040"/>
            <a:ext cx="11094415" cy="365760"/>
          </a:xfrm>
          <a:prstGeom prst="rect">
            <a:avLst/>
          </a:prstGeom>
          <a:noFill/>
        </p:spPr>
        <p:txBody>
          <a:bodyPr wrap="square" lIns="0" rIns="0" tIns="0" bIns="0" anchor="t">
            <a:noAutofit/>
          </a:bodyPr>
          <a:lstStyle/>
          <a:p>
            <a:pPr algn="l">
              <a:lnSpc>
                <a:spcPct val="95000"/>
              </a:lnSpc>
              <a:spcBef>
                <a:spcPts val="0"/>
              </a:spcBef>
              <a:spcAft>
                <a:spcPts val="0"/>
              </a:spcAft>
            </a:pPr>
            <a:r>
              <a:rPr sz="1200" b="1" i="0">
                <a:solidFill>
                  <a:srgbClr val="5F6B7A"/>
                </a:solidFill>
                <a:latin typeface="Calibri"/>
              </a:rPr>
              <a:t>Istilah.</a:t>
            </a:r>
            <a:r>
              <a:rPr sz="1200" b="0" i="0">
                <a:solidFill>
                  <a:srgbClr val="5F6B7A"/>
                </a:solidFill>
                <a:latin typeface="Calibri"/>
              </a:rPr>
              <a:t> </a:t>
            </a:r>
            <a:r>
              <a:rPr sz="1200" b="0" i="1">
                <a:solidFill>
                  <a:srgbClr val="5F6B7A"/>
                </a:solidFill>
                <a:latin typeface="Calibri"/>
              </a:rPr>
              <a:t>Out-of-fold</a:t>
            </a:r>
            <a:r>
              <a:rPr sz="1200" b="0" i="0">
                <a:solidFill>
                  <a:srgbClr val="5F6B7A"/>
                </a:solidFill>
                <a:latin typeface="Calibri"/>
              </a:rPr>
              <a:t>: nilai sebuah baris dihitung hanya dari data yang tidak memuat baris itu. </a:t>
            </a:r>
            <a:r>
              <a:rPr sz="1200" b="0" i="1">
                <a:solidFill>
                  <a:srgbClr val="5F6B7A"/>
                </a:solidFill>
                <a:latin typeface="Calibri"/>
              </a:rPr>
              <a:t>Fold</a:t>
            </a:r>
            <a:r>
              <a:rPr sz="1200" b="0" i="0">
                <a:solidFill>
                  <a:srgbClr val="5F6B7A"/>
                </a:solidFill>
                <a:latin typeface="Calibri"/>
              </a:rPr>
              <a:t>: satu dari sepuluh potongan data latih. kNN: rata-rata k kawasan paling mirip.</a:t>
            </a:r>
          </a:p>
        </p:txBody>
      </p:sp>
      <p:sp>
        <p:nvSpPr>
          <p:cNvPr id="5"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6"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5</a:t>
            </a:r>
          </a:p>
        </p:txBody>
      </p:sp>
      <p:sp>
        <p:nvSpPr>
          <p:cNvPr id="7" name="body"/>
          <p:cNvSpPr txBox="1"/>
          <p:nvPr/>
        </p:nvSpPr>
        <p:spPr>
          <a:xfrm>
            <a:off x="548640" y="1783080"/>
            <a:ext cx="6172200" cy="320040"/>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1F7A8C"/>
                </a:solidFill>
                <a:latin typeface="Calibri"/>
              </a:rPr>
              <a:t>1</a:t>
            </a:r>
            <a:r>
              <a:rPr sz="1600" b="1" i="0">
                <a:solidFill>
                  <a:srgbClr val="1F2933"/>
                </a:solidFill>
                <a:latin typeface="Calibri"/>
              </a:rPr>
              <a:t> Sepuluh </a:t>
            </a:r>
            <a:r>
              <a:rPr sz="1600" b="1" i="1">
                <a:solidFill>
                  <a:srgbClr val="1F2933"/>
                </a:solidFill>
                <a:latin typeface="Calibri"/>
              </a:rPr>
              <a:t>fold</a:t>
            </a:r>
            <a:r>
              <a:rPr sz="1600" b="1" i="0">
                <a:solidFill>
                  <a:srgbClr val="1F2933"/>
                </a:solidFill>
                <a:latin typeface="Calibri"/>
              </a:rPr>
              <a:t>: satu dinilai, sembilan untuk mencari tetangga</a:t>
            </a:r>
          </a:p>
        </p:txBody>
      </p:sp>
      <p:sp>
        <p:nvSpPr>
          <p:cNvPr id="8" name="Rounded Rectangle 7"/>
          <p:cNvSpPr/>
          <p:nvPr/>
        </p:nvSpPr>
        <p:spPr>
          <a:xfrm>
            <a:off x="548640" y="2194560"/>
            <a:ext cx="548640" cy="457200"/>
          </a:xfrm>
          <a:prstGeom prst="roundRect">
            <a:avLst>
              <a:gd name="adj" fmla="val 10000"/>
            </a:avLst>
          </a:prstGeom>
          <a:solidFill>
            <a:srgbClr val="E3EAF2"/>
          </a:solidFill>
          <a:ln>
            <a:noFill/>
          </a:ln>
        </p:spPr>
        <p:txBody>
          <a:bodyPr rtlCol="0" anchor="ctr"/>
          <a:lstStyle/>
          <a:p>
            <a:pPr algn="ctr"/>
          </a:p>
        </p:txBody>
      </p:sp>
      <p:sp>
        <p:nvSpPr>
          <p:cNvPr id="9" name="diagram"/>
          <p:cNvSpPr txBox="1"/>
          <p:nvPr/>
        </p:nvSpPr>
        <p:spPr>
          <a:xfrm>
            <a:off x="548640" y="2194560"/>
            <a:ext cx="548640" cy="45720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1</a:t>
            </a:r>
          </a:p>
        </p:txBody>
      </p:sp>
      <p:sp>
        <p:nvSpPr>
          <p:cNvPr id="10" name="Rounded Rectangle 9"/>
          <p:cNvSpPr/>
          <p:nvPr/>
        </p:nvSpPr>
        <p:spPr>
          <a:xfrm>
            <a:off x="1173480" y="2194560"/>
            <a:ext cx="548640" cy="457200"/>
          </a:xfrm>
          <a:prstGeom prst="roundRect">
            <a:avLst>
              <a:gd name="adj" fmla="val 10000"/>
            </a:avLst>
          </a:prstGeom>
          <a:solidFill>
            <a:srgbClr val="E3EAF2"/>
          </a:solidFill>
          <a:ln>
            <a:noFill/>
          </a:ln>
        </p:spPr>
        <p:txBody>
          <a:bodyPr rtlCol="0" anchor="ctr"/>
          <a:lstStyle/>
          <a:p>
            <a:pPr algn="ctr"/>
          </a:p>
        </p:txBody>
      </p:sp>
      <p:sp>
        <p:nvSpPr>
          <p:cNvPr id="11" name="diagram"/>
          <p:cNvSpPr txBox="1"/>
          <p:nvPr/>
        </p:nvSpPr>
        <p:spPr>
          <a:xfrm>
            <a:off x="1173480" y="2194560"/>
            <a:ext cx="548640" cy="45720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2</a:t>
            </a:r>
          </a:p>
        </p:txBody>
      </p:sp>
      <p:sp>
        <p:nvSpPr>
          <p:cNvPr id="12" name="Rounded Rectangle 11"/>
          <p:cNvSpPr/>
          <p:nvPr/>
        </p:nvSpPr>
        <p:spPr>
          <a:xfrm>
            <a:off x="1798320" y="2194560"/>
            <a:ext cx="548640" cy="457200"/>
          </a:xfrm>
          <a:prstGeom prst="roundRect">
            <a:avLst>
              <a:gd name="adj" fmla="val 10000"/>
            </a:avLst>
          </a:prstGeom>
          <a:solidFill>
            <a:srgbClr val="D97B29"/>
          </a:solidFill>
          <a:ln>
            <a:noFill/>
          </a:ln>
        </p:spPr>
        <p:txBody>
          <a:bodyPr rtlCol="0" anchor="ctr"/>
          <a:lstStyle/>
          <a:p>
            <a:pPr algn="ctr"/>
          </a:p>
        </p:txBody>
      </p:sp>
      <p:sp>
        <p:nvSpPr>
          <p:cNvPr id="13" name="diagram"/>
          <p:cNvSpPr txBox="1"/>
          <p:nvPr/>
        </p:nvSpPr>
        <p:spPr>
          <a:xfrm>
            <a:off x="1798320" y="2194560"/>
            <a:ext cx="548640" cy="457200"/>
          </a:xfrm>
          <a:prstGeom prst="rect">
            <a:avLst/>
          </a:prstGeom>
          <a:noFill/>
        </p:spPr>
        <p:txBody>
          <a:bodyPr wrap="square" lIns="0" rIns="0" tIns="0" bIns="0" anchor="ctr">
            <a:noAutofit/>
          </a:bodyPr>
          <a:lstStyle/>
          <a:p>
            <a:pPr algn="ctr">
              <a:lnSpc>
                <a:spcPct val="100000"/>
              </a:lnSpc>
              <a:spcBef>
                <a:spcPts val="0"/>
              </a:spcBef>
              <a:spcAft>
                <a:spcPts val="0"/>
              </a:spcAft>
            </a:pPr>
            <a:r>
              <a:rPr sz="1300" b="1" i="0">
                <a:solidFill>
                  <a:srgbClr val="FFFFFF"/>
                </a:solidFill>
                <a:latin typeface="Calibri"/>
              </a:rPr>
              <a:t>3</a:t>
            </a:r>
          </a:p>
        </p:txBody>
      </p:sp>
      <p:sp>
        <p:nvSpPr>
          <p:cNvPr id="14" name="Rounded Rectangle 13"/>
          <p:cNvSpPr/>
          <p:nvPr/>
        </p:nvSpPr>
        <p:spPr>
          <a:xfrm>
            <a:off x="2423160" y="2194560"/>
            <a:ext cx="548640" cy="457200"/>
          </a:xfrm>
          <a:prstGeom prst="roundRect">
            <a:avLst>
              <a:gd name="adj" fmla="val 10000"/>
            </a:avLst>
          </a:prstGeom>
          <a:solidFill>
            <a:srgbClr val="E3EAF2"/>
          </a:solidFill>
          <a:ln>
            <a:noFill/>
          </a:ln>
        </p:spPr>
        <p:txBody>
          <a:bodyPr rtlCol="0" anchor="ctr"/>
          <a:lstStyle/>
          <a:p>
            <a:pPr algn="ctr"/>
          </a:p>
        </p:txBody>
      </p:sp>
      <p:sp>
        <p:nvSpPr>
          <p:cNvPr id="15" name="diagram"/>
          <p:cNvSpPr txBox="1"/>
          <p:nvPr/>
        </p:nvSpPr>
        <p:spPr>
          <a:xfrm>
            <a:off x="2423160" y="2194560"/>
            <a:ext cx="548640" cy="45720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4</a:t>
            </a:r>
          </a:p>
        </p:txBody>
      </p:sp>
      <p:sp>
        <p:nvSpPr>
          <p:cNvPr id="16" name="Rounded Rectangle 15"/>
          <p:cNvSpPr/>
          <p:nvPr/>
        </p:nvSpPr>
        <p:spPr>
          <a:xfrm>
            <a:off x="3048000" y="2194560"/>
            <a:ext cx="548640" cy="457200"/>
          </a:xfrm>
          <a:prstGeom prst="roundRect">
            <a:avLst>
              <a:gd name="adj" fmla="val 10000"/>
            </a:avLst>
          </a:prstGeom>
          <a:solidFill>
            <a:srgbClr val="E3EAF2"/>
          </a:solidFill>
          <a:ln>
            <a:noFill/>
          </a:ln>
        </p:spPr>
        <p:txBody>
          <a:bodyPr rtlCol="0" anchor="ctr"/>
          <a:lstStyle/>
          <a:p>
            <a:pPr algn="ctr"/>
          </a:p>
        </p:txBody>
      </p:sp>
      <p:sp>
        <p:nvSpPr>
          <p:cNvPr id="17" name="diagram"/>
          <p:cNvSpPr txBox="1"/>
          <p:nvPr/>
        </p:nvSpPr>
        <p:spPr>
          <a:xfrm>
            <a:off x="3048000" y="2194560"/>
            <a:ext cx="548640" cy="45720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5</a:t>
            </a:r>
          </a:p>
        </p:txBody>
      </p:sp>
      <p:sp>
        <p:nvSpPr>
          <p:cNvPr id="18" name="Rounded Rectangle 17"/>
          <p:cNvSpPr/>
          <p:nvPr/>
        </p:nvSpPr>
        <p:spPr>
          <a:xfrm>
            <a:off x="3672840" y="2194560"/>
            <a:ext cx="548640" cy="457200"/>
          </a:xfrm>
          <a:prstGeom prst="roundRect">
            <a:avLst>
              <a:gd name="adj" fmla="val 10000"/>
            </a:avLst>
          </a:prstGeom>
          <a:solidFill>
            <a:srgbClr val="E3EAF2"/>
          </a:solidFill>
          <a:ln>
            <a:noFill/>
          </a:ln>
        </p:spPr>
        <p:txBody>
          <a:bodyPr rtlCol="0" anchor="ctr"/>
          <a:lstStyle/>
          <a:p>
            <a:pPr algn="ctr"/>
          </a:p>
        </p:txBody>
      </p:sp>
      <p:sp>
        <p:nvSpPr>
          <p:cNvPr id="19" name="diagram"/>
          <p:cNvSpPr txBox="1"/>
          <p:nvPr/>
        </p:nvSpPr>
        <p:spPr>
          <a:xfrm>
            <a:off x="3672840" y="2194560"/>
            <a:ext cx="548640" cy="45720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6</a:t>
            </a:r>
          </a:p>
        </p:txBody>
      </p:sp>
      <p:sp>
        <p:nvSpPr>
          <p:cNvPr id="20" name="Rounded Rectangle 19"/>
          <p:cNvSpPr/>
          <p:nvPr/>
        </p:nvSpPr>
        <p:spPr>
          <a:xfrm>
            <a:off x="4297679" y="2194560"/>
            <a:ext cx="548640" cy="457200"/>
          </a:xfrm>
          <a:prstGeom prst="roundRect">
            <a:avLst>
              <a:gd name="adj" fmla="val 10000"/>
            </a:avLst>
          </a:prstGeom>
          <a:solidFill>
            <a:srgbClr val="E3EAF2"/>
          </a:solidFill>
          <a:ln>
            <a:noFill/>
          </a:ln>
        </p:spPr>
        <p:txBody>
          <a:bodyPr rtlCol="0" anchor="ctr"/>
          <a:lstStyle/>
          <a:p>
            <a:pPr algn="ctr"/>
          </a:p>
        </p:txBody>
      </p:sp>
      <p:sp>
        <p:nvSpPr>
          <p:cNvPr id="21" name="diagram"/>
          <p:cNvSpPr txBox="1"/>
          <p:nvPr/>
        </p:nvSpPr>
        <p:spPr>
          <a:xfrm>
            <a:off x="4297679" y="2194560"/>
            <a:ext cx="548640" cy="45720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7</a:t>
            </a:r>
          </a:p>
        </p:txBody>
      </p:sp>
      <p:sp>
        <p:nvSpPr>
          <p:cNvPr id="22" name="Rounded Rectangle 21"/>
          <p:cNvSpPr/>
          <p:nvPr/>
        </p:nvSpPr>
        <p:spPr>
          <a:xfrm>
            <a:off x="4922520" y="2194560"/>
            <a:ext cx="548640" cy="457200"/>
          </a:xfrm>
          <a:prstGeom prst="roundRect">
            <a:avLst>
              <a:gd name="adj" fmla="val 10000"/>
            </a:avLst>
          </a:prstGeom>
          <a:solidFill>
            <a:srgbClr val="E3EAF2"/>
          </a:solidFill>
          <a:ln>
            <a:noFill/>
          </a:ln>
        </p:spPr>
        <p:txBody>
          <a:bodyPr rtlCol="0" anchor="ctr"/>
          <a:lstStyle/>
          <a:p>
            <a:pPr algn="ctr"/>
          </a:p>
        </p:txBody>
      </p:sp>
      <p:sp>
        <p:nvSpPr>
          <p:cNvPr id="23" name="diagram"/>
          <p:cNvSpPr txBox="1"/>
          <p:nvPr/>
        </p:nvSpPr>
        <p:spPr>
          <a:xfrm>
            <a:off x="4922520" y="2194560"/>
            <a:ext cx="548640" cy="45720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8</a:t>
            </a:r>
          </a:p>
        </p:txBody>
      </p:sp>
      <p:sp>
        <p:nvSpPr>
          <p:cNvPr id="24" name="Rounded Rectangle 23"/>
          <p:cNvSpPr/>
          <p:nvPr/>
        </p:nvSpPr>
        <p:spPr>
          <a:xfrm>
            <a:off x="5547360" y="2194560"/>
            <a:ext cx="548640" cy="457200"/>
          </a:xfrm>
          <a:prstGeom prst="roundRect">
            <a:avLst>
              <a:gd name="adj" fmla="val 10000"/>
            </a:avLst>
          </a:prstGeom>
          <a:solidFill>
            <a:srgbClr val="E3EAF2"/>
          </a:solidFill>
          <a:ln>
            <a:noFill/>
          </a:ln>
        </p:spPr>
        <p:txBody>
          <a:bodyPr rtlCol="0" anchor="ctr"/>
          <a:lstStyle/>
          <a:p>
            <a:pPr algn="ctr"/>
          </a:p>
        </p:txBody>
      </p:sp>
      <p:sp>
        <p:nvSpPr>
          <p:cNvPr id="25" name="diagram"/>
          <p:cNvSpPr txBox="1"/>
          <p:nvPr/>
        </p:nvSpPr>
        <p:spPr>
          <a:xfrm>
            <a:off x="5547360" y="2194560"/>
            <a:ext cx="548640" cy="45720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9</a:t>
            </a:r>
          </a:p>
        </p:txBody>
      </p:sp>
      <p:sp>
        <p:nvSpPr>
          <p:cNvPr id="26" name="Rounded Rectangle 25"/>
          <p:cNvSpPr/>
          <p:nvPr/>
        </p:nvSpPr>
        <p:spPr>
          <a:xfrm>
            <a:off x="6172200" y="2194560"/>
            <a:ext cx="548640" cy="457200"/>
          </a:xfrm>
          <a:prstGeom prst="roundRect">
            <a:avLst>
              <a:gd name="adj" fmla="val 10000"/>
            </a:avLst>
          </a:prstGeom>
          <a:solidFill>
            <a:srgbClr val="E3EAF2"/>
          </a:solidFill>
          <a:ln>
            <a:noFill/>
          </a:ln>
        </p:spPr>
        <p:txBody>
          <a:bodyPr rtlCol="0" anchor="ctr"/>
          <a:lstStyle/>
          <a:p>
            <a:pPr algn="ctr"/>
          </a:p>
        </p:txBody>
      </p:sp>
      <p:sp>
        <p:nvSpPr>
          <p:cNvPr id="27" name="diagram"/>
          <p:cNvSpPr txBox="1"/>
          <p:nvPr/>
        </p:nvSpPr>
        <p:spPr>
          <a:xfrm>
            <a:off x="6172200" y="2194560"/>
            <a:ext cx="548640" cy="45720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10</a:t>
            </a:r>
          </a:p>
        </p:txBody>
      </p:sp>
      <p:sp>
        <p:nvSpPr>
          <p:cNvPr id="28" name="body"/>
          <p:cNvSpPr txBox="1"/>
          <p:nvPr/>
        </p:nvSpPr>
        <p:spPr>
          <a:xfrm>
            <a:off x="548640" y="3200400"/>
            <a:ext cx="6172200" cy="320040"/>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1F7A8C"/>
                </a:solidFill>
                <a:latin typeface="Calibri"/>
              </a:rPr>
              <a:t>2</a:t>
            </a:r>
            <a:r>
              <a:rPr sz="1600" b="1" i="0">
                <a:solidFill>
                  <a:srgbClr val="1F2933"/>
                </a:solidFill>
                <a:latin typeface="Calibri"/>
              </a:rPr>
              <a:t> Baris latih: bagian latih dibagi 5, tetangga dari 4 bagian lain</a:t>
            </a:r>
          </a:p>
        </p:txBody>
      </p:sp>
      <p:sp>
        <p:nvSpPr>
          <p:cNvPr id="29" name="Rounded Rectangle 28"/>
          <p:cNvSpPr/>
          <p:nvPr/>
        </p:nvSpPr>
        <p:spPr>
          <a:xfrm>
            <a:off x="548640" y="3611880"/>
            <a:ext cx="1097280" cy="502920"/>
          </a:xfrm>
          <a:prstGeom prst="roundRect">
            <a:avLst>
              <a:gd name="adj" fmla="val 9090"/>
            </a:avLst>
          </a:prstGeom>
          <a:solidFill>
            <a:srgbClr val="D97B29"/>
          </a:solidFill>
          <a:ln>
            <a:noFill/>
          </a:ln>
        </p:spPr>
        <p:txBody>
          <a:bodyPr rtlCol="0" anchor="ctr"/>
          <a:lstStyle/>
          <a:p>
            <a:pPr algn="ctr"/>
          </a:p>
        </p:txBody>
      </p:sp>
      <p:sp>
        <p:nvSpPr>
          <p:cNvPr id="30" name="diagram"/>
          <p:cNvSpPr txBox="1"/>
          <p:nvPr/>
        </p:nvSpPr>
        <p:spPr>
          <a:xfrm>
            <a:off x="548640" y="3611880"/>
            <a:ext cx="1097280" cy="502920"/>
          </a:xfrm>
          <a:prstGeom prst="rect">
            <a:avLst/>
          </a:prstGeom>
          <a:noFill/>
        </p:spPr>
        <p:txBody>
          <a:bodyPr wrap="square" lIns="0" rIns="0" tIns="0" bIns="0" anchor="ctr">
            <a:noAutofit/>
          </a:bodyPr>
          <a:lstStyle/>
          <a:p>
            <a:pPr algn="ctr">
              <a:lnSpc>
                <a:spcPct val="100000"/>
              </a:lnSpc>
              <a:spcBef>
                <a:spcPts val="0"/>
              </a:spcBef>
              <a:spcAft>
                <a:spcPts val="0"/>
              </a:spcAft>
            </a:pPr>
            <a:r>
              <a:rPr sz="1300" b="1" i="0">
                <a:solidFill>
                  <a:srgbClr val="FFFFFF"/>
                </a:solidFill>
                <a:latin typeface="Calibri"/>
              </a:rPr>
              <a:t>dihitung</a:t>
            </a:r>
          </a:p>
        </p:txBody>
      </p:sp>
      <p:sp>
        <p:nvSpPr>
          <p:cNvPr id="31" name="Rounded Rectangle 30"/>
          <p:cNvSpPr/>
          <p:nvPr/>
        </p:nvSpPr>
        <p:spPr>
          <a:xfrm>
            <a:off x="1817369" y="3611880"/>
            <a:ext cx="1097280" cy="502920"/>
          </a:xfrm>
          <a:prstGeom prst="roundRect">
            <a:avLst>
              <a:gd name="adj" fmla="val 9090"/>
            </a:avLst>
          </a:prstGeom>
          <a:solidFill>
            <a:srgbClr val="E3EAF2"/>
          </a:solidFill>
          <a:ln>
            <a:noFill/>
          </a:ln>
        </p:spPr>
        <p:txBody>
          <a:bodyPr rtlCol="0" anchor="ctr"/>
          <a:lstStyle/>
          <a:p>
            <a:pPr algn="ctr"/>
          </a:p>
        </p:txBody>
      </p:sp>
      <p:sp>
        <p:nvSpPr>
          <p:cNvPr id="32" name="diagram"/>
          <p:cNvSpPr txBox="1"/>
          <p:nvPr/>
        </p:nvSpPr>
        <p:spPr>
          <a:xfrm>
            <a:off x="1817369" y="3611880"/>
            <a:ext cx="1097280" cy="50292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bagian 2</a:t>
            </a:r>
          </a:p>
        </p:txBody>
      </p:sp>
      <p:cxnSp>
        <p:nvCxnSpPr>
          <p:cNvPr id="33" name="Connector 32"/>
          <p:cNvCxnSpPr/>
          <p:nvPr/>
        </p:nvCxnSpPr>
        <p:spPr>
          <a:xfrm>
            <a:off x="2366010" y="4114800"/>
            <a:ext cx="0" cy="182880"/>
          </a:xfrm>
          <a:prstGeom prst="line">
            <a:avLst/>
          </a:prstGeom>
          <a:ln w="15875">
            <a:solidFill>
              <a:srgbClr val="5F6B7A"/>
            </a:solidFill>
          </a:ln>
        </p:spPr>
      </p:cxnSp>
      <p:sp>
        <p:nvSpPr>
          <p:cNvPr id="34" name="Rounded Rectangle 33"/>
          <p:cNvSpPr/>
          <p:nvPr/>
        </p:nvSpPr>
        <p:spPr>
          <a:xfrm>
            <a:off x="3086100" y="3611880"/>
            <a:ext cx="1097280" cy="502920"/>
          </a:xfrm>
          <a:prstGeom prst="roundRect">
            <a:avLst>
              <a:gd name="adj" fmla="val 9090"/>
            </a:avLst>
          </a:prstGeom>
          <a:solidFill>
            <a:srgbClr val="E3EAF2"/>
          </a:solidFill>
          <a:ln>
            <a:noFill/>
          </a:ln>
        </p:spPr>
        <p:txBody>
          <a:bodyPr rtlCol="0" anchor="ctr"/>
          <a:lstStyle/>
          <a:p>
            <a:pPr algn="ctr"/>
          </a:p>
        </p:txBody>
      </p:sp>
      <p:sp>
        <p:nvSpPr>
          <p:cNvPr id="35" name="diagram"/>
          <p:cNvSpPr txBox="1"/>
          <p:nvPr/>
        </p:nvSpPr>
        <p:spPr>
          <a:xfrm>
            <a:off x="3086100" y="3611880"/>
            <a:ext cx="1097280" cy="50292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bagian 3</a:t>
            </a:r>
          </a:p>
        </p:txBody>
      </p:sp>
      <p:cxnSp>
        <p:nvCxnSpPr>
          <p:cNvPr id="36" name="Connector 35"/>
          <p:cNvCxnSpPr/>
          <p:nvPr/>
        </p:nvCxnSpPr>
        <p:spPr>
          <a:xfrm>
            <a:off x="3634740" y="4114800"/>
            <a:ext cx="0" cy="182880"/>
          </a:xfrm>
          <a:prstGeom prst="line">
            <a:avLst/>
          </a:prstGeom>
          <a:ln w="15875">
            <a:solidFill>
              <a:srgbClr val="5F6B7A"/>
            </a:solidFill>
          </a:ln>
        </p:spPr>
      </p:cxnSp>
      <p:sp>
        <p:nvSpPr>
          <p:cNvPr id="37" name="Rounded Rectangle 36"/>
          <p:cNvSpPr/>
          <p:nvPr/>
        </p:nvSpPr>
        <p:spPr>
          <a:xfrm>
            <a:off x="4354829" y="3611880"/>
            <a:ext cx="1097280" cy="502920"/>
          </a:xfrm>
          <a:prstGeom prst="roundRect">
            <a:avLst>
              <a:gd name="adj" fmla="val 9090"/>
            </a:avLst>
          </a:prstGeom>
          <a:solidFill>
            <a:srgbClr val="E3EAF2"/>
          </a:solidFill>
          <a:ln>
            <a:noFill/>
          </a:ln>
        </p:spPr>
        <p:txBody>
          <a:bodyPr rtlCol="0" anchor="ctr"/>
          <a:lstStyle/>
          <a:p>
            <a:pPr algn="ctr"/>
          </a:p>
        </p:txBody>
      </p:sp>
      <p:sp>
        <p:nvSpPr>
          <p:cNvPr id="38" name="diagram"/>
          <p:cNvSpPr txBox="1"/>
          <p:nvPr/>
        </p:nvSpPr>
        <p:spPr>
          <a:xfrm>
            <a:off x="4354829" y="3611880"/>
            <a:ext cx="1097280" cy="50292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bagian 4</a:t>
            </a:r>
          </a:p>
        </p:txBody>
      </p:sp>
      <p:cxnSp>
        <p:nvCxnSpPr>
          <p:cNvPr id="39" name="Connector 38"/>
          <p:cNvCxnSpPr/>
          <p:nvPr/>
        </p:nvCxnSpPr>
        <p:spPr>
          <a:xfrm>
            <a:off x="4903469" y="4114800"/>
            <a:ext cx="0" cy="182880"/>
          </a:xfrm>
          <a:prstGeom prst="line">
            <a:avLst/>
          </a:prstGeom>
          <a:ln w="15875">
            <a:solidFill>
              <a:srgbClr val="5F6B7A"/>
            </a:solidFill>
          </a:ln>
        </p:spPr>
      </p:cxnSp>
      <p:sp>
        <p:nvSpPr>
          <p:cNvPr id="40" name="Rounded Rectangle 39"/>
          <p:cNvSpPr/>
          <p:nvPr/>
        </p:nvSpPr>
        <p:spPr>
          <a:xfrm>
            <a:off x="5623559" y="3611880"/>
            <a:ext cx="1097280" cy="502920"/>
          </a:xfrm>
          <a:prstGeom prst="roundRect">
            <a:avLst>
              <a:gd name="adj" fmla="val 9090"/>
            </a:avLst>
          </a:prstGeom>
          <a:solidFill>
            <a:srgbClr val="E3EAF2"/>
          </a:solidFill>
          <a:ln>
            <a:noFill/>
          </a:ln>
        </p:spPr>
        <p:txBody>
          <a:bodyPr rtlCol="0" anchor="ctr"/>
          <a:lstStyle/>
          <a:p>
            <a:pPr algn="ctr"/>
          </a:p>
        </p:txBody>
      </p:sp>
      <p:sp>
        <p:nvSpPr>
          <p:cNvPr id="41" name="diagram"/>
          <p:cNvSpPr txBox="1"/>
          <p:nvPr/>
        </p:nvSpPr>
        <p:spPr>
          <a:xfrm>
            <a:off x="5623559" y="3611880"/>
            <a:ext cx="1097280" cy="502920"/>
          </a:xfrm>
          <a:prstGeom prst="rect">
            <a:avLst/>
          </a:prstGeom>
          <a:noFill/>
        </p:spPr>
        <p:txBody>
          <a:bodyPr wrap="square" lIns="0" rIns="0" tIns="0" bIns="0" anchor="ctr">
            <a:noAutofit/>
          </a:bodyPr>
          <a:lstStyle/>
          <a:p>
            <a:pPr algn="ctr">
              <a:lnSpc>
                <a:spcPct val="100000"/>
              </a:lnSpc>
              <a:spcBef>
                <a:spcPts val="0"/>
              </a:spcBef>
              <a:spcAft>
                <a:spcPts val="0"/>
              </a:spcAft>
            </a:pPr>
            <a:r>
              <a:rPr sz="1300" b="0" i="0">
                <a:solidFill>
                  <a:srgbClr val="16324F"/>
                </a:solidFill>
                <a:latin typeface="Calibri"/>
              </a:rPr>
              <a:t>bagian 5</a:t>
            </a:r>
          </a:p>
        </p:txBody>
      </p:sp>
      <p:cxnSp>
        <p:nvCxnSpPr>
          <p:cNvPr id="42" name="Connector 41"/>
          <p:cNvCxnSpPr/>
          <p:nvPr/>
        </p:nvCxnSpPr>
        <p:spPr>
          <a:xfrm>
            <a:off x="6172199" y="4114800"/>
            <a:ext cx="0" cy="182880"/>
          </a:xfrm>
          <a:prstGeom prst="line">
            <a:avLst/>
          </a:prstGeom>
          <a:ln w="15875">
            <a:solidFill>
              <a:srgbClr val="5F6B7A"/>
            </a:solidFill>
          </a:ln>
        </p:spPr>
      </p:cxnSp>
      <p:cxnSp>
        <p:nvCxnSpPr>
          <p:cNvPr id="43" name="Connector 42"/>
          <p:cNvCxnSpPr/>
          <p:nvPr/>
        </p:nvCxnSpPr>
        <p:spPr>
          <a:xfrm flipH="1">
            <a:off x="1143000" y="4297680"/>
            <a:ext cx="5029199" cy="0"/>
          </a:xfrm>
          <a:prstGeom prst="line">
            <a:avLst/>
          </a:prstGeom>
          <a:ln w="15875">
            <a:solidFill>
              <a:srgbClr val="5F6B7A"/>
            </a:solidFill>
          </a:ln>
        </p:spPr>
      </p:cxnSp>
      <p:cxnSp>
        <p:nvCxnSpPr>
          <p:cNvPr id="44" name="Connector 43"/>
          <p:cNvCxnSpPr/>
          <p:nvPr/>
        </p:nvCxnSpPr>
        <p:spPr>
          <a:xfrm flipV="1">
            <a:off x="1097280" y="4142232"/>
            <a:ext cx="0" cy="155448"/>
          </a:xfrm>
          <a:prstGeom prst="line">
            <a:avLst/>
          </a:prstGeom>
          <a:ln w="15875">
            <a:solidFill>
              <a:srgbClr val="5F6B7A"/>
            </a:solidFill>
            <a:tailEnd type="triangle" w="med" len="med"/>
          </a:ln>
        </p:spPr>
      </p:cxnSp>
      <p:sp>
        <p:nvSpPr>
          <p:cNvPr id="45" name="body"/>
          <p:cNvSpPr txBox="1"/>
          <p:nvPr/>
        </p:nvSpPr>
        <p:spPr>
          <a:xfrm>
            <a:off x="548640" y="4434840"/>
            <a:ext cx="6172200" cy="320040"/>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1F7A8C"/>
                </a:solidFill>
                <a:latin typeface="Calibri"/>
              </a:rPr>
              <a:t>3</a:t>
            </a:r>
            <a:r>
              <a:rPr sz="1600" b="1" i="0">
                <a:solidFill>
                  <a:srgbClr val="1F2933"/>
                </a:solidFill>
                <a:latin typeface="Calibri"/>
              </a:rPr>
              <a:t> Data uji: tetangga dari bagian latih model yang sama</a:t>
            </a:r>
          </a:p>
        </p:txBody>
      </p:sp>
      <p:sp>
        <p:nvSpPr>
          <p:cNvPr id="46" name="Rounded Rectangle 45"/>
          <p:cNvSpPr/>
          <p:nvPr/>
        </p:nvSpPr>
        <p:spPr>
          <a:xfrm>
            <a:off x="548640" y="4892040"/>
            <a:ext cx="6172200" cy="731520"/>
          </a:xfrm>
          <a:prstGeom prst="roundRect">
            <a:avLst>
              <a:gd name="adj" fmla="val 10000"/>
            </a:avLst>
          </a:prstGeom>
          <a:solidFill>
            <a:srgbClr val="EEF2F6"/>
          </a:solidFill>
          <a:ln>
            <a:noFill/>
          </a:ln>
        </p:spPr>
        <p:txBody>
          <a:bodyPr rtlCol="0" anchor="ctr"/>
          <a:lstStyle/>
          <a:p>
            <a:pPr algn="ctr"/>
          </a:p>
        </p:txBody>
      </p:sp>
      <p:sp>
        <p:nvSpPr>
          <p:cNvPr id="47" name="body"/>
          <p:cNvSpPr txBox="1"/>
          <p:nvPr/>
        </p:nvSpPr>
        <p:spPr>
          <a:xfrm>
            <a:off x="731520" y="4892040"/>
            <a:ext cx="5806440" cy="731520"/>
          </a:xfrm>
          <a:prstGeom prst="rect">
            <a:avLst/>
          </a:prstGeom>
          <a:noFill/>
        </p:spPr>
        <p:txBody>
          <a:bodyPr wrap="square" lIns="0" rIns="0" tIns="0" bIns="0" anchor="ctr">
            <a:noAutofit/>
          </a:bodyPr>
          <a:lstStyle/>
          <a:p>
            <a:pPr algn="l">
              <a:lnSpc>
                <a:spcPct val="98000"/>
              </a:lnSpc>
              <a:spcBef>
                <a:spcPts val="0"/>
              </a:spcBef>
              <a:spcAft>
                <a:spcPts val="0"/>
              </a:spcAft>
            </a:pPr>
            <a:r>
              <a:rPr sz="1500" b="0" i="0">
                <a:solidFill>
                  <a:srgbClr val="1F2933"/>
                </a:solidFill>
                <a:latin typeface="Calibri"/>
              </a:rPr>
              <a:t>Jendela ±30 sampai ±300 nomor subzona: </a:t>
            </a:r>
            <a:r>
              <a:rPr sz="1500" b="1" i="0">
                <a:solidFill>
                  <a:srgbClr val="16324F"/>
                </a:solidFill>
                <a:latin typeface="Calibri"/>
              </a:rPr>
              <a:t>99,07%</a:t>
            </a:r>
            <a:r>
              <a:rPr sz="1500" b="0" i="0">
                <a:solidFill>
                  <a:srgbClr val="1F2933"/>
                </a:solidFill>
                <a:latin typeface="Calibri"/>
              </a:rPr>
              <a:t> baris berurutan berada di zona yang sama (sel 54)</a:t>
            </a:r>
          </a:p>
        </p:txBody>
      </p:sp>
      <p:sp>
        <p:nvSpPr>
          <p:cNvPr id="48" name="Rounded Rectangle 47"/>
          <p:cNvSpPr/>
          <p:nvPr/>
        </p:nvSpPr>
        <p:spPr>
          <a:xfrm>
            <a:off x="7086600" y="1783080"/>
            <a:ext cx="4556455" cy="4160520"/>
          </a:xfrm>
          <a:prstGeom prst="roundRect">
            <a:avLst>
              <a:gd name="adj" fmla="val 2197"/>
            </a:avLst>
          </a:prstGeom>
          <a:solidFill>
            <a:srgbClr val="E3F1F4"/>
          </a:solidFill>
          <a:ln>
            <a:noFill/>
          </a:ln>
        </p:spPr>
        <p:txBody>
          <a:bodyPr rtlCol="0" anchor="ctr"/>
          <a:lstStyle/>
          <a:p>
            <a:pPr algn="ctr"/>
          </a:p>
        </p:txBody>
      </p:sp>
      <p:sp>
        <p:nvSpPr>
          <p:cNvPr id="49" name="body"/>
          <p:cNvSpPr txBox="1"/>
          <p:nvPr/>
        </p:nvSpPr>
        <p:spPr>
          <a:xfrm>
            <a:off x="7315200" y="1920240"/>
            <a:ext cx="4099255" cy="36576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606E"/>
                </a:solidFill>
                <a:latin typeface="Calibri"/>
              </a:rPr>
              <a:t>Bukti: uji label acak</a:t>
            </a:r>
          </a:p>
        </p:txBody>
      </p:sp>
      <p:sp>
        <p:nvSpPr>
          <p:cNvPr id="50" name="angka"/>
          <p:cNvSpPr txBox="1"/>
          <p:nvPr/>
        </p:nvSpPr>
        <p:spPr>
          <a:xfrm>
            <a:off x="7315200" y="2331720"/>
            <a:ext cx="4099255" cy="548640"/>
          </a:xfrm>
          <a:prstGeom prst="rect">
            <a:avLst/>
          </a:prstGeom>
          <a:noFill/>
        </p:spPr>
        <p:txBody>
          <a:bodyPr wrap="square" lIns="0" rIns="0" tIns="0" bIns="0" anchor="t">
            <a:noAutofit/>
          </a:bodyPr>
          <a:lstStyle/>
          <a:p>
            <a:pPr algn="l">
              <a:lnSpc>
                <a:spcPct val="100000"/>
              </a:lnSpc>
              <a:spcBef>
                <a:spcPts val="0"/>
              </a:spcBef>
              <a:spcAft>
                <a:spcPts val="0"/>
              </a:spcAft>
            </a:pPr>
            <a:r>
              <a:rPr sz="3000" b="1" i="0">
                <a:solidFill>
                  <a:srgbClr val="1F7A8C"/>
                </a:solidFill>
                <a:latin typeface="Calibri"/>
              </a:rPr>
              <a:t>0 baris berubah</a:t>
            </a:r>
          </a:p>
        </p:txBody>
      </p:sp>
      <p:sp>
        <p:nvSpPr>
          <p:cNvPr id="51" name="body"/>
          <p:cNvSpPr txBox="1"/>
          <p:nvPr/>
        </p:nvSpPr>
        <p:spPr>
          <a:xfrm>
            <a:off x="7315200" y="2880360"/>
            <a:ext cx="4099255" cy="86868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setelah label 42.931 baris validasi diacak, dan label 77.275 baris latih satu bagian dalam; fitur uji juga identik</a:t>
            </a:r>
          </a:p>
        </p:txBody>
      </p:sp>
      <p:cxnSp>
        <p:nvCxnSpPr>
          <p:cNvPr id="52" name="Connector 51"/>
          <p:cNvCxnSpPr/>
          <p:nvPr/>
        </p:nvCxnSpPr>
        <p:spPr>
          <a:xfrm>
            <a:off x="7315200" y="3794760"/>
            <a:ext cx="4099255" cy="0"/>
          </a:xfrm>
          <a:prstGeom prst="line">
            <a:avLst/>
          </a:prstGeom>
          <a:ln w="12700">
            <a:solidFill>
              <a:srgbClr val="D5DBE3"/>
            </a:solidFill>
          </a:ln>
        </p:spPr>
      </p:cxnSp>
      <p:sp>
        <p:nvSpPr>
          <p:cNvPr id="53" name="angka"/>
          <p:cNvSpPr txBox="1"/>
          <p:nvPr/>
        </p:nvSpPr>
        <p:spPr>
          <a:xfrm>
            <a:off x="7315200" y="3886200"/>
            <a:ext cx="4099255" cy="411480"/>
          </a:xfrm>
          <a:prstGeom prst="rect">
            <a:avLst/>
          </a:prstGeom>
          <a:noFill/>
        </p:spPr>
        <p:txBody>
          <a:bodyPr wrap="square" lIns="0" rIns="0" tIns="0" bIns="0" anchor="t">
            <a:noAutofit/>
          </a:bodyPr>
          <a:lstStyle/>
          <a:p>
            <a:pPr algn="l">
              <a:lnSpc>
                <a:spcPct val="100000"/>
              </a:lnSpc>
              <a:spcBef>
                <a:spcPts val="0"/>
              </a:spcBef>
              <a:spcAft>
                <a:spcPts val="0"/>
              </a:spcAft>
            </a:pPr>
            <a:r>
              <a:rPr sz="2000" b="1" i="0">
                <a:solidFill>
                  <a:srgbClr val="D97B29"/>
                </a:solidFill>
                <a:latin typeface="Calibri"/>
              </a:rPr>
              <a:t>42.931 baris berubah pada kontrol</a:t>
            </a:r>
          </a:p>
        </p:txBody>
      </p:sp>
      <p:sp>
        <p:nvSpPr>
          <p:cNvPr id="54" name="body"/>
          <p:cNvSpPr txBox="1"/>
          <p:nvPr/>
        </p:nvSpPr>
        <p:spPr>
          <a:xfrm>
            <a:off x="7315200" y="4297680"/>
            <a:ext cx="4099255" cy="68580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versi yang sengaja dibuat bocor: uji ini mampu mendeteksi kebocoran</a:t>
            </a:r>
          </a:p>
        </p:txBody>
      </p:sp>
      <p:sp>
        <p:nvSpPr>
          <p:cNvPr id="55" name="body"/>
          <p:cNvSpPr txBox="1"/>
          <p:nvPr/>
        </p:nvSpPr>
        <p:spPr>
          <a:xfrm>
            <a:off x="7315200" y="5074920"/>
            <a:ext cx="4099255" cy="36576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F2933"/>
                </a:solidFill>
                <a:latin typeface="Calibri"/>
              </a:rPr>
              <a:t>Galat EUI model tunggal turun </a:t>
            </a:r>
            <a:r>
              <a:rPr sz="1500" b="1" i="0">
                <a:solidFill>
                  <a:srgbClr val="1F7A8C"/>
                </a:solidFill>
                <a:latin typeface="Calibri"/>
              </a:rPr>
              <a:t>0,0022</a:t>
            </a:r>
            <a:r>
              <a:rPr sz="1500" b="0" i="0">
                <a:solidFill>
                  <a:srgbClr val="1F2933"/>
                </a:solidFill>
                <a:latin typeface="Calibri"/>
              </a:rPr>
              <a:t> (sel 28)</a:t>
            </a:r>
          </a:p>
        </p:txBody>
      </p:sp>
      <p:sp>
        <p:nvSpPr>
          <p:cNvPr id="56" name="Rounded Rectangle 55"/>
          <p:cNvSpPr/>
          <p:nvPr/>
        </p:nvSpPr>
        <p:spPr>
          <a:xfrm>
            <a:off x="7086600" y="5486400"/>
            <a:ext cx="4556455" cy="512064"/>
          </a:xfrm>
          <a:prstGeom prst="roundRect">
            <a:avLst>
              <a:gd name="adj" fmla="val 14285"/>
            </a:avLst>
          </a:prstGeom>
          <a:solidFill>
            <a:srgbClr val="E3F1F4"/>
          </a:solidFill>
          <a:ln>
            <a:noFill/>
          </a:ln>
        </p:spPr>
        <p:txBody>
          <a:bodyPr rtlCol="0" anchor="ctr"/>
          <a:lstStyle/>
          <a:p>
            <a:pPr algn="ctr"/>
          </a:p>
        </p:txBody>
      </p:sp>
      <p:sp>
        <p:nvSpPr>
          <p:cNvPr id="57" name="sumber"/>
          <p:cNvSpPr txBox="1"/>
          <p:nvPr/>
        </p:nvSpPr>
        <p:spPr>
          <a:xfrm>
            <a:off x="7205472" y="5522976"/>
            <a:ext cx="4336999" cy="438912"/>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7606E"/>
                </a:solidFill>
                <a:latin typeface="Calibri"/>
              </a:rPr>
              <a:t>HASIL</a:t>
            </a:r>
            <a:r>
              <a:rPr sz="1200" b="0" i="0">
                <a:solidFill>
                  <a:srgbClr val="17606E"/>
                </a:solidFill>
                <a:latin typeface="Calibri"/>
              </a:rPr>
              <a:t> · bukti/uji_kebocoran_notebook.json dan uji_kebocoran_oof_dalam.json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Lima target, tiga jalur: model besar hanya untuk gas, EUI, dan listrik</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MODEL · ARSITEKTUR MULTI-OUTPUT</a:t>
            </a:r>
          </a:p>
        </p:txBody>
      </p:sp>
      <p:sp>
        <p:nvSpPr>
          <p:cNvPr id="4" name="istilah"/>
          <p:cNvSpPr txBox="1"/>
          <p:nvPr/>
        </p:nvSpPr>
        <p:spPr>
          <a:xfrm>
            <a:off x="548640" y="6035040"/>
            <a:ext cx="11094415" cy="365760"/>
          </a:xfrm>
          <a:prstGeom prst="rect">
            <a:avLst/>
          </a:prstGeom>
          <a:noFill/>
        </p:spPr>
        <p:txBody>
          <a:bodyPr wrap="square" lIns="0" rIns="0" tIns="0" bIns="0" anchor="t">
            <a:noAutofit/>
          </a:bodyPr>
          <a:lstStyle/>
          <a:p>
            <a:pPr algn="l">
              <a:lnSpc>
                <a:spcPct val="95000"/>
              </a:lnSpc>
              <a:spcBef>
                <a:spcPts val="0"/>
              </a:spcBef>
              <a:spcAft>
                <a:spcPts val="0"/>
              </a:spcAft>
            </a:pPr>
            <a:r>
              <a:rPr sz="1200" b="1" i="0">
                <a:solidFill>
                  <a:srgbClr val="5F6B7A"/>
                </a:solidFill>
                <a:latin typeface="Calibri"/>
              </a:rPr>
              <a:t>Istilah.</a:t>
            </a:r>
            <a:r>
              <a:rPr sz="1200" b="0" i="0">
                <a:solidFill>
                  <a:srgbClr val="5F6B7A"/>
                </a:solidFill>
                <a:latin typeface="Calibri"/>
              </a:rPr>
              <a:t> Galat jujur: galat pada data yang tidak dipakai menyusun bobot gabungan. RMSE/σ: galat dibagi sebaran target; 1 berarti setara menebak rata-rata.</a:t>
            </a:r>
          </a:p>
        </p:txBody>
      </p:sp>
      <p:sp>
        <p:nvSpPr>
          <p:cNvPr id="5"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6"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6</a:t>
            </a:r>
          </a:p>
        </p:txBody>
      </p:sp>
      <p:sp>
        <p:nvSpPr>
          <p:cNvPr id="7" name="Rounded Rectangle 6"/>
          <p:cNvSpPr/>
          <p:nvPr/>
        </p:nvSpPr>
        <p:spPr>
          <a:xfrm>
            <a:off x="548640" y="2880360"/>
            <a:ext cx="1463040" cy="1188720"/>
          </a:xfrm>
          <a:prstGeom prst="roundRect">
            <a:avLst>
              <a:gd name="adj" fmla="val 6153"/>
            </a:avLst>
          </a:prstGeom>
          <a:solidFill>
            <a:srgbClr val="EEF2F6"/>
          </a:solidFill>
          <a:ln>
            <a:noFill/>
          </a:ln>
        </p:spPr>
        <p:txBody>
          <a:bodyPr rtlCol="0" anchor="ctr"/>
          <a:lstStyle/>
          <a:p>
            <a:pPr algn="ctr"/>
          </a:p>
        </p:txBody>
      </p:sp>
      <p:sp>
        <p:nvSpPr>
          <p:cNvPr id="8" name="body"/>
          <p:cNvSpPr txBox="1"/>
          <p:nvPr/>
        </p:nvSpPr>
        <p:spPr>
          <a:xfrm>
            <a:off x="640080" y="2880360"/>
            <a:ext cx="1280160" cy="1188720"/>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1F2933"/>
                </a:solidFill>
                <a:latin typeface="Calibri"/>
              </a:rPr>
              <a:t>Data latih + uji</a:t>
            </a:r>
          </a:p>
          <a:p>
            <a:pPr algn="ctr">
              <a:lnSpc>
                <a:spcPct val="100000"/>
              </a:lnSpc>
              <a:spcBef>
                <a:spcPts val="0"/>
              </a:spcBef>
              <a:spcAft>
                <a:spcPts val="0"/>
              </a:spcAft>
            </a:pPr>
            <a:r>
              <a:rPr sz="1500" b="1" i="0">
                <a:solidFill>
                  <a:srgbClr val="5F6B7A"/>
                </a:solidFill>
                <a:latin typeface="Calibri"/>
              </a:rPr>
              <a:t>201 kolom</a:t>
            </a:r>
          </a:p>
        </p:txBody>
      </p:sp>
      <p:sp>
        <p:nvSpPr>
          <p:cNvPr id="9" name="Rounded Rectangle 8"/>
          <p:cNvSpPr/>
          <p:nvPr/>
        </p:nvSpPr>
        <p:spPr>
          <a:xfrm>
            <a:off x="2423160" y="1783080"/>
            <a:ext cx="3429000" cy="1051560"/>
          </a:xfrm>
          <a:prstGeom prst="roundRect">
            <a:avLst>
              <a:gd name="adj" fmla="val 6956"/>
            </a:avLst>
          </a:prstGeom>
          <a:solidFill>
            <a:srgbClr val="FBEEDF"/>
          </a:solidFill>
          <a:ln>
            <a:noFill/>
          </a:ln>
        </p:spPr>
        <p:txBody>
          <a:bodyPr rtlCol="0" anchor="ctr"/>
          <a:lstStyle/>
          <a:p>
            <a:pPr algn="ctr"/>
          </a:p>
        </p:txBody>
      </p:sp>
      <p:sp>
        <p:nvSpPr>
          <p:cNvPr id="10" name="body"/>
          <p:cNvSpPr txBox="1"/>
          <p:nvPr/>
        </p:nvSpPr>
        <p:spPr>
          <a:xfrm>
            <a:off x="2606040" y="1892807"/>
            <a:ext cx="3063240" cy="347472"/>
          </a:xfrm>
          <a:prstGeom prst="rect">
            <a:avLst/>
          </a:prstGeom>
          <a:noFill/>
        </p:spPr>
        <p:txBody>
          <a:bodyPr wrap="square" lIns="0" rIns="0" tIns="0" bIns="0" anchor="t">
            <a:noAutofit/>
          </a:bodyPr>
          <a:lstStyle/>
          <a:p>
            <a:pPr algn="l">
              <a:lnSpc>
                <a:spcPct val="100000"/>
              </a:lnSpc>
              <a:spcBef>
                <a:spcPts val="0"/>
              </a:spcBef>
              <a:spcAft>
                <a:spcPts val="0"/>
              </a:spcAft>
            </a:pPr>
            <a:r>
              <a:rPr sz="1700" b="1" i="0">
                <a:solidFill>
                  <a:srgbClr val="1F2933"/>
                </a:solidFill>
                <a:latin typeface="Calibri"/>
              </a:rPr>
              <a:t>Jalur 1 · Gas dan EUI</a:t>
            </a:r>
          </a:p>
        </p:txBody>
      </p:sp>
      <p:sp>
        <p:nvSpPr>
          <p:cNvPr id="11" name="body"/>
          <p:cNvSpPr txBox="1"/>
          <p:nvPr/>
        </p:nvSpPr>
        <p:spPr>
          <a:xfrm>
            <a:off x="2606040" y="2240280"/>
            <a:ext cx="3063240" cy="548639"/>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5F6B7A"/>
                </a:solidFill>
                <a:latin typeface="Calibri"/>
              </a:rPr>
              <a:t>28 model: XGBoost, LightGBM, MLP, NCA</a:t>
            </a:r>
          </a:p>
        </p:txBody>
      </p:sp>
      <p:cxnSp>
        <p:nvCxnSpPr>
          <p:cNvPr id="12" name="Connector 11"/>
          <p:cNvCxnSpPr/>
          <p:nvPr/>
        </p:nvCxnSpPr>
        <p:spPr>
          <a:xfrm flipV="1">
            <a:off x="2011680" y="2308860"/>
            <a:ext cx="411480" cy="1165860"/>
          </a:xfrm>
          <a:prstGeom prst="line">
            <a:avLst/>
          </a:prstGeom>
          <a:ln w="15875">
            <a:solidFill>
              <a:srgbClr val="5F6B7A"/>
            </a:solidFill>
            <a:tailEnd type="triangle" w="med" len="med"/>
          </a:ln>
        </p:spPr>
      </p:cxnSp>
      <p:sp>
        <p:nvSpPr>
          <p:cNvPr id="13" name="Rounded Rectangle 12"/>
          <p:cNvSpPr/>
          <p:nvPr/>
        </p:nvSpPr>
        <p:spPr>
          <a:xfrm>
            <a:off x="2423160" y="2971800"/>
            <a:ext cx="3429000" cy="1051560"/>
          </a:xfrm>
          <a:prstGeom prst="roundRect">
            <a:avLst>
              <a:gd name="adj" fmla="val 6956"/>
            </a:avLst>
          </a:prstGeom>
          <a:solidFill>
            <a:srgbClr val="E3F1F4"/>
          </a:solidFill>
          <a:ln>
            <a:noFill/>
          </a:ln>
        </p:spPr>
        <p:txBody>
          <a:bodyPr rtlCol="0" anchor="ctr"/>
          <a:lstStyle/>
          <a:p>
            <a:pPr algn="ctr"/>
          </a:p>
        </p:txBody>
      </p:sp>
      <p:sp>
        <p:nvSpPr>
          <p:cNvPr id="14" name="body"/>
          <p:cNvSpPr txBox="1"/>
          <p:nvPr/>
        </p:nvSpPr>
        <p:spPr>
          <a:xfrm>
            <a:off x="2606040" y="3081528"/>
            <a:ext cx="3063240" cy="347472"/>
          </a:xfrm>
          <a:prstGeom prst="rect">
            <a:avLst/>
          </a:prstGeom>
          <a:noFill/>
        </p:spPr>
        <p:txBody>
          <a:bodyPr wrap="square" lIns="0" rIns="0" tIns="0" bIns="0" anchor="t">
            <a:noAutofit/>
          </a:bodyPr>
          <a:lstStyle/>
          <a:p>
            <a:pPr algn="l">
              <a:lnSpc>
                <a:spcPct val="100000"/>
              </a:lnSpc>
              <a:spcBef>
                <a:spcPts val="0"/>
              </a:spcBef>
              <a:spcAft>
                <a:spcPts val="0"/>
              </a:spcAft>
            </a:pPr>
            <a:r>
              <a:rPr sz="1700" b="1" i="0">
                <a:solidFill>
                  <a:srgbClr val="1F2933"/>
                </a:solidFill>
                <a:latin typeface="Calibri"/>
              </a:rPr>
              <a:t>Jalur 2 · Listrik</a:t>
            </a:r>
          </a:p>
        </p:txBody>
      </p:sp>
      <p:sp>
        <p:nvSpPr>
          <p:cNvPr id="15" name="body"/>
          <p:cNvSpPr txBox="1"/>
          <p:nvPr/>
        </p:nvSpPr>
        <p:spPr>
          <a:xfrm>
            <a:off x="2606040" y="3429000"/>
            <a:ext cx="3063240" cy="548639"/>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5F6B7A"/>
                </a:solidFill>
                <a:latin typeface="Calibri"/>
              </a:rPr>
              <a:t>13 model, pendorong berbeda dari gas</a:t>
            </a:r>
          </a:p>
        </p:txBody>
      </p:sp>
      <p:cxnSp>
        <p:nvCxnSpPr>
          <p:cNvPr id="16" name="Connector 15"/>
          <p:cNvCxnSpPr/>
          <p:nvPr/>
        </p:nvCxnSpPr>
        <p:spPr>
          <a:xfrm>
            <a:off x="2011680" y="3474720"/>
            <a:ext cx="411480" cy="22860"/>
          </a:xfrm>
          <a:prstGeom prst="line">
            <a:avLst/>
          </a:prstGeom>
          <a:ln w="15875">
            <a:solidFill>
              <a:srgbClr val="5F6B7A"/>
            </a:solidFill>
            <a:tailEnd type="triangle" w="med" len="med"/>
          </a:ln>
        </p:spPr>
      </p:cxnSp>
      <p:sp>
        <p:nvSpPr>
          <p:cNvPr id="17" name="Rounded Rectangle 16"/>
          <p:cNvSpPr/>
          <p:nvPr/>
        </p:nvSpPr>
        <p:spPr>
          <a:xfrm>
            <a:off x="2423160" y="4206240"/>
            <a:ext cx="3429000" cy="1188720"/>
          </a:xfrm>
          <a:prstGeom prst="roundRect">
            <a:avLst>
              <a:gd name="adj" fmla="val 6153"/>
            </a:avLst>
          </a:prstGeom>
          <a:solidFill>
            <a:srgbClr val="E3EAF2"/>
          </a:solidFill>
          <a:ln>
            <a:noFill/>
          </a:ln>
        </p:spPr>
        <p:txBody>
          <a:bodyPr rtlCol="0" anchor="ctr"/>
          <a:lstStyle/>
          <a:p>
            <a:pPr algn="ctr"/>
          </a:p>
        </p:txBody>
      </p:sp>
      <p:sp>
        <p:nvSpPr>
          <p:cNvPr id="18" name="body"/>
          <p:cNvSpPr txBox="1"/>
          <p:nvPr/>
        </p:nvSpPr>
        <p:spPr>
          <a:xfrm>
            <a:off x="2606040" y="4315968"/>
            <a:ext cx="3063240" cy="347472"/>
          </a:xfrm>
          <a:prstGeom prst="rect">
            <a:avLst/>
          </a:prstGeom>
          <a:noFill/>
        </p:spPr>
        <p:txBody>
          <a:bodyPr wrap="square" lIns="0" rIns="0" tIns="0" bIns="0" anchor="t">
            <a:noAutofit/>
          </a:bodyPr>
          <a:lstStyle/>
          <a:p>
            <a:pPr algn="l">
              <a:lnSpc>
                <a:spcPct val="100000"/>
              </a:lnSpc>
              <a:spcBef>
                <a:spcPts val="0"/>
              </a:spcBef>
              <a:spcAft>
                <a:spcPts val="0"/>
              </a:spcAft>
            </a:pPr>
            <a:r>
              <a:rPr sz="1700" b="1" i="0">
                <a:solidFill>
                  <a:srgbClr val="1F2933"/>
                </a:solidFill>
                <a:latin typeface="Calibri"/>
              </a:rPr>
              <a:t>Jalur 3 · Tanpa model besar</a:t>
            </a:r>
          </a:p>
        </p:txBody>
      </p:sp>
      <p:sp>
        <p:nvSpPr>
          <p:cNvPr id="19" name="body"/>
          <p:cNvSpPr txBox="1"/>
          <p:nvPr/>
        </p:nvSpPr>
        <p:spPr>
          <a:xfrm>
            <a:off x="2606040" y="4663440"/>
            <a:ext cx="3063240" cy="685800"/>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5F6B7A"/>
                </a:solidFill>
                <a:latin typeface="Calibri"/>
              </a:rPr>
              <a:t>porsi bersih: rumus; adopsi: salin subzona (91,86%) + 2 LightGBM (8,14%)</a:t>
            </a:r>
          </a:p>
        </p:txBody>
      </p:sp>
      <p:cxnSp>
        <p:nvCxnSpPr>
          <p:cNvPr id="20" name="Connector 19"/>
          <p:cNvCxnSpPr/>
          <p:nvPr/>
        </p:nvCxnSpPr>
        <p:spPr>
          <a:xfrm>
            <a:off x="2011680" y="3474720"/>
            <a:ext cx="411480" cy="1325880"/>
          </a:xfrm>
          <a:prstGeom prst="line">
            <a:avLst/>
          </a:prstGeom>
          <a:ln w="15875">
            <a:solidFill>
              <a:srgbClr val="5F6B7A"/>
            </a:solidFill>
            <a:tailEnd type="triangle" w="med" len="med"/>
          </a:ln>
        </p:spPr>
      </p:cxnSp>
      <p:sp>
        <p:nvSpPr>
          <p:cNvPr id="21" name="Rounded Rectangle 20"/>
          <p:cNvSpPr/>
          <p:nvPr/>
        </p:nvSpPr>
        <p:spPr>
          <a:xfrm>
            <a:off x="6217920" y="1783080"/>
            <a:ext cx="2606040" cy="2240280"/>
          </a:xfrm>
          <a:prstGeom prst="roundRect">
            <a:avLst>
              <a:gd name="adj" fmla="val 3265"/>
            </a:avLst>
          </a:prstGeom>
          <a:solidFill>
            <a:srgbClr val="FFFFFF"/>
          </a:solidFill>
          <a:ln w="12700">
            <a:solidFill>
              <a:srgbClr val="D5DBE3"/>
            </a:solidFill>
          </a:ln>
        </p:spPr>
        <p:txBody>
          <a:bodyPr rtlCol="0" anchor="ctr"/>
          <a:lstStyle/>
          <a:p>
            <a:pPr algn="ctr"/>
          </a:p>
        </p:txBody>
      </p:sp>
      <p:sp>
        <p:nvSpPr>
          <p:cNvPr id="22" name="Rounded Rectangle 21"/>
          <p:cNvSpPr/>
          <p:nvPr/>
        </p:nvSpPr>
        <p:spPr>
          <a:xfrm>
            <a:off x="6382512" y="1920240"/>
            <a:ext cx="2276856" cy="502920"/>
          </a:xfrm>
          <a:prstGeom prst="roundRect">
            <a:avLst>
              <a:gd name="adj" fmla="val 10909"/>
            </a:avLst>
          </a:prstGeom>
          <a:solidFill>
            <a:srgbClr val="16324F"/>
          </a:solidFill>
          <a:ln>
            <a:noFill/>
          </a:ln>
        </p:spPr>
        <p:txBody>
          <a:bodyPr rtlCol="0" anchor="ctr"/>
          <a:lstStyle/>
          <a:p>
            <a:pPr algn="ctr"/>
          </a:p>
        </p:txBody>
      </p:sp>
      <p:sp>
        <p:nvSpPr>
          <p:cNvPr id="23" name="diagram"/>
          <p:cNvSpPr txBox="1"/>
          <p:nvPr/>
        </p:nvSpPr>
        <p:spPr>
          <a:xfrm>
            <a:off x="6382512" y="1920240"/>
            <a:ext cx="2276856" cy="502920"/>
          </a:xfrm>
          <a:prstGeom prst="rect">
            <a:avLst/>
          </a:prstGeom>
          <a:noFill/>
        </p:spPr>
        <p:txBody>
          <a:bodyPr wrap="square" lIns="0" rIns="0" tIns="0" bIns="0" anchor="ctr">
            <a:noAutofit/>
          </a:bodyPr>
          <a:lstStyle/>
          <a:p>
            <a:pPr algn="ctr">
              <a:lnSpc>
                <a:spcPct val="100000"/>
              </a:lnSpc>
              <a:spcBef>
                <a:spcPts val="0"/>
              </a:spcBef>
              <a:spcAft>
                <a:spcPts val="0"/>
              </a:spcAft>
            </a:pPr>
            <a:r>
              <a:rPr sz="1400" b="1" i="0">
                <a:solidFill>
                  <a:srgbClr val="FFFFFF"/>
                </a:solidFill>
                <a:latin typeface="Calibri"/>
              </a:rPr>
              <a:t>Gabungan bobot adaptif</a:t>
            </a:r>
          </a:p>
        </p:txBody>
      </p:sp>
      <p:cxnSp>
        <p:nvCxnSpPr>
          <p:cNvPr id="24" name="Connector 23"/>
          <p:cNvCxnSpPr/>
          <p:nvPr/>
        </p:nvCxnSpPr>
        <p:spPr>
          <a:xfrm>
            <a:off x="7520940" y="2423160"/>
            <a:ext cx="0" cy="210312"/>
          </a:xfrm>
          <a:prstGeom prst="line">
            <a:avLst/>
          </a:prstGeom>
          <a:ln w="15875">
            <a:solidFill>
              <a:srgbClr val="5F6B7A"/>
            </a:solidFill>
            <a:tailEnd type="triangle" w="med" len="med"/>
          </a:ln>
        </p:spPr>
      </p:cxnSp>
      <p:sp>
        <p:nvSpPr>
          <p:cNvPr id="25" name="Rounded Rectangle 24"/>
          <p:cNvSpPr/>
          <p:nvPr/>
        </p:nvSpPr>
        <p:spPr>
          <a:xfrm>
            <a:off x="6382512" y="2633472"/>
            <a:ext cx="2276856" cy="502920"/>
          </a:xfrm>
          <a:prstGeom prst="roundRect">
            <a:avLst>
              <a:gd name="adj" fmla="val 10909"/>
            </a:avLst>
          </a:prstGeom>
          <a:solidFill>
            <a:srgbClr val="16324F"/>
          </a:solidFill>
          <a:ln>
            <a:noFill/>
          </a:ln>
        </p:spPr>
        <p:txBody>
          <a:bodyPr rtlCol="0" anchor="ctr"/>
          <a:lstStyle/>
          <a:p>
            <a:pPr algn="ctr"/>
          </a:p>
        </p:txBody>
      </p:sp>
      <p:sp>
        <p:nvSpPr>
          <p:cNvPr id="26" name="diagram"/>
          <p:cNvSpPr txBox="1"/>
          <p:nvPr/>
        </p:nvSpPr>
        <p:spPr>
          <a:xfrm>
            <a:off x="6382512" y="2633472"/>
            <a:ext cx="2276856" cy="502920"/>
          </a:xfrm>
          <a:prstGeom prst="rect">
            <a:avLst/>
          </a:prstGeom>
          <a:noFill/>
        </p:spPr>
        <p:txBody>
          <a:bodyPr wrap="square" lIns="0" rIns="0" tIns="0" bIns="0" anchor="ctr">
            <a:noAutofit/>
          </a:bodyPr>
          <a:lstStyle/>
          <a:p>
            <a:pPr algn="ctr">
              <a:lnSpc>
                <a:spcPct val="100000"/>
              </a:lnSpc>
              <a:spcBef>
                <a:spcPts val="0"/>
              </a:spcBef>
              <a:spcAft>
                <a:spcPts val="0"/>
              </a:spcAft>
            </a:pPr>
            <a:r>
              <a:rPr sz="1400" b="1" i="0">
                <a:solidFill>
                  <a:srgbClr val="FFFFFF"/>
                </a:solidFill>
                <a:latin typeface="Calibri"/>
              </a:rPr>
              <a:t>Koreksi galat wilayah</a:t>
            </a:r>
          </a:p>
        </p:txBody>
      </p:sp>
      <p:cxnSp>
        <p:nvCxnSpPr>
          <p:cNvPr id="27" name="Connector 26"/>
          <p:cNvCxnSpPr/>
          <p:nvPr/>
        </p:nvCxnSpPr>
        <p:spPr>
          <a:xfrm>
            <a:off x="7520940" y="3136391"/>
            <a:ext cx="0" cy="210313"/>
          </a:xfrm>
          <a:prstGeom prst="line">
            <a:avLst/>
          </a:prstGeom>
          <a:ln w="15875">
            <a:solidFill>
              <a:srgbClr val="5F6B7A"/>
            </a:solidFill>
            <a:tailEnd type="triangle" w="med" len="med"/>
          </a:ln>
        </p:spPr>
      </p:cxnSp>
      <p:sp>
        <p:nvSpPr>
          <p:cNvPr id="28" name="Rounded Rectangle 27"/>
          <p:cNvSpPr/>
          <p:nvPr/>
        </p:nvSpPr>
        <p:spPr>
          <a:xfrm>
            <a:off x="6382512" y="3346704"/>
            <a:ext cx="2276856" cy="502920"/>
          </a:xfrm>
          <a:prstGeom prst="roundRect">
            <a:avLst>
              <a:gd name="adj" fmla="val 10909"/>
            </a:avLst>
          </a:prstGeom>
          <a:solidFill>
            <a:srgbClr val="16324F"/>
          </a:solidFill>
          <a:ln>
            <a:noFill/>
          </a:ln>
        </p:spPr>
        <p:txBody>
          <a:bodyPr rtlCol="0" anchor="ctr"/>
          <a:lstStyle/>
          <a:p>
            <a:pPr algn="ctr"/>
          </a:p>
        </p:txBody>
      </p:sp>
      <p:sp>
        <p:nvSpPr>
          <p:cNvPr id="29" name="diagram"/>
          <p:cNvSpPr txBox="1"/>
          <p:nvPr/>
        </p:nvSpPr>
        <p:spPr>
          <a:xfrm>
            <a:off x="6382512" y="3346704"/>
            <a:ext cx="2276856" cy="502920"/>
          </a:xfrm>
          <a:prstGeom prst="rect">
            <a:avLst/>
          </a:prstGeom>
          <a:noFill/>
        </p:spPr>
        <p:txBody>
          <a:bodyPr wrap="square" lIns="0" rIns="0" tIns="0" bIns="0" anchor="ctr">
            <a:noAutofit/>
          </a:bodyPr>
          <a:lstStyle/>
          <a:p>
            <a:pPr algn="ctr">
              <a:lnSpc>
                <a:spcPct val="100000"/>
              </a:lnSpc>
              <a:spcBef>
                <a:spcPts val="0"/>
              </a:spcBef>
              <a:spcAft>
                <a:spcPts val="0"/>
              </a:spcAft>
            </a:pPr>
            <a:r>
              <a:rPr sz="1400" b="1" i="0">
                <a:solidFill>
                  <a:srgbClr val="FFFFFF"/>
                </a:solidFill>
                <a:latin typeface="Calibri"/>
              </a:rPr>
              <a:t>Penyesuaian akhir</a:t>
            </a:r>
          </a:p>
        </p:txBody>
      </p:sp>
      <p:cxnSp>
        <p:nvCxnSpPr>
          <p:cNvPr id="30" name="Connector 29"/>
          <p:cNvCxnSpPr/>
          <p:nvPr/>
        </p:nvCxnSpPr>
        <p:spPr>
          <a:xfrm>
            <a:off x="5852160" y="2304288"/>
            <a:ext cx="365760" cy="0"/>
          </a:xfrm>
          <a:prstGeom prst="line">
            <a:avLst/>
          </a:prstGeom>
          <a:ln w="15875">
            <a:solidFill>
              <a:srgbClr val="5F6B7A"/>
            </a:solidFill>
            <a:tailEnd type="triangle" w="med" len="med"/>
          </a:ln>
        </p:spPr>
      </p:cxnSp>
      <p:cxnSp>
        <p:nvCxnSpPr>
          <p:cNvPr id="31" name="Connector 30"/>
          <p:cNvCxnSpPr/>
          <p:nvPr/>
        </p:nvCxnSpPr>
        <p:spPr>
          <a:xfrm>
            <a:off x="5852160" y="3493008"/>
            <a:ext cx="365760" cy="0"/>
          </a:xfrm>
          <a:prstGeom prst="line">
            <a:avLst/>
          </a:prstGeom>
          <a:ln w="15875">
            <a:solidFill>
              <a:srgbClr val="5F6B7A"/>
            </a:solidFill>
            <a:tailEnd type="triangle" w="med" len="med"/>
          </a:ln>
        </p:spPr>
      </p:cxnSp>
      <p:cxnSp>
        <p:nvCxnSpPr>
          <p:cNvPr id="32" name="Connector 31"/>
          <p:cNvCxnSpPr/>
          <p:nvPr/>
        </p:nvCxnSpPr>
        <p:spPr>
          <a:xfrm>
            <a:off x="5852160" y="4800600"/>
            <a:ext cx="3291840" cy="0"/>
          </a:xfrm>
          <a:prstGeom prst="line">
            <a:avLst/>
          </a:prstGeom>
          <a:ln w="15875">
            <a:solidFill>
              <a:srgbClr val="5F6B7A"/>
            </a:solidFill>
            <a:tailEnd type="triangle" w="med" len="med"/>
          </a:ln>
        </p:spPr>
      </p:cxnSp>
      <p:sp>
        <p:nvSpPr>
          <p:cNvPr id="33" name="label"/>
          <p:cNvSpPr txBox="1"/>
          <p:nvPr/>
        </p:nvSpPr>
        <p:spPr>
          <a:xfrm>
            <a:off x="9235440" y="1417320"/>
            <a:ext cx="2407615" cy="36576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GALAT JUJUR SEBELUM KOREKSI (RMSE/σ)</a:t>
            </a:r>
          </a:p>
        </p:txBody>
      </p:sp>
      <p:sp>
        <p:nvSpPr>
          <p:cNvPr id="34" name="body"/>
          <p:cNvSpPr txBox="1"/>
          <p:nvPr/>
        </p:nvSpPr>
        <p:spPr>
          <a:xfrm>
            <a:off x="9235440" y="1828800"/>
            <a:ext cx="1325880" cy="41148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Gas</a:t>
            </a:r>
          </a:p>
        </p:txBody>
      </p:sp>
      <p:sp>
        <p:nvSpPr>
          <p:cNvPr id="35" name="angka"/>
          <p:cNvSpPr txBox="1"/>
          <p:nvPr/>
        </p:nvSpPr>
        <p:spPr>
          <a:xfrm>
            <a:off x="10561319" y="1828800"/>
            <a:ext cx="1081735" cy="411480"/>
          </a:xfrm>
          <a:prstGeom prst="rect">
            <a:avLst/>
          </a:prstGeom>
          <a:noFill/>
        </p:spPr>
        <p:txBody>
          <a:bodyPr wrap="square" lIns="0" rIns="0" tIns="0" bIns="0" anchor="ctr">
            <a:noAutofit/>
          </a:bodyPr>
          <a:lstStyle/>
          <a:p>
            <a:pPr algn="r">
              <a:lnSpc>
                <a:spcPct val="100000"/>
              </a:lnSpc>
              <a:spcBef>
                <a:spcPts val="0"/>
              </a:spcBef>
              <a:spcAft>
                <a:spcPts val="0"/>
              </a:spcAft>
            </a:pPr>
            <a:r>
              <a:rPr sz="2000" b="1" i="0">
                <a:solidFill>
                  <a:srgbClr val="16324F"/>
                </a:solidFill>
                <a:latin typeface="Calibri"/>
              </a:rPr>
              <a:t>0,2449</a:t>
            </a:r>
          </a:p>
        </p:txBody>
      </p:sp>
      <p:sp>
        <p:nvSpPr>
          <p:cNvPr id="36" name="body"/>
          <p:cNvSpPr txBox="1"/>
          <p:nvPr/>
        </p:nvSpPr>
        <p:spPr>
          <a:xfrm>
            <a:off x="9235440" y="2331720"/>
            <a:ext cx="1325880" cy="41148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EUI</a:t>
            </a:r>
          </a:p>
        </p:txBody>
      </p:sp>
      <p:sp>
        <p:nvSpPr>
          <p:cNvPr id="37" name="angka"/>
          <p:cNvSpPr txBox="1"/>
          <p:nvPr/>
        </p:nvSpPr>
        <p:spPr>
          <a:xfrm>
            <a:off x="10561319" y="2331720"/>
            <a:ext cx="1081735" cy="411480"/>
          </a:xfrm>
          <a:prstGeom prst="rect">
            <a:avLst/>
          </a:prstGeom>
          <a:noFill/>
        </p:spPr>
        <p:txBody>
          <a:bodyPr wrap="square" lIns="0" rIns="0" tIns="0" bIns="0" anchor="ctr">
            <a:noAutofit/>
          </a:bodyPr>
          <a:lstStyle/>
          <a:p>
            <a:pPr algn="r">
              <a:lnSpc>
                <a:spcPct val="100000"/>
              </a:lnSpc>
              <a:spcBef>
                <a:spcPts val="0"/>
              </a:spcBef>
              <a:spcAft>
                <a:spcPts val="0"/>
              </a:spcAft>
            </a:pPr>
            <a:r>
              <a:rPr sz="2000" b="1" i="0">
                <a:solidFill>
                  <a:srgbClr val="16324F"/>
                </a:solidFill>
                <a:latin typeface="Calibri"/>
              </a:rPr>
              <a:t>0,6502</a:t>
            </a:r>
          </a:p>
        </p:txBody>
      </p:sp>
      <p:sp>
        <p:nvSpPr>
          <p:cNvPr id="38" name="body"/>
          <p:cNvSpPr txBox="1"/>
          <p:nvPr/>
        </p:nvSpPr>
        <p:spPr>
          <a:xfrm>
            <a:off x="9235440" y="3246120"/>
            <a:ext cx="1325880" cy="41148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Listrik</a:t>
            </a:r>
          </a:p>
        </p:txBody>
      </p:sp>
      <p:sp>
        <p:nvSpPr>
          <p:cNvPr id="39" name="angka"/>
          <p:cNvSpPr txBox="1"/>
          <p:nvPr/>
        </p:nvSpPr>
        <p:spPr>
          <a:xfrm>
            <a:off x="10561319" y="3246120"/>
            <a:ext cx="1081735" cy="411480"/>
          </a:xfrm>
          <a:prstGeom prst="rect">
            <a:avLst/>
          </a:prstGeom>
          <a:noFill/>
        </p:spPr>
        <p:txBody>
          <a:bodyPr wrap="square" lIns="0" rIns="0" tIns="0" bIns="0" anchor="ctr">
            <a:noAutofit/>
          </a:bodyPr>
          <a:lstStyle/>
          <a:p>
            <a:pPr algn="r">
              <a:lnSpc>
                <a:spcPct val="100000"/>
              </a:lnSpc>
              <a:spcBef>
                <a:spcPts val="0"/>
              </a:spcBef>
              <a:spcAft>
                <a:spcPts val="0"/>
              </a:spcAft>
            </a:pPr>
            <a:r>
              <a:rPr sz="2000" b="1" i="0">
                <a:solidFill>
                  <a:srgbClr val="16324F"/>
                </a:solidFill>
                <a:latin typeface="Calibri"/>
              </a:rPr>
              <a:t>0,3159</a:t>
            </a:r>
          </a:p>
        </p:txBody>
      </p:sp>
      <p:sp>
        <p:nvSpPr>
          <p:cNvPr id="40" name="body"/>
          <p:cNvSpPr txBox="1"/>
          <p:nvPr/>
        </p:nvSpPr>
        <p:spPr>
          <a:xfrm>
            <a:off x="9235440" y="4343400"/>
            <a:ext cx="1325880" cy="41148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Porsi bersih</a:t>
            </a:r>
          </a:p>
        </p:txBody>
      </p:sp>
      <p:sp>
        <p:nvSpPr>
          <p:cNvPr id="41" name="angka"/>
          <p:cNvSpPr txBox="1"/>
          <p:nvPr/>
        </p:nvSpPr>
        <p:spPr>
          <a:xfrm>
            <a:off x="10561319" y="4343400"/>
            <a:ext cx="1081735" cy="411480"/>
          </a:xfrm>
          <a:prstGeom prst="rect">
            <a:avLst/>
          </a:prstGeom>
          <a:noFill/>
        </p:spPr>
        <p:txBody>
          <a:bodyPr wrap="square" lIns="0" rIns="0" tIns="0" bIns="0" anchor="ctr">
            <a:noAutofit/>
          </a:bodyPr>
          <a:lstStyle/>
          <a:p>
            <a:pPr algn="r">
              <a:lnSpc>
                <a:spcPct val="100000"/>
              </a:lnSpc>
              <a:spcBef>
                <a:spcPts val="0"/>
              </a:spcBef>
              <a:spcAft>
                <a:spcPts val="0"/>
              </a:spcAft>
            </a:pPr>
            <a:r>
              <a:rPr sz="2000" b="1" i="0">
                <a:solidFill>
                  <a:srgbClr val="16324F"/>
                </a:solidFill>
                <a:latin typeface="Calibri"/>
              </a:rPr>
              <a:t>0</a:t>
            </a:r>
          </a:p>
        </p:txBody>
      </p:sp>
      <p:sp>
        <p:nvSpPr>
          <p:cNvPr id="42" name="body"/>
          <p:cNvSpPr txBox="1"/>
          <p:nvPr/>
        </p:nvSpPr>
        <p:spPr>
          <a:xfrm>
            <a:off x="9235440" y="4846320"/>
            <a:ext cx="1325880" cy="41148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Adopsi</a:t>
            </a:r>
          </a:p>
        </p:txBody>
      </p:sp>
      <p:sp>
        <p:nvSpPr>
          <p:cNvPr id="43" name="angka"/>
          <p:cNvSpPr txBox="1"/>
          <p:nvPr/>
        </p:nvSpPr>
        <p:spPr>
          <a:xfrm>
            <a:off x="10561319" y="4846320"/>
            <a:ext cx="1081735" cy="411480"/>
          </a:xfrm>
          <a:prstGeom prst="rect">
            <a:avLst/>
          </a:prstGeom>
          <a:noFill/>
        </p:spPr>
        <p:txBody>
          <a:bodyPr wrap="square" lIns="0" rIns="0" tIns="0" bIns="0" anchor="ctr">
            <a:noAutofit/>
          </a:bodyPr>
          <a:lstStyle/>
          <a:p>
            <a:pPr algn="r">
              <a:lnSpc>
                <a:spcPct val="100000"/>
              </a:lnSpc>
              <a:spcBef>
                <a:spcPts val="0"/>
              </a:spcBef>
              <a:spcAft>
                <a:spcPts val="0"/>
              </a:spcAft>
            </a:pPr>
            <a:r>
              <a:rPr sz="2000" b="1" i="0">
                <a:solidFill>
                  <a:srgbClr val="16324F"/>
                </a:solidFill>
                <a:latin typeface="Calibri"/>
              </a:rPr>
              <a:t>≈ 0,04</a:t>
            </a:r>
          </a:p>
        </p:txBody>
      </p:sp>
      <p:cxnSp>
        <p:nvCxnSpPr>
          <p:cNvPr id="44" name="Connector 43"/>
          <p:cNvCxnSpPr/>
          <p:nvPr/>
        </p:nvCxnSpPr>
        <p:spPr>
          <a:xfrm>
            <a:off x="8823960" y="2194560"/>
            <a:ext cx="365759" cy="0"/>
          </a:xfrm>
          <a:prstGeom prst="line">
            <a:avLst/>
          </a:prstGeom>
          <a:ln w="15875">
            <a:solidFill>
              <a:srgbClr val="5F6B7A"/>
            </a:solidFill>
            <a:tailEnd type="triangle" w="med" len="med"/>
          </a:ln>
        </p:spPr>
      </p:cxnSp>
      <p:cxnSp>
        <p:nvCxnSpPr>
          <p:cNvPr id="45" name="Connector 44"/>
          <p:cNvCxnSpPr/>
          <p:nvPr/>
        </p:nvCxnSpPr>
        <p:spPr>
          <a:xfrm>
            <a:off x="8823960" y="3447288"/>
            <a:ext cx="365759" cy="0"/>
          </a:xfrm>
          <a:prstGeom prst="line">
            <a:avLst/>
          </a:prstGeom>
          <a:ln w="15875">
            <a:solidFill>
              <a:srgbClr val="5F6B7A"/>
            </a:solidFill>
            <a:tailEnd type="triangle" w="med" len="med"/>
          </a:ln>
        </p:spPr>
      </p:cxnSp>
      <p:sp>
        <p:nvSpPr>
          <p:cNvPr id="46" name="Rounded Rectangle 45"/>
          <p:cNvSpPr/>
          <p:nvPr/>
        </p:nvSpPr>
        <p:spPr>
          <a:xfrm>
            <a:off x="548640" y="5504688"/>
            <a:ext cx="10798750" cy="292608"/>
          </a:xfrm>
          <a:prstGeom prst="roundRect">
            <a:avLst>
              <a:gd name="adj" fmla="val 25000"/>
            </a:avLst>
          </a:prstGeom>
          <a:solidFill>
            <a:srgbClr val="E3EAF2"/>
          </a:solidFill>
          <a:ln>
            <a:noFill/>
          </a:ln>
        </p:spPr>
        <p:txBody>
          <a:bodyPr rtlCol="0" anchor="ctr"/>
          <a:lstStyle/>
          <a:p>
            <a:pPr algn="ctr"/>
          </a:p>
        </p:txBody>
      </p:sp>
      <p:sp>
        <p:nvSpPr>
          <p:cNvPr id="47" name="sumber"/>
          <p:cNvSpPr txBox="1"/>
          <p:nvPr/>
        </p:nvSpPr>
        <p:spPr>
          <a:xfrm>
            <a:off x="667512" y="5541264"/>
            <a:ext cx="10579294"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6324F"/>
                </a:solidFill>
                <a:latin typeface="Calibri"/>
              </a:rPr>
              <a:t>FAKTA</a:t>
            </a:r>
            <a:r>
              <a:rPr sz="1200" b="0" i="0">
                <a:solidFill>
                  <a:srgbClr val="16324F"/>
                </a:solidFill>
                <a:latin typeface="Calibri"/>
              </a:rPr>
              <a:t> · notebook 56 sel, 17 modul diciutkan, sakelar DICEFEST_TRAIN; submisi identik byte di perangkat sama, sha256 aec745ab…d66e (sel 35); galat jujur dari sel 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Skor privat dari data yang tidak pernah terlihat sejalan dengan skor publik, tanda tidak </a:t>
            </a:r>
            <a:r>
              <a:rPr sz="2800" b="1" i="1">
                <a:solidFill>
                  <a:srgbClr val="1F2933"/>
                </a:solidFill>
                <a:latin typeface="Calibri"/>
              </a:rPr>
              <a:t>overfit</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MODEL · VALIDASI</a:t>
            </a:r>
          </a:p>
        </p:txBody>
      </p:sp>
      <p:sp>
        <p:nvSpPr>
          <p:cNvPr id="4" name="istilah"/>
          <p:cNvSpPr txBox="1"/>
          <p:nvPr/>
        </p:nvSpPr>
        <p:spPr>
          <a:xfrm>
            <a:off x="548640" y="6035040"/>
            <a:ext cx="11094415" cy="365760"/>
          </a:xfrm>
          <a:prstGeom prst="rect">
            <a:avLst/>
          </a:prstGeom>
          <a:noFill/>
        </p:spPr>
        <p:txBody>
          <a:bodyPr wrap="square" lIns="0" rIns="0" tIns="0" bIns="0" anchor="t">
            <a:noAutofit/>
          </a:bodyPr>
          <a:lstStyle/>
          <a:p>
            <a:pPr algn="l">
              <a:lnSpc>
                <a:spcPct val="95000"/>
              </a:lnSpc>
              <a:spcBef>
                <a:spcPts val="0"/>
              </a:spcBef>
              <a:spcAft>
                <a:spcPts val="0"/>
              </a:spcAft>
            </a:pPr>
            <a:r>
              <a:rPr sz="1200" b="1" i="0">
                <a:solidFill>
                  <a:srgbClr val="5F6B7A"/>
                </a:solidFill>
                <a:latin typeface="Calibri"/>
              </a:rPr>
              <a:t>Istilah.</a:t>
            </a:r>
            <a:r>
              <a:rPr sz="1200" b="0" i="0">
                <a:solidFill>
                  <a:srgbClr val="5F6B7A"/>
                </a:solidFill>
                <a:latin typeface="Calibri"/>
              </a:rPr>
              <a:t> </a:t>
            </a:r>
            <a:r>
              <a:rPr sz="1200" b="0" i="1">
                <a:solidFill>
                  <a:srgbClr val="5F6B7A"/>
                </a:solidFill>
                <a:latin typeface="Calibri"/>
              </a:rPr>
              <a:t>Holdout set</a:t>
            </a:r>
            <a:r>
              <a:rPr sz="1200" b="0" i="0">
                <a:solidFill>
                  <a:srgbClr val="5F6B7A"/>
                </a:solidFill>
                <a:latin typeface="Calibri"/>
              </a:rPr>
              <a:t>: 30% data latih yang disisihkan untuk menguji setiap keputusan. AUC 0,5: model tidak lebih baik dari menebak acak.</a:t>
            </a:r>
          </a:p>
        </p:txBody>
      </p:sp>
      <p:sp>
        <p:nvSpPr>
          <p:cNvPr id="5"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6"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7</a:t>
            </a:r>
          </a:p>
        </p:txBody>
      </p:sp>
      <p:pic>
        <p:nvPicPr>
          <p:cNvPr id="7" name="Picture 6" descr="Skor leaderboard publik per langkah pengembangan, dari 0,25025 ke 0,24913, dan skor privat 0,24844"/>
          <p:cNvPicPr>
            <a:picLocks noChangeAspect="1"/>
          </p:cNvPicPr>
          <p:nvPr/>
        </p:nvPicPr>
        <p:blipFill>
          <a:blip r:embed="rId2"/>
          <a:stretch>
            <a:fillRect/>
          </a:stretch>
        </p:blipFill>
        <p:spPr>
          <a:xfrm>
            <a:off x="548640" y="1783080"/>
            <a:ext cx="6583680" cy="3825651"/>
          </a:xfrm>
          <a:prstGeom prst="rect">
            <a:avLst/>
          </a:prstGeom>
        </p:spPr>
      </p:pic>
      <p:sp>
        <p:nvSpPr>
          <p:cNvPr id="8" name="Rounded Rectangle 7"/>
          <p:cNvSpPr/>
          <p:nvPr/>
        </p:nvSpPr>
        <p:spPr>
          <a:xfrm>
            <a:off x="548640" y="5596128"/>
            <a:ext cx="4573472" cy="292608"/>
          </a:xfrm>
          <a:prstGeom prst="roundRect">
            <a:avLst>
              <a:gd name="adj" fmla="val 25000"/>
            </a:avLst>
          </a:prstGeom>
          <a:solidFill>
            <a:srgbClr val="E3EAF2"/>
          </a:solidFill>
          <a:ln>
            <a:noFill/>
          </a:ln>
        </p:spPr>
        <p:txBody>
          <a:bodyPr rtlCol="0" anchor="ctr"/>
          <a:lstStyle/>
          <a:p>
            <a:pPr algn="ctr"/>
          </a:p>
        </p:txBody>
      </p:sp>
      <p:sp>
        <p:nvSpPr>
          <p:cNvPr id="9" name="sumber"/>
          <p:cNvSpPr txBox="1"/>
          <p:nvPr/>
        </p:nvSpPr>
        <p:spPr>
          <a:xfrm>
            <a:off x="667512" y="5632704"/>
            <a:ext cx="4354016"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6324F"/>
                </a:solidFill>
                <a:latin typeface="Calibri"/>
              </a:rPr>
              <a:t>FAKTA</a:t>
            </a:r>
            <a:r>
              <a:rPr sz="1200" b="0" i="0">
                <a:solidFill>
                  <a:srgbClr val="16324F"/>
                </a:solidFill>
                <a:latin typeface="Calibri"/>
              </a:rPr>
              <a:t> · LB publik per langkah: sel 37; LB privat: Kaggle, 24 Okt 2026</a:t>
            </a:r>
          </a:p>
        </p:txBody>
      </p:sp>
      <p:sp>
        <p:nvSpPr>
          <p:cNvPr id="10" name="angka"/>
          <p:cNvSpPr txBox="1"/>
          <p:nvPr/>
        </p:nvSpPr>
        <p:spPr>
          <a:xfrm>
            <a:off x="7452360" y="1783080"/>
            <a:ext cx="4190695" cy="45720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F7A8C"/>
                </a:solidFill>
                <a:latin typeface="Calibri"/>
              </a:rPr>
              <a:t>0,4997</a:t>
            </a:r>
          </a:p>
        </p:txBody>
      </p:sp>
      <p:sp>
        <p:nvSpPr>
          <p:cNvPr id="11" name="body"/>
          <p:cNvSpPr txBox="1"/>
          <p:nvPr/>
        </p:nvSpPr>
        <p:spPr>
          <a:xfrm>
            <a:off x="7452360" y="2258568"/>
            <a:ext cx="4190695" cy="731520"/>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1F2933"/>
                </a:solidFill>
                <a:latin typeface="Calibri"/>
              </a:rPr>
              <a:t>AUC validasi adversarial: data latih dan uji tidak dapat dibedakan, jadi validasi acak sepuluh </a:t>
            </a:r>
            <a:r>
              <a:rPr sz="1400" b="0" i="1">
                <a:solidFill>
                  <a:srgbClr val="1F2933"/>
                </a:solidFill>
                <a:latin typeface="Calibri"/>
              </a:rPr>
              <a:t>fold</a:t>
            </a:r>
            <a:r>
              <a:rPr sz="1400" b="0" i="0">
                <a:solidFill>
                  <a:srgbClr val="1F2933"/>
                </a:solidFill>
                <a:latin typeface="Calibri"/>
              </a:rPr>
              <a:t> meniru data uji</a:t>
            </a:r>
          </a:p>
        </p:txBody>
      </p:sp>
      <p:cxnSp>
        <p:nvCxnSpPr>
          <p:cNvPr id="12" name="Connector 11"/>
          <p:cNvCxnSpPr/>
          <p:nvPr/>
        </p:nvCxnSpPr>
        <p:spPr>
          <a:xfrm>
            <a:off x="7452360" y="2999232"/>
            <a:ext cx="4190695" cy="0"/>
          </a:xfrm>
          <a:prstGeom prst="line">
            <a:avLst/>
          </a:prstGeom>
          <a:ln w="9525">
            <a:solidFill>
              <a:srgbClr val="D5DBE3"/>
            </a:solidFill>
          </a:ln>
        </p:spPr>
      </p:cxnSp>
      <p:sp>
        <p:nvSpPr>
          <p:cNvPr id="13" name="angka"/>
          <p:cNvSpPr txBox="1"/>
          <p:nvPr/>
        </p:nvSpPr>
        <p:spPr>
          <a:xfrm>
            <a:off x="7452360" y="3081528"/>
            <a:ext cx="4190695" cy="45720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F7A8C"/>
                </a:solidFill>
                <a:latin typeface="Calibri"/>
              </a:rPr>
              <a:t>8,14% vs 8,17%</a:t>
            </a:r>
          </a:p>
        </p:txBody>
      </p:sp>
      <p:sp>
        <p:nvSpPr>
          <p:cNvPr id="14" name="body"/>
          <p:cNvSpPr txBox="1"/>
          <p:nvPr/>
        </p:nvSpPr>
        <p:spPr>
          <a:xfrm>
            <a:off x="7452360" y="3557016"/>
            <a:ext cx="4190695" cy="731520"/>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1F2933"/>
                </a:solidFill>
                <a:latin typeface="Calibri"/>
              </a:rPr>
              <a:t>kawasan uji di subzona baru: teramati vs harapan pengacakan per baris</a:t>
            </a:r>
          </a:p>
        </p:txBody>
      </p:sp>
      <p:cxnSp>
        <p:nvCxnSpPr>
          <p:cNvPr id="15" name="Connector 14"/>
          <p:cNvCxnSpPr/>
          <p:nvPr/>
        </p:nvCxnSpPr>
        <p:spPr>
          <a:xfrm>
            <a:off x="7452360" y="4297680"/>
            <a:ext cx="4190695" cy="0"/>
          </a:xfrm>
          <a:prstGeom prst="line">
            <a:avLst/>
          </a:prstGeom>
          <a:ln w="9525">
            <a:solidFill>
              <a:srgbClr val="D5DBE3"/>
            </a:solidFill>
          </a:ln>
        </p:spPr>
      </p:cxnSp>
      <p:sp>
        <p:nvSpPr>
          <p:cNvPr id="16" name="angka"/>
          <p:cNvSpPr txBox="1"/>
          <p:nvPr/>
        </p:nvSpPr>
        <p:spPr>
          <a:xfrm>
            <a:off x="7452360" y="4379976"/>
            <a:ext cx="4190695" cy="45720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D97B29"/>
                </a:solidFill>
                <a:latin typeface="Calibri"/>
              </a:rPr>
              <a:t>0,24844 vs 0,24913</a:t>
            </a:r>
          </a:p>
        </p:txBody>
      </p:sp>
      <p:sp>
        <p:nvSpPr>
          <p:cNvPr id="17" name="body"/>
          <p:cNvSpPr txBox="1"/>
          <p:nvPr/>
        </p:nvSpPr>
        <p:spPr>
          <a:xfrm>
            <a:off x="7452360" y="4855464"/>
            <a:ext cx="4190695" cy="731520"/>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1F2933"/>
                </a:solidFill>
                <a:latin typeface="Calibri"/>
              </a:rPr>
              <a:t>privat vs publik: tidak memburuk. Komponen diterima di </a:t>
            </a:r>
            <a:r>
              <a:rPr sz="1400" b="0" i="1">
                <a:solidFill>
                  <a:srgbClr val="1F2933"/>
                </a:solidFill>
                <a:latin typeface="Calibri"/>
              </a:rPr>
              <a:t>holdout set</a:t>
            </a:r>
            <a:r>
              <a:rPr sz="1400" b="0" i="0">
                <a:solidFill>
                  <a:srgbClr val="1F2933"/>
                </a:solidFill>
                <a:latin typeface="Calibri"/>
              </a:rPr>
              <a:t>; </a:t>
            </a:r>
            <a:r>
              <a:rPr sz="1400" b="0" i="1">
                <a:solidFill>
                  <a:srgbClr val="1F2933"/>
                </a:solidFill>
                <a:latin typeface="Calibri"/>
              </a:rPr>
              <a:t>leaderboard</a:t>
            </a:r>
            <a:r>
              <a:rPr sz="1400" b="0" i="0">
                <a:solidFill>
                  <a:srgbClr val="1F2933"/>
                </a:solidFill>
                <a:latin typeface="Calibri"/>
              </a:rPr>
              <a:t> hanya mengonfirmasi arah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Rumah kecil boros gas per m², rumah besar boros listrik per rumah</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KEBIJAKAN · INTERPRETASI SHAP</a:t>
            </a:r>
          </a:p>
        </p:txBody>
      </p:sp>
      <p:sp>
        <p:nvSpPr>
          <p:cNvPr id="4" name="istilah"/>
          <p:cNvSpPr txBox="1"/>
          <p:nvPr/>
        </p:nvSpPr>
        <p:spPr>
          <a:xfrm>
            <a:off x="548640" y="6035040"/>
            <a:ext cx="11094415" cy="365760"/>
          </a:xfrm>
          <a:prstGeom prst="rect">
            <a:avLst/>
          </a:prstGeom>
          <a:noFill/>
        </p:spPr>
        <p:txBody>
          <a:bodyPr wrap="square" lIns="0" rIns="0" tIns="0" bIns="0" anchor="t">
            <a:noAutofit/>
          </a:bodyPr>
          <a:lstStyle/>
          <a:p>
            <a:pPr algn="l">
              <a:lnSpc>
                <a:spcPct val="95000"/>
              </a:lnSpc>
              <a:spcBef>
                <a:spcPts val="0"/>
              </a:spcBef>
              <a:spcAft>
                <a:spcPts val="0"/>
              </a:spcAft>
            </a:pPr>
            <a:r>
              <a:rPr sz="1200" b="1" i="0">
                <a:solidFill>
                  <a:srgbClr val="5F6B7A"/>
                </a:solidFill>
                <a:latin typeface="Calibri"/>
              </a:rPr>
              <a:t>Istilah.</a:t>
            </a:r>
            <a:r>
              <a:rPr sz="1200" b="0" i="0">
                <a:solidFill>
                  <a:srgbClr val="5F6B7A"/>
                </a:solidFill>
                <a:latin typeface="Calibri"/>
              </a:rPr>
              <a:t> Model penjelas: satu LightGBM per target yang hanya memakai karakteristik kawasan terukur. Garis hitam: rata-rata sumbangan per kelompok ukuran rumah.</a:t>
            </a:r>
          </a:p>
        </p:txBody>
      </p:sp>
      <p:sp>
        <p:nvSpPr>
          <p:cNvPr id="5"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6"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8</a:t>
            </a:r>
          </a:p>
        </p:txBody>
      </p:sp>
      <p:pic>
        <p:nvPicPr>
          <p:cNvPr id="7" name="Picture 6" descr="Sumbangan SHAP luas lantai per meter: negatif untuk intensitas gas dan positif untuk listrik per rumah pada rumah besar"/>
          <p:cNvPicPr>
            <a:picLocks noChangeAspect="1"/>
          </p:cNvPicPr>
          <p:nvPr/>
        </p:nvPicPr>
        <p:blipFill>
          <a:blip r:embed="rId2"/>
          <a:stretch>
            <a:fillRect/>
          </a:stretch>
        </p:blipFill>
        <p:spPr>
          <a:xfrm>
            <a:off x="548640" y="1737360"/>
            <a:ext cx="6766560" cy="3298698"/>
          </a:xfrm>
          <a:prstGeom prst="rect">
            <a:avLst/>
          </a:prstGeom>
        </p:spPr>
      </p:pic>
      <p:sp>
        <p:nvSpPr>
          <p:cNvPr id="8" name="angka"/>
          <p:cNvSpPr txBox="1"/>
          <p:nvPr/>
        </p:nvSpPr>
        <p:spPr>
          <a:xfrm>
            <a:off x="8001000" y="1737360"/>
            <a:ext cx="3642055" cy="698500"/>
          </a:xfrm>
          <a:prstGeom prst="rect">
            <a:avLst/>
          </a:prstGeom>
          <a:noFill/>
        </p:spPr>
        <p:txBody>
          <a:bodyPr wrap="square" lIns="0" rIns="0" tIns="0" bIns="0" anchor="t">
            <a:noAutofit/>
          </a:bodyPr>
          <a:lstStyle/>
          <a:p>
            <a:pPr algn="l">
              <a:lnSpc>
                <a:spcPct val="90000"/>
              </a:lnSpc>
              <a:spcBef>
                <a:spcPts val="0"/>
              </a:spcBef>
              <a:spcAft>
                <a:spcPts val="0"/>
              </a:spcAft>
            </a:pPr>
            <a:r>
              <a:rPr sz="4400" b="1" i="0">
                <a:solidFill>
                  <a:srgbClr val="D97B29"/>
                </a:solidFill>
                <a:latin typeface="Calibri"/>
              </a:rPr>
              <a:t>+65%</a:t>
            </a:r>
          </a:p>
        </p:txBody>
      </p:sp>
      <p:sp>
        <p:nvSpPr>
          <p:cNvPr id="9" name="body"/>
          <p:cNvSpPr txBox="1"/>
          <p:nvPr/>
        </p:nvSpPr>
        <p:spPr>
          <a:xfrm>
            <a:off x="8001000" y="2419096"/>
            <a:ext cx="3642055" cy="713232"/>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sumbangan ke gas per m²: 5% kawasan rumah terkecil (±37 m²) vs 5% terbesar (±173 m²)</a:t>
            </a:r>
          </a:p>
        </p:txBody>
      </p:sp>
      <p:sp>
        <p:nvSpPr>
          <p:cNvPr id="10" name="angka"/>
          <p:cNvSpPr txBox="1"/>
          <p:nvPr/>
        </p:nvSpPr>
        <p:spPr>
          <a:xfrm>
            <a:off x="8001000" y="3017520"/>
            <a:ext cx="3642055" cy="698500"/>
          </a:xfrm>
          <a:prstGeom prst="rect">
            <a:avLst/>
          </a:prstGeom>
          <a:noFill/>
        </p:spPr>
        <p:txBody>
          <a:bodyPr wrap="square" lIns="0" rIns="0" tIns="0" bIns="0" anchor="t">
            <a:noAutofit/>
          </a:bodyPr>
          <a:lstStyle/>
          <a:p>
            <a:pPr algn="l">
              <a:lnSpc>
                <a:spcPct val="90000"/>
              </a:lnSpc>
              <a:spcBef>
                <a:spcPts val="0"/>
              </a:spcBef>
              <a:spcAft>
                <a:spcPts val="0"/>
              </a:spcAft>
            </a:pPr>
            <a:r>
              <a:rPr sz="4400" b="1" i="0">
                <a:solidFill>
                  <a:srgbClr val="1F7A8C"/>
                </a:solidFill>
                <a:latin typeface="Calibri"/>
              </a:rPr>
              <a:t>+75%</a:t>
            </a:r>
          </a:p>
        </p:txBody>
      </p:sp>
      <p:sp>
        <p:nvSpPr>
          <p:cNvPr id="11" name="body"/>
          <p:cNvSpPr txBox="1"/>
          <p:nvPr/>
        </p:nvSpPr>
        <p:spPr>
          <a:xfrm>
            <a:off x="8001000" y="3699256"/>
            <a:ext cx="3642055" cy="54864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sumbangan ke listrik per rumah: 5% rumah terbesar vs 5% terkecil</a:t>
            </a:r>
          </a:p>
        </p:txBody>
      </p:sp>
      <p:cxnSp>
        <p:nvCxnSpPr>
          <p:cNvPr id="12" name="Connector 11"/>
          <p:cNvCxnSpPr/>
          <p:nvPr/>
        </p:nvCxnSpPr>
        <p:spPr>
          <a:xfrm>
            <a:off x="8001000" y="4206240"/>
            <a:ext cx="3642055" cy="0"/>
          </a:xfrm>
          <a:prstGeom prst="line">
            <a:avLst/>
          </a:prstGeom>
          <a:ln w="9525">
            <a:solidFill>
              <a:srgbClr val="D5DBE3"/>
            </a:solidFill>
          </a:ln>
        </p:spPr>
      </p:cxnSp>
      <p:sp>
        <p:nvSpPr>
          <p:cNvPr id="13" name="body"/>
          <p:cNvSpPr txBox="1"/>
          <p:nvPr/>
        </p:nvSpPr>
        <p:spPr>
          <a:xfrm>
            <a:off x="8001000" y="4279392"/>
            <a:ext cx="3642055" cy="914400"/>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1F2933"/>
                </a:solidFill>
                <a:latin typeface="Calibri"/>
              </a:rPr>
              <a:t>Kuartil bawah vs atas: sekitar </a:t>
            </a:r>
            <a:r>
              <a:rPr sz="1400" b="1" i="0">
                <a:solidFill>
                  <a:srgbClr val="D97B29"/>
                </a:solidFill>
                <a:latin typeface="Calibri"/>
              </a:rPr>
              <a:t>+34%</a:t>
            </a:r>
            <a:r>
              <a:rPr sz="1400" b="0" i="0">
                <a:solidFill>
                  <a:srgbClr val="1F2933"/>
                </a:solidFill>
                <a:latin typeface="Calibri"/>
              </a:rPr>
              <a:t> dan </a:t>
            </a:r>
            <a:r>
              <a:rPr sz="1400" b="1" i="0">
                <a:solidFill>
                  <a:srgbClr val="1F7A8C"/>
                </a:solidFill>
                <a:latin typeface="Calibri"/>
              </a:rPr>
              <a:t>+35%</a:t>
            </a:r>
            <a:r>
              <a:rPr sz="1400" b="0" i="0">
                <a:solidFill>
                  <a:srgbClr val="1F2933"/>
                </a:solidFill>
                <a:latin typeface="Calibri"/>
              </a:rPr>
              <a:t>. Periode bld_era_15: EUI sekitar +7%; iklim sekitar 15%.</a:t>
            </a:r>
          </a:p>
        </p:txBody>
      </p:sp>
      <p:sp>
        <p:nvSpPr>
          <p:cNvPr id="14" name="Rounded Rectangle 13"/>
          <p:cNvSpPr/>
          <p:nvPr/>
        </p:nvSpPr>
        <p:spPr>
          <a:xfrm>
            <a:off x="548640" y="5193792"/>
            <a:ext cx="6504350" cy="292608"/>
          </a:xfrm>
          <a:prstGeom prst="roundRect">
            <a:avLst>
              <a:gd name="adj" fmla="val 25000"/>
            </a:avLst>
          </a:prstGeom>
          <a:solidFill>
            <a:srgbClr val="E3F1F4"/>
          </a:solidFill>
          <a:ln>
            <a:noFill/>
          </a:ln>
        </p:spPr>
        <p:txBody>
          <a:bodyPr rtlCol="0" anchor="ctr"/>
          <a:lstStyle/>
          <a:p>
            <a:pPr algn="ctr"/>
          </a:p>
        </p:txBody>
      </p:sp>
      <p:sp>
        <p:nvSpPr>
          <p:cNvPr id="15" name="sumber"/>
          <p:cNvSpPr txBox="1"/>
          <p:nvPr/>
        </p:nvSpPr>
        <p:spPr>
          <a:xfrm>
            <a:off x="667512" y="5230368"/>
            <a:ext cx="6284894"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7606E"/>
                </a:solidFill>
                <a:latin typeface="Calibri"/>
              </a:rPr>
              <a:t>HASIL</a:t>
            </a:r>
            <a:r>
              <a:rPr sz="1200" b="0" i="0">
                <a:solidFill>
                  <a:srgbClr val="17606E"/>
                </a:solidFill>
                <a:latin typeface="Calibri"/>
              </a:rPr>
              <a:t> · model penjelas, R² data tak terlihat 0,563 (EUI) dan 0,491 (listrik per meter) · sel 41, 47, 48</a:t>
            </a:r>
          </a:p>
        </p:txBody>
      </p:sp>
      <p:sp>
        <p:nvSpPr>
          <p:cNvPr id="16" name="Rounded Rectangle 15"/>
          <p:cNvSpPr/>
          <p:nvPr/>
        </p:nvSpPr>
        <p:spPr>
          <a:xfrm>
            <a:off x="548640" y="5559552"/>
            <a:ext cx="6198991" cy="292608"/>
          </a:xfrm>
          <a:prstGeom prst="roundRect">
            <a:avLst>
              <a:gd name="adj" fmla="val 25000"/>
            </a:avLst>
          </a:prstGeom>
          <a:solidFill>
            <a:srgbClr val="ECE8F4"/>
          </a:solidFill>
          <a:ln>
            <a:noFill/>
          </a:ln>
        </p:spPr>
        <p:txBody>
          <a:bodyPr rtlCol="0" anchor="ctr"/>
          <a:lstStyle/>
          <a:p>
            <a:pPr algn="ctr"/>
          </a:p>
        </p:txBody>
      </p:sp>
      <p:sp>
        <p:nvSpPr>
          <p:cNvPr id="17" name="sumber"/>
          <p:cNvSpPr txBox="1"/>
          <p:nvPr/>
        </p:nvSpPr>
        <p:spPr>
          <a:xfrm>
            <a:off x="667512" y="5596128"/>
            <a:ext cx="5979535"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5B4A86"/>
                </a:solidFill>
                <a:latin typeface="Calibri"/>
              </a:rPr>
              <a:t>INTERPRETASI</a:t>
            </a:r>
            <a:r>
              <a:rPr sz="1200" b="0" i="0">
                <a:solidFill>
                  <a:srgbClr val="5B4A86"/>
                </a:solidFill>
                <a:latin typeface="Calibri"/>
              </a:rPr>
              <a:t> · SHAP adalah sumbangan pada prediksi model, bukan hubungan sebab-akibat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Peta 330 zona: 118 zona Q1 memuat 47% gas dan hampir separuh potensi </a:t>
            </a:r>
            <a:r>
              <a:rPr sz="2800" b="1" i="1">
                <a:solidFill>
                  <a:srgbClr val="1F2933"/>
                </a:solidFill>
                <a:latin typeface="Calibri"/>
              </a:rPr>
              <a:t>retrofit</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KEBIJAKAN · PETA ZONA</a:t>
            </a:r>
          </a:p>
        </p:txBody>
      </p:sp>
      <p:sp>
        <p:nvSpPr>
          <p:cNvPr id="4" name="istilah"/>
          <p:cNvSpPr txBox="1"/>
          <p:nvPr/>
        </p:nvSpPr>
        <p:spPr>
          <a:xfrm>
            <a:off x="548640" y="6035040"/>
            <a:ext cx="11094415" cy="365760"/>
          </a:xfrm>
          <a:prstGeom prst="rect">
            <a:avLst/>
          </a:prstGeom>
          <a:noFill/>
        </p:spPr>
        <p:txBody>
          <a:bodyPr wrap="square" lIns="0" rIns="0" tIns="0" bIns="0" anchor="t">
            <a:noAutofit/>
          </a:bodyPr>
          <a:lstStyle/>
          <a:p>
            <a:pPr algn="l">
              <a:lnSpc>
                <a:spcPct val="95000"/>
              </a:lnSpc>
              <a:spcBef>
                <a:spcPts val="0"/>
              </a:spcBef>
              <a:spcAft>
                <a:spcPts val="0"/>
              </a:spcAft>
            </a:pPr>
            <a:r>
              <a:rPr sz="1200" b="1" i="0">
                <a:solidFill>
                  <a:srgbClr val="5F6B7A"/>
                </a:solidFill>
                <a:latin typeface="Calibri"/>
              </a:rPr>
              <a:t>Istilah.</a:t>
            </a:r>
            <a:r>
              <a:rPr sz="1200" b="0" i="0">
                <a:solidFill>
                  <a:srgbClr val="5F6B7A"/>
                </a:solidFill>
                <a:latin typeface="Calibri"/>
              </a:rPr>
              <a:t> Kuadran: empat kelompok zona yang dibentuk garis median kedua sumbu. Kenaikan listrik di sini adalah energi tahunan, bukan beban puncak.</a:t>
            </a:r>
          </a:p>
        </p:txBody>
      </p:sp>
      <p:sp>
        <p:nvSpPr>
          <p:cNvPr id="5"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6"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9</a:t>
            </a:r>
          </a:p>
        </p:txBody>
      </p:sp>
      <p:pic>
        <p:nvPicPr>
          <p:cNvPr id="7" name="Picture 6" descr="Peta trilema 330 zona: intensitas gas terhadap kenaikan konsumsi listrik tahunan, warna menurut kuadran"/>
          <p:cNvPicPr>
            <a:picLocks noChangeAspect="1"/>
          </p:cNvPicPr>
          <p:nvPr/>
        </p:nvPicPr>
        <p:blipFill>
          <a:blip r:embed="rId2"/>
          <a:stretch>
            <a:fillRect/>
          </a:stretch>
        </p:blipFill>
        <p:spPr>
          <a:xfrm>
            <a:off x="548640" y="1737360"/>
            <a:ext cx="5897880" cy="4017396"/>
          </a:xfrm>
          <a:prstGeom prst="rect">
            <a:avLst/>
          </a:prstGeom>
        </p:spPr>
      </p:pic>
      <p:sp>
        <p:nvSpPr>
          <p:cNvPr id="8" name="tabel"/>
          <p:cNvSpPr txBox="1"/>
          <p:nvPr/>
        </p:nvSpPr>
        <p:spPr>
          <a:xfrm>
            <a:off x="6720840" y="1783080"/>
            <a:ext cx="774649" cy="292608"/>
          </a:xfrm>
          <a:prstGeom prst="rect">
            <a:avLst/>
          </a:prstGeom>
          <a:noFill/>
        </p:spPr>
        <p:txBody>
          <a:bodyPr wrap="square" lIns="0" rIns="0" tIns="0" bIns="0" anchor="t">
            <a:noAutofit/>
          </a:bodyPr>
          <a:lstStyle/>
          <a:p>
            <a:pPr algn="l">
              <a:lnSpc>
                <a:spcPct val="100000"/>
              </a:lnSpc>
              <a:spcBef>
                <a:spcPts val="0"/>
              </a:spcBef>
              <a:spcAft>
                <a:spcPts val="0"/>
              </a:spcAft>
            </a:pPr>
            <a:r>
              <a:rPr sz="1300" b="1" i="0">
                <a:solidFill>
                  <a:srgbClr val="5F6B7A"/>
                </a:solidFill>
                <a:latin typeface="Calibri"/>
              </a:rPr>
              <a:t>Kuadran</a:t>
            </a:r>
          </a:p>
        </p:txBody>
      </p:sp>
      <p:sp>
        <p:nvSpPr>
          <p:cNvPr id="9" name="tabel"/>
          <p:cNvSpPr txBox="1"/>
          <p:nvPr/>
        </p:nvSpPr>
        <p:spPr>
          <a:xfrm>
            <a:off x="7541209" y="1783080"/>
            <a:ext cx="533364" cy="292608"/>
          </a:xfrm>
          <a:prstGeom prst="rect">
            <a:avLst/>
          </a:prstGeom>
          <a:noFill/>
        </p:spPr>
        <p:txBody>
          <a:bodyPr wrap="square" lIns="0" rIns="0" tIns="0" bIns="0" anchor="t">
            <a:noAutofit/>
          </a:bodyPr>
          <a:lstStyle/>
          <a:p>
            <a:pPr algn="r">
              <a:lnSpc>
                <a:spcPct val="100000"/>
              </a:lnSpc>
              <a:spcBef>
                <a:spcPts val="0"/>
              </a:spcBef>
              <a:spcAft>
                <a:spcPts val="0"/>
              </a:spcAft>
            </a:pPr>
            <a:r>
              <a:rPr sz="1300" b="1" i="0">
                <a:solidFill>
                  <a:srgbClr val="5F6B7A"/>
                </a:solidFill>
                <a:latin typeface="Calibri"/>
              </a:rPr>
              <a:t>Zona</a:t>
            </a:r>
          </a:p>
        </p:txBody>
      </p:sp>
      <p:sp>
        <p:nvSpPr>
          <p:cNvPr id="10" name="tabel"/>
          <p:cNvSpPr txBox="1"/>
          <p:nvPr/>
        </p:nvSpPr>
        <p:spPr>
          <a:xfrm>
            <a:off x="8120293" y="1783080"/>
            <a:ext cx="774649" cy="292608"/>
          </a:xfrm>
          <a:prstGeom prst="rect">
            <a:avLst/>
          </a:prstGeom>
          <a:noFill/>
        </p:spPr>
        <p:txBody>
          <a:bodyPr wrap="square" lIns="0" rIns="0" tIns="0" bIns="0" anchor="t">
            <a:noAutofit/>
          </a:bodyPr>
          <a:lstStyle/>
          <a:p>
            <a:pPr algn="r">
              <a:lnSpc>
                <a:spcPct val="100000"/>
              </a:lnSpc>
              <a:spcBef>
                <a:spcPts val="0"/>
              </a:spcBef>
              <a:spcAft>
                <a:spcPts val="0"/>
              </a:spcAft>
            </a:pPr>
            <a:r>
              <a:rPr sz="1300" b="1" i="0">
                <a:solidFill>
                  <a:srgbClr val="5F6B7A"/>
                </a:solidFill>
                <a:latin typeface="Calibri"/>
              </a:rPr>
              <a:t>Porsi gas</a:t>
            </a:r>
          </a:p>
        </p:txBody>
      </p:sp>
      <p:sp>
        <p:nvSpPr>
          <p:cNvPr id="11" name="tabel"/>
          <p:cNvSpPr txBox="1"/>
          <p:nvPr/>
        </p:nvSpPr>
        <p:spPr>
          <a:xfrm>
            <a:off x="8940662" y="1783080"/>
            <a:ext cx="967677" cy="292608"/>
          </a:xfrm>
          <a:prstGeom prst="rect">
            <a:avLst/>
          </a:prstGeom>
          <a:noFill/>
        </p:spPr>
        <p:txBody>
          <a:bodyPr wrap="square" lIns="0" rIns="0" tIns="0" bIns="0" anchor="t">
            <a:noAutofit/>
          </a:bodyPr>
          <a:lstStyle/>
          <a:p>
            <a:pPr algn="r">
              <a:lnSpc>
                <a:spcPct val="100000"/>
              </a:lnSpc>
              <a:spcBef>
                <a:spcPts val="0"/>
              </a:spcBef>
              <a:spcAft>
                <a:spcPts val="0"/>
              </a:spcAft>
            </a:pPr>
            <a:r>
              <a:rPr sz="1300" b="1" i="1">
                <a:solidFill>
                  <a:srgbClr val="5F6B7A"/>
                </a:solidFill>
                <a:latin typeface="Calibri"/>
              </a:rPr>
              <a:t>Retrofit</a:t>
            </a:r>
          </a:p>
        </p:txBody>
      </p:sp>
      <p:sp>
        <p:nvSpPr>
          <p:cNvPr id="12" name="tabel"/>
          <p:cNvSpPr txBox="1"/>
          <p:nvPr/>
        </p:nvSpPr>
        <p:spPr>
          <a:xfrm>
            <a:off x="9954059" y="1783080"/>
            <a:ext cx="726392" cy="292608"/>
          </a:xfrm>
          <a:prstGeom prst="rect">
            <a:avLst/>
          </a:prstGeom>
          <a:noFill/>
        </p:spPr>
        <p:txBody>
          <a:bodyPr wrap="square" lIns="0" rIns="0" tIns="0" bIns="0" anchor="t">
            <a:noAutofit/>
          </a:bodyPr>
          <a:lstStyle/>
          <a:p>
            <a:pPr algn="r">
              <a:lnSpc>
                <a:spcPct val="100000"/>
              </a:lnSpc>
              <a:spcBef>
                <a:spcPts val="0"/>
              </a:spcBef>
              <a:spcAft>
                <a:spcPts val="0"/>
              </a:spcAft>
            </a:pPr>
            <a:r>
              <a:rPr sz="1300" b="1" i="0">
                <a:solidFill>
                  <a:srgbClr val="5F6B7A"/>
                </a:solidFill>
                <a:latin typeface="Calibri"/>
              </a:rPr>
              <a:t>Listrik</a:t>
            </a:r>
          </a:p>
        </p:txBody>
      </p:sp>
      <p:sp>
        <p:nvSpPr>
          <p:cNvPr id="13" name="tabel"/>
          <p:cNvSpPr txBox="1"/>
          <p:nvPr/>
        </p:nvSpPr>
        <p:spPr>
          <a:xfrm>
            <a:off x="10726171" y="1783080"/>
            <a:ext cx="871163" cy="292608"/>
          </a:xfrm>
          <a:prstGeom prst="rect">
            <a:avLst/>
          </a:prstGeom>
          <a:noFill/>
        </p:spPr>
        <p:txBody>
          <a:bodyPr wrap="square" lIns="0" rIns="0" tIns="0" bIns="0" anchor="t">
            <a:noAutofit/>
          </a:bodyPr>
          <a:lstStyle/>
          <a:p>
            <a:pPr algn="r">
              <a:lnSpc>
                <a:spcPct val="100000"/>
              </a:lnSpc>
              <a:spcBef>
                <a:spcPts val="0"/>
              </a:spcBef>
              <a:spcAft>
                <a:spcPts val="0"/>
              </a:spcAft>
            </a:pPr>
            <a:r>
              <a:rPr sz="1300" b="1" i="0">
                <a:solidFill>
                  <a:srgbClr val="5F6B7A"/>
                </a:solidFill>
                <a:latin typeface="Calibri"/>
              </a:rPr>
              <a:t>Program</a:t>
            </a:r>
          </a:p>
        </p:txBody>
      </p:sp>
      <p:cxnSp>
        <p:nvCxnSpPr>
          <p:cNvPr id="14" name="Connector 13"/>
          <p:cNvCxnSpPr/>
          <p:nvPr/>
        </p:nvCxnSpPr>
        <p:spPr>
          <a:xfrm>
            <a:off x="6720840" y="2130552"/>
            <a:ext cx="4922215" cy="0"/>
          </a:xfrm>
          <a:prstGeom prst="line">
            <a:avLst/>
          </a:prstGeom>
          <a:ln w="12700">
            <a:solidFill>
              <a:srgbClr val="D5DBE3"/>
            </a:solidFill>
          </a:ln>
        </p:spPr>
      </p:cxnSp>
      <p:sp>
        <p:nvSpPr>
          <p:cNvPr id="15" name="tabel"/>
          <p:cNvSpPr txBox="1"/>
          <p:nvPr/>
        </p:nvSpPr>
        <p:spPr>
          <a:xfrm>
            <a:off x="6720840" y="2221991"/>
            <a:ext cx="774649" cy="329184"/>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D97B29"/>
                </a:solidFill>
                <a:latin typeface="Calibri"/>
              </a:rPr>
              <a:t>Q1</a:t>
            </a:r>
          </a:p>
        </p:txBody>
      </p:sp>
      <p:sp>
        <p:nvSpPr>
          <p:cNvPr id="16" name="tabel"/>
          <p:cNvSpPr txBox="1"/>
          <p:nvPr/>
        </p:nvSpPr>
        <p:spPr>
          <a:xfrm>
            <a:off x="7541209" y="2221991"/>
            <a:ext cx="533364" cy="329184"/>
          </a:xfrm>
          <a:prstGeom prst="rect">
            <a:avLst/>
          </a:prstGeom>
          <a:noFill/>
        </p:spPr>
        <p:txBody>
          <a:bodyPr wrap="square" lIns="0" rIns="0" tIns="0" bIns="0" anchor="t">
            <a:noAutofit/>
          </a:bodyPr>
          <a:lstStyle/>
          <a:p>
            <a:pPr algn="r">
              <a:lnSpc>
                <a:spcPct val="100000"/>
              </a:lnSpc>
              <a:spcBef>
                <a:spcPts val="0"/>
              </a:spcBef>
              <a:spcAft>
                <a:spcPts val="0"/>
              </a:spcAft>
            </a:pPr>
            <a:r>
              <a:rPr sz="1600" b="1" i="0">
                <a:solidFill>
                  <a:srgbClr val="1F2933"/>
                </a:solidFill>
                <a:latin typeface="Calibri"/>
              </a:rPr>
              <a:t>118</a:t>
            </a:r>
          </a:p>
        </p:txBody>
      </p:sp>
      <p:sp>
        <p:nvSpPr>
          <p:cNvPr id="17" name="tabel"/>
          <p:cNvSpPr txBox="1"/>
          <p:nvPr/>
        </p:nvSpPr>
        <p:spPr>
          <a:xfrm>
            <a:off x="8120293" y="2221991"/>
            <a:ext cx="774649" cy="329184"/>
          </a:xfrm>
          <a:prstGeom prst="rect">
            <a:avLst/>
          </a:prstGeom>
          <a:noFill/>
        </p:spPr>
        <p:txBody>
          <a:bodyPr wrap="square" lIns="0" rIns="0" tIns="0" bIns="0" anchor="t">
            <a:noAutofit/>
          </a:bodyPr>
          <a:lstStyle/>
          <a:p>
            <a:pPr algn="r">
              <a:lnSpc>
                <a:spcPct val="100000"/>
              </a:lnSpc>
              <a:spcBef>
                <a:spcPts val="0"/>
              </a:spcBef>
              <a:spcAft>
                <a:spcPts val="0"/>
              </a:spcAft>
            </a:pPr>
            <a:r>
              <a:rPr sz="1600" b="1" i="0">
                <a:solidFill>
                  <a:srgbClr val="1F2933"/>
                </a:solidFill>
                <a:latin typeface="Calibri"/>
              </a:rPr>
              <a:t>47%</a:t>
            </a:r>
          </a:p>
        </p:txBody>
      </p:sp>
      <p:sp>
        <p:nvSpPr>
          <p:cNvPr id="18" name="tabel"/>
          <p:cNvSpPr txBox="1"/>
          <p:nvPr/>
        </p:nvSpPr>
        <p:spPr>
          <a:xfrm>
            <a:off x="8940662" y="2221991"/>
            <a:ext cx="967677" cy="329184"/>
          </a:xfrm>
          <a:prstGeom prst="rect">
            <a:avLst/>
          </a:prstGeom>
          <a:noFill/>
        </p:spPr>
        <p:txBody>
          <a:bodyPr wrap="square" lIns="0" rIns="0" tIns="0" bIns="0" anchor="t">
            <a:noAutofit/>
          </a:bodyPr>
          <a:lstStyle/>
          <a:p>
            <a:pPr algn="r">
              <a:lnSpc>
                <a:spcPct val="100000"/>
              </a:lnSpc>
              <a:spcBef>
                <a:spcPts val="0"/>
              </a:spcBef>
              <a:spcAft>
                <a:spcPts val="0"/>
              </a:spcAft>
            </a:pPr>
            <a:r>
              <a:rPr sz="1600" b="1" i="0">
                <a:solidFill>
                  <a:srgbClr val="1F2933"/>
                </a:solidFill>
                <a:latin typeface="Calibri"/>
              </a:rPr>
              <a:t>3,65 TWh</a:t>
            </a:r>
          </a:p>
        </p:txBody>
      </p:sp>
      <p:sp>
        <p:nvSpPr>
          <p:cNvPr id="19" name="tabel"/>
          <p:cNvSpPr txBox="1"/>
          <p:nvPr/>
        </p:nvSpPr>
        <p:spPr>
          <a:xfrm>
            <a:off x="9954059" y="2221991"/>
            <a:ext cx="726392" cy="329184"/>
          </a:xfrm>
          <a:prstGeom prst="rect">
            <a:avLst/>
          </a:prstGeom>
          <a:noFill/>
        </p:spPr>
        <p:txBody>
          <a:bodyPr wrap="square" lIns="0" rIns="0" tIns="0" bIns="0" anchor="t">
            <a:noAutofit/>
          </a:bodyPr>
          <a:lstStyle/>
          <a:p>
            <a:pPr algn="r">
              <a:lnSpc>
                <a:spcPct val="100000"/>
              </a:lnSpc>
              <a:spcBef>
                <a:spcPts val="0"/>
              </a:spcBef>
              <a:spcAft>
                <a:spcPts val="0"/>
              </a:spcAft>
            </a:pPr>
            <a:r>
              <a:rPr sz="1600" b="1" i="0">
                <a:solidFill>
                  <a:srgbClr val="1F2933"/>
                </a:solidFill>
                <a:latin typeface="Calibri"/>
              </a:rPr>
              <a:t>+102%</a:t>
            </a:r>
          </a:p>
        </p:txBody>
      </p:sp>
      <p:sp>
        <p:nvSpPr>
          <p:cNvPr id="20" name="tabel"/>
          <p:cNvSpPr txBox="1"/>
          <p:nvPr/>
        </p:nvSpPr>
        <p:spPr>
          <a:xfrm>
            <a:off x="10726171" y="2221991"/>
            <a:ext cx="871163" cy="329184"/>
          </a:xfrm>
          <a:prstGeom prst="rect">
            <a:avLst/>
          </a:prstGeom>
          <a:noFill/>
        </p:spPr>
        <p:txBody>
          <a:bodyPr wrap="square" lIns="0" rIns="0" tIns="0" bIns="0" anchor="t">
            <a:noAutofit/>
          </a:bodyPr>
          <a:lstStyle/>
          <a:p>
            <a:pPr algn="r">
              <a:lnSpc>
                <a:spcPct val="100000"/>
              </a:lnSpc>
              <a:spcBef>
                <a:spcPts val="0"/>
              </a:spcBef>
              <a:spcAft>
                <a:spcPts val="0"/>
              </a:spcAft>
            </a:pPr>
            <a:r>
              <a:rPr sz="1600" b="1" i="0">
                <a:solidFill>
                  <a:srgbClr val="1F2933"/>
                </a:solidFill>
                <a:latin typeface="Calibri"/>
              </a:rPr>
              <a:t>R1 + R2</a:t>
            </a:r>
          </a:p>
        </p:txBody>
      </p:sp>
      <p:sp>
        <p:nvSpPr>
          <p:cNvPr id="21" name="tabel"/>
          <p:cNvSpPr txBox="1"/>
          <p:nvPr/>
        </p:nvSpPr>
        <p:spPr>
          <a:xfrm>
            <a:off x="6720840" y="2660903"/>
            <a:ext cx="774649" cy="329184"/>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1F7A8C"/>
                </a:solidFill>
                <a:latin typeface="Calibri"/>
              </a:rPr>
              <a:t>Q2</a:t>
            </a:r>
          </a:p>
        </p:txBody>
      </p:sp>
      <p:sp>
        <p:nvSpPr>
          <p:cNvPr id="22" name="tabel"/>
          <p:cNvSpPr txBox="1"/>
          <p:nvPr/>
        </p:nvSpPr>
        <p:spPr>
          <a:xfrm>
            <a:off x="7541209" y="2660903"/>
            <a:ext cx="533364"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47</a:t>
            </a:r>
          </a:p>
        </p:txBody>
      </p:sp>
      <p:sp>
        <p:nvSpPr>
          <p:cNvPr id="23" name="tabel"/>
          <p:cNvSpPr txBox="1"/>
          <p:nvPr/>
        </p:nvSpPr>
        <p:spPr>
          <a:xfrm>
            <a:off x="8120293" y="2660903"/>
            <a:ext cx="774649"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12%</a:t>
            </a:r>
          </a:p>
        </p:txBody>
      </p:sp>
      <p:sp>
        <p:nvSpPr>
          <p:cNvPr id="24" name="tabel"/>
          <p:cNvSpPr txBox="1"/>
          <p:nvPr/>
        </p:nvSpPr>
        <p:spPr>
          <a:xfrm>
            <a:off x="8940662" y="2660903"/>
            <a:ext cx="967677"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1,07 TWh</a:t>
            </a:r>
          </a:p>
        </p:txBody>
      </p:sp>
      <p:sp>
        <p:nvSpPr>
          <p:cNvPr id="25" name="tabel"/>
          <p:cNvSpPr txBox="1"/>
          <p:nvPr/>
        </p:nvSpPr>
        <p:spPr>
          <a:xfrm>
            <a:off x="9954059" y="2660903"/>
            <a:ext cx="726392"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+90%</a:t>
            </a:r>
          </a:p>
        </p:txBody>
      </p:sp>
      <p:sp>
        <p:nvSpPr>
          <p:cNvPr id="26" name="tabel"/>
          <p:cNvSpPr txBox="1"/>
          <p:nvPr/>
        </p:nvSpPr>
        <p:spPr>
          <a:xfrm>
            <a:off x="10726171" y="2660903"/>
            <a:ext cx="871163"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R3</a:t>
            </a:r>
          </a:p>
        </p:txBody>
      </p:sp>
      <p:sp>
        <p:nvSpPr>
          <p:cNvPr id="27" name="tabel"/>
          <p:cNvSpPr txBox="1"/>
          <p:nvPr/>
        </p:nvSpPr>
        <p:spPr>
          <a:xfrm>
            <a:off x="6720840" y="3099815"/>
            <a:ext cx="774649" cy="329184"/>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16324F"/>
                </a:solidFill>
                <a:latin typeface="Calibri"/>
              </a:rPr>
              <a:t>Q3</a:t>
            </a:r>
          </a:p>
        </p:txBody>
      </p:sp>
      <p:sp>
        <p:nvSpPr>
          <p:cNvPr id="28" name="tabel"/>
          <p:cNvSpPr txBox="1"/>
          <p:nvPr/>
        </p:nvSpPr>
        <p:spPr>
          <a:xfrm>
            <a:off x="7541209" y="3099815"/>
            <a:ext cx="533364"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47</a:t>
            </a:r>
          </a:p>
        </p:txBody>
      </p:sp>
      <p:sp>
        <p:nvSpPr>
          <p:cNvPr id="29" name="tabel"/>
          <p:cNvSpPr txBox="1"/>
          <p:nvPr/>
        </p:nvSpPr>
        <p:spPr>
          <a:xfrm>
            <a:off x="8120293" y="3099815"/>
            <a:ext cx="774649"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15%</a:t>
            </a:r>
          </a:p>
        </p:txBody>
      </p:sp>
      <p:sp>
        <p:nvSpPr>
          <p:cNvPr id="30" name="tabel"/>
          <p:cNvSpPr txBox="1"/>
          <p:nvPr/>
        </p:nvSpPr>
        <p:spPr>
          <a:xfrm>
            <a:off x="8940662" y="3099815"/>
            <a:ext cx="967677"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0,86 TWh</a:t>
            </a:r>
          </a:p>
        </p:txBody>
      </p:sp>
      <p:sp>
        <p:nvSpPr>
          <p:cNvPr id="31" name="tabel"/>
          <p:cNvSpPr txBox="1"/>
          <p:nvPr/>
        </p:nvSpPr>
        <p:spPr>
          <a:xfrm>
            <a:off x="9954059" y="3099815"/>
            <a:ext cx="726392"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+99%</a:t>
            </a:r>
          </a:p>
        </p:txBody>
      </p:sp>
      <p:sp>
        <p:nvSpPr>
          <p:cNvPr id="32" name="tabel"/>
          <p:cNvSpPr txBox="1"/>
          <p:nvPr/>
        </p:nvSpPr>
        <p:spPr>
          <a:xfrm>
            <a:off x="10726171" y="3099815"/>
            <a:ext cx="871163"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R2</a:t>
            </a:r>
          </a:p>
        </p:txBody>
      </p:sp>
      <p:sp>
        <p:nvSpPr>
          <p:cNvPr id="33" name="tabel"/>
          <p:cNvSpPr txBox="1"/>
          <p:nvPr/>
        </p:nvSpPr>
        <p:spPr>
          <a:xfrm>
            <a:off x="6720840" y="3538727"/>
            <a:ext cx="774649" cy="329184"/>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5F6B7A"/>
                </a:solidFill>
                <a:latin typeface="Calibri"/>
              </a:rPr>
              <a:t>Q4</a:t>
            </a:r>
          </a:p>
        </p:txBody>
      </p:sp>
      <p:sp>
        <p:nvSpPr>
          <p:cNvPr id="34" name="tabel"/>
          <p:cNvSpPr txBox="1"/>
          <p:nvPr/>
        </p:nvSpPr>
        <p:spPr>
          <a:xfrm>
            <a:off x="7541209" y="3538727"/>
            <a:ext cx="533364"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118</a:t>
            </a:r>
          </a:p>
        </p:txBody>
      </p:sp>
      <p:sp>
        <p:nvSpPr>
          <p:cNvPr id="35" name="tabel"/>
          <p:cNvSpPr txBox="1"/>
          <p:nvPr/>
        </p:nvSpPr>
        <p:spPr>
          <a:xfrm>
            <a:off x="8120293" y="3538727"/>
            <a:ext cx="774649"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27%</a:t>
            </a:r>
          </a:p>
        </p:txBody>
      </p:sp>
      <p:sp>
        <p:nvSpPr>
          <p:cNvPr id="36" name="tabel"/>
          <p:cNvSpPr txBox="1"/>
          <p:nvPr/>
        </p:nvSpPr>
        <p:spPr>
          <a:xfrm>
            <a:off x="8940662" y="3538727"/>
            <a:ext cx="967677"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1,81 TWh</a:t>
            </a:r>
          </a:p>
        </p:txBody>
      </p:sp>
      <p:sp>
        <p:nvSpPr>
          <p:cNvPr id="37" name="tabel"/>
          <p:cNvSpPr txBox="1"/>
          <p:nvPr/>
        </p:nvSpPr>
        <p:spPr>
          <a:xfrm>
            <a:off x="9954059" y="3538727"/>
            <a:ext cx="726392"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+87%</a:t>
            </a:r>
          </a:p>
        </p:txBody>
      </p:sp>
      <p:sp>
        <p:nvSpPr>
          <p:cNvPr id="38" name="tabel"/>
          <p:cNvSpPr txBox="1"/>
          <p:nvPr/>
        </p:nvSpPr>
        <p:spPr>
          <a:xfrm>
            <a:off x="10726171" y="3538727"/>
            <a:ext cx="871163" cy="329184"/>
          </a:xfrm>
          <a:prstGeom prst="rect">
            <a:avLst/>
          </a:prstGeom>
          <a:noFill/>
        </p:spPr>
        <p:txBody>
          <a:bodyPr wrap="square" lIns="0" rIns="0" tIns="0" bIns="0" anchor="t">
            <a:noAutofit/>
          </a:bodyPr>
          <a:lstStyle/>
          <a:p>
            <a:pPr algn="r">
              <a:lnSpc>
                <a:spcPct val="100000"/>
              </a:lnSpc>
              <a:spcBef>
                <a:spcPts val="0"/>
              </a:spcBef>
              <a:spcAft>
                <a:spcPts val="0"/>
              </a:spcAft>
            </a:pPr>
            <a:r>
              <a:rPr sz="1600" b="0" i="0">
                <a:solidFill>
                  <a:srgbClr val="1F2933"/>
                </a:solidFill>
                <a:latin typeface="Calibri"/>
              </a:rPr>
              <a:t>standar</a:t>
            </a:r>
          </a:p>
        </p:txBody>
      </p:sp>
      <p:cxnSp>
        <p:nvCxnSpPr>
          <p:cNvPr id="39" name="Connector 38"/>
          <p:cNvCxnSpPr/>
          <p:nvPr/>
        </p:nvCxnSpPr>
        <p:spPr>
          <a:xfrm>
            <a:off x="6720840" y="3995928"/>
            <a:ext cx="4922215" cy="0"/>
          </a:xfrm>
          <a:prstGeom prst="line">
            <a:avLst/>
          </a:prstGeom>
          <a:ln w="12700">
            <a:solidFill>
              <a:srgbClr val="D5DBE3"/>
            </a:solidFill>
          </a:ln>
        </p:spPr>
      </p:cxnSp>
      <p:sp>
        <p:nvSpPr>
          <p:cNvPr id="40" name="body"/>
          <p:cNvSpPr txBox="1"/>
          <p:nvPr/>
        </p:nvSpPr>
        <p:spPr>
          <a:xfrm>
            <a:off x="6720840" y="4069080"/>
            <a:ext cx="4922215" cy="329184"/>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5F6B7A"/>
                </a:solidFill>
                <a:latin typeface="Calibri"/>
              </a:rPr>
              <a:t>Potensi </a:t>
            </a:r>
            <a:r>
              <a:rPr sz="1400" b="0" i="1">
                <a:solidFill>
                  <a:srgbClr val="5F6B7A"/>
                </a:solidFill>
                <a:latin typeface="Calibri"/>
              </a:rPr>
              <a:t>retrofit</a:t>
            </a:r>
            <a:r>
              <a:rPr sz="1400" b="0" i="0">
                <a:solidFill>
                  <a:srgbClr val="5F6B7A"/>
                </a:solidFill>
                <a:latin typeface="Calibri"/>
              </a:rPr>
              <a:t> (batas atas) 7,39 TWh = 5,23% dari 141,35 TWh gas</a:t>
            </a:r>
          </a:p>
        </p:txBody>
      </p:sp>
      <p:sp>
        <p:nvSpPr>
          <p:cNvPr id="41" name="Rounded Rectangle 40"/>
          <p:cNvSpPr/>
          <p:nvPr/>
        </p:nvSpPr>
        <p:spPr>
          <a:xfrm>
            <a:off x="6720840" y="4453128"/>
            <a:ext cx="4288909" cy="292608"/>
          </a:xfrm>
          <a:prstGeom prst="roundRect">
            <a:avLst>
              <a:gd name="adj" fmla="val 25000"/>
            </a:avLst>
          </a:prstGeom>
          <a:solidFill>
            <a:srgbClr val="E3F1F4"/>
          </a:solidFill>
          <a:ln>
            <a:noFill/>
          </a:ln>
        </p:spPr>
        <p:txBody>
          <a:bodyPr rtlCol="0" anchor="ctr"/>
          <a:lstStyle/>
          <a:p>
            <a:pPr algn="ctr"/>
          </a:p>
        </p:txBody>
      </p:sp>
      <p:sp>
        <p:nvSpPr>
          <p:cNvPr id="42" name="sumber"/>
          <p:cNvSpPr txBox="1"/>
          <p:nvPr/>
        </p:nvSpPr>
        <p:spPr>
          <a:xfrm>
            <a:off x="6839712" y="4489704"/>
            <a:ext cx="4069453"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7606E"/>
                </a:solidFill>
                <a:latin typeface="Calibri"/>
              </a:rPr>
              <a:t>HASIL</a:t>
            </a:r>
            <a:r>
              <a:rPr sz="1200" b="0" i="0">
                <a:solidFill>
                  <a:srgbClr val="17606E"/>
                </a:solidFill>
                <a:latin typeface="Calibri"/>
              </a:rPr>
              <a:t> · sel 48 sampai 50; </a:t>
            </a:r>
            <a:r>
              <a:rPr sz="1200" b="0" i="1">
                <a:solidFill>
                  <a:srgbClr val="17606E"/>
                </a:solidFill>
                <a:latin typeface="Calibri"/>
              </a:rPr>
              <a:t>retrofit</a:t>
            </a:r>
            <a:r>
              <a:rPr sz="1200" b="0" i="0">
                <a:solidFill>
                  <a:srgbClr val="17606E"/>
                </a:solidFill>
                <a:latin typeface="Calibri"/>
              </a:rPr>
              <a:t> = batas atas (definisi sel 48)</a:t>
            </a:r>
          </a:p>
        </p:txBody>
      </p:sp>
      <p:sp>
        <p:nvSpPr>
          <p:cNvPr id="43" name="Rounded Rectangle 42"/>
          <p:cNvSpPr/>
          <p:nvPr/>
        </p:nvSpPr>
        <p:spPr>
          <a:xfrm>
            <a:off x="6720840" y="4800600"/>
            <a:ext cx="4922215" cy="1161288"/>
          </a:xfrm>
          <a:prstGeom prst="roundRect">
            <a:avLst>
              <a:gd name="adj" fmla="val 6299"/>
            </a:avLst>
          </a:prstGeom>
          <a:solidFill>
            <a:srgbClr val="FBEEDF"/>
          </a:solidFill>
          <a:ln>
            <a:noFill/>
          </a:ln>
        </p:spPr>
        <p:txBody>
          <a:bodyPr rtlCol="0" anchor="ctr"/>
          <a:lstStyle/>
          <a:p>
            <a:pPr algn="ctr"/>
          </a:p>
        </p:txBody>
      </p:sp>
      <p:sp>
        <p:nvSpPr>
          <p:cNvPr id="44" name="body"/>
          <p:cNvSpPr txBox="1"/>
          <p:nvPr/>
        </p:nvSpPr>
        <p:spPr>
          <a:xfrm>
            <a:off x="6903720" y="4846320"/>
            <a:ext cx="4556455" cy="1069848"/>
          </a:xfrm>
          <a:prstGeom prst="rect">
            <a:avLst/>
          </a:prstGeom>
          <a:noFill/>
        </p:spPr>
        <p:txBody>
          <a:bodyPr wrap="square" lIns="0" rIns="0" tIns="0" bIns="0" anchor="ctr">
            <a:noAutofit/>
          </a:bodyPr>
          <a:lstStyle/>
          <a:p>
            <a:pPr algn="l">
              <a:lnSpc>
                <a:spcPct val="98000"/>
              </a:lnSpc>
              <a:spcBef>
                <a:spcPts val="0"/>
              </a:spcBef>
              <a:spcAft>
                <a:spcPts val="0"/>
              </a:spcAft>
            </a:pPr>
            <a:r>
              <a:rPr sz="1400" b="1" i="0">
                <a:solidFill>
                  <a:srgbClr val="9A5212"/>
                </a:solidFill>
                <a:latin typeface="Calibri"/>
              </a:rPr>
              <a:t>ASUMSI</a:t>
            </a:r>
            <a:r>
              <a:rPr sz="1400" b="0" i="0">
                <a:solidFill>
                  <a:srgbClr val="1F2933"/>
                </a:solidFill>
                <a:latin typeface="Calibri"/>
              </a:rPr>
              <a:t> 80% gas untuk pemanasan, COP 3; asumsi seragam lain hanya menskalakan angka (71% sampai 128%, sel 51). </a:t>
            </a:r>
            <a:r>
              <a:rPr sz="1400" b="1" i="0">
                <a:solidFill>
                  <a:srgbClr val="16324F"/>
                </a:solidFill>
                <a:latin typeface="Calibri"/>
              </a:rPr>
              <a:t>Urutan zona tahan galat prediksi, tetapi peka bila COP berbeda per iklim</a:t>
            </a:r>
            <a:r>
              <a:rPr sz="1400" b="0" i="0">
                <a:solidFill>
                  <a:srgbClr val="1F2933"/>
                </a:solidFill>
                <a:latin typeface="Calibri"/>
              </a:rPr>
              <a:t> (C4).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1">
                <a:solidFill>
                  <a:srgbClr val="1F2933"/>
                </a:solidFill>
                <a:latin typeface="Calibri"/>
              </a:rPr>
              <a:t>Retrofit</a:t>
            </a:r>
            <a:r>
              <a:rPr sz="2800" b="1" i="0">
                <a:solidFill>
                  <a:srgbClr val="1F2933"/>
                </a:solidFill>
                <a:latin typeface="Calibri"/>
              </a:rPr>
              <a:t> selubung lebih dulu di zona Q1, mulai dari REG_273, REG_270, dan REG_045</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KEBIJAKAN · REKOMENDASI 1</a:t>
            </a:r>
          </a:p>
        </p:txBody>
      </p:sp>
      <p:sp>
        <p:nvSpPr>
          <p:cNvPr id="4" name="istilah"/>
          <p:cNvSpPr txBox="1"/>
          <p:nvPr/>
        </p:nvSpPr>
        <p:spPr>
          <a:xfrm>
            <a:off x="548640" y="6035040"/>
            <a:ext cx="11094415" cy="365760"/>
          </a:xfrm>
          <a:prstGeom prst="rect">
            <a:avLst/>
          </a:prstGeom>
          <a:noFill/>
        </p:spPr>
        <p:txBody>
          <a:bodyPr wrap="square" lIns="0" rIns="0" tIns="0" bIns="0" anchor="t">
            <a:noAutofit/>
          </a:bodyPr>
          <a:lstStyle/>
          <a:p>
            <a:pPr algn="l">
              <a:lnSpc>
                <a:spcPct val="95000"/>
              </a:lnSpc>
              <a:spcBef>
                <a:spcPts val="0"/>
              </a:spcBef>
              <a:spcAft>
                <a:spcPts val="0"/>
              </a:spcAft>
            </a:pPr>
            <a:r>
              <a:rPr sz="1200" b="1" i="0">
                <a:solidFill>
                  <a:srgbClr val="5F6B7A"/>
                </a:solidFill>
                <a:latin typeface="Calibri"/>
              </a:rPr>
              <a:t>Istilah.</a:t>
            </a:r>
            <a:r>
              <a:rPr sz="1200" b="0" i="0">
                <a:solidFill>
                  <a:srgbClr val="5F6B7A"/>
                </a:solidFill>
                <a:latin typeface="Calibri"/>
              </a:rPr>
              <a:t> Selubung bangunan: dinding, atap, dan jendela yang memisahkan ruang dalam dari udara luar.</a:t>
            </a:r>
          </a:p>
        </p:txBody>
      </p:sp>
      <p:sp>
        <p:nvSpPr>
          <p:cNvPr id="5"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6"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10</a:t>
            </a:r>
          </a:p>
        </p:txBody>
      </p:sp>
      <p:pic>
        <p:nvPicPr>
          <p:cNvPr id="7" name="Picture 6" descr="Lima zona dengan potensi hemat retrofit terbesar dari tabel sel 50"/>
          <p:cNvPicPr>
            <a:picLocks noChangeAspect="1"/>
          </p:cNvPicPr>
          <p:nvPr/>
        </p:nvPicPr>
        <p:blipFill>
          <a:blip r:embed="rId2"/>
          <a:stretch>
            <a:fillRect/>
          </a:stretch>
        </p:blipFill>
        <p:spPr>
          <a:xfrm>
            <a:off x="548640" y="1783080"/>
            <a:ext cx="5257800" cy="3653725"/>
          </a:xfrm>
          <a:prstGeom prst="rect">
            <a:avLst/>
          </a:prstGeom>
        </p:spPr>
      </p:pic>
      <p:sp>
        <p:nvSpPr>
          <p:cNvPr id="8" name="label"/>
          <p:cNvSpPr txBox="1"/>
          <p:nvPr/>
        </p:nvSpPr>
        <p:spPr>
          <a:xfrm>
            <a:off x="6172200" y="1828800"/>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SIAPA</a:t>
            </a:r>
          </a:p>
        </p:txBody>
      </p:sp>
      <p:sp>
        <p:nvSpPr>
          <p:cNvPr id="9" name="body"/>
          <p:cNvSpPr txBox="1"/>
          <p:nvPr/>
        </p:nvSpPr>
        <p:spPr>
          <a:xfrm>
            <a:off x="7589520" y="1810512"/>
            <a:ext cx="4053535" cy="329184"/>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Pemerintah kota dan penyedia jasa </a:t>
            </a:r>
            <a:r>
              <a:rPr sz="1500" b="0" i="1">
                <a:solidFill>
                  <a:srgbClr val="1F2933"/>
                </a:solidFill>
                <a:latin typeface="Calibri"/>
              </a:rPr>
              <a:t>retrofit</a:t>
            </a:r>
          </a:p>
        </p:txBody>
      </p:sp>
      <p:cxnSp>
        <p:nvCxnSpPr>
          <p:cNvPr id="10" name="Connector 9"/>
          <p:cNvCxnSpPr/>
          <p:nvPr/>
        </p:nvCxnSpPr>
        <p:spPr>
          <a:xfrm>
            <a:off x="6172200" y="2203704"/>
            <a:ext cx="5470855" cy="0"/>
          </a:xfrm>
          <a:prstGeom prst="line">
            <a:avLst/>
          </a:prstGeom>
          <a:ln w="9525">
            <a:solidFill>
              <a:srgbClr val="D5DBE3"/>
            </a:solidFill>
          </a:ln>
        </p:spPr>
      </p:cxnSp>
      <p:sp>
        <p:nvSpPr>
          <p:cNvPr id="11" name="label"/>
          <p:cNvSpPr txBox="1"/>
          <p:nvPr/>
        </p:nvSpPr>
        <p:spPr>
          <a:xfrm>
            <a:off x="6172200" y="2286000"/>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APA</a:t>
            </a:r>
          </a:p>
        </p:txBody>
      </p:sp>
      <p:sp>
        <p:nvSpPr>
          <p:cNvPr id="12" name="body"/>
          <p:cNvSpPr txBox="1"/>
          <p:nvPr/>
        </p:nvSpPr>
        <p:spPr>
          <a:xfrm>
            <a:off x="7589520" y="2267712"/>
            <a:ext cx="4053535" cy="86868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Audit energi, lalu perbaikan dinding, atap, dan jendela di kawasan rumah kecil dan bangunan periode bld_era_15, sebelum subsidi pompa panas</a:t>
            </a:r>
          </a:p>
        </p:txBody>
      </p:sp>
      <p:cxnSp>
        <p:nvCxnSpPr>
          <p:cNvPr id="13" name="Connector 12"/>
          <p:cNvCxnSpPr/>
          <p:nvPr/>
        </p:nvCxnSpPr>
        <p:spPr>
          <a:xfrm>
            <a:off x="6172200" y="3200400"/>
            <a:ext cx="5470855" cy="0"/>
          </a:xfrm>
          <a:prstGeom prst="line">
            <a:avLst/>
          </a:prstGeom>
          <a:ln w="9525">
            <a:solidFill>
              <a:srgbClr val="D5DBE3"/>
            </a:solidFill>
          </a:ln>
        </p:spPr>
      </p:cxnSp>
      <p:sp>
        <p:nvSpPr>
          <p:cNvPr id="14" name="label"/>
          <p:cNvSpPr txBox="1"/>
          <p:nvPr/>
        </p:nvSpPr>
        <p:spPr>
          <a:xfrm>
            <a:off x="6172200" y="3282696"/>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UKURAN</a:t>
            </a:r>
          </a:p>
        </p:txBody>
      </p:sp>
      <p:sp>
        <p:nvSpPr>
          <p:cNvPr id="15" name="body"/>
          <p:cNvSpPr txBox="1"/>
          <p:nvPr/>
        </p:nvSpPr>
        <p:spPr>
          <a:xfrm>
            <a:off x="7589520" y="3264408"/>
            <a:ext cx="4053535" cy="566928"/>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Gas per m² peserta turun dibanding kawasan pembanding</a:t>
            </a:r>
          </a:p>
        </p:txBody>
      </p:sp>
      <p:cxnSp>
        <p:nvCxnSpPr>
          <p:cNvPr id="16" name="Connector 15"/>
          <p:cNvCxnSpPr/>
          <p:nvPr/>
        </p:nvCxnSpPr>
        <p:spPr>
          <a:xfrm>
            <a:off x="6172200" y="3895344"/>
            <a:ext cx="5470855" cy="0"/>
          </a:xfrm>
          <a:prstGeom prst="line">
            <a:avLst/>
          </a:prstGeom>
          <a:ln w="9525">
            <a:solidFill>
              <a:srgbClr val="D5DBE3"/>
            </a:solidFill>
          </a:ln>
        </p:spPr>
      </p:cxnSp>
      <p:sp>
        <p:nvSpPr>
          <p:cNvPr id="17" name="label"/>
          <p:cNvSpPr txBox="1"/>
          <p:nvPr/>
        </p:nvSpPr>
        <p:spPr>
          <a:xfrm>
            <a:off x="6172200" y="3977639"/>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DASAR BUKTI</a:t>
            </a:r>
          </a:p>
        </p:txBody>
      </p:sp>
      <p:sp>
        <p:nvSpPr>
          <p:cNvPr id="18" name="body"/>
          <p:cNvSpPr txBox="1"/>
          <p:nvPr/>
        </p:nvSpPr>
        <p:spPr>
          <a:xfrm>
            <a:off x="7589520" y="3959352"/>
            <a:ext cx="4053535" cy="566928"/>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Rumah kecil </a:t>
            </a:r>
            <a:r>
              <a:rPr sz="1500" b="1" i="0">
                <a:solidFill>
                  <a:srgbClr val="D97B29"/>
                </a:solidFill>
                <a:latin typeface="Calibri"/>
              </a:rPr>
              <a:t>+65%</a:t>
            </a:r>
            <a:r>
              <a:rPr sz="1500" b="0" i="0">
                <a:solidFill>
                  <a:srgbClr val="1F2933"/>
                </a:solidFill>
                <a:latin typeface="Calibri"/>
              </a:rPr>
              <a:t> gas per m², periode bld_era_15 </a:t>
            </a:r>
            <a:r>
              <a:rPr sz="1500" b="1" i="0">
                <a:solidFill>
                  <a:srgbClr val="D97B29"/>
                </a:solidFill>
                <a:latin typeface="Calibri"/>
              </a:rPr>
              <a:t>+7%</a:t>
            </a:r>
            <a:r>
              <a:rPr sz="1500" b="0" i="0">
                <a:solidFill>
                  <a:srgbClr val="1F2933"/>
                </a:solidFill>
                <a:latin typeface="Calibri"/>
              </a:rPr>
              <a:t>; potensi Q1 </a:t>
            </a:r>
            <a:r>
              <a:rPr sz="1500" b="1" i="0">
                <a:solidFill>
                  <a:srgbClr val="D97B29"/>
                </a:solidFill>
                <a:latin typeface="Calibri"/>
              </a:rPr>
              <a:t>3,65 TWh</a:t>
            </a:r>
            <a:r>
              <a:rPr sz="1500" b="0" i="0">
                <a:solidFill>
                  <a:srgbClr val="1F2933"/>
                </a:solidFill>
                <a:latin typeface="Calibri"/>
              </a:rPr>
              <a:t> (batas atas)</a:t>
            </a:r>
          </a:p>
        </p:txBody>
      </p:sp>
      <p:sp>
        <p:nvSpPr>
          <p:cNvPr id="19" name="Rounded Rectangle 18"/>
          <p:cNvSpPr/>
          <p:nvPr/>
        </p:nvSpPr>
        <p:spPr>
          <a:xfrm>
            <a:off x="6172200" y="4764024"/>
            <a:ext cx="5470855" cy="512064"/>
          </a:xfrm>
          <a:prstGeom prst="roundRect">
            <a:avLst>
              <a:gd name="adj" fmla="val 14285"/>
            </a:avLst>
          </a:prstGeom>
          <a:solidFill>
            <a:srgbClr val="ECE8F4"/>
          </a:solidFill>
          <a:ln>
            <a:noFill/>
          </a:ln>
        </p:spPr>
        <p:txBody>
          <a:bodyPr rtlCol="0" anchor="ctr"/>
          <a:lstStyle/>
          <a:p>
            <a:pPr algn="ctr"/>
          </a:p>
        </p:txBody>
      </p:sp>
      <p:sp>
        <p:nvSpPr>
          <p:cNvPr id="20" name="sumber"/>
          <p:cNvSpPr txBox="1"/>
          <p:nvPr/>
        </p:nvSpPr>
        <p:spPr>
          <a:xfrm>
            <a:off x="6291072" y="4800600"/>
            <a:ext cx="5251399" cy="438912"/>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5B4A86"/>
                </a:solidFill>
                <a:latin typeface="Calibri"/>
              </a:rPr>
              <a:t>INTERPRETASI</a:t>
            </a:r>
            <a:r>
              <a:rPr sz="1200" b="0" i="0">
                <a:solidFill>
                  <a:srgbClr val="5B4A86"/>
                </a:solidFill>
                <a:latin typeface="Calibri"/>
              </a:rPr>
              <a:t> · usulan tim; potensi adalah batas atas, audit energi menentukan target nyata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Kapasitas gardu dinilai sebelum subsidi pompa panas dibuka, mulai dari REG_290</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KEBIJAKAN · REKOMENDASI 2</a:t>
            </a:r>
          </a:p>
        </p:txBody>
      </p:sp>
      <p:sp>
        <p:nvSpPr>
          <p:cNvPr id="4" name="istilah"/>
          <p:cNvSpPr txBox="1"/>
          <p:nvPr/>
        </p:nvSpPr>
        <p:spPr>
          <a:xfrm>
            <a:off x="548640" y="6035040"/>
            <a:ext cx="11094415" cy="365760"/>
          </a:xfrm>
          <a:prstGeom prst="rect">
            <a:avLst/>
          </a:prstGeom>
          <a:noFill/>
        </p:spPr>
        <p:txBody>
          <a:bodyPr wrap="square" lIns="0" rIns="0" tIns="0" bIns="0" anchor="t">
            <a:noAutofit/>
          </a:bodyPr>
          <a:lstStyle/>
          <a:p>
            <a:pPr algn="l">
              <a:lnSpc>
                <a:spcPct val="95000"/>
              </a:lnSpc>
              <a:spcBef>
                <a:spcPts val="0"/>
              </a:spcBef>
              <a:spcAft>
                <a:spcPts val="0"/>
              </a:spcAft>
            </a:pPr>
            <a:r>
              <a:rPr sz="1200" b="1" i="0">
                <a:solidFill>
                  <a:srgbClr val="5F6B7A"/>
                </a:solidFill>
                <a:latin typeface="Calibri"/>
              </a:rPr>
              <a:t>Istilah.</a:t>
            </a:r>
            <a:r>
              <a:rPr sz="1200" b="0" i="0">
                <a:solidFill>
                  <a:srgbClr val="5F6B7A"/>
                </a:solidFill>
                <a:latin typeface="Calibri"/>
              </a:rPr>
              <a:t> Gardu: titik distribusi listrik yang melayani satu lingkungan. Tarif waktu pemakaian: listrik lebih murah di jam sepi.</a:t>
            </a:r>
          </a:p>
        </p:txBody>
      </p:sp>
      <p:sp>
        <p:nvSpPr>
          <p:cNvPr id="5"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6"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11</a:t>
            </a:r>
          </a:p>
        </p:txBody>
      </p:sp>
      <p:pic>
        <p:nvPicPr>
          <p:cNvPr id="7" name="Picture 6" descr="Lima zona dengan kenaikan konsumsi listrik tahunan tertinggi dari tabel sel 50"/>
          <p:cNvPicPr>
            <a:picLocks noChangeAspect="1"/>
          </p:cNvPicPr>
          <p:nvPr/>
        </p:nvPicPr>
        <p:blipFill>
          <a:blip r:embed="rId2"/>
          <a:stretch>
            <a:fillRect/>
          </a:stretch>
        </p:blipFill>
        <p:spPr>
          <a:xfrm>
            <a:off x="548640" y="1783080"/>
            <a:ext cx="5257800" cy="3653725"/>
          </a:xfrm>
          <a:prstGeom prst="rect">
            <a:avLst/>
          </a:prstGeom>
        </p:spPr>
      </p:pic>
      <p:sp>
        <p:nvSpPr>
          <p:cNvPr id="8" name="label"/>
          <p:cNvSpPr txBox="1"/>
          <p:nvPr/>
        </p:nvSpPr>
        <p:spPr>
          <a:xfrm>
            <a:off x="6172200" y="1828800"/>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SIAPA</a:t>
            </a:r>
          </a:p>
        </p:txBody>
      </p:sp>
      <p:sp>
        <p:nvSpPr>
          <p:cNvPr id="9" name="body"/>
          <p:cNvSpPr txBox="1"/>
          <p:nvPr/>
        </p:nvSpPr>
        <p:spPr>
          <a:xfrm>
            <a:off x="7589520" y="1810512"/>
            <a:ext cx="4053535" cy="329184"/>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Operator jaringan distribusi dan pemerintah kota</a:t>
            </a:r>
          </a:p>
        </p:txBody>
      </p:sp>
      <p:cxnSp>
        <p:nvCxnSpPr>
          <p:cNvPr id="10" name="Connector 9"/>
          <p:cNvCxnSpPr/>
          <p:nvPr/>
        </p:nvCxnSpPr>
        <p:spPr>
          <a:xfrm>
            <a:off x="6172200" y="2203704"/>
            <a:ext cx="5470855" cy="0"/>
          </a:xfrm>
          <a:prstGeom prst="line">
            <a:avLst/>
          </a:prstGeom>
          <a:ln w="9525">
            <a:solidFill>
              <a:srgbClr val="D5DBE3"/>
            </a:solidFill>
          </a:ln>
        </p:spPr>
      </p:cxnSp>
      <p:sp>
        <p:nvSpPr>
          <p:cNvPr id="11" name="label"/>
          <p:cNvSpPr txBox="1"/>
          <p:nvPr/>
        </p:nvSpPr>
        <p:spPr>
          <a:xfrm>
            <a:off x="6172200" y="2286000"/>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APA</a:t>
            </a:r>
          </a:p>
        </p:txBody>
      </p:sp>
      <p:sp>
        <p:nvSpPr>
          <p:cNvPr id="12" name="body"/>
          <p:cNvSpPr txBox="1"/>
          <p:nvPr/>
        </p:nvSpPr>
        <p:spPr>
          <a:xfrm>
            <a:off x="7589520" y="2267712"/>
            <a:ext cx="4053535" cy="86868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Nilai kapasitas gardu, jadwalkan penguatan, lalu buka subsidi bertahap dengan tarif waktu pemakaian</a:t>
            </a:r>
          </a:p>
        </p:txBody>
      </p:sp>
      <p:cxnSp>
        <p:nvCxnSpPr>
          <p:cNvPr id="13" name="Connector 12"/>
          <p:cNvCxnSpPr/>
          <p:nvPr/>
        </p:nvCxnSpPr>
        <p:spPr>
          <a:xfrm>
            <a:off x="6172200" y="3200400"/>
            <a:ext cx="5470855" cy="0"/>
          </a:xfrm>
          <a:prstGeom prst="line">
            <a:avLst/>
          </a:prstGeom>
          <a:ln w="9525">
            <a:solidFill>
              <a:srgbClr val="D5DBE3"/>
            </a:solidFill>
          </a:ln>
        </p:spPr>
      </p:cxnSp>
      <p:sp>
        <p:nvSpPr>
          <p:cNvPr id="14" name="label"/>
          <p:cNvSpPr txBox="1"/>
          <p:nvPr/>
        </p:nvSpPr>
        <p:spPr>
          <a:xfrm>
            <a:off x="6172200" y="3282696"/>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UKURAN</a:t>
            </a:r>
          </a:p>
        </p:txBody>
      </p:sp>
      <p:sp>
        <p:nvSpPr>
          <p:cNvPr id="15" name="body"/>
          <p:cNvSpPr txBox="1"/>
          <p:nvPr/>
        </p:nvSpPr>
        <p:spPr>
          <a:xfrm>
            <a:off x="7589520" y="3264408"/>
            <a:ext cx="4053535" cy="566928"/>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Tidak ada gardu melampaui kapasitas di setiap tahap subsidi</a:t>
            </a:r>
          </a:p>
        </p:txBody>
      </p:sp>
      <p:cxnSp>
        <p:nvCxnSpPr>
          <p:cNvPr id="16" name="Connector 15"/>
          <p:cNvCxnSpPr/>
          <p:nvPr/>
        </p:nvCxnSpPr>
        <p:spPr>
          <a:xfrm>
            <a:off x="6172200" y="3895344"/>
            <a:ext cx="5470855" cy="0"/>
          </a:xfrm>
          <a:prstGeom prst="line">
            <a:avLst/>
          </a:prstGeom>
          <a:ln w="9525">
            <a:solidFill>
              <a:srgbClr val="D5DBE3"/>
            </a:solidFill>
          </a:ln>
        </p:spPr>
      </p:cxnSp>
      <p:sp>
        <p:nvSpPr>
          <p:cNvPr id="17" name="label"/>
          <p:cNvSpPr txBox="1"/>
          <p:nvPr/>
        </p:nvSpPr>
        <p:spPr>
          <a:xfrm>
            <a:off x="6172200" y="3977639"/>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DASAR BUKTI</a:t>
            </a:r>
          </a:p>
        </p:txBody>
      </p:sp>
      <p:sp>
        <p:nvSpPr>
          <p:cNvPr id="18" name="body"/>
          <p:cNvSpPr txBox="1"/>
          <p:nvPr/>
        </p:nvSpPr>
        <p:spPr>
          <a:xfrm>
            <a:off x="7589520" y="3959352"/>
            <a:ext cx="4053535" cy="86868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Kenaikan = gas × 0,8 / 3 / listrik saat ini; lima zona tertinggi naik </a:t>
            </a:r>
            <a:r>
              <a:rPr sz="1500" b="1" i="0">
                <a:solidFill>
                  <a:srgbClr val="D97B29"/>
                </a:solidFill>
                <a:latin typeface="Calibri"/>
              </a:rPr>
              <a:t>113% sampai 121%</a:t>
            </a:r>
            <a:r>
              <a:rPr sz="1500" b="0" i="0">
                <a:solidFill>
                  <a:srgbClr val="1F2933"/>
                </a:solidFill>
                <a:latin typeface="Calibri"/>
              </a:rPr>
              <a:t>. Tambahan absolut terbesar: REG_263, </a:t>
            </a:r>
            <a:r>
              <a:rPr sz="1500" b="1" i="0">
                <a:solidFill>
                  <a:srgbClr val="D97B29"/>
                </a:solidFill>
                <a:latin typeface="Calibri"/>
              </a:rPr>
              <a:t>0,76 TWh</a:t>
            </a:r>
          </a:p>
        </p:txBody>
      </p:sp>
      <p:sp>
        <p:nvSpPr>
          <p:cNvPr id="19" name="Rounded Rectangle 18"/>
          <p:cNvSpPr/>
          <p:nvPr/>
        </p:nvSpPr>
        <p:spPr>
          <a:xfrm>
            <a:off x="6172200" y="5065776"/>
            <a:ext cx="5470855" cy="512064"/>
          </a:xfrm>
          <a:prstGeom prst="roundRect">
            <a:avLst>
              <a:gd name="adj" fmla="val 14285"/>
            </a:avLst>
          </a:prstGeom>
          <a:solidFill>
            <a:srgbClr val="FBEEDF"/>
          </a:solidFill>
          <a:ln>
            <a:noFill/>
          </a:ln>
        </p:spPr>
        <p:txBody>
          <a:bodyPr rtlCol="0" anchor="ctr"/>
          <a:lstStyle/>
          <a:p>
            <a:pPr algn="ctr"/>
          </a:p>
        </p:txBody>
      </p:sp>
      <p:sp>
        <p:nvSpPr>
          <p:cNvPr id="20" name="sumber"/>
          <p:cNvSpPr txBox="1"/>
          <p:nvPr/>
        </p:nvSpPr>
        <p:spPr>
          <a:xfrm>
            <a:off x="6291072" y="5102352"/>
            <a:ext cx="5251399" cy="438912"/>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9A5212"/>
                </a:solidFill>
                <a:latin typeface="Calibri"/>
              </a:rPr>
              <a:t>ASUMSI</a:t>
            </a:r>
            <a:r>
              <a:rPr sz="1200" b="0" i="0">
                <a:solidFill>
                  <a:srgbClr val="9A5212"/>
                </a:solidFill>
                <a:latin typeface="Calibri"/>
              </a:rPr>
              <a:t> · energi tahunan, bukan beban puncak; urutan zona peka terhadap COP per iklim (C4), jadi daftar ini kandidat penilaian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Insentif pompa panas untuk kawasan bergas, dimulai sebagai pilot di zona Q2</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KEBIJAKAN · REKOMENDASI 3</a:t>
            </a:r>
          </a:p>
        </p:txBody>
      </p:sp>
      <p:sp>
        <p:nvSpPr>
          <p:cNvPr id="4" name="istilah"/>
          <p:cNvSpPr txBox="1"/>
          <p:nvPr/>
        </p:nvSpPr>
        <p:spPr>
          <a:xfrm>
            <a:off x="548640" y="6035040"/>
            <a:ext cx="11094415" cy="365760"/>
          </a:xfrm>
          <a:prstGeom prst="rect">
            <a:avLst/>
          </a:prstGeom>
          <a:noFill/>
        </p:spPr>
        <p:txBody>
          <a:bodyPr wrap="square" lIns="0" rIns="0" tIns="0" bIns="0" anchor="t">
            <a:noAutofit/>
          </a:bodyPr>
          <a:lstStyle/>
          <a:p>
            <a:pPr algn="l">
              <a:lnSpc>
                <a:spcPct val="95000"/>
              </a:lnSpc>
              <a:spcBef>
                <a:spcPts val="0"/>
              </a:spcBef>
              <a:spcAft>
                <a:spcPts val="0"/>
              </a:spcAft>
            </a:pPr>
            <a:r>
              <a:rPr sz="1200" b="1" i="0">
                <a:solidFill>
                  <a:srgbClr val="5F6B7A"/>
                </a:solidFill>
                <a:latin typeface="Calibri"/>
              </a:rPr>
              <a:t>Istilah.</a:t>
            </a:r>
            <a:r>
              <a:rPr sz="1200" b="0" i="0">
                <a:solidFill>
                  <a:srgbClr val="5F6B7A"/>
                </a:solidFill>
                <a:latin typeface="Calibri"/>
              </a:rPr>
              <a:t> Pilot bergiliran: program dibuka per zona secara bertahap agar dampaknya dapat dibandingkan dengan zona yang belum ikut.</a:t>
            </a:r>
          </a:p>
        </p:txBody>
      </p:sp>
      <p:sp>
        <p:nvSpPr>
          <p:cNvPr id="5"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6"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12</a:t>
            </a:r>
          </a:p>
        </p:txBody>
      </p:sp>
      <p:pic>
        <p:nvPicPr>
          <p:cNvPr id="7" name="Picture 6" descr="Sumbangan SHAP porsi pemanas gas jaringan terhadap adopsi pemanas listrik"/>
          <p:cNvPicPr>
            <a:picLocks noChangeAspect="1"/>
          </p:cNvPicPr>
          <p:nvPr/>
        </p:nvPicPr>
        <p:blipFill>
          <a:blip r:embed="rId2"/>
          <a:stretch>
            <a:fillRect/>
          </a:stretch>
        </p:blipFill>
        <p:spPr>
          <a:xfrm>
            <a:off x="548640" y="1783080"/>
            <a:ext cx="5257800" cy="3653725"/>
          </a:xfrm>
          <a:prstGeom prst="rect">
            <a:avLst/>
          </a:prstGeom>
        </p:spPr>
      </p:pic>
      <p:sp>
        <p:nvSpPr>
          <p:cNvPr id="8" name="label"/>
          <p:cNvSpPr txBox="1"/>
          <p:nvPr/>
        </p:nvSpPr>
        <p:spPr>
          <a:xfrm>
            <a:off x="6172200" y="1828800"/>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SIAPA</a:t>
            </a:r>
          </a:p>
        </p:txBody>
      </p:sp>
      <p:sp>
        <p:nvSpPr>
          <p:cNvPr id="9" name="body"/>
          <p:cNvSpPr txBox="1"/>
          <p:nvPr/>
        </p:nvSpPr>
        <p:spPr>
          <a:xfrm>
            <a:off x="7589520" y="1810512"/>
            <a:ext cx="4053535" cy="329184"/>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Pemerintah kota bersama penyedia pompa panas</a:t>
            </a:r>
          </a:p>
        </p:txBody>
      </p:sp>
      <p:cxnSp>
        <p:nvCxnSpPr>
          <p:cNvPr id="10" name="Connector 9"/>
          <p:cNvCxnSpPr/>
          <p:nvPr/>
        </p:nvCxnSpPr>
        <p:spPr>
          <a:xfrm>
            <a:off x="6172200" y="2203704"/>
            <a:ext cx="5470855" cy="0"/>
          </a:xfrm>
          <a:prstGeom prst="line">
            <a:avLst/>
          </a:prstGeom>
          <a:ln w="9525">
            <a:solidFill>
              <a:srgbClr val="D5DBE3"/>
            </a:solidFill>
          </a:ln>
        </p:spPr>
      </p:cxnSp>
      <p:sp>
        <p:nvSpPr>
          <p:cNvPr id="11" name="label"/>
          <p:cNvSpPr txBox="1"/>
          <p:nvPr/>
        </p:nvSpPr>
        <p:spPr>
          <a:xfrm>
            <a:off x="6172200" y="2286000"/>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APA</a:t>
            </a:r>
          </a:p>
        </p:txBody>
      </p:sp>
      <p:sp>
        <p:nvSpPr>
          <p:cNvPr id="12" name="body"/>
          <p:cNvSpPr txBox="1"/>
          <p:nvPr/>
        </p:nvSpPr>
        <p:spPr>
          <a:xfrm>
            <a:off x="7589520" y="2267712"/>
            <a:ext cx="4053535" cy="86868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Bantuan pasang pompa panas dan bongkar ketel lama sebagai pilot bergiliran; di Q1 setelah </a:t>
            </a:r>
            <a:r>
              <a:rPr sz="1500" b="0" i="1">
                <a:solidFill>
                  <a:srgbClr val="1F2933"/>
                </a:solidFill>
                <a:latin typeface="Calibri"/>
              </a:rPr>
              <a:t>retrofit</a:t>
            </a:r>
            <a:r>
              <a:rPr sz="1500" b="0" i="0">
                <a:solidFill>
                  <a:srgbClr val="1F2933"/>
                </a:solidFill>
                <a:latin typeface="Calibri"/>
              </a:rPr>
              <a:t> dan cek gardu</a:t>
            </a:r>
          </a:p>
        </p:txBody>
      </p:sp>
      <p:cxnSp>
        <p:nvCxnSpPr>
          <p:cNvPr id="13" name="Connector 12"/>
          <p:cNvCxnSpPr/>
          <p:nvPr/>
        </p:nvCxnSpPr>
        <p:spPr>
          <a:xfrm>
            <a:off x="6172200" y="3200400"/>
            <a:ext cx="5470855" cy="0"/>
          </a:xfrm>
          <a:prstGeom prst="line">
            <a:avLst/>
          </a:prstGeom>
          <a:ln w="9525">
            <a:solidFill>
              <a:srgbClr val="D5DBE3"/>
            </a:solidFill>
          </a:ln>
        </p:spPr>
      </p:cxnSp>
      <p:sp>
        <p:nvSpPr>
          <p:cNvPr id="14" name="label"/>
          <p:cNvSpPr txBox="1"/>
          <p:nvPr/>
        </p:nvSpPr>
        <p:spPr>
          <a:xfrm>
            <a:off x="6172200" y="3282696"/>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DI MANA</a:t>
            </a:r>
          </a:p>
        </p:txBody>
      </p:sp>
      <p:sp>
        <p:nvSpPr>
          <p:cNvPr id="15" name="body"/>
          <p:cNvSpPr txBox="1"/>
          <p:nvPr/>
        </p:nvSpPr>
        <p:spPr>
          <a:xfrm>
            <a:off x="7589520" y="3264408"/>
            <a:ext cx="4053535" cy="566928"/>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Zona Q2 bergas dengan adopsi rendah, misalnya REG_249 (gas jaringan 85,54%, adopsi 3,75%)</a:t>
            </a:r>
          </a:p>
        </p:txBody>
      </p:sp>
      <p:cxnSp>
        <p:nvCxnSpPr>
          <p:cNvPr id="16" name="Connector 15"/>
          <p:cNvCxnSpPr/>
          <p:nvPr/>
        </p:nvCxnSpPr>
        <p:spPr>
          <a:xfrm>
            <a:off x="6172200" y="3895344"/>
            <a:ext cx="5470855" cy="0"/>
          </a:xfrm>
          <a:prstGeom prst="line">
            <a:avLst/>
          </a:prstGeom>
          <a:ln w="9525">
            <a:solidFill>
              <a:srgbClr val="D5DBE3"/>
            </a:solidFill>
          </a:ln>
        </p:spPr>
      </p:cxnSp>
      <p:sp>
        <p:nvSpPr>
          <p:cNvPr id="17" name="label"/>
          <p:cNvSpPr txBox="1"/>
          <p:nvPr/>
        </p:nvSpPr>
        <p:spPr>
          <a:xfrm>
            <a:off x="6172200" y="3977639"/>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DASAR BUKTI</a:t>
            </a:r>
          </a:p>
        </p:txBody>
      </p:sp>
      <p:sp>
        <p:nvSpPr>
          <p:cNvPr id="18" name="body"/>
          <p:cNvSpPr txBox="1"/>
          <p:nvPr/>
        </p:nvSpPr>
        <p:spPr>
          <a:xfrm>
            <a:off x="7589520" y="3959352"/>
            <a:ext cx="4053535" cy="566928"/>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Adopsi </a:t>
            </a:r>
            <a:r>
              <a:rPr sz="1500" b="1" i="0">
                <a:solidFill>
                  <a:srgbClr val="D97B29"/>
                </a:solidFill>
                <a:latin typeface="Calibri"/>
              </a:rPr>
              <a:t>40%</a:t>
            </a:r>
            <a:r>
              <a:rPr sz="1500" b="0" i="0">
                <a:solidFill>
                  <a:srgbClr val="1F2933"/>
                </a:solidFill>
                <a:latin typeface="Calibri"/>
              </a:rPr>
              <a:t> di kawasan bergas di bawah 40%, hanya </a:t>
            </a:r>
            <a:r>
              <a:rPr sz="1500" b="1" i="0">
                <a:solidFill>
                  <a:srgbClr val="D97B29"/>
                </a:solidFill>
                <a:latin typeface="Calibri"/>
              </a:rPr>
              <a:t>2,73%</a:t>
            </a:r>
            <a:r>
              <a:rPr sz="1500" b="0" i="0">
                <a:solidFill>
                  <a:srgbClr val="1F2933"/>
                </a:solidFill>
                <a:latin typeface="Calibri"/>
              </a:rPr>
              <a:t> di atas 80%, padahal itu 70% kawasan</a:t>
            </a:r>
          </a:p>
        </p:txBody>
      </p:sp>
      <p:cxnSp>
        <p:nvCxnSpPr>
          <p:cNvPr id="19" name="Connector 18"/>
          <p:cNvCxnSpPr/>
          <p:nvPr/>
        </p:nvCxnSpPr>
        <p:spPr>
          <a:xfrm>
            <a:off x="6172200" y="4590288"/>
            <a:ext cx="5470855" cy="0"/>
          </a:xfrm>
          <a:prstGeom prst="line">
            <a:avLst/>
          </a:prstGeom>
          <a:ln w="9525">
            <a:solidFill>
              <a:srgbClr val="D5DBE3"/>
            </a:solidFill>
          </a:ln>
        </p:spPr>
      </p:cxnSp>
      <p:sp>
        <p:nvSpPr>
          <p:cNvPr id="20" name="label"/>
          <p:cNvSpPr txBox="1"/>
          <p:nvPr/>
        </p:nvSpPr>
        <p:spPr>
          <a:xfrm>
            <a:off x="6172200" y="4672583"/>
            <a:ext cx="1417320"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UKURAN</a:t>
            </a:r>
          </a:p>
        </p:txBody>
      </p:sp>
      <p:sp>
        <p:nvSpPr>
          <p:cNvPr id="21" name="body"/>
          <p:cNvSpPr txBox="1"/>
          <p:nvPr/>
        </p:nvSpPr>
        <p:spPr>
          <a:xfrm>
            <a:off x="7589520" y="4654296"/>
            <a:ext cx="4053535" cy="566928"/>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Adopsi zona peserta naik dibanding zona pembanding</a:t>
            </a:r>
          </a:p>
        </p:txBody>
      </p:sp>
      <p:sp>
        <p:nvSpPr>
          <p:cNvPr id="22" name="Rounded Rectangle 21"/>
          <p:cNvSpPr/>
          <p:nvPr/>
        </p:nvSpPr>
        <p:spPr>
          <a:xfrm>
            <a:off x="6172200" y="5458968"/>
            <a:ext cx="5470855" cy="512064"/>
          </a:xfrm>
          <a:prstGeom prst="roundRect">
            <a:avLst>
              <a:gd name="adj" fmla="val 14285"/>
            </a:avLst>
          </a:prstGeom>
          <a:solidFill>
            <a:srgbClr val="ECE8F4"/>
          </a:solidFill>
          <a:ln>
            <a:noFill/>
          </a:ln>
        </p:spPr>
        <p:txBody>
          <a:bodyPr rtlCol="0" anchor="ctr"/>
          <a:lstStyle/>
          <a:p>
            <a:pPr algn="ctr"/>
          </a:p>
        </p:txBody>
      </p:sp>
      <p:sp>
        <p:nvSpPr>
          <p:cNvPr id="23" name="sumber"/>
          <p:cNvSpPr txBox="1"/>
          <p:nvPr/>
        </p:nvSpPr>
        <p:spPr>
          <a:xfrm>
            <a:off x="6291072" y="5495544"/>
            <a:ext cx="5251399" cy="438912"/>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5B4A86"/>
                </a:solidFill>
                <a:latin typeface="Calibri"/>
              </a:rPr>
              <a:t>INTERPRETASI</a:t>
            </a:r>
            <a:r>
              <a:rPr sz="1200" b="0" i="0">
                <a:solidFill>
                  <a:srgbClr val="5B4A86"/>
                </a:solidFill>
                <a:latin typeface="Calibri"/>
              </a:rPr>
              <a:t> · pola deskriptif: porsi pemanas berjumlah 100%, bukan tombol (sel 42)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Tiga hal belum diketahui, dan setiap rekomendasi sudah memperhitungkannya</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KEBIJAKAN · KETERBATASAN</a:t>
            </a:r>
          </a:p>
        </p:txBody>
      </p:sp>
      <p:sp>
        <p:nvSpPr>
          <p:cNvPr id="4"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5"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13</a:t>
            </a:r>
          </a:p>
        </p:txBody>
      </p:sp>
      <p:sp>
        <p:nvSpPr>
          <p:cNvPr id="6" name="Rounded Rectangle 5"/>
          <p:cNvSpPr/>
          <p:nvPr/>
        </p:nvSpPr>
        <p:spPr>
          <a:xfrm>
            <a:off x="548640" y="1783080"/>
            <a:ext cx="3515258" cy="3657600"/>
          </a:xfrm>
          <a:prstGeom prst="roundRect">
            <a:avLst>
              <a:gd name="adj" fmla="val 2601"/>
            </a:avLst>
          </a:prstGeom>
          <a:solidFill>
            <a:srgbClr val="EEF2F6"/>
          </a:solidFill>
          <a:ln>
            <a:noFill/>
          </a:ln>
        </p:spPr>
        <p:txBody>
          <a:bodyPr rtlCol="0" anchor="ctr"/>
          <a:lstStyle/>
          <a:p>
            <a:pPr algn="ctr"/>
          </a:p>
        </p:txBody>
      </p:sp>
      <p:sp>
        <p:nvSpPr>
          <p:cNvPr id="7" name="label"/>
          <p:cNvSpPr txBox="1"/>
          <p:nvPr/>
        </p:nvSpPr>
        <p:spPr>
          <a:xfrm>
            <a:off x="777240" y="1938528"/>
            <a:ext cx="3058058"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BELUM DIKETAHUI</a:t>
            </a:r>
          </a:p>
        </p:txBody>
      </p:sp>
      <p:sp>
        <p:nvSpPr>
          <p:cNvPr id="8" name="body"/>
          <p:cNvSpPr txBox="1"/>
          <p:nvPr/>
        </p:nvSpPr>
        <p:spPr>
          <a:xfrm>
            <a:off x="777240" y="2240280"/>
            <a:ext cx="3058058" cy="731520"/>
          </a:xfrm>
          <a:prstGeom prst="rect">
            <a:avLst/>
          </a:prstGeom>
          <a:noFill/>
        </p:spPr>
        <p:txBody>
          <a:bodyPr wrap="square" lIns="0" rIns="0" tIns="0" bIns="0" anchor="t">
            <a:noAutofit/>
          </a:bodyPr>
          <a:lstStyle/>
          <a:p>
            <a:pPr algn="l">
              <a:lnSpc>
                <a:spcPct val="95000"/>
              </a:lnSpc>
              <a:spcBef>
                <a:spcPts val="0"/>
              </a:spcBef>
              <a:spcAft>
                <a:spcPts val="0"/>
              </a:spcAft>
            </a:pPr>
            <a:r>
              <a:rPr sz="1900" b="1" i="0">
                <a:solidFill>
                  <a:srgbClr val="1F2933"/>
                </a:solidFill>
                <a:latin typeface="Calibri"/>
              </a:rPr>
              <a:t>Hubungan sebab-akibat</a:t>
            </a:r>
          </a:p>
        </p:txBody>
      </p:sp>
      <p:sp>
        <p:nvSpPr>
          <p:cNvPr id="9" name="body"/>
          <p:cNvSpPr txBox="1"/>
          <p:nvPr/>
        </p:nvSpPr>
        <p:spPr>
          <a:xfrm>
            <a:off x="777240" y="3017520"/>
            <a:ext cx="3058058" cy="96012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SHAP hanya sumbangan pada prediksi.</a:t>
            </a:r>
          </a:p>
        </p:txBody>
      </p:sp>
      <p:cxnSp>
        <p:nvCxnSpPr>
          <p:cNvPr id="10" name="Connector 9"/>
          <p:cNvCxnSpPr/>
          <p:nvPr/>
        </p:nvCxnSpPr>
        <p:spPr>
          <a:xfrm>
            <a:off x="777240" y="4041648"/>
            <a:ext cx="3058058" cy="0"/>
          </a:xfrm>
          <a:prstGeom prst="line">
            <a:avLst/>
          </a:prstGeom>
          <a:ln w="12700">
            <a:solidFill>
              <a:srgbClr val="D5DBE3"/>
            </a:solidFill>
          </a:ln>
        </p:spPr>
      </p:cxnSp>
      <p:sp>
        <p:nvSpPr>
          <p:cNvPr id="11" name="label"/>
          <p:cNvSpPr txBox="1"/>
          <p:nvPr/>
        </p:nvSpPr>
        <p:spPr>
          <a:xfrm>
            <a:off x="777240" y="4160520"/>
            <a:ext cx="3058058"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1F7A8C"/>
                </a:solidFill>
                <a:latin typeface="Calibri"/>
              </a:rPr>
              <a:t>PENANGANAN</a:t>
            </a:r>
          </a:p>
        </p:txBody>
      </p:sp>
      <p:sp>
        <p:nvSpPr>
          <p:cNvPr id="12" name="body"/>
          <p:cNvSpPr txBox="1"/>
          <p:nvPr/>
        </p:nvSpPr>
        <p:spPr>
          <a:xfrm>
            <a:off x="777240" y="4462272"/>
            <a:ext cx="3058058" cy="868680"/>
          </a:xfrm>
          <a:prstGeom prst="rect">
            <a:avLst/>
          </a:prstGeom>
          <a:noFill/>
        </p:spPr>
        <p:txBody>
          <a:bodyPr wrap="square" lIns="0" rIns="0" tIns="0" bIns="0" anchor="t">
            <a:noAutofit/>
          </a:bodyPr>
          <a:lstStyle/>
          <a:p>
            <a:pPr algn="l">
              <a:lnSpc>
                <a:spcPct val="98000"/>
              </a:lnSpc>
              <a:spcBef>
                <a:spcPts val="0"/>
              </a:spcBef>
              <a:spcAft>
                <a:spcPts val="0"/>
              </a:spcAft>
            </a:pPr>
            <a:r>
              <a:rPr sz="1500" b="1" i="0">
                <a:solidFill>
                  <a:srgbClr val="16324F"/>
                </a:solidFill>
                <a:latin typeface="Calibri"/>
              </a:rPr>
              <a:t>Program dijalankan sebagai pilot dengan zona pembanding.</a:t>
            </a:r>
          </a:p>
        </p:txBody>
      </p:sp>
      <p:sp>
        <p:nvSpPr>
          <p:cNvPr id="13" name="Rounded Rectangle 12"/>
          <p:cNvSpPr/>
          <p:nvPr/>
        </p:nvSpPr>
        <p:spPr>
          <a:xfrm>
            <a:off x="4338218" y="1783080"/>
            <a:ext cx="3515258" cy="3657600"/>
          </a:xfrm>
          <a:prstGeom prst="roundRect">
            <a:avLst>
              <a:gd name="adj" fmla="val 2601"/>
            </a:avLst>
          </a:prstGeom>
          <a:solidFill>
            <a:srgbClr val="EEF2F6"/>
          </a:solidFill>
          <a:ln>
            <a:noFill/>
          </a:ln>
        </p:spPr>
        <p:txBody>
          <a:bodyPr rtlCol="0" anchor="ctr"/>
          <a:lstStyle/>
          <a:p>
            <a:pPr algn="ctr"/>
          </a:p>
        </p:txBody>
      </p:sp>
      <p:sp>
        <p:nvSpPr>
          <p:cNvPr id="14" name="label"/>
          <p:cNvSpPr txBox="1"/>
          <p:nvPr/>
        </p:nvSpPr>
        <p:spPr>
          <a:xfrm>
            <a:off x="4566818" y="1938528"/>
            <a:ext cx="3058058"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BELUM DIKETAHUI</a:t>
            </a:r>
          </a:p>
        </p:txBody>
      </p:sp>
      <p:sp>
        <p:nvSpPr>
          <p:cNvPr id="15" name="body"/>
          <p:cNvSpPr txBox="1"/>
          <p:nvPr/>
        </p:nvSpPr>
        <p:spPr>
          <a:xfrm>
            <a:off x="4566818" y="2240280"/>
            <a:ext cx="3058058" cy="731520"/>
          </a:xfrm>
          <a:prstGeom prst="rect">
            <a:avLst/>
          </a:prstGeom>
          <a:noFill/>
        </p:spPr>
        <p:txBody>
          <a:bodyPr wrap="square" lIns="0" rIns="0" tIns="0" bIns="0" anchor="t">
            <a:noAutofit/>
          </a:bodyPr>
          <a:lstStyle/>
          <a:p>
            <a:pPr algn="l">
              <a:lnSpc>
                <a:spcPct val="95000"/>
              </a:lnSpc>
              <a:spcBef>
                <a:spcPts val="0"/>
              </a:spcBef>
              <a:spcAft>
                <a:spcPts val="0"/>
              </a:spcAft>
            </a:pPr>
            <a:r>
              <a:rPr sz="1900" b="1" i="0">
                <a:solidFill>
                  <a:srgbClr val="1F2933"/>
                </a:solidFill>
                <a:latin typeface="Calibri"/>
              </a:rPr>
              <a:t>Beban puncak, gardu, dan COP lokal</a:t>
            </a:r>
          </a:p>
        </p:txBody>
      </p:sp>
      <p:sp>
        <p:nvSpPr>
          <p:cNvPr id="16" name="body"/>
          <p:cNvSpPr txBox="1"/>
          <p:nvPr/>
        </p:nvSpPr>
        <p:spPr>
          <a:xfrm>
            <a:off x="4566818" y="3017520"/>
            <a:ext cx="3058058" cy="96012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Data hanya energi tahunan; urutan zona peka terhadap COP per iklim.</a:t>
            </a:r>
          </a:p>
        </p:txBody>
      </p:sp>
      <p:cxnSp>
        <p:nvCxnSpPr>
          <p:cNvPr id="17" name="Connector 16"/>
          <p:cNvCxnSpPr/>
          <p:nvPr/>
        </p:nvCxnSpPr>
        <p:spPr>
          <a:xfrm>
            <a:off x="4566818" y="4041648"/>
            <a:ext cx="3058058" cy="0"/>
          </a:xfrm>
          <a:prstGeom prst="line">
            <a:avLst/>
          </a:prstGeom>
          <a:ln w="12700">
            <a:solidFill>
              <a:srgbClr val="D5DBE3"/>
            </a:solidFill>
          </a:ln>
        </p:spPr>
      </p:cxnSp>
      <p:sp>
        <p:nvSpPr>
          <p:cNvPr id="18" name="label"/>
          <p:cNvSpPr txBox="1"/>
          <p:nvPr/>
        </p:nvSpPr>
        <p:spPr>
          <a:xfrm>
            <a:off x="4566818" y="4160520"/>
            <a:ext cx="3058058"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1F7A8C"/>
                </a:solidFill>
                <a:latin typeface="Calibri"/>
              </a:rPr>
              <a:t>PENANGANAN</a:t>
            </a:r>
          </a:p>
        </p:txBody>
      </p:sp>
      <p:sp>
        <p:nvSpPr>
          <p:cNvPr id="19" name="body"/>
          <p:cNvSpPr txBox="1"/>
          <p:nvPr/>
        </p:nvSpPr>
        <p:spPr>
          <a:xfrm>
            <a:off x="4566818" y="4462272"/>
            <a:ext cx="3058058" cy="868680"/>
          </a:xfrm>
          <a:prstGeom prst="rect">
            <a:avLst/>
          </a:prstGeom>
          <a:noFill/>
        </p:spPr>
        <p:txBody>
          <a:bodyPr wrap="square" lIns="0" rIns="0" tIns="0" bIns="0" anchor="t">
            <a:noAutofit/>
          </a:bodyPr>
          <a:lstStyle/>
          <a:p>
            <a:pPr algn="l">
              <a:lnSpc>
                <a:spcPct val="98000"/>
              </a:lnSpc>
              <a:spcBef>
                <a:spcPts val="0"/>
              </a:spcBef>
              <a:spcAft>
                <a:spcPts val="0"/>
              </a:spcAft>
            </a:pPr>
            <a:r>
              <a:rPr sz="1500" b="1" i="0">
                <a:solidFill>
                  <a:srgbClr val="16324F"/>
                </a:solidFill>
                <a:latin typeface="Calibri"/>
              </a:rPr>
              <a:t>Daftar zona adalah kandidat; gardu dinilai operator dengan data lokal.</a:t>
            </a:r>
          </a:p>
        </p:txBody>
      </p:sp>
      <p:sp>
        <p:nvSpPr>
          <p:cNvPr id="20" name="Rounded Rectangle 19"/>
          <p:cNvSpPr/>
          <p:nvPr/>
        </p:nvSpPr>
        <p:spPr>
          <a:xfrm>
            <a:off x="8127796" y="1783080"/>
            <a:ext cx="3515258" cy="3657600"/>
          </a:xfrm>
          <a:prstGeom prst="roundRect">
            <a:avLst>
              <a:gd name="adj" fmla="val 2601"/>
            </a:avLst>
          </a:prstGeom>
          <a:solidFill>
            <a:srgbClr val="EEF2F6"/>
          </a:solidFill>
          <a:ln>
            <a:noFill/>
          </a:ln>
        </p:spPr>
        <p:txBody>
          <a:bodyPr rtlCol="0" anchor="ctr"/>
          <a:lstStyle/>
          <a:p>
            <a:pPr algn="ctr"/>
          </a:p>
        </p:txBody>
      </p:sp>
      <p:sp>
        <p:nvSpPr>
          <p:cNvPr id="21" name="label"/>
          <p:cNvSpPr txBox="1"/>
          <p:nvPr/>
        </p:nvSpPr>
        <p:spPr>
          <a:xfrm>
            <a:off x="8356396" y="1938528"/>
            <a:ext cx="3058058"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5F6B7A"/>
                </a:solidFill>
                <a:latin typeface="Calibri"/>
              </a:rPr>
              <a:t>BELUM DIKETAHUI</a:t>
            </a:r>
          </a:p>
        </p:txBody>
      </p:sp>
      <p:sp>
        <p:nvSpPr>
          <p:cNvPr id="22" name="body"/>
          <p:cNvSpPr txBox="1"/>
          <p:nvPr/>
        </p:nvSpPr>
        <p:spPr>
          <a:xfrm>
            <a:off x="8356396" y="2240280"/>
            <a:ext cx="3058058" cy="731520"/>
          </a:xfrm>
          <a:prstGeom prst="rect">
            <a:avLst/>
          </a:prstGeom>
          <a:noFill/>
        </p:spPr>
        <p:txBody>
          <a:bodyPr wrap="square" lIns="0" rIns="0" tIns="0" bIns="0" anchor="t">
            <a:noAutofit/>
          </a:bodyPr>
          <a:lstStyle/>
          <a:p>
            <a:pPr algn="l">
              <a:lnSpc>
                <a:spcPct val="95000"/>
              </a:lnSpc>
              <a:spcBef>
                <a:spcPts val="0"/>
              </a:spcBef>
              <a:spcAft>
                <a:spcPts val="0"/>
              </a:spcAft>
            </a:pPr>
            <a:r>
              <a:rPr sz="1900" b="1" i="0">
                <a:solidFill>
                  <a:srgbClr val="1F2933"/>
                </a:solidFill>
                <a:latin typeface="Calibri"/>
              </a:rPr>
              <a:t>Potensi </a:t>
            </a:r>
            <a:r>
              <a:rPr sz="1900" b="1" i="1">
                <a:solidFill>
                  <a:srgbClr val="1F2933"/>
                </a:solidFill>
                <a:latin typeface="Calibri"/>
              </a:rPr>
              <a:t>retrofit</a:t>
            </a:r>
            <a:r>
              <a:rPr sz="1900" b="1" i="0">
                <a:solidFill>
                  <a:srgbClr val="1F2933"/>
                </a:solidFill>
                <a:latin typeface="Calibri"/>
              </a:rPr>
              <a:t> yang nyata</a:t>
            </a:r>
          </a:p>
        </p:txBody>
      </p:sp>
      <p:sp>
        <p:nvSpPr>
          <p:cNvPr id="23" name="body"/>
          <p:cNvSpPr txBox="1"/>
          <p:nvPr/>
        </p:nvSpPr>
        <p:spPr>
          <a:xfrm>
            <a:off x="8356396" y="3017520"/>
            <a:ext cx="3058058" cy="96012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7,39 TWh adalah batas atas; periode bangunan saja sekitar separuhnya.</a:t>
            </a:r>
          </a:p>
        </p:txBody>
      </p:sp>
      <p:cxnSp>
        <p:nvCxnSpPr>
          <p:cNvPr id="24" name="Connector 23"/>
          <p:cNvCxnSpPr/>
          <p:nvPr/>
        </p:nvCxnSpPr>
        <p:spPr>
          <a:xfrm>
            <a:off x="8356396" y="4041648"/>
            <a:ext cx="3058059" cy="0"/>
          </a:xfrm>
          <a:prstGeom prst="line">
            <a:avLst/>
          </a:prstGeom>
          <a:ln w="12700">
            <a:solidFill>
              <a:srgbClr val="D5DBE3"/>
            </a:solidFill>
          </a:ln>
        </p:spPr>
      </p:cxnSp>
      <p:sp>
        <p:nvSpPr>
          <p:cNvPr id="25" name="label"/>
          <p:cNvSpPr txBox="1"/>
          <p:nvPr/>
        </p:nvSpPr>
        <p:spPr>
          <a:xfrm>
            <a:off x="8356396" y="4160520"/>
            <a:ext cx="3058058" cy="27432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1F7A8C"/>
                </a:solidFill>
                <a:latin typeface="Calibri"/>
              </a:rPr>
              <a:t>PENANGANAN</a:t>
            </a:r>
          </a:p>
        </p:txBody>
      </p:sp>
      <p:sp>
        <p:nvSpPr>
          <p:cNvPr id="26" name="body"/>
          <p:cNvSpPr txBox="1"/>
          <p:nvPr/>
        </p:nvSpPr>
        <p:spPr>
          <a:xfrm>
            <a:off x="8356396" y="4462272"/>
            <a:ext cx="3058058" cy="868680"/>
          </a:xfrm>
          <a:prstGeom prst="rect">
            <a:avLst/>
          </a:prstGeom>
          <a:noFill/>
        </p:spPr>
        <p:txBody>
          <a:bodyPr wrap="square" lIns="0" rIns="0" tIns="0" bIns="0" anchor="t">
            <a:noAutofit/>
          </a:bodyPr>
          <a:lstStyle/>
          <a:p>
            <a:pPr algn="l">
              <a:lnSpc>
                <a:spcPct val="98000"/>
              </a:lnSpc>
              <a:spcBef>
                <a:spcPts val="0"/>
              </a:spcBef>
              <a:spcAft>
                <a:spcPts val="0"/>
              </a:spcAft>
            </a:pPr>
            <a:r>
              <a:rPr sz="1500" b="1" i="0">
                <a:solidFill>
                  <a:srgbClr val="16324F"/>
                </a:solidFill>
                <a:latin typeface="Calibri"/>
              </a:rPr>
              <a:t>Audit energi di zona pilot menentukan target penghematan.</a:t>
            </a:r>
          </a:p>
        </p:txBody>
      </p:sp>
      <p:sp>
        <p:nvSpPr>
          <p:cNvPr id="27" name="Rounded Rectangle 26"/>
          <p:cNvSpPr/>
          <p:nvPr/>
        </p:nvSpPr>
        <p:spPr>
          <a:xfrm>
            <a:off x="548640" y="5596128"/>
            <a:ext cx="7048131" cy="292608"/>
          </a:xfrm>
          <a:prstGeom prst="roundRect">
            <a:avLst>
              <a:gd name="adj" fmla="val 25000"/>
            </a:avLst>
          </a:prstGeom>
          <a:solidFill>
            <a:srgbClr val="E3F1F4"/>
          </a:solidFill>
          <a:ln>
            <a:noFill/>
          </a:ln>
        </p:spPr>
        <p:txBody>
          <a:bodyPr rtlCol="0" anchor="ctr"/>
          <a:lstStyle/>
          <a:p>
            <a:pPr algn="ctr"/>
          </a:p>
        </p:txBody>
      </p:sp>
      <p:sp>
        <p:nvSpPr>
          <p:cNvPr id="28" name="sumber"/>
          <p:cNvSpPr txBox="1"/>
          <p:nvPr/>
        </p:nvSpPr>
        <p:spPr>
          <a:xfrm>
            <a:off x="667512" y="5632704"/>
            <a:ext cx="6828675"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7606E"/>
                </a:solidFill>
                <a:latin typeface="Calibri"/>
              </a:rPr>
              <a:t>HASIL</a:t>
            </a:r>
            <a:r>
              <a:rPr sz="1200" b="0" i="0">
                <a:solidFill>
                  <a:srgbClr val="17606E"/>
                </a:solidFill>
                <a:latin typeface="Calibri"/>
              </a:rPr>
              <a:t> · definisi potensi sel 48; data tanpa profil beban (bagian 7.2); uji ketahanan bukti/cek_kebijakan.json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6324F"/>
        </a:solidFill>
        <a:effectLst/>
      </p:bgPr>
    </p:bg>
    <p:spTree>
      <p:nvGrpSpPr>
        <p:cNvPr id="1" name=""/>
        <p:cNvGrpSpPr/>
        <p:nvPr/>
      </p:nvGrpSpPr>
      <p:grpSpPr/>
      <p:sp>
        <p:nvSpPr>
          <p:cNvPr id="2" name="Title 1"/>
          <p:cNvSpPr>
            <a:spLocks noGrp="1"/>
          </p:cNvSpPr>
          <p:nvPr>
            <p:ph type="title"/>
          </p:nvPr>
        </p:nvSpPr>
        <p:spPr>
          <a:xfrm>
            <a:off x="548640" y="868680"/>
            <a:ext cx="11094415" cy="1097280"/>
          </a:xfrm>
        </p:spPr>
        <p:txBody>
          <a:bodyPr wrap="square" lIns="0" rIns="0" tIns="0" bIns="0" anchor="t">
            <a:noAutofit/>
          </a:bodyPr>
          <a:lstStyle/>
          <a:p>
            <a:pPr algn="l">
              <a:lnSpc>
                <a:spcPct val="95000"/>
              </a:lnSpc>
              <a:spcBef>
                <a:spcPts val="0"/>
              </a:spcBef>
              <a:spcAft>
                <a:spcPts val="0"/>
              </a:spcAft>
            </a:pPr>
            <a:r>
              <a:rPr sz="3600" b="1" i="0">
                <a:solidFill>
                  <a:srgbClr val="FFFFFF"/>
                </a:solidFill>
                <a:latin typeface="Calibri"/>
              </a:rPr>
              <a:t>Layak dipilih karena akurat, jujur, dan siap dijalankan</a:t>
            </a:r>
          </a:p>
        </p:txBody>
      </p:sp>
      <p:sp>
        <p:nvSpPr>
          <p:cNvPr id="3" name="kicker"/>
          <p:cNvSpPr txBox="1"/>
          <p:nvPr/>
        </p:nvSpPr>
        <p:spPr>
          <a:xfrm>
            <a:off x="548640" y="502920"/>
            <a:ext cx="11094415" cy="274320"/>
          </a:xfrm>
          <a:prstGeom prst="rect">
            <a:avLst/>
          </a:prstGeom>
          <a:noFill/>
        </p:spPr>
        <p:txBody>
          <a:bodyPr wrap="square" lIns="0" rIns="0" tIns="0" bIns="0" anchor="t">
            <a:noAutofit/>
          </a:bodyPr>
          <a:lstStyle/>
          <a:p>
            <a:pPr algn="l">
              <a:lnSpc>
                <a:spcPct val="100000"/>
              </a:lnSpc>
              <a:spcBef>
                <a:spcPts val="0"/>
              </a:spcBef>
              <a:spcAft>
                <a:spcPts val="0"/>
              </a:spcAft>
            </a:pPr>
            <a:r>
              <a:rPr sz="1300" b="1" i="0" spc="150">
                <a:solidFill>
                  <a:srgbClr val="C3D0DE"/>
                </a:solidFill>
                <a:latin typeface="Calibri"/>
              </a:rPr>
              <a:t>PENUTUP</a:t>
            </a:r>
          </a:p>
        </p:txBody>
      </p:sp>
      <p:sp>
        <p:nvSpPr>
          <p:cNvPr id="4" name="Rounded Rectangle 3"/>
          <p:cNvSpPr/>
          <p:nvPr/>
        </p:nvSpPr>
        <p:spPr>
          <a:xfrm>
            <a:off x="548640" y="2057400"/>
            <a:ext cx="3515258" cy="1783080"/>
          </a:xfrm>
          <a:prstGeom prst="roundRect">
            <a:avLst>
              <a:gd name="adj" fmla="val 5128"/>
            </a:avLst>
          </a:prstGeom>
          <a:solidFill>
            <a:srgbClr val="22476A"/>
          </a:solidFill>
          <a:ln>
            <a:noFill/>
          </a:ln>
        </p:spPr>
        <p:txBody>
          <a:bodyPr rtlCol="0" anchor="ctr"/>
          <a:lstStyle/>
          <a:p>
            <a:pPr algn="ctr"/>
          </a:p>
        </p:txBody>
      </p:sp>
      <p:sp>
        <p:nvSpPr>
          <p:cNvPr id="5" name="label"/>
          <p:cNvSpPr txBox="1"/>
          <p:nvPr/>
        </p:nvSpPr>
        <p:spPr>
          <a:xfrm>
            <a:off x="777240" y="2212848"/>
            <a:ext cx="3058058"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00">
                <a:solidFill>
                  <a:srgbClr val="C3D0DE"/>
                </a:solidFill>
                <a:latin typeface="Calibri"/>
              </a:rPr>
              <a:t>AKURAT</a:t>
            </a:r>
          </a:p>
        </p:txBody>
      </p:sp>
      <p:sp>
        <p:nvSpPr>
          <p:cNvPr id="6" name="angka"/>
          <p:cNvSpPr txBox="1"/>
          <p:nvPr/>
        </p:nvSpPr>
        <p:spPr>
          <a:xfrm>
            <a:off x="777240" y="2514600"/>
            <a:ext cx="3058058" cy="548640"/>
          </a:xfrm>
          <a:prstGeom prst="rect">
            <a:avLst/>
          </a:prstGeom>
          <a:noFill/>
        </p:spPr>
        <p:txBody>
          <a:bodyPr wrap="square" lIns="0" rIns="0" tIns="0" bIns="0" anchor="t">
            <a:noAutofit/>
          </a:bodyPr>
          <a:lstStyle/>
          <a:p>
            <a:pPr algn="l">
              <a:lnSpc>
                <a:spcPct val="100000"/>
              </a:lnSpc>
              <a:spcBef>
                <a:spcPts val="0"/>
              </a:spcBef>
              <a:spcAft>
                <a:spcPts val="0"/>
              </a:spcAft>
            </a:pPr>
            <a:r>
              <a:rPr sz="2800" b="1" i="0">
                <a:solidFill>
                  <a:srgbClr val="D97B29"/>
                </a:solidFill>
                <a:latin typeface="Calibri"/>
              </a:rPr>
              <a:t>0,24844</a:t>
            </a:r>
          </a:p>
        </p:txBody>
      </p:sp>
      <p:sp>
        <p:nvSpPr>
          <p:cNvPr id="7" name="body"/>
          <p:cNvSpPr txBox="1"/>
          <p:nvPr/>
        </p:nvSpPr>
        <p:spPr>
          <a:xfrm>
            <a:off x="777240" y="3108960"/>
            <a:ext cx="3058058" cy="68580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C3D0DE"/>
                </a:solidFill>
                <a:latin typeface="Calibri"/>
              </a:rPr>
              <a:t>skor privat, peringkat 8</a:t>
            </a:r>
          </a:p>
        </p:txBody>
      </p:sp>
      <p:sp>
        <p:nvSpPr>
          <p:cNvPr id="8" name="Rounded Rectangle 7"/>
          <p:cNvSpPr/>
          <p:nvPr/>
        </p:nvSpPr>
        <p:spPr>
          <a:xfrm>
            <a:off x="4338218" y="2057400"/>
            <a:ext cx="3515258" cy="1783080"/>
          </a:xfrm>
          <a:prstGeom prst="roundRect">
            <a:avLst>
              <a:gd name="adj" fmla="val 5128"/>
            </a:avLst>
          </a:prstGeom>
          <a:solidFill>
            <a:srgbClr val="22476A"/>
          </a:solidFill>
          <a:ln>
            <a:noFill/>
          </a:ln>
        </p:spPr>
        <p:txBody>
          <a:bodyPr rtlCol="0" anchor="ctr"/>
          <a:lstStyle/>
          <a:p>
            <a:pPr algn="ctr"/>
          </a:p>
        </p:txBody>
      </p:sp>
      <p:sp>
        <p:nvSpPr>
          <p:cNvPr id="9" name="label"/>
          <p:cNvSpPr txBox="1"/>
          <p:nvPr/>
        </p:nvSpPr>
        <p:spPr>
          <a:xfrm>
            <a:off x="4566818" y="2212848"/>
            <a:ext cx="3058058"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00">
                <a:solidFill>
                  <a:srgbClr val="C3D0DE"/>
                </a:solidFill>
                <a:latin typeface="Calibri"/>
              </a:rPr>
              <a:t>JUJUR</a:t>
            </a:r>
          </a:p>
        </p:txBody>
      </p:sp>
      <p:sp>
        <p:nvSpPr>
          <p:cNvPr id="10" name="angka"/>
          <p:cNvSpPr txBox="1"/>
          <p:nvPr/>
        </p:nvSpPr>
        <p:spPr>
          <a:xfrm>
            <a:off x="4566818" y="2514600"/>
            <a:ext cx="3058058" cy="548640"/>
          </a:xfrm>
          <a:prstGeom prst="rect">
            <a:avLst/>
          </a:prstGeom>
          <a:noFill/>
        </p:spPr>
        <p:txBody>
          <a:bodyPr wrap="square" lIns="0" rIns="0" tIns="0" bIns="0" anchor="t">
            <a:noAutofit/>
          </a:bodyPr>
          <a:lstStyle/>
          <a:p>
            <a:pPr algn="l">
              <a:lnSpc>
                <a:spcPct val="100000"/>
              </a:lnSpc>
              <a:spcBef>
                <a:spcPts val="0"/>
              </a:spcBef>
              <a:spcAft>
                <a:spcPts val="0"/>
              </a:spcAft>
            </a:pPr>
            <a:r>
              <a:rPr sz="2800" b="1" i="0">
                <a:solidFill>
                  <a:srgbClr val="FFFFFF"/>
                </a:solidFill>
                <a:latin typeface="Calibri"/>
              </a:rPr>
              <a:t>Lulus uji label acak</a:t>
            </a:r>
          </a:p>
        </p:txBody>
      </p:sp>
      <p:sp>
        <p:nvSpPr>
          <p:cNvPr id="11" name="body"/>
          <p:cNvSpPr txBox="1"/>
          <p:nvPr/>
        </p:nvSpPr>
        <p:spPr>
          <a:xfrm>
            <a:off x="4566818" y="3108960"/>
            <a:ext cx="3058058" cy="68580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C3D0DE"/>
                </a:solidFill>
                <a:latin typeface="Calibri"/>
              </a:rPr>
              <a:t>baris validasi dan latih; hasil identik di perangkat sama</a:t>
            </a:r>
          </a:p>
        </p:txBody>
      </p:sp>
      <p:sp>
        <p:nvSpPr>
          <p:cNvPr id="12" name="Rounded Rectangle 11"/>
          <p:cNvSpPr/>
          <p:nvPr/>
        </p:nvSpPr>
        <p:spPr>
          <a:xfrm>
            <a:off x="8127796" y="2057400"/>
            <a:ext cx="3515258" cy="1783080"/>
          </a:xfrm>
          <a:prstGeom prst="roundRect">
            <a:avLst>
              <a:gd name="adj" fmla="val 5128"/>
            </a:avLst>
          </a:prstGeom>
          <a:solidFill>
            <a:srgbClr val="22476A"/>
          </a:solidFill>
          <a:ln>
            <a:noFill/>
          </a:ln>
        </p:spPr>
        <p:txBody>
          <a:bodyPr rtlCol="0" anchor="ctr"/>
          <a:lstStyle/>
          <a:p>
            <a:pPr algn="ctr"/>
          </a:p>
        </p:txBody>
      </p:sp>
      <p:sp>
        <p:nvSpPr>
          <p:cNvPr id="13" name="label"/>
          <p:cNvSpPr txBox="1"/>
          <p:nvPr/>
        </p:nvSpPr>
        <p:spPr>
          <a:xfrm>
            <a:off x="8356396" y="2212848"/>
            <a:ext cx="3058058"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00">
                <a:solidFill>
                  <a:srgbClr val="C3D0DE"/>
                </a:solidFill>
                <a:latin typeface="Calibri"/>
              </a:rPr>
              <a:t>SIAP DIJALANKAN</a:t>
            </a:r>
          </a:p>
        </p:txBody>
      </p:sp>
      <p:sp>
        <p:nvSpPr>
          <p:cNvPr id="14" name="angka"/>
          <p:cNvSpPr txBox="1"/>
          <p:nvPr/>
        </p:nvSpPr>
        <p:spPr>
          <a:xfrm>
            <a:off x="8356396" y="2514600"/>
            <a:ext cx="3058058" cy="548640"/>
          </a:xfrm>
          <a:prstGeom prst="rect">
            <a:avLst/>
          </a:prstGeom>
          <a:noFill/>
        </p:spPr>
        <p:txBody>
          <a:bodyPr wrap="square" lIns="0" rIns="0" tIns="0" bIns="0" anchor="t">
            <a:noAutofit/>
          </a:bodyPr>
          <a:lstStyle/>
          <a:p>
            <a:pPr algn="l">
              <a:lnSpc>
                <a:spcPct val="100000"/>
              </a:lnSpc>
              <a:spcBef>
                <a:spcPts val="0"/>
              </a:spcBef>
              <a:spcAft>
                <a:spcPts val="0"/>
              </a:spcAft>
            </a:pPr>
            <a:r>
              <a:rPr sz="2800" b="1" i="0">
                <a:solidFill>
                  <a:srgbClr val="FFFFFF"/>
                </a:solidFill>
                <a:latin typeface="Calibri"/>
              </a:rPr>
              <a:t>330 zona</a:t>
            </a:r>
          </a:p>
        </p:txBody>
      </p:sp>
      <p:sp>
        <p:nvSpPr>
          <p:cNvPr id="15" name="body"/>
          <p:cNvSpPr txBox="1"/>
          <p:nvPr/>
        </p:nvSpPr>
        <p:spPr>
          <a:xfrm>
            <a:off x="8356396" y="3108960"/>
            <a:ext cx="3058058" cy="68580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C3D0DE"/>
                </a:solidFill>
                <a:latin typeface="Calibri"/>
              </a:rPr>
              <a:t>kandidat berurutan, tiga program, ukuran keberhasilan</a:t>
            </a:r>
          </a:p>
        </p:txBody>
      </p:sp>
      <p:sp>
        <p:nvSpPr>
          <p:cNvPr id="16" name="body"/>
          <p:cNvSpPr txBox="1"/>
          <p:nvPr/>
        </p:nvSpPr>
        <p:spPr>
          <a:xfrm>
            <a:off x="548640" y="4114800"/>
            <a:ext cx="11094415" cy="36576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FFFFFF"/>
                </a:solidFill>
                <a:latin typeface="Calibri"/>
              </a:rPr>
              <a:t>Langkah berikutnya</a:t>
            </a:r>
          </a:p>
        </p:txBody>
      </p:sp>
      <p:sp>
        <p:nvSpPr>
          <p:cNvPr id="17" name="Oval 16"/>
          <p:cNvSpPr/>
          <p:nvPr/>
        </p:nvSpPr>
        <p:spPr>
          <a:xfrm>
            <a:off x="548640" y="4608576"/>
            <a:ext cx="310896" cy="310896"/>
          </a:xfrm>
          <a:prstGeom prst="ellipse">
            <a:avLst/>
          </a:prstGeom>
          <a:solidFill>
            <a:srgbClr val="D97B29"/>
          </a:solidFill>
          <a:ln>
            <a:noFill/>
          </a:ln>
        </p:spPr>
        <p:txBody>
          <a:bodyPr rtlCol="0" anchor="ctr"/>
          <a:lstStyle/>
          <a:p>
            <a:pPr algn="ctr"/>
          </a:p>
        </p:txBody>
      </p:sp>
      <p:sp>
        <p:nvSpPr>
          <p:cNvPr id="18" name="angka"/>
          <p:cNvSpPr txBox="1"/>
          <p:nvPr/>
        </p:nvSpPr>
        <p:spPr>
          <a:xfrm>
            <a:off x="548640" y="4608576"/>
            <a:ext cx="310896" cy="310896"/>
          </a:xfrm>
          <a:prstGeom prst="rect">
            <a:avLst/>
          </a:prstGeom>
          <a:noFill/>
        </p:spPr>
        <p:txBody>
          <a:bodyPr wrap="square" lIns="0" rIns="0" tIns="0" bIns="0" anchor="ctr">
            <a:noAutofit/>
          </a:bodyPr>
          <a:lstStyle/>
          <a:p>
            <a:pPr algn="ctr">
              <a:lnSpc>
                <a:spcPct val="100000"/>
              </a:lnSpc>
              <a:spcBef>
                <a:spcPts val="0"/>
              </a:spcBef>
              <a:spcAft>
                <a:spcPts val="0"/>
              </a:spcAft>
            </a:pPr>
            <a:r>
              <a:rPr sz="1300" b="1" i="0">
                <a:solidFill>
                  <a:srgbClr val="FFFFFF"/>
                </a:solidFill>
                <a:latin typeface="Calibri"/>
              </a:rPr>
              <a:t>1</a:t>
            </a:r>
          </a:p>
        </p:txBody>
      </p:sp>
      <p:sp>
        <p:nvSpPr>
          <p:cNvPr id="19" name="body"/>
          <p:cNvSpPr txBox="1"/>
          <p:nvPr/>
        </p:nvSpPr>
        <p:spPr>
          <a:xfrm>
            <a:off x="1005840" y="4572000"/>
            <a:ext cx="10637215" cy="384048"/>
          </a:xfrm>
          <a:prstGeom prst="rect">
            <a:avLst/>
          </a:prstGeom>
          <a:noFill/>
        </p:spPr>
        <p:txBody>
          <a:bodyPr wrap="square" lIns="0" rIns="0" tIns="0" bIns="0" anchor="ctr">
            <a:noAutofit/>
          </a:bodyPr>
          <a:lstStyle/>
          <a:p>
            <a:pPr algn="l">
              <a:lnSpc>
                <a:spcPct val="100000"/>
              </a:lnSpc>
              <a:spcBef>
                <a:spcPts val="0"/>
              </a:spcBef>
              <a:spcAft>
                <a:spcPts val="0"/>
              </a:spcAft>
            </a:pPr>
            <a:r>
              <a:rPr sz="1700" b="0" i="0">
                <a:solidFill>
                  <a:srgbClr val="FFFFFF"/>
                </a:solidFill>
                <a:latin typeface="Calibri"/>
              </a:rPr>
              <a:t>Minta data beban puncak, kapasitas gardu, dan COP lokal dari operator jaringan</a:t>
            </a:r>
          </a:p>
        </p:txBody>
      </p:sp>
      <p:sp>
        <p:nvSpPr>
          <p:cNvPr id="20" name="Oval 19"/>
          <p:cNvSpPr/>
          <p:nvPr/>
        </p:nvSpPr>
        <p:spPr>
          <a:xfrm>
            <a:off x="548640" y="5047488"/>
            <a:ext cx="310896" cy="310896"/>
          </a:xfrm>
          <a:prstGeom prst="ellipse">
            <a:avLst/>
          </a:prstGeom>
          <a:solidFill>
            <a:srgbClr val="D97B29"/>
          </a:solidFill>
          <a:ln>
            <a:noFill/>
          </a:ln>
        </p:spPr>
        <p:txBody>
          <a:bodyPr rtlCol="0" anchor="ctr"/>
          <a:lstStyle/>
          <a:p>
            <a:pPr algn="ctr"/>
          </a:p>
        </p:txBody>
      </p:sp>
      <p:sp>
        <p:nvSpPr>
          <p:cNvPr id="21" name="angka"/>
          <p:cNvSpPr txBox="1"/>
          <p:nvPr/>
        </p:nvSpPr>
        <p:spPr>
          <a:xfrm>
            <a:off x="548640" y="5047488"/>
            <a:ext cx="310896" cy="310896"/>
          </a:xfrm>
          <a:prstGeom prst="rect">
            <a:avLst/>
          </a:prstGeom>
          <a:noFill/>
        </p:spPr>
        <p:txBody>
          <a:bodyPr wrap="square" lIns="0" rIns="0" tIns="0" bIns="0" anchor="ctr">
            <a:noAutofit/>
          </a:bodyPr>
          <a:lstStyle/>
          <a:p>
            <a:pPr algn="ctr">
              <a:lnSpc>
                <a:spcPct val="100000"/>
              </a:lnSpc>
              <a:spcBef>
                <a:spcPts val="0"/>
              </a:spcBef>
              <a:spcAft>
                <a:spcPts val="0"/>
              </a:spcAft>
            </a:pPr>
            <a:r>
              <a:rPr sz="1300" b="1" i="0">
                <a:solidFill>
                  <a:srgbClr val="FFFFFF"/>
                </a:solidFill>
                <a:latin typeface="Calibri"/>
              </a:rPr>
              <a:t>2</a:t>
            </a:r>
          </a:p>
        </p:txBody>
      </p:sp>
      <p:sp>
        <p:nvSpPr>
          <p:cNvPr id="22" name="body"/>
          <p:cNvSpPr txBox="1"/>
          <p:nvPr/>
        </p:nvSpPr>
        <p:spPr>
          <a:xfrm>
            <a:off x="1005840" y="5010912"/>
            <a:ext cx="10637215" cy="384048"/>
          </a:xfrm>
          <a:prstGeom prst="rect">
            <a:avLst/>
          </a:prstGeom>
          <a:noFill/>
        </p:spPr>
        <p:txBody>
          <a:bodyPr wrap="square" lIns="0" rIns="0" tIns="0" bIns="0" anchor="ctr">
            <a:noAutofit/>
          </a:bodyPr>
          <a:lstStyle/>
          <a:p>
            <a:pPr algn="l">
              <a:lnSpc>
                <a:spcPct val="100000"/>
              </a:lnSpc>
              <a:spcBef>
                <a:spcPts val="0"/>
              </a:spcBef>
              <a:spcAft>
                <a:spcPts val="0"/>
              </a:spcAft>
            </a:pPr>
            <a:r>
              <a:rPr sz="1700" b="0" i="0">
                <a:solidFill>
                  <a:srgbClr val="FFFFFF"/>
                </a:solidFill>
                <a:latin typeface="Calibri"/>
              </a:rPr>
              <a:t>Pilot </a:t>
            </a:r>
            <a:r>
              <a:rPr sz="1700" b="0" i="1">
                <a:solidFill>
                  <a:srgbClr val="FFFFFF"/>
                </a:solidFill>
                <a:latin typeface="Calibri"/>
              </a:rPr>
              <a:t>retrofit</a:t>
            </a:r>
            <a:r>
              <a:rPr sz="1700" b="0" i="0">
                <a:solidFill>
                  <a:srgbClr val="FFFFFF"/>
                </a:solidFill>
                <a:latin typeface="Calibri"/>
              </a:rPr>
              <a:t> di REG_273, REG_270, dan REG_045 dengan zona pembanding</a:t>
            </a:r>
          </a:p>
        </p:txBody>
      </p:sp>
      <p:sp>
        <p:nvSpPr>
          <p:cNvPr id="23" name="Oval 22"/>
          <p:cNvSpPr/>
          <p:nvPr/>
        </p:nvSpPr>
        <p:spPr>
          <a:xfrm>
            <a:off x="548640" y="5486400"/>
            <a:ext cx="310896" cy="310896"/>
          </a:xfrm>
          <a:prstGeom prst="ellipse">
            <a:avLst/>
          </a:prstGeom>
          <a:solidFill>
            <a:srgbClr val="D97B29"/>
          </a:solidFill>
          <a:ln>
            <a:noFill/>
          </a:ln>
        </p:spPr>
        <p:txBody>
          <a:bodyPr rtlCol="0" anchor="ctr"/>
          <a:lstStyle/>
          <a:p>
            <a:pPr algn="ctr"/>
          </a:p>
        </p:txBody>
      </p:sp>
      <p:sp>
        <p:nvSpPr>
          <p:cNvPr id="24" name="angka"/>
          <p:cNvSpPr txBox="1"/>
          <p:nvPr/>
        </p:nvSpPr>
        <p:spPr>
          <a:xfrm>
            <a:off x="548640" y="5486400"/>
            <a:ext cx="310896" cy="310896"/>
          </a:xfrm>
          <a:prstGeom prst="rect">
            <a:avLst/>
          </a:prstGeom>
          <a:noFill/>
        </p:spPr>
        <p:txBody>
          <a:bodyPr wrap="square" lIns="0" rIns="0" tIns="0" bIns="0" anchor="ctr">
            <a:noAutofit/>
          </a:bodyPr>
          <a:lstStyle/>
          <a:p>
            <a:pPr algn="ctr">
              <a:lnSpc>
                <a:spcPct val="100000"/>
              </a:lnSpc>
              <a:spcBef>
                <a:spcPts val="0"/>
              </a:spcBef>
              <a:spcAft>
                <a:spcPts val="0"/>
              </a:spcAft>
            </a:pPr>
            <a:r>
              <a:rPr sz="1300" b="1" i="0">
                <a:solidFill>
                  <a:srgbClr val="FFFFFF"/>
                </a:solidFill>
                <a:latin typeface="Calibri"/>
              </a:rPr>
              <a:t>3</a:t>
            </a:r>
          </a:p>
        </p:txBody>
      </p:sp>
      <p:sp>
        <p:nvSpPr>
          <p:cNvPr id="25" name="body"/>
          <p:cNvSpPr txBox="1"/>
          <p:nvPr/>
        </p:nvSpPr>
        <p:spPr>
          <a:xfrm>
            <a:off x="1005840" y="5449824"/>
            <a:ext cx="10637215" cy="384048"/>
          </a:xfrm>
          <a:prstGeom prst="rect">
            <a:avLst/>
          </a:prstGeom>
          <a:noFill/>
        </p:spPr>
        <p:txBody>
          <a:bodyPr wrap="square" lIns="0" rIns="0" tIns="0" bIns="0" anchor="ctr">
            <a:noAutofit/>
          </a:bodyPr>
          <a:lstStyle/>
          <a:p>
            <a:pPr algn="l">
              <a:lnSpc>
                <a:spcPct val="100000"/>
              </a:lnSpc>
              <a:spcBef>
                <a:spcPts val="0"/>
              </a:spcBef>
              <a:spcAft>
                <a:spcPts val="0"/>
              </a:spcAft>
            </a:pPr>
            <a:r>
              <a:rPr sz="1700" b="0" i="0">
                <a:solidFill>
                  <a:srgbClr val="FFFFFF"/>
                </a:solidFill>
                <a:latin typeface="Calibri"/>
              </a:rPr>
              <a:t>Perbarui peta zona setiap tahun dengan data konsumsi terbaru</a:t>
            </a:r>
          </a:p>
        </p:txBody>
      </p:sp>
      <p:sp>
        <p:nvSpPr>
          <p:cNvPr id="26" name="body"/>
          <p:cNvSpPr txBox="1"/>
          <p:nvPr/>
        </p:nvSpPr>
        <p:spPr>
          <a:xfrm>
            <a:off x="548640" y="5989320"/>
            <a:ext cx="11094415" cy="36576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C3D0DE"/>
                </a:solidFill>
                <a:latin typeface="Calibri"/>
              </a:rPr>
              <a:t>Terima kasih. Silakan ajukan pertanyaan.</a:t>
            </a:r>
          </a:p>
        </p:txBody>
      </p:sp>
      <p:sp>
        <p:nvSpPr>
          <p:cNvPr id="27"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C3D0DE"/>
                </a:solidFill>
                <a:latin typeface="Calibri"/>
              </a:rPr>
              <a:t>Tim BISMILLAH · DICE FEST 2026 · Babak final</a:t>
            </a:r>
          </a:p>
        </p:txBody>
      </p:sp>
      <p:sp>
        <p:nvSpPr>
          <p:cNvPr id="28"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C3D0D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Bobot adaptif tidak kalah di kolom mana pun pada skor jujur, terbesar di EUI</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CADANGAN C1 · TANYA JAWAB</a:t>
            </a:r>
          </a:p>
        </p:txBody>
      </p:sp>
      <p:sp>
        <p:nvSpPr>
          <p:cNvPr id="4"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5"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C1</a:t>
            </a:r>
          </a:p>
        </p:txBody>
      </p:sp>
      <p:pic>
        <p:nvPicPr>
          <p:cNvPr id="6" name="Picture 5" descr="Basis segitiga dua simpul: bobot ujung rendah 1 minus t dan ujung tinggi t"/>
          <p:cNvPicPr>
            <a:picLocks noChangeAspect="1"/>
          </p:cNvPicPr>
          <p:nvPr/>
        </p:nvPicPr>
        <p:blipFill>
          <a:blip r:embed="rId2"/>
          <a:stretch>
            <a:fillRect/>
          </a:stretch>
        </p:blipFill>
        <p:spPr>
          <a:xfrm>
            <a:off x="548640" y="1783080"/>
            <a:ext cx="5577840" cy="2968850"/>
          </a:xfrm>
          <a:prstGeom prst="rect">
            <a:avLst/>
          </a:prstGeom>
        </p:spPr>
      </p:pic>
      <p:sp>
        <p:nvSpPr>
          <p:cNvPr id="7" name="body"/>
          <p:cNvSpPr txBox="1"/>
          <p:nvPr/>
        </p:nvSpPr>
        <p:spPr>
          <a:xfrm>
            <a:off x="6400800" y="1783080"/>
            <a:ext cx="5242255" cy="1371600"/>
          </a:xfrm>
          <a:prstGeom prst="rect">
            <a:avLst/>
          </a:prstGeom>
          <a:noFill/>
        </p:spPr>
        <p:txBody>
          <a:bodyPr wrap="square" lIns="0" rIns="0" tIns="0" bIns="0" anchor="t">
            <a:noAutofit/>
          </a:bodyPr>
          <a:lstStyle/>
          <a:p>
            <a:pPr algn="l" marL="228600" indent="-228600">
              <a:lnSpc>
                <a:spcPct val="98000"/>
              </a:lnSpc>
              <a:spcBef>
                <a:spcPts val="0"/>
              </a:spcBef>
              <a:spcAft>
                <a:spcPts val="600"/>
              </a:spcAft>
              <a:buFont typeface="Arial"/>
              <a:buChar char="•"/>
            </a:pPr>
            <a:r>
              <a:rPr sz="1500" b="0" i="0">
                <a:solidFill>
                  <a:srgbClr val="1F2933"/>
                </a:solidFill>
                <a:latin typeface="Calibri"/>
              </a:rPr>
              <a:t>Peringkat luas A, jumlah meter M, dan tebakan p di data latih: 2×2×2 = 8 bobot pojok per model</a:t>
            </a:r>
          </a:p>
          <a:p>
            <a:pPr algn="l" marL="228600" indent="-228600">
              <a:lnSpc>
                <a:spcPct val="98000"/>
              </a:lnSpc>
              <a:spcBef>
                <a:spcPts val="0"/>
              </a:spcBef>
              <a:spcAft>
                <a:spcPts val="0"/>
              </a:spcAft>
              <a:buFont typeface="Arial"/>
              <a:buChar char="•"/>
            </a:pPr>
            <a:r>
              <a:rPr sz="1500" b="0" i="0">
                <a:solidFill>
                  <a:srgbClr val="1F2933"/>
                </a:solidFill>
                <a:latin typeface="Calibri"/>
              </a:rPr>
              <a:t>NNLS, semua bobot ≥ 0: 224 bobot gas, 224 EUI, dan 104 listrik untuk 429.303 baris</a:t>
            </a:r>
          </a:p>
        </p:txBody>
      </p:sp>
      <p:sp>
        <p:nvSpPr>
          <p:cNvPr id="8" name="tabel"/>
          <p:cNvSpPr txBox="1"/>
          <p:nvPr/>
        </p:nvSpPr>
        <p:spPr>
          <a:xfrm>
            <a:off x="6400800" y="3246120"/>
            <a:ext cx="1069848" cy="310896"/>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F6B7A"/>
                </a:solidFill>
                <a:latin typeface="Calibri"/>
              </a:rPr>
              <a:t>Skor jujur</a:t>
            </a:r>
          </a:p>
        </p:txBody>
      </p:sp>
      <p:sp>
        <p:nvSpPr>
          <p:cNvPr id="9" name="tabel"/>
          <p:cNvSpPr txBox="1"/>
          <p:nvPr/>
        </p:nvSpPr>
        <p:spPr>
          <a:xfrm>
            <a:off x="7543800" y="3246120"/>
            <a:ext cx="1161288"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Global</a:t>
            </a:r>
          </a:p>
        </p:txBody>
      </p:sp>
      <p:sp>
        <p:nvSpPr>
          <p:cNvPr id="10" name="tabel"/>
          <p:cNvSpPr txBox="1"/>
          <p:nvPr/>
        </p:nvSpPr>
        <p:spPr>
          <a:xfrm>
            <a:off x="8778240" y="3246120"/>
            <a:ext cx="1161288"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Adaptif</a:t>
            </a:r>
          </a:p>
        </p:txBody>
      </p:sp>
      <p:sp>
        <p:nvSpPr>
          <p:cNvPr id="11" name="tabel"/>
          <p:cNvSpPr txBox="1"/>
          <p:nvPr/>
        </p:nvSpPr>
        <p:spPr>
          <a:xfrm>
            <a:off x="10012680" y="3246120"/>
            <a:ext cx="1527048"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Selisih</a:t>
            </a:r>
          </a:p>
        </p:txBody>
      </p:sp>
      <p:cxnSp>
        <p:nvCxnSpPr>
          <p:cNvPr id="12" name="Connector 11"/>
          <p:cNvCxnSpPr/>
          <p:nvPr/>
        </p:nvCxnSpPr>
        <p:spPr>
          <a:xfrm>
            <a:off x="6400800" y="3611879"/>
            <a:ext cx="5212080" cy="0"/>
          </a:xfrm>
          <a:prstGeom prst="line">
            <a:avLst/>
          </a:prstGeom>
          <a:ln w="12700">
            <a:solidFill>
              <a:srgbClr val="D5DBE3"/>
            </a:solidFill>
          </a:ln>
        </p:spPr>
      </p:cxnSp>
      <p:sp>
        <p:nvSpPr>
          <p:cNvPr id="13" name="tabel"/>
          <p:cNvSpPr txBox="1"/>
          <p:nvPr/>
        </p:nvSpPr>
        <p:spPr>
          <a:xfrm>
            <a:off x="6400800" y="3703320"/>
            <a:ext cx="1069848" cy="384048"/>
          </a:xfrm>
          <a:prstGeom prst="rect">
            <a:avLst/>
          </a:prstGeom>
          <a:noFill/>
        </p:spPr>
        <p:txBody>
          <a:bodyPr wrap="square" lIns="0" rIns="0" tIns="0" bIns="0" anchor="ctr">
            <a:noAutofit/>
          </a:bodyPr>
          <a:lstStyle/>
          <a:p>
            <a:pPr algn="l">
              <a:lnSpc>
                <a:spcPct val="100000"/>
              </a:lnSpc>
              <a:spcBef>
                <a:spcPts val="0"/>
              </a:spcBef>
              <a:spcAft>
                <a:spcPts val="0"/>
              </a:spcAft>
            </a:pPr>
            <a:r>
              <a:rPr sz="1500" b="0" i="0">
                <a:solidFill>
                  <a:srgbClr val="1F2933"/>
                </a:solidFill>
                <a:latin typeface="Calibri"/>
              </a:rPr>
              <a:t>Gas</a:t>
            </a:r>
          </a:p>
        </p:txBody>
      </p:sp>
      <p:sp>
        <p:nvSpPr>
          <p:cNvPr id="14" name="tabel"/>
          <p:cNvSpPr txBox="1"/>
          <p:nvPr/>
        </p:nvSpPr>
        <p:spPr>
          <a:xfrm>
            <a:off x="7543800" y="3703320"/>
            <a:ext cx="1161288" cy="384048"/>
          </a:xfrm>
          <a:prstGeom prst="rect">
            <a:avLst/>
          </a:prstGeom>
          <a:noFill/>
        </p:spPr>
        <p:txBody>
          <a:bodyPr wrap="square" lIns="0" rIns="0" tIns="0" bIns="0" anchor="ctr">
            <a:noAutofit/>
          </a:bodyPr>
          <a:lstStyle/>
          <a:p>
            <a:pPr algn="r">
              <a:lnSpc>
                <a:spcPct val="100000"/>
              </a:lnSpc>
              <a:spcBef>
                <a:spcPts val="0"/>
              </a:spcBef>
              <a:spcAft>
                <a:spcPts val="0"/>
              </a:spcAft>
            </a:pPr>
            <a:r>
              <a:rPr sz="1500" b="0" i="0">
                <a:solidFill>
                  <a:srgbClr val="1F2933"/>
                </a:solidFill>
                <a:latin typeface="Calibri"/>
              </a:rPr>
              <a:t>0,24494</a:t>
            </a:r>
          </a:p>
        </p:txBody>
      </p:sp>
      <p:sp>
        <p:nvSpPr>
          <p:cNvPr id="15" name="tabel"/>
          <p:cNvSpPr txBox="1"/>
          <p:nvPr/>
        </p:nvSpPr>
        <p:spPr>
          <a:xfrm>
            <a:off x="8778240" y="3703320"/>
            <a:ext cx="1161288" cy="384048"/>
          </a:xfrm>
          <a:prstGeom prst="rect">
            <a:avLst/>
          </a:prstGeom>
          <a:noFill/>
        </p:spPr>
        <p:txBody>
          <a:bodyPr wrap="square" lIns="0" rIns="0" tIns="0" bIns="0" anchor="ctr">
            <a:noAutofit/>
          </a:bodyPr>
          <a:lstStyle/>
          <a:p>
            <a:pPr algn="r">
              <a:lnSpc>
                <a:spcPct val="100000"/>
              </a:lnSpc>
              <a:spcBef>
                <a:spcPts val="0"/>
              </a:spcBef>
              <a:spcAft>
                <a:spcPts val="0"/>
              </a:spcAft>
            </a:pPr>
            <a:r>
              <a:rPr sz="1500" b="0" i="0">
                <a:solidFill>
                  <a:srgbClr val="1F2933"/>
                </a:solidFill>
                <a:latin typeface="Calibri"/>
              </a:rPr>
              <a:t>0,24480</a:t>
            </a:r>
          </a:p>
        </p:txBody>
      </p:sp>
      <p:sp>
        <p:nvSpPr>
          <p:cNvPr id="16" name="tabel"/>
          <p:cNvSpPr txBox="1"/>
          <p:nvPr/>
        </p:nvSpPr>
        <p:spPr>
          <a:xfrm>
            <a:off x="10012680" y="3703320"/>
            <a:ext cx="1527048" cy="384048"/>
          </a:xfrm>
          <a:prstGeom prst="rect">
            <a:avLst/>
          </a:prstGeom>
          <a:noFill/>
        </p:spPr>
        <p:txBody>
          <a:bodyPr wrap="square" lIns="0" rIns="0" tIns="0" bIns="0" anchor="ctr">
            <a:noAutofit/>
          </a:bodyPr>
          <a:lstStyle/>
          <a:p>
            <a:pPr algn="r">
              <a:lnSpc>
                <a:spcPct val="100000"/>
              </a:lnSpc>
              <a:spcBef>
                <a:spcPts val="0"/>
              </a:spcBef>
              <a:spcAft>
                <a:spcPts val="0"/>
              </a:spcAft>
            </a:pPr>
            <a:r>
              <a:rPr sz="1500" b="0" i="0">
                <a:solidFill>
                  <a:srgbClr val="1F2933"/>
                </a:solidFill>
                <a:latin typeface="Calibri"/>
              </a:rPr>
              <a:t>−0,000146</a:t>
            </a:r>
          </a:p>
        </p:txBody>
      </p:sp>
      <p:sp>
        <p:nvSpPr>
          <p:cNvPr id="17" name="tabel"/>
          <p:cNvSpPr txBox="1"/>
          <p:nvPr/>
        </p:nvSpPr>
        <p:spPr>
          <a:xfrm>
            <a:off x="6400800" y="4087368"/>
            <a:ext cx="1069848" cy="384048"/>
          </a:xfrm>
          <a:prstGeom prst="rect">
            <a:avLst/>
          </a:prstGeom>
          <a:noFill/>
        </p:spPr>
        <p:txBody>
          <a:bodyPr wrap="square" lIns="0" rIns="0" tIns="0" bIns="0" anchor="ctr">
            <a:noAutofit/>
          </a:bodyPr>
          <a:lstStyle/>
          <a:p>
            <a:pPr algn="l">
              <a:lnSpc>
                <a:spcPct val="100000"/>
              </a:lnSpc>
              <a:spcBef>
                <a:spcPts val="0"/>
              </a:spcBef>
              <a:spcAft>
                <a:spcPts val="0"/>
              </a:spcAft>
            </a:pPr>
            <a:r>
              <a:rPr sz="1500" b="0" i="0">
                <a:solidFill>
                  <a:srgbClr val="1F2933"/>
                </a:solidFill>
                <a:latin typeface="Calibri"/>
              </a:rPr>
              <a:t>EUI</a:t>
            </a:r>
          </a:p>
        </p:txBody>
      </p:sp>
      <p:sp>
        <p:nvSpPr>
          <p:cNvPr id="18" name="tabel"/>
          <p:cNvSpPr txBox="1"/>
          <p:nvPr/>
        </p:nvSpPr>
        <p:spPr>
          <a:xfrm>
            <a:off x="7543800" y="4087368"/>
            <a:ext cx="1161288" cy="384048"/>
          </a:xfrm>
          <a:prstGeom prst="rect">
            <a:avLst/>
          </a:prstGeom>
          <a:noFill/>
        </p:spPr>
        <p:txBody>
          <a:bodyPr wrap="square" lIns="0" rIns="0" tIns="0" bIns="0" anchor="ctr">
            <a:noAutofit/>
          </a:bodyPr>
          <a:lstStyle/>
          <a:p>
            <a:pPr algn="r">
              <a:lnSpc>
                <a:spcPct val="100000"/>
              </a:lnSpc>
              <a:spcBef>
                <a:spcPts val="0"/>
              </a:spcBef>
              <a:spcAft>
                <a:spcPts val="0"/>
              </a:spcAft>
            </a:pPr>
            <a:r>
              <a:rPr sz="1500" b="0" i="0">
                <a:solidFill>
                  <a:srgbClr val="1F2933"/>
                </a:solidFill>
                <a:latin typeface="Calibri"/>
              </a:rPr>
              <a:t>0,65023</a:t>
            </a:r>
          </a:p>
        </p:txBody>
      </p:sp>
      <p:sp>
        <p:nvSpPr>
          <p:cNvPr id="19" name="tabel"/>
          <p:cNvSpPr txBox="1"/>
          <p:nvPr/>
        </p:nvSpPr>
        <p:spPr>
          <a:xfrm>
            <a:off x="8778240" y="4087368"/>
            <a:ext cx="1161288" cy="384048"/>
          </a:xfrm>
          <a:prstGeom prst="rect">
            <a:avLst/>
          </a:prstGeom>
          <a:noFill/>
        </p:spPr>
        <p:txBody>
          <a:bodyPr wrap="square" lIns="0" rIns="0" tIns="0" bIns="0" anchor="ctr">
            <a:noAutofit/>
          </a:bodyPr>
          <a:lstStyle/>
          <a:p>
            <a:pPr algn="r">
              <a:lnSpc>
                <a:spcPct val="100000"/>
              </a:lnSpc>
              <a:spcBef>
                <a:spcPts val="0"/>
              </a:spcBef>
              <a:spcAft>
                <a:spcPts val="0"/>
              </a:spcAft>
            </a:pPr>
            <a:r>
              <a:rPr sz="1500" b="0" i="0">
                <a:solidFill>
                  <a:srgbClr val="1F2933"/>
                </a:solidFill>
                <a:latin typeface="Calibri"/>
              </a:rPr>
              <a:t>0,64978</a:t>
            </a:r>
          </a:p>
        </p:txBody>
      </p:sp>
      <p:sp>
        <p:nvSpPr>
          <p:cNvPr id="20" name="tabel"/>
          <p:cNvSpPr txBox="1"/>
          <p:nvPr/>
        </p:nvSpPr>
        <p:spPr>
          <a:xfrm>
            <a:off x="10012680" y="4087368"/>
            <a:ext cx="1527048" cy="384048"/>
          </a:xfrm>
          <a:prstGeom prst="rect">
            <a:avLst/>
          </a:prstGeom>
          <a:noFill/>
        </p:spPr>
        <p:txBody>
          <a:bodyPr wrap="square" lIns="0" rIns="0" tIns="0" bIns="0" anchor="ctr">
            <a:noAutofit/>
          </a:bodyPr>
          <a:lstStyle/>
          <a:p>
            <a:pPr algn="r">
              <a:lnSpc>
                <a:spcPct val="100000"/>
              </a:lnSpc>
              <a:spcBef>
                <a:spcPts val="0"/>
              </a:spcBef>
              <a:spcAft>
                <a:spcPts val="0"/>
              </a:spcAft>
            </a:pPr>
            <a:r>
              <a:rPr sz="1500" b="0" i="0">
                <a:solidFill>
                  <a:srgbClr val="1F2933"/>
                </a:solidFill>
                <a:latin typeface="Calibri"/>
              </a:rPr>
              <a:t>−0,000453</a:t>
            </a:r>
          </a:p>
        </p:txBody>
      </p:sp>
      <p:sp>
        <p:nvSpPr>
          <p:cNvPr id="21" name="tabel"/>
          <p:cNvSpPr txBox="1"/>
          <p:nvPr/>
        </p:nvSpPr>
        <p:spPr>
          <a:xfrm>
            <a:off x="6400800" y="4471416"/>
            <a:ext cx="1069848" cy="384048"/>
          </a:xfrm>
          <a:prstGeom prst="rect">
            <a:avLst/>
          </a:prstGeom>
          <a:noFill/>
        </p:spPr>
        <p:txBody>
          <a:bodyPr wrap="square" lIns="0" rIns="0" tIns="0" bIns="0" anchor="ctr">
            <a:noAutofit/>
          </a:bodyPr>
          <a:lstStyle/>
          <a:p>
            <a:pPr algn="l">
              <a:lnSpc>
                <a:spcPct val="100000"/>
              </a:lnSpc>
              <a:spcBef>
                <a:spcPts val="0"/>
              </a:spcBef>
              <a:spcAft>
                <a:spcPts val="0"/>
              </a:spcAft>
            </a:pPr>
            <a:r>
              <a:rPr sz="1500" b="0" i="0">
                <a:solidFill>
                  <a:srgbClr val="1F2933"/>
                </a:solidFill>
                <a:latin typeface="Calibri"/>
              </a:rPr>
              <a:t>Listrik</a:t>
            </a:r>
          </a:p>
        </p:txBody>
      </p:sp>
      <p:sp>
        <p:nvSpPr>
          <p:cNvPr id="22" name="tabel"/>
          <p:cNvSpPr txBox="1"/>
          <p:nvPr/>
        </p:nvSpPr>
        <p:spPr>
          <a:xfrm>
            <a:off x="7543800" y="4471416"/>
            <a:ext cx="1161288" cy="384048"/>
          </a:xfrm>
          <a:prstGeom prst="rect">
            <a:avLst/>
          </a:prstGeom>
          <a:noFill/>
        </p:spPr>
        <p:txBody>
          <a:bodyPr wrap="square" lIns="0" rIns="0" tIns="0" bIns="0" anchor="ctr">
            <a:noAutofit/>
          </a:bodyPr>
          <a:lstStyle/>
          <a:p>
            <a:pPr algn="r">
              <a:lnSpc>
                <a:spcPct val="100000"/>
              </a:lnSpc>
              <a:spcBef>
                <a:spcPts val="0"/>
              </a:spcBef>
              <a:spcAft>
                <a:spcPts val="0"/>
              </a:spcAft>
            </a:pPr>
            <a:r>
              <a:rPr sz="1500" b="0" i="0">
                <a:solidFill>
                  <a:srgbClr val="1F2933"/>
                </a:solidFill>
                <a:latin typeface="Calibri"/>
              </a:rPr>
              <a:t>0,31587</a:t>
            </a:r>
          </a:p>
        </p:txBody>
      </p:sp>
      <p:sp>
        <p:nvSpPr>
          <p:cNvPr id="23" name="tabel"/>
          <p:cNvSpPr txBox="1"/>
          <p:nvPr/>
        </p:nvSpPr>
        <p:spPr>
          <a:xfrm>
            <a:off x="8778240" y="4471416"/>
            <a:ext cx="1161288" cy="384048"/>
          </a:xfrm>
          <a:prstGeom prst="rect">
            <a:avLst/>
          </a:prstGeom>
          <a:noFill/>
        </p:spPr>
        <p:txBody>
          <a:bodyPr wrap="square" lIns="0" rIns="0" tIns="0" bIns="0" anchor="ctr">
            <a:noAutofit/>
          </a:bodyPr>
          <a:lstStyle/>
          <a:p>
            <a:pPr algn="r">
              <a:lnSpc>
                <a:spcPct val="100000"/>
              </a:lnSpc>
              <a:spcBef>
                <a:spcPts val="0"/>
              </a:spcBef>
              <a:spcAft>
                <a:spcPts val="0"/>
              </a:spcAft>
            </a:pPr>
            <a:r>
              <a:rPr sz="1500" b="0" i="0">
                <a:solidFill>
                  <a:srgbClr val="1F2933"/>
                </a:solidFill>
                <a:latin typeface="Calibri"/>
              </a:rPr>
              <a:t>0,31585</a:t>
            </a:r>
          </a:p>
        </p:txBody>
      </p:sp>
      <p:sp>
        <p:nvSpPr>
          <p:cNvPr id="24" name="tabel"/>
          <p:cNvSpPr txBox="1"/>
          <p:nvPr/>
        </p:nvSpPr>
        <p:spPr>
          <a:xfrm>
            <a:off x="10012680" y="4471416"/>
            <a:ext cx="1527048" cy="384048"/>
          </a:xfrm>
          <a:prstGeom prst="rect">
            <a:avLst/>
          </a:prstGeom>
          <a:noFill/>
        </p:spPr>
        <p:txBody>
          <a:bodyPr wrap="square" lIns="0" rIns="0" tIns="0" bIns="0" anchor="ctr">
            <a:noAutofit/>
          </a:bodyPr>
          <a:lstStyle/>
          <a:p>
            <a:pPr algn="r">
              <a:lnSpc>
                <a:spcPct val="100000"/>
              </a:lnSpc>
              <a:spcBef>
                <a:spcPts val="0"/>
              </a:spcBef>
              <a:spcAft>
                <a:spcPts val="0"/>
              </a:spcAft>
            </a:pPr>
            <a:r>
              <a:rPr sz="1500" b="0" i="0">
                <a:solidFill>
                  <a:srgbClr val="1F2933"/>
                </a:solidFill>
                <a:latin typeface="Calibri"/>
              </a:rPr>
              <a:t>−0,000027</a:t>
            </a:r>
          </a:p>
        </p:txBody>
      </p:sp>
      <p:sp>
        <p:nvSpPr>
          <p:cNvPr id="25" name="body"/>
          <p:cNvSpPr txBox="1"/>
          <p:nvPr/>
        </p:nvSpPr>
        <p:spPr>
          <a:xfrm>
            <a:off x="6400800" y="4937760"/>
            <a:ext cx="5242255" cy="548640"/>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5F6B7A"/>
                </a:solidFill>
                <a:latin typeface="Calibri"/>
              </a:rPr>
              <a:t>Rata-rata 5 target −0,000125; LB publik 0,24934 menjadi 0,24925 (sel 37)</a:t>
            </a:r>
          </a:p>
        </p:txBody>
      </p:sp>
      <p:sp>
        <p:nvSpPr>
          <p:cNvPr id="26" name="Rounded Rectangle 25"/>
          <p:cNvSpPr/>
          <p:nvPr/>
        </p:nvSpPr>
        <p:spPr>
          <a:xfrm>
            <a:off x="548640" y="5596128"/>
            <a:ext cx="7929157" cy="292608"/>
          </a:xfrm>
          <a:prstGeom prst="roundRect">
            <a:avLst>
              <a:gd name="adj" fmla="val 25000"/>
            </a:avLst>
          </a:prstGeom>
          <a:solidFill>
            <a:srgbClr val="E3F1F4"/>
          </a:solidFill>
          <a:ln>
            <a:noFill/>
          </a:ln>
        </p:spPr>
        <p:txBody>
          <a:bodyPr rtlCol="0" anchor="ctr"/>
          <a:lstStyle/>
          <a:p>
            <a:pPr algn="ctr"/>
          </a:p>
        </p:txBody>
      </p:sp>
      <p:sp>
        <p:nvSpPr>
          <p:cNvPr id="27" name="sumber"/>
          <p:cNvSpPr txBox="1"/>
          <p:nvPr/>
        </p:nvSpPr>
        <p:spPr>
          <a:xfrm>
            <a:off x="667512" y="5632704"/>
            <a:ext cx="7709701"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7606E"/>
                </a:solidFill>
                <a:latin typeface="Calibri"/>
              </a:rPr>
              <a:t>HASIL</a:t>
            </a:r>
            <a:r>
              <a:rPr sz="1200" b="0" i="0">
                <a:solidFill>
                  <a:srgbClr val="17606E"/>
                </a:solidFill>
                <a:latin typeface="Calibri"/>
              </a:rPr>
              <a:t> · bobot di-fit pada 4/5 baris, dinilai pada 1/5 sisanya, KFold 5; global = sel 35 · bukti/skor_jujur_bobot_adaptif.json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Koreksi galat wilayah menggeser tebakan sedikit mengikuti galat tetangga</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CADANGAN C2 · TANYA JAWAB</a:t>
            </a:r>
          </a:p>
        </p:txBody>
      </p:sp>
      <p:sp>
        <p:nvSpPr>
          <p:cNvPr id="4"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5"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C2</a:t>
            </a:r>
          </a:p>
        </p:txBody>
      </p:sp>
      <p:sp>
        <p:nvSpPr>
          <p:cNvPr id="6" name="tabel"/>
          <p:cNvSpPr txBox="1"/>
          <p:nvPr/>
        </p:nvSpPr>
        <p:spPr>
          <a:xfrm>
            <a:off x="548640" y="1783080"/>
            <a:ext cx="3218688" cy="310896"/>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F6B7A"/>
                </a:solidFill>
                <a:latin typeface="Calibri"/>
              </a:rPr>
              <a:t>Fitur koreksi (gas)</a:t>
            </a:r>
          </a:p>
        </p:txBody>
      </p:sp>
      <p:sp>
        <p:nvSpPr>
          <p:cNvPr id="7" name="tabel"/>
          <p:cNvSpPr txBox="1"/>
          <p:nvPr/>
        </p:nvSpPr>
        <p:spPr>
          <a:xfrm>
            <a:off x="3840480" y="1783080"/>
            <a:ext cx="932688"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λ</a:t>
            </a:r>
          </a:p>
        </p:txBody>
      </p:sp>
      <p:cxnSp>
        <p:nvCxnSpPr>
          <p:cNvPr id="8" name="Connector 7"/>
          <p:cNvCxnSpPr/>
          <p:nvPr/>
        </p:nvCxnSpPr>
        <p:spPr>
          <a:xfrm>
            <a:off x="548640" y="2148840"/>
            <a:ext cx="4297680" cy="0"/>
          </a:xfrm>
          <a:prstGeom prst="line">
            <a:avLst/>
          </a:prstGeom>
          <a:ln w="12700">
            <a:solidFill>
              <a:srgbClr val="D5DBE3"/>
            </a:solidFill>
          </a:ln>
        </p:spPr>
      </p:cxnSp>
      <p:sp>
        <p:nvSpPr>
          <p:cNvPr id="9" name="tabel"/>
          <p:cNvSpPr txBox="1"/>
          <p:nvPr/>
        </p:nvSpPr>
        <p:spPr>
          <a:xfrm>
            <a:off x="548640" y="2240280"/>
            <a:ext cx="32186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rata-rata galat zona</a:t>
            </a:r>
          </a:p>
        </p:txBody>
      </p:sp>
      <p:sp>
        <p:nvSpPr>
          <p:cNvPr id="10" name="tabel"/>
          <p:cNvSpPr txBox="1"/>
          <p:nvPr/>
        </p:nvSpPr>
        <p:spPr>
          <a:xfrm>
            <a:off x="3840480" y="2240280"/>
            <a:ext cx="93268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0,453</a:t>
            </a:r>
          </a:p>
        </p:txBody>
      </p:sp>
      <p:sp>
        <p:nvSpPr>
          <p:cNvPr id="11" name="tabel"/>
          <p:cNvSpPr txBox="1"/>
          <p:nvPr/>
        </p:nvSpPr>
        <p:spPr>
          <a:xfrm>
            <a:off x="548640" y="2606040"/>
            <a:ext cx="32186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rata-rata galat petak iklim</a:t>
            </a:r>
          </a:p>
        </p:txBody>
      </p:sp>
      <p:sp>
        <p:nvSpPr>
          <p:cNvPr id="12" name="tabel"/>
          <p:cNvSpPr txBox="1"/>
          <p:nvPr/>
        </p:nvSpPr>
        <p:spPr>
          <a:xfrm>
            <a:off x="3840480" y="2606040"/>
            <a:ext cx="93268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0,346</a:t>
            </a:r>
          </a:p>
        </p:txBody>
      </p:sp>
      <p:sp>
        <p:nvSpPr>
          <p:cNvPr id="13" name="tabel"/>
          <p:cNvSpPr txBox="1"/>
          <p:nvPr/>
        </p:nvSpPr>
        <p:spPr>
          <a:xfrm>
            <a:off x="548640" y="2971800"/>
            <a:ext cx="32186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rata-rata galat ±30 nomor subzona</a:t>
            </a:r>
          </a:p>
        </p:txBody>
      </p:sp>
      <p:sp>
        <p:nvSpPr>
          <p:cNvPr id="14" name="tabel"/>
          <p:cNvSpPr txBox="1"/>
          <p:nvPr/>
        </p:nvSpPr>
        <p:spPr>
          <a:xfrm>
            <a:off x="3840480" y="2971800"/>
            <a:ext cx="93268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−0,020</a:t>
            </a:r>
          </a:p>
        </p:txBody>
      </p:sp>
      <p:sp>
        <p:nvSpPr>
          <p:cNvPr id="15" name="tabel"/>
          <p:cNvSpPr txBox="1"/>
          <p:nvPr/>
        </p:nvSpPr>
        <p:spPr>
          <a:xfrm>
            <a:off x="548640" y="3337560"/>
            <a:ext cx="32186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kNN full, W 100, k 20</a:t>
            </a:r>
          </a:p>
        </p:txBody>
      </p:sp>
      <p:sp>
        <p:nvSpPr>
          <p:cNvPr id="16" name="tabel"/>
          <p:cNvSpPr txBox="1"/>
          <p:nvPr/>
        </p:nvSpPr>
        <p:spPr>
          <a:xfrm>
            <a:off x="3840480" y="3337560"/>
            <a:ext cx="93268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0,037</a:t>
            </a:r>
          </a:p>
        </p:txBody>
      </p:sp>
      <p:sp>
        <p:nvSpPr>
          <p:cNvPr id="17" name="tabel"/>
          <p:cNvSpPr txBox="1"/>
          <p:nvPr/>
        </p:nvSpPr>
        <p:spPr>
          <a:xfrm>
            <a:off x="548640" y="3703320"/>
            <a:ext cx="32186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kNN era, W 30, k 20</a:t>
            </a:r>
          </a:p>
        </p:txBody>
      </p:sp>
      <p:sp>
        <p:nvSpPr>
          <p:cNvPr id="18" name="tabel"/>
          <p:cNvSpPr txBox="1"/>
          <p:nvPr/>
        </p:nvSpPr>
        <p:spPr>
          <a:xfrm>
            <a:off x="3840480" y="3703320"/>
            <a:ext cx="93268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0,126</a:t>
            </a:r>
          </a:p>
        </p:txBody>
      </p:sp>
      <p:sp>
        <p:nvSpPr>
          <p:cNvPr id="19" name="tabel"/>
          <p:cNvSpPr txBox="1"/>
          <p:nvPr/>
        </p:nvSpPr>
        <p:spPr>
          <a:xfrm>
            <a:off x="548640" y="4069080"/>
            <a:ext cx="32186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kNN fc, W 300, k 50</a:t>
            </a:r>
          </a:p>
        </p:txBody>
      </p:sp>
      <p:sp>
        <p:nvSpPr>
          <p:cNvPr id="20" name="tabel"/>
          <p:cNvSpPr txBox="1"/>
          <p:nvPr/>
        </p:nvSpPr>
        <p:spPr>
          <a:xfrm>
            <a:off x="3840480" y="4069080"/>
            <a:ext cx="93268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0,079</a:t>
            </a:r>
          </a:p>
        </p:txBody>
      </p:sp>
      <p:sp>
        <p:nvSpPr>
          <p:cNvPr id="21" name="tabel"/>
          <p:cNvSpPr txBox="1"/>
          <p:nvPr/>
        </p:nvSpPr>
        <p:spPr>
          <a:xfrm>
            <a:off x="548640" y="4434840"/>
            <a:ext cx="32186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kNN full, W 10, k 10</a:t>
            </a:r>
          </a:p>
        </p:txBody>
      </p:sp>
      <p:sp>
        <p:nvSpPr>
          <p:cNvPr id="22" name="tabel"/>
          <p:cNvSpPr txBox="1"/>
          <p:nvPr/>
        </p:nvSpPr>
        <p:spPr>
          <a:xfrm>
            <a:off x="3840480" y="4434840"/>
            <a:ext cx="93268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0,072</a:t>
            </a:r>
          </a:p>
        </p:txBody>
      </p:sp>
      <p:sp>
        <p:nvSpPr>
          <p:cNvPr id="23" name="tabel"/>
          <p:cNvSpPr txBox="1"/>
          <p:nvPr/>
        </p:nvSpPr>
        <p:spPr>
          <a:xfrm>
            <a:off x="548640" y="4800600"/>
            <a:ext cx="32186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kNN era, W 300, k 50</a:t>
            </a:r>
          </a:p>
        </p:txBody>
      </p:sp>
      <p:sp>
        <p:nvSpPr>
          <p:cNvPr id="24" name="tabel"/>
          <p:cNvSpPr txBox="1"/>
          <p:nvPr/>
        </p:nvSpPr>
        <p:spPr>
          <a:xfrm>
            <a:off x="3840480" y="4800600"/>
            <a:ext cx="93268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0,124</a:t>
            </a:r>
          </a:p>
        </p:txBody>
      </p:sp>
      <p:sp>
        <p:nvSpPr>
          <p:cNvPr id="25" name="tabel"/>
          <p:cNvSpPr txBox="1"/>
          <p:nvPr/>
        </p:nvSpPr>
        <p:spPr>
          <a:xfrm>
            <a:off x="548640" y="5166360"/>
            <a:ext cx="32186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kNN full, W 3000, k 200</a:t>
            </a:r>
          </a:p>
        </p:txBody>
      </p:sp>
      <p:sp>
        <p:nvSpPr>
          <p:cNvPr id="26" name="tabel"/>
          <p:cNvSpPr txBox="1"/>
          <p:nvPr/>
        </p:nvSpPr>
        <p:spPr>
          <a:xfrm>
            <a:off x="3840480" y="5166360"/>
            <a:ext cx="93268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0,156</a:t>
            </a:r>
          </a:p>
        </p:txBody>
      </p:sp>
      <p:sp>
        <p:nvSpPr>
          <p:cNvPr id="27" name="body"/>
          <p:cNvSpPr txBox="1"/>
          <p:nvPr/>
        </p:nvSpPr>
        <p:spPr>
          <a:xfrm>
            <a:off x="5394960" y="1783080"/>
            <a:ext cx="6248095" cy="3291840"/>
          </a:xfrm>
          <a:prstGeom prst="rect">
            <a:avLst/>
          </a:prstGeom>
          <a:noFill/>
        </p:spPr>
        <p:txBody>
          <a:bodyPr wrap="square" lIns="0" rIns="0" tIns="0" bIns="0" anchor="t">
            <a:noAutofit/>
          </a:bodyPr>
          <a:lstStyle/>
          <a:p>
            <a:pPr algn="l" marL="228600" indent="-228600">
              <a:lnSpc>
                <a:spcPct val="98000"/>
              </a:lnSpc>
              <a:spcBef>
                <a:spcPts val="0"/>
              </a:spcBef>
              <a:spcAft>
                <a:spcPts val="600"/>
              </a:spcAft>
              <a:buFont typeface="Arial"/>
              <a:buChar char="•"/>
            </a:pPr>
            <a:r>
              <a:rPr sz="1500" b="0" i="0">
                <a:solidFill>
                  <a:srgbClr val="1F2933"/>
                </a:solidFill>
                <a:latin typeface="Calibri"/>
              </a:rPr>
              <a:t>Galat latih dirata-rata per zona, petak iklim, ±30 nomor subzona, dan k kawasan termirip</a:t>
            </a:r>
          </a:p>
          <a:p>
            <a:pPr algn="l" marL="228600" indent="-228600">
              <a:lnSpc>
                <a:spcPct val="98000"/>
              </a:lnSpc>
              <a:spcBef>
                <a:spcPts val="0"/>
              </a:spcBef>
              <a:spcAft>
                <a:spcPts val="600"/>
              </a:spcAft>
              <a:buFont typeface="Arial"/>
              <a:buChar char="•"/>
            </a:pPr>
            <a:r>
              <a:rPr sz="1500" b="0" i="0">
                <a:solidFill>
                  <a:srgbClr val="1F2933"/>
                </a:solidFill>
                <a:latin typeface="Calibri"/>
              </a:rPr>
              <a:t>Dikecilkan n/(n + 30) atau n/(n + 5) bila tetangga sedikit</a:t>
            </a:r>
          </a:p>
          <a:p>
            <a:pPr algn="l" marL="228600" indent="-228600">
              <a:lnSpc>
                <a:spcPct val="98000"/>
              </a:lnSpc>
              <a:spcBef>
                <a:spcPts val="0"/>
              </a:spcBef>
              <a:spcAft>
                <a:spcPts val="600"/>
              </a:spcAft>
              <a:buFont typeface="Arial"/>
              <a:buChar char="•"/>
            </a:pPr>
            <a:r>
              <a:rPr sz="1500" b="0" i="0">
                <a:solidFill>
                  <a:srgbClr val="1F2933"/>
                </a:solidFill>
                <a:latin typeface="Calibri"/>
              </a:rPr>
              <a:t>λ dipilih di </a:t>
            </a:r>
            <a:r>
              <a:rPr sz="1500" b="0" i="1">
                <a:solidFill>
                  <a:srgbClr val="1F2933"/>
                </a:solidFill>
                <a:latin typeface="Calibri"/>
              </a:rPr>
              <a:t>holdout set</a:t>
            </a:r>
            <a:r>
              <a:rPr sz="1500" b="0" i="0">
                <a:solidFill>
                  <a:srgbClr val="1F2933"/>
                </a:solidFill>
                <a:latin typeface="Calibri"/>
              </a:rPr>
              <a:t> 30%, lalu dibekukan di resid_knn.json</a:t>
            </a:r>
          </a:p>
          <a:p>
            <a:pPr algn="l" marL="228600" indent="-228600">
              <a:lnSpc>
                <a:spcPct val="98000"/>
              </a:lnSpc>
              <a:spcBef>
                <a:spcPts val="0"/>
              </a:spcBef>
              <a:spcAft>
                <a:spcPts val="600"/>
              </a:spcAft>
              <a:buFont typeface="Arial"/>
              <a:buChar char="•"/>
            </a:pPr>
            <a:r>
              <a:rPr sz="1500" b="0" i="0">
                <a:solidFill>
                  <a:srgbClr val="1F2933"/>
                </a:solidFill>
                <a:latin typeface="Calibri"/>
              </a:rPr>
              <a:t>Besar koreksi rms/σ: gas 0,02047; EUI 0,04344; listrik 0,01195 (sel 35)</a:t>
            </a:r>
          </a:p>
          <a:p>
            <a:pPr algn="l" marL="228600" indent="-228600">
              <a:lnSpc>
                <a:spcPct val="98000"/>
              </a:lnSpc>
              <a:spcBef>
                <a:spcPts val="0"/>
              </a:spcBef>
              <a:spcAft>
                <a:spcPts val="0"/>
              </a:spcAft>
              <a:buFont typeface="Arial"/>
              <a:buChar char="•"/>
            </a:pPr>
            <a:r>
              <a:rPr sz="1500" b="0" i="0">
                <a:solidFill>
                  <a:srgbClr val="1F2933"/>
                </a:solidFill>
                <a:latin typeface="Calibri"/>
              </a:rPr>
              <a:t>Koreksi kNN menurunkan LB sekitar 0,0004 (0,2499 menjadi 0,24954); koreksi tingkat grup sudah ada sejak v12</a:t>
            </a:r>
          </a:p>
        </p:txBody>
      </p:sp>
      <p:sp>
        <p:nvSpPr>
          <p:cNvPr id="28" name="body"/>
          <p:cNvSpPr txBox="1"/>
          <p:nvPr/>
        </p:nvSpPr>
        <p:spPr>
          <a:xfrm>
            <a:off x="5394960" y="4983480"/>
            <a:ext cx="6248095" cy="548640"/>
          </a:xfrm>
          <a:prstGeom prst="rect">
            <a:avLst/>
          </a:prstGeom>
          <a:noFill/>
        </p:spPr>
        <p:txBody>
          <a:bodyPr wrap="square" lIns="0" rIns="0" tIns="0" bIns="0" anchor="t">
            <a:noAutofit/>
          </a:bodyPr>
          <a:lstStyle/>
          <a:p>
            <a:pPr algn="l">
              <a:lnSpc>
                <a:spcPct val="98000"/>
              </a:lnSpc>
              <a:spcBef>
                <a:spcPts val="0"/>
              </a:spcBef>
              <a:spcAft>
                <a:spcPts val="0"/>
              </a:spcAft>
            </a:pPr>
            <a:r>
              <a:rPr sz="1300" b="0" i="0">
                <a:solidFill>
                  <a:srgbClr val="5F6B7A"/>
                </a:solidFill>
                <a:latin typeface="Calibri"/>
              </a:rPr>
              <a:t>λ negatif kecil muncul karena fitur tetangga saling berkorelasi; yang divalidasi adalah efek totalnya. Versi ridge diuji di audit akhir dan tidak lebih baik secara konsisten.</a:t>
            </a:r>
          </a:p>
        </p:txBody>
      </p:sp>
      <p:sp>
        <p:nvSpPr>
          <p:cNvPr id="29" name="Rounded Rectangle 28"/>
          <p:cNvSpPr/>
          <p:nvPr/>
        </p:nvSpPr>
        <p:spPr>
          <a:xfrm>
            <a:off x="548640" y="5596128"/>
            <a:ext cx="5247246" cy="292608"/>
          </a:xfrm>
          <a:prstGeom prst="roundRect">
            <a:avLst>
              <a:gd name="adj" fmla="val 25000"/>
            </a:avLst>
          </a:prstGeom>
          <a:solidFill>
            <a:srgbClr val="E3EAF2"/>
          </a:solidFill>
          <a:ln>
            <a:noFill/>
          </a:ln>
        </p:spPr>
        <p:txBody>
          <a:bodyPr rtlCol="0" anchor="ctr"/>
          <a:lstStyle/>
          <a:p>
            <a:pPr algn="ctr"/>
          </a:p>
        </p:txBody>
      </p:sp>
      <p:sp>
        <p:nvSpPr>
          <p:cNvPr id="30" name="sumber"/>
          <p:cNvSpPr txBox="1"/>
          <p:nvPr/>
        </p:nvSpPr>
        <p:spPr>
          <a:xfrm>
            <a:off x="667512" y="5632704"/>
            <a:ext cx="5027790"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6324F"/>
                </a:solidFill>
                <a:latin typeface="Calibri"/>
              </a:rPr>
              <a:t>FAKTA</a:t>
            </a:r>
            <a:r>
              <a:rPr sz="1200" b="0" i="0">
                <a:solidFill>
                  <a:srgbClr val="16324F"/>
                </a:solidFill>
                <a:latin typeface="Calibri"/>
              </a:rPr>
              <a:t> · configs/resid_knn.json (ditulis sel 22); postprocess.py K = 30, KSHR = 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Penyesuaian akhir menangani dua batas data, dan hasilnya identik setiap diulang di perangkat sama</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CADANGAN C3 · TANYA JAWAB</a:t>
            </a:r>
          </a:p>
        </p:txBody>
      </p:sp>
      <p:sp>
        <p:nvSpPr>
          <p:cNvPr id="4"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5"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C3</a:t>
            </a:r>
          </a:p>
        </p:txBody>
      </p:sp>
      <p:sp>
        <p:nvSpPr>
          <p:cNvPr id="6" name="tabel"/>
          <p:cNvSpPr txBox="1"/>
          <p:nvPr/>
        </p:nvSpPr>
        <p:spPr>
          <a:xfrm>
            <a:off x="548640" y="1783080"/>
            <a:ext cx="2670048" cy="310896"/>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F6B7A"/>
                </a:solidFill>
                <a:latin typeface="Calibri"/>
              </a:rPr>
              <a:t>Langkah</a:t>
            </a:r>
          </a:p>
        </p:txBody>
      </p:sp>
      <p:sp>
        <p:nvSpPr>
          <p:cNvPr id="7" name="tabel"/>
          <p:cNvSpPr txBox="1"/>
          <p:nvPr/>
        </p:nvSpPr>
        <p:spPr>
          <a:xfrm>
            <a:off x="3291840" y="1783080"/>
            <a:ext cx="1435607"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Gas</a:t>
            </a:r>
          </a:p>
        </p:txBody>
      </p:sp>
      <p:sp>
        <p:nvSpPr>
          <p:cNvPr id="8" name="tabel"/>
          <p:cNvSpPr txBox="1"/>
          <p:nvPr/>
        </p:nvSpPr>
        <p:spPr>
          <a:xfrm>
            <a:off x="4800600" y="1783080"/>
            <a:ext cx="1435607"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EUI</a:t>
            </a:r>
          </a:p>
        </p:txBody>
      </p:sp>
      <p:sp>
        <p:nvSpPr>
          <p:cNvPr id="9" name="tabel"/>
          <p:cNvSpPr txBox="1"/>
          <p:nvPr/>
        </p:nvSpPr>
        <p:spPr>
          <a:xfrm>
            <a:off x="6309360" y="1783080"/>
            <a:ext cx="1161288"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Listrik</a:t>
            </a:r>
          </a:p>
        </p:txBody>
      </p:sp>
      <p:cxnSp>
        <p:nvCxnSpPr>
          <p:cNvPr id="10" name="Connector 9"/>
          <p:cNvCxnSpPr/>
          <p:nvPr/>
        </p:nvCxnSpPr>
        <p:spPr>
          <a:xfrm>
            <a:off x="548640" y="2148840"/>
            <a:ext cx="6995160" cy="0"/>
          </a:xfrm>
          <a:prstGeom prst="line">
            <a:avLst/>
          </a:prstGeom>
          <a:ln w="12700">
            <a:solidFill>
              <a:srgbClr val="D5DBE3"/>
            </a:solidFill>
          </a:ln>
        </p:spPr>
      </p:cxnSp>
      <p:sp>
        <p:nvSpPr>
          <p:cNvPr id="11" name="tabel"/>
          <p:cNvSpPr txBox="1"/>
          <p:nvPr/>
        </p:nvSpPr>
        <p:spPr>
          <a:xfrm>
            <a:off x="548640" y="2240280"/>
            <a:ext cx="2670048" cy="384048"/>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S1: kawasan 2 sampai 3 meter</a:t>
            </a:r>
          </a:p>
        </p:txBody>
      </p:sp>
      <p:sp>
        <p:nvSpPr>
          <p:cNvPr id="12" name="tabel"/>
          <p:cNvSpPr txBox="1"/>
          <p:nvPr/>
        </p:nvSpPr>
        <p:spPr>
          <a:xfrm>
            <a:off x="3291840" y="2240280"/>
            <a:ext cx="1435607"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+20,1%</a:t>
            </a:r>
          </a:p>
        </p:txBody>
      </p:sp>
      <p:sp>
        <p:nvSpPr>
          <p:cNvPr id="13" name="tabel"/>
          <p:cNvSpPr txBox="1"/>
          <p:nvPr/>
        </p:nvSpPr>
        <p:spPr>
          <a:xfrm>
            <a:off x="4800600" y="2240280"/>
            <a:ext cx="1435607"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+18,4%</a:t>
            </a:r>
          </a:p>
        </p:txBody>
      </p:sp>
      <p:sp>
        <p:nvSpPr>
          <p:cNvPr id="14" name="tabel"/>
          <p:cNvSpPr txBox="1"/>
          <p:nvPr/>
        </p:nvSpPr>
        <p:spPr>
          <a:xfrm>
            <a:off x="6309360" y="2240280"/>
            <a:ext cx="1161288"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+18,7%</a:t>
            </a:r>
          </a:p>
        </p:txBody>
      </p:sp>
      <p:sp>
        <p:nvSpPr>
          <p:cNvPr id="15" name="tabel"/>
          <p:cNvSpPr txBox="1"/>
          <p:nvPr/>
        </p:nvSpPr>
        <p:spPr>
          <a:xfrm>
            <a:off x="548640" y="2624328"/>
            <a:ext cx="2670048" cy="384048"/>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S1: kawasan 4 meter</a:t>
            </a:r>
          </a:p>
        </p:txBody>
      </p:sp>
      <p:sp>
        <p:nvSpPr>
          <p:cNvPr id="16" name="tabel"/>
          <p:cNvSpPr txBox="1"/>
          <p:nvPr/>
        </p:nvSpPr>
        <p:spPr>
          <a:xfrm>
            <a:off x="3291840" y="2624328"/>
            <a:ext cx="1435607"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+6,4%</a:t>
            </a:r>
          </a:p>
        </p:txBody>
      </p:sp>
      <p:sp>
        <p:nvSpPr>
          <p:cNvPr id="17" name="tabel"/>
          <p:cNvSpPr txBox="1"/>
          <p:nvPr/>
        </p:nvSpPr>
        <p:spPr>
          <a:xfrm>
            <a:off x="4800600" y="2624328"/>
            <a:ext cx="1435607"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+3,2%</a:t>
            </a:r>
          </a:p>
        </p:txBody>
      </p:sp>
      <p:sp>
        <p:nvSpPr>
          <p:cNvPr id="18" name="tabel"/>
          <p:cNvSpPr txBox="1"/>
          <p:nvPr/>
        </p:nvSpPr>
        <p:spPr>
          <a:xfrm>
            <a:off x="6309360" y="2624328"/>
            <a:ext cx="1161288"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+7,1%</a:t>
            </a:r>
          </a:p>
        </p:txBody>
      </p:sp>
      <p:sp>
        <p:nvSpPr>
          <p:cNvPr id="19" name="tabel"/>
          <p:cNvSpPr txBox="1"/>
          <p:nvPr/>
        </p:nvSpPr>
        <p:spPr>
          <a:xfrm>
            <a:off x="548640" y="3008376"/>
            <a:ext cx="2670048" cy="384048"/>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S3: faktor k</a:t>
            </a:r>
          </a:p>
        </p:txBody>
      </p:sp>
      <p:sp>
        <p:nvSpPr>
          <p:cNvPr id="20" name="tabel"/>
          <p:cNvSpPr txBox="1"/>
          <p:nvPr/>
        </p:nvSpPr>
        <p:spPr>
          <a:xfrm>
            <a:off x="3291840" y="3008376"/>
            <a:ext cx="1435607"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0,505</a:t>
            </a:r>
          </a:p>
        </p:txBody>
      </p:sp>
      <p:sp>
        <p:nvSpPr>
          <p:cNvPr id="21" name="tabel"/>
          <p:cNvSpPr txBox="1"/>
          <p:nvPr/>
        </p:nvSpPr>
        <p:spPr>
          <a:xfrm>
            <a:off x="4800600" y="3008376"/>
            <a:ext cx="1435607"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0,657</a:t>
            </a:r>
          </a:p>
        </p:txBody>
      </p:sp>
      <p:sp>
        <p:nvSpPr>
          <p:cNvPr id="22" name="tabel"/>
          <p:cNvSpPr txBox="1"/>
          <p:nvPr/>
        </p:nvSpPr>
        <p:spPr>
          <a:xfrm>
            <a:off x="6309360" y="3008376"/>
            <a:ext cx="1161288"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tidak</a:t>
            </a:r>
          </a:p>
        </p:txBody>
      </p:sp>
      <p:sp>
        <p:nvSpPr>
          <p:cNvPr id="23" name="tabel"/>
          <p:cNvSpPr txBox="1"/>
          <p:nvPr/>
        </p:nvSpPr>
        <p:spPr>
          <a:xfrm>
            <a:off x="548640" y="3392424"/>
            <a:ext cx="2670048" cy="384048"/>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S3: a0 dan b0</a:t>
            </a:r>
          </a:p>
        </p:txBody>
      </p:sp>
      <p:sp>
        <p:nvSpPr>
          <p:cNvPr id="24" name="tabel"/>
          <p:cNvSpPr txBox="1"/>
          <p:nvPr/>
        </p:nvSpPr>
        <p:spPr>
          <a:xfrm>
            <a:off x="3291840" y="3392424"/>
            <a:ext cx="1435607"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0,0081; 0,393</a:t>
            </a:r>
          </a:p>
        </p:txBody>
      </p:sp>
      <p:sp>
        <p:nvSpPr>
          <p:cNvPr id="25" name="tabel"/>
          <p:cNvSpPr txBox="1"/>
          <p:nvPr/>
        </p:nvSpPr>
        <p:spPr>
          <a:xfrm>
            <a:off x="4800600" y="3392424"/>
            <a:ext cx="1435607"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0,0084; 0,387</a:t>
            </a:r>
          </a:p>
        </p:txBody>
      </p:sp>
      <p:sp>
        <p:nvSpPr>
          <p:cNvPr id="26" name="tabel"/>
          <p:cNvSpPr txBox="1"/>
          <p:nvPr/>
        </p:nvSpPr>
        <p:spPr>
          <a:xfrm>
            <a:off x="6309360" y="3392424"/>
            <a:ext cx="1161288"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tidak</a:t>
            </a:r>
          </a:p>
        </p:txBody>
      </p:sp>
      <p:sp>
        <p:nvSpPr>
          <p:cNvPr id="27" name="tabel"/>
          <p:cNvSpPr txBox="1"/>
          <p:nvPr/>
        </p:nvSpPr>
        <p:spPr>
          <a:xfrm>
            <a:off x="548640" y="3776472"/>
            <a:ext cx="2670048" cy="384048"/>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S4: batas</a:t>
            </a:r>
          </a:p>
        </p:txBody>
      </p:sp>
      <p:sp>
        <p:nvSpPr>
          <p:cNvPr id="28" name="tabel"/>
          <p:cNvSpPr txBox="1"/>
          <p:nvPr/>
        </p:nvSpPr>
        <p:spPr>
          <a:xfrm>
            <a:off x="3291840" y="3776472"/>
            <a:ext cx="1435607"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batas latih</a:t>
            </a:r>
          </a:p>
        </p:txBody>
      </p:sp>
      <p:sp>
        <p:nvSpPr>
          <p:cNvPr id="29" name="tabel"/>
          <p:cNvSpPr txBox="1"/>
          <p:nvPr/>
        </p:nvSpPr>
        <p:spPr>
          <a:xfrm>
            <a:off x="4800600" y="3776472"/>
            <a:ext cx="1435607"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batas latih</a:t>
            </a:r>
          </a:p>
        </p:txBody>
      </p:sp>
      <p:sp>
        <p:nvSpPr>
          <p:cNvPr id="30" name="tabel"/>
          <p:cNvSpPr txBox="1"/>
          <p:nvPr/>
        </p:nvSpPr>
        <p:spPr>
          <a:xfrm>
            <a:off x="6309360" y="3776472"/>
            <a:ext cx="1161288" cy="38404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batas latih</a:t>
            </a:r>
          </a:p>
        </p:txBody>
      </p:sp>
      <p:sp>
        <p:nvSpPr>
          <p:cNvPr id="31" name="body"/>
          <p:cNvSpPr txBox="1"/>
          <p:nvPr/>
        </p:nvSpPr>
        <p:spPr>
          <a:xfrm>
            <a:off x="8001000" y="1783080"/>
            <a:ext cx="3642055" cy="3566160"/>
          </a:xfrm>
          <a:prstGeom prst="rect">
            <a:avLst/>
          </a:prstGeom>
          <a:noFill/>
        </p:spPr>
        <p:txBody>
          <a:bodyPr wrap="square" lIns="0" rIns="0" tIns="0" bIns="0" anchor="t">
            <a:noAutofit/>
          </a:bodyPr>
          <a:lstStyle/>
          <a:p>
            <a:pPr algn="l" marL="228600" indent="-228600">
              <a:lnSpc>
                <a:spcPct val="98000"/>
              </a:lnSpc>
              <a:spcBef>
                <a:spcPts val="0"/>
              </a:spcBef>
              <a:spcAft>
                <a:spcPts val="600"/>
              </a:spcAft>
              <a:buFont typeface="Arial"/>
              <a:buChar char="•"/>
            </a:pPr>
            <a:r>
              <a:rPr sz="1500" b="0" i="0">
                <a:solidFill>
                  <a:srgbClr val="1F2933"/>
                </a:solidFill>
                <a:latin typeface="Calibri"/>
              </a:rPr>
              <a:t>S1: kawasan 2 sampai 3 meter rata-rata ditebak sekitar 20% terlalu rendah oleh semua keluarga model</a:t>
            </a:r>
          </a:p>
          <a:p>
            <a:pPr algn="l" marL="228600" indent="-228600">
              <a:lnSpc>
                <a:spcPct val="98000"/>
              </a:lnSpc>
              <a:spcBef>
                <a:spcPts val="0"/>
              </a:spcBef>
              <a:spcAft>
                <a:spcPts val="600"/>
              </a:spcAft>
              <a:buFont typeface="Arial"/>
              <a:buChar char="•"/>
            </a:pPr>
            <a:r>
              <a:rPr sz="1500" b="0" i="0">
                <a:solidFill>
                  <a:srgbClr val="1F2933"/>
                </a:solidFill>
                <a:latin typeface="Calibri"/>
              </a:rPr>
              <a:t>S3: tebakan gas dekat batas 999.765 kWh ditarik turun (normal terpotong)</a:t>
            </a:r>
          </a:p>
          <a:p>
            <a:pPr algn="l" marL="228600" indent="-228600">
              <a:lnSpc>
                <a:spcPct val="98000"/>
              </a:lnSpc>
              <a:spcBef>
                <a:spcPts val="0"/>
              </a:spcBef>
              <a:spcAft>
                <a:spcPts val="600"/>
              </a:spcAft>
              <a:buFont typeface="Arial"/>
              <a:buChar char="•"/>
            </a:pPr>
            <a:r>
              <a:rPr sz="1500" b="0" i="0">
                <a:solidFill>
                  <a:srgbClr val="1F2933"/>
                </a:solidFill>
                <a:latin typeface="Calibri"/>
              </a:rPr>
              <a:t>S4: dipotong ke batas data latih; 77 kawasan duplikat disalin</a:t>
            </a:r>
          </a:p>
          <a:p>
            <a:pPr algn="l" marL="228600" indent="-228600">
              <a:lnSpc>
                <a:spcPct val="98000"/>
              </a:lnSpc>
              <a:spcBef>
                <a:spcPts val="0"/>
              </a:spcBef>
              <a:spcAft>
                <a:spcPts val="600"/>
              </a:spcAft>
              <a:buFont typeface="Arial"/>
              <a:buChar char="•"/>
            </a:pPr>
            <a:r>
              <a:rPr sz="1500" b="0" i="0">
                <a:solidFill>
                  <a:srgbClr val="1F2933"/>
                </a:solidFill>
                <a:latin typeface="Calibri"/>
              </a:rPr>
              <a:t>Asal: S1 dari prediksi OOF penuh, k pada S3 dari </a:t>
            </a:r>
            <a:r>
              <a:rPr sz="1500" b="0" i="1">
                <a:solidFill>
                  <a:srgbClr val="1F2933"/>
                </a:solidFill>
                <a:latin typeface="Calibri"/>
              </a:rPr>
              <a:t>holdout</a:t>
            </a:r>
            <a:r>
              <a:rPr sz="1500" b="0" i="0">
                <a:solidFill>
                  <a:srgbClr val="1F2933"/>
                </a:solidFill>
                <a:latin typeface="Calibri"/>
              </a:rPr>
              <a:t>, batas S4 dari data latih</a:t>
            </a:r>
          </a:p>
          <a:p>
            <a:pPr algn="l" marL="228600" indent="-228600">
              <a:lnSpc>
                <a:spcPct val="98000"/>
              </a:lnSpc>
              <a:spcBef>
                <a:spcPts val="0"/>
              </a:spcBef>
              <a:spcAft>
                <a:spcPts val="0"/>
              </a:spcAft>
              <a:buFont typeface="Arial"/>
              <a:buChar char="•"/>
            </a:pPr>
            <a:r>
              <a:rPr sz="1500" b="0" i="0">
                <a:solidFill>
                  <a:srgbClr val="1F2933"/>
                </a:solidFill>
                <a:latin typeface="Calibri"/>
              </a:rPr>
              <a:t>LB 0,24920 menjadi 0,24913; perkiraan </a:t>
            </a:r>
            <a:r>
              <a:rPr sz="1500" b="0" i="1">
                <a:solidFill>
                  <a:srgbClr val="1F2933"/>
                </a:solidFill>
                <a:latin typeface="Calibri"/>
              </a:rPr>
              <a:t>holdout</a:t>
            </a:r>
            <a:r>
              <a:rPr sz="1500" b="0" i="0">
                <a:solidFill>
                  <a:srgbClr val="1F2933"/>
                </a:solidFill>
                <a:latin typeface="Calibri"/>
              </a:rPr>
              <a:t> sama</a:t>
            </a:r>
          </a:p>
        </p:txBody>
      </p:sp>
      <p:sp>
        <p:nvSpPr>
          <p:cNvPr id="32" name="body"/>
          <p:cNvSpPr txBox="1"/>
          <p:nvPr/>
        </p:nvSpPr>
        <p:spPr>
          <a:xfrm>
            <a:off x="548640" y="4297680"/>
            <a:ext cx="7315200" cy="109728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Reprodusibilitas: </a:t>
            </a:r>
            <a:r>
              <a:rPr sz="1500" b="0" i="1">
                <a:solidFill>
                  <a:srgbClr val="1F2933"/>
                </a:solidFill>
                <a:latin typeface="Calibri"/>
              </a:rPr>
              <a:t>seed</a:t>
            </a:r>
            <a:r>
              <a:rPr sz="1500" b="0" i="0">
                <a:solidFill>
                  <a:srgbClr val="1F2933"/>
                </a:solidFill>
                <a:latin typeface="Calibri"/>
              </a:rPr>
              <a:t> dikunci, mode deterministik, </a:t>
            </a:r>
            <a:r>
              <a:rPr sz="1500" b="0" i="1">
                <a:solidFill>
                  <a:srgbClr val="1F2933"/>
                </a:solidFill>
                <a:latin typeface="Calibri"/>
              </a:rPr>
              <a:t>thread</a:t>
            </a:r>
            <a:r>
              <a:rPr sz="1500" b="0" i="0">
                <a:solidFill>
                  <a:srgbClr val="1F2933"/>
                </a:solidFill>
                <a:latin typeface="Calibri"/>
              </a:rPr>
              <a:t> BLAS dibatasi satu. Sidik sha256 aec745ab…d66e tercetak di sel 35, sama dengan berkas yang dipilih (perangkat sama).</a:t>
            </a:r>
          </a:p>
        </p:txBody>
      </p:sp>
      <p:sp>
        <p:nvSpPr>
          <p:cNvPr id="33" name="Rounded Rectangle 32"/>
          <p:cNvSpPr/>
          <p:nvPr/>
        </p:nvSpPr>
        <p:spPr>
          <a:xfrm>
            <a:off x="548640" y="5596128"/>
            <a:ext cx="4853078" cy="292608"/>
          </a:xfrm>
          <a:prstGeom prst="roundRect">
            <a:avLst>
              <a:gd name="adj" fmla="val 25000"/>
            </a:avLst>
          </a:prstGeom>
          <a:solidFill>
            <a:srgbClr val="E3EAF2"/>
          </a:solidFill>
          <a:ln>
            <a:noFill/>
          </a:ln>
        </p:spPr>
        <p:txBody>
          <a:bodyPr rtlCol="0" anchor="ctr"/>
          <a:lstStyle/>
          <a:p>
            <a:pPr algn="ctr"/>
          </a:p>
        </p:txBody>
      </p:sp>
      <p:sp>
        <p:nvSpPr>
          <p:cNvPr id="34" name="sumber"/>
          <p:cNvSpPr txBox="1"/>
          <p:nvPr/>
        </p:nvSpPr>
        <p:spPr>
          <a:xfrm>
            <a:off x="667512" y="5632704"/>
            <a:ext cx="4633622"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6324F"/>
                </a:solidFill>
                <a:latin typeface="Calibri"/>
              </a:rPr>
              <a:t>FAKTA</a:t>
            </a:r>
            <a:r>
              <a:rPr sz="1200" b="0" i="0">
                <a:solidFill>
                  <a:srgbClr val="16324F"/>
                </a:solidFill>
                <a:latin typeface="Calibri"/>
              </a:rPr>
              <a:t> · resid_knn.json bagian postproc (sel 22); sha256 sel 35; LB sel 37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Urutan zona tahan galat prediksi, tetapi peka terhadap COP yang berbeda per iklim</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CADANGAN C4 · TANYA JAWAB</a:t>
            </a:r>
          </a:p>
        </p:txBody>
      </p:sp>
      <p:sp>
        <p:nvSpPr>
          <p:cNvPr id="4"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5"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C4</a:t>
            </a:r>
          </a:p>
        </p:txBody>
      </p:sp>
      <p:sp>
        <p:nvSpPr>
          <p:cNvPr id="6" name="tabel"/>
          <p:cNvSpPr txBox="1"/>
          <p:nvPr/>
        </p:nvSpPr>
        <p:spPr>
          <a:xfrm>
            <a:off x="548640" y="1783080"/>
            <a:ext cx="2121408" cy="310896"/>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F6B7A"/>
                </a:solidFill>
                <a:latin typeface="Calibri"/>
              </a:rPr>
              <a:t>Porsi gas untuk pemanasan</a:t>
            </a:r>
          </a:p>
        </p:txBody>
      </p:sp>
      <p:sp>
        <p:nvSpPr>
          <p:cNvPr id="7" name="tabel"/>
          <p:cNvSpPr txBox="1"/>
          <p:nvPr/>
        </p:nvSpPr>
        <p:spPr>
          <a:xfrm>
            <a:off x="2743200" y="1783080"/>
            <a:ext cx="1389888"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COP 2,5</a:t>
            </a:r>
          </a:p>
        </p:txBody>
      </p:sp>
      <p:sp>
        <p:nvSpPr>
          <p:cNvPr id="8" name="tabel"/>
          <p:cNvSpPr txBox="1"/>
          <p:nvPr/>
        </p:nvSpPr>
        <p:spPr>
          <a:xfrm>
            <a:off x="4206240" y="1783080"/>
            <a:ext cx="1389888"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COP 3</a:t>
            </a:r>
          </a:p>
        </p:txBody>
      </p:sp>
      <p:sp>
        <p:nvSpPr>
          <p:cNvPr id="9" name="tabel"/>
          <p:cNvSpPr txBox="1"/>
          <p:nvPr/>
        </p:nvSpPr>
        <p:spPr>
          <a:xfrm>
            <a:off x="5669279" y="1783080"/>
            <a:ext cx="1389888"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COP 3,5</a:t>
            </a:r>
          </a:p>
        </p:txBody>
      </p:sp>
      <p:cxnSp>
        <p:nvCxnSpPr>
          <p:cNvPr id="10" name="Connector 9"/>
          <p:cNvCxnSpPr/>
          <p:nvPr/>
        </p:nvCxnSpPr>
        <p:spPr>
          <a:xfrm>
            <a:off x="548640" y="2148840"/>
            <a:ext cx="6583680" cy="0"/>
          </a:xfrm>
          <a:prstGeom prst="line">
            <a:avLst/>
          </a:prstGeom>
          <a:ln w="12700">
            <a:solidFill>
              <a:srgbClr val="D5DBE3"/>
            </a:solidFill>
          </a:ln>
        </p:spPr>
      </p:cxnSp>
      <p:sp>
        <p:nvSpPr>
          <p:cNvPr id="11" name="tabel"/>
          <p:cNvSpPr txBox="1"/>
          <p:nvPr/>
        </p:nvSpPr>
        <p:spPr>
          <a:xfrm>
            <a:off x="548640" y="2240280"/>
            <a:ext cx="2121408" cy="502920"/>
          </a:xfrm>
          <a:prstGeom prst="rect">
            <a:avLst/>
          </a:prstGeom>
          <a:noFill/>
        </p:spPr>
        <p:txBody>
          <a:bodyPr wrap="square" lIns="0" rIns="0" tIns="0" bIns="0" anchor="ctr">
            <a:noAutofit/>
          </a:bodyPr>
          <a:lstStyle/>
          <a:p>
            <a:pPr algn="l">
              <a:lnSpc>
                <a:spcPct val="100000"/>
              </a:lnSpc>
              <a:spcBef>
                <a:spcPts val="0"/>
              </a:spcBef>
              <a:spcAft>
                <a:spcPts val="0"/>
              </a:spcAft>
            </a:pPr>
            <a:r>
              <a:rPr sz="1800" b="0" i="0">
                <a:solidFill>
                  <a:srgbClr val="1F2933"/>
                </a:solidFill>
                <a:latin typeface="Calibri"/>
              </a:rPr>
              <a:t>70%</a:t>
            </a:r>
          </a:p>
        </p:txBody>
      </p:sp>
      <p:sp>
        <p:nvSpPr>
          <p:cNvPr id="12" name="tabel"/>
          <p:cNvSpPr txBox="1"/>
          <p:nvPr/>
        </p:nvSpPr>
        <p:spPr>
          <a:xfrm>
            <a:off x="2743200" y="2240280"/>
            <a:ext cx="1389888" cy="502920"/>
          </a:xfrm>
          <a:prstGeom prst="rect">
            <a:avLst/>
          </a:prstGeom>
          <a:noFill/>
        </p:spPr>
        <p:txBody>
          <a:bodyPr wrap="square" lIns="0" rIns="0" tIns="0" bIns="0" anchor="ctr">
            <a:noAutofit/>
          </a:bodyPr>
          <a:lstStyle/>
          <a:p>
            <a:pPr algn="r">
              <a:lnSpc>
                <a:spcPct val="100000"/>
              </a:lnSpc>
              <a:spcBef>
                <a:spcPts val="0"/>
              </a:spcBef>
              <a:spcAft>
                <a:spcPts val="0"/>
              </a:spcAft>
            </a:pPr>
            <a:r>
              <a:rPr sz="1800" b="0" i="0">
                <a:solidFill>
                  <a:srgbClr val="1F2933"/>
                </a:solidFill>
                <a:latin typeface="Calibri"/>
              </a:rPr>
              <a:t>+99,6%</a:t>
            </a:r>
          </a:p>
        </p:txBody>
      </p:sp>
      <p:sp>
        <p:nvSpPr>
          <p:cNvPr id="13" name="tabel"/>
          <p:cNvSpPr txBox="1"/>
          <p:nvPr/>
        </p:nvSpPr>
        <p:spPr>
          <a:xfrm>
            <a:off x="4206240" y="2240280"/>
            <a:ext cx="1389888" cy="502920"/>
          </a:xfrm>
          <a:prstGeom prst="rect">
            <a:avLst/>
          </a:prstGeom>
          <a:noFill/>
        </p:spPr>
        <p:txBody>
          <a:bodyPr wrap="square" lIns="0" rIns="0" tIns="0" bIns="0" anchor="ctr">
            <a:noAutofit/>
          </a:bodyPr>
          <a:lstStyle/>
          <a:p>
            <a:pPr algn="r">
              <a:lnSpc>
                <a:spcPct val="100000"/>
              </a:lnSpc>
              <a:spcBef>
                <a:spcPts val="0"/>
              </a:spcBef>
              <a:spcAft>
                <a:spcPts val="0"/>
              </a:spcAft>
            </a:pPr>
            <a:r>
              <a:rPr sz="1800" b="0" i="0">
                <a:solidFill>
                  <a:srgbClr val="1F2933"/>
                </a:solidFill>
                <a:latin typeface="Calibri"/>
              </a:rPr>
              <a:t>+83,0%</a:t>
            </a:r>
          </a:p>
        </p:txBody>
      </p:sp>
      <p:sp>
        <p:nvSpPr>
          <p:cNvPr id="14" name="tabel"/>
          <p:cNvSpPr txBox="1"/>
          <p:nvPr/>
        </p:nvSpPr>
        <p:spPr>
          <a:xfrm>
            <a:off x="5669279" y="2240280"/>
            <a:ext cx="1389888" cy="502920"/>
          </a:xfrm>
          <a:prstGeom prst="rect">
            <a:avLst/>
          </a:prstGeom>
          <a:noFill/>
        </p:spPr>
        <p:txBody>
          <a:bodyPr wrap="square" lIns="0" rIns="0" tIns="0" bIns="0" anchor="ctr">
            <a:noAutofit/>
          </a:bodyPr>
          <a:lstStyle/>
          <a:p>
            <a:pPr algn="r">
              <a:lnSpc>
                <a:spcPct val="100000"/>
              </a:lnSpc>
              <a:spcBef>
                <a:spcPts val="0"/>
              </a:spcBef>
              <a:spcAft>
                <a:spcPts val="0"/>
              </a:spcAft>
            </a:pPr>
            <a:r>
              <a:rPr sz="1800" b="0" i="0">
                <a:solidFill>
                  <a:srgbClr val="1F2933"/>
                </a:solidFill>
                <a:latin typeface="Calibri"/>
              </a:rPr>
              <a:t>+71,1%</a:t>
            </a:r>
          </a:p>
        </p:txBody>
      </p:sp>
      <p:sp>
        <p:nvSpPr>
          <p:cNvPr id="15" name="tabel"/>
          <p:cNvSpPr txBox="1"/>
          <p:nvPr/>
        </p:nvSpPr>
        <p:spPr>
          <a:xfrm>
            <a:off x="548640" y="2743200"/>
            <a:ext cx="2121408" cy="502920"/>
          </a:xfrm>
          <a:prstGeom prst="rect">
            <a:avLst/>
          </a:prstGeom>
          <a:noFill/>
        </p:spPr>
        <p:txBody>
          <a:bodyPr wrap="square" lIns="0" rIns="0" tIns="0" bIns="0" anchor="ctr">
            <a:noAutofit/>
          </a:bodyPr>
          <a:lstStyle/>
          <a:p>
            <a:pPr algn="l">
              <a:lnSpc>
                <a:spcPct val="100000"/>
              </a:lnSpc>
              <a:spcBef>
                <a:spcPts val="0"/>
              </a:spcBef>
              <a:spcAft>
                <a:spcPts val="0"/>
              </a:spcAft>
            </a:pPr>
            <a:r>
              <a:rPr sz="1800" b="0" i="0">
                <a:solidFill>
                  <a:srgbClr val="1F2933"/>
                </a:solidFill>
                <a:latin typeface="Calibri"/>
              </a:rPr>
              <a:t>80%</a:t>
            </a:r>
          </a:p>
        </p:txBody>
      </p:sp>
      <p:sp>
        <p:nvSpPr>
          <p:cNvPr id="16" name="tabel"/>
          <p:cNvSpPr txBox="1"/>
          <p:nvPr/>
        </p:nvSpPr>
        <p:spPr>
          <a:xfrm>
            <a:off x="2743200" y="2743200"/>
            <a:ext cx="1389888" cy="502920"/>
          </a:xfrm>
          <a:prstGeom prst="rect">
            <a:avLst/>
          </a:prstGeom>
          <a:noFill/>
        </p:spPr>
        <p:txBody>
          <a:bodyPr wrap="square" lIns="0" rIns="0" tIns="0" bIns="0" anchor="ctr">
            <a:noAutofit/>
          </a:bodyPr>
          <a:lstStyle/>
          <a:p>
            <a:pPr algn="r">
              <a:lnSpc>
                <a:spcPct val="100000"/>
              </a:lnSpc>
              <a:spcBef>
                <a:spcPts val="0"/>
              </a:spcBef>
              <a:spcAft>
                <a:spcPts val="0"/>
              </a:spcAft>
            </a:pPr>
            <a:r>
              <a:rPr sz="1800" b="0" i="0">
                <a:solidFill>
                  <a:srgbClr val="1F2933"/>
                </a:solidFill>
                <a:latin typeface="Calibri"/>
              </a:rPr>
              <a:t>+113,8%</a:t>
            </a:r>
          </a:p>
        </p:txBody>
      </p:sp>
      <p:sp>
        <p:nvSpPr>
          <p:cNvPr id="17" name="tabel"/>
          <p:cNvSpPr txBox="1"/>
          <p:nvPr/>
        </p:nvSpPr>
        <p:spPr>
          <a:xfrm>
            <a:off x="4206240" y="2743200"/>
            <a:ext cx="1389888" cy="502920"/>
          </a:xfrm>
          <a:prstGeom prst="rect">
            <a:avLst/>
          </a:prstGeom>
          <a:noFill/>
        </p:spPr>
        <p:txBody>
          <a:bodyPr wrap="square" lIns="0" rIns="0" tIns="0" bIns="0" anchor="ctr">
            <a:noAutofit/>
          </a:bodyPr>
          <a:lstStyle/>
          <a:p>
            <a:pPr algn="r">
              <a:lnSpc>
                <a:spcPct val="100000"/>
              </a:lnSpc>
              <a:spcBef>
                <a:spcPts val="0"/>
              </a:spcBef>
              <a:spcAft>
                <a:spcPts val="0"/>
              </a:spcAft>
            </a:pPr>
            <a:r>
              <a:rPr sz="1800" b="0" i="0">
                <a:solidFill>
                  <a:srgbClr val="1F2933"/>
                </a:solidFill>
                <a:latin typeface="Calibri"/>
              </a:rPr>
              <a:t>+94,8%</a:t>
            </a:r>
          </a:p>
        </p:txBody>
      </p:sp>
      <p:sp>
        <p:nvSpPr>
          <p:cNvPr id="18" name="tabel"/>
          <p:cNvSpPr txBox="1"/>
          <p:nvPr/>
        </p:nvSpPr>
        <p:spPr>
          <a:xfrm>
            <a:off x="5669279" y="2743200"/>
            <a:ext cx="1389888" cy="502920"/>
          </a:xfrm>
          <a:prstGeom prst="rect">
            <a:avLst/>
          </a:prstGeom>
          <a:noFill/>
        </p:spPr>
        <p:txBody>
          <a:bodyPr wrap="square" lIns="0" rIns="0" tIns="0" bIns="0" anchor="ctr">
            <a:noAutofit/>
          </a:bodyPr>
          <a:lstStyle/>
          <a:p>
            <a:pPr algn="r">
              <a:lnSpc>
                <a:spcPct val="100000"/>
              </a:lnSpc>
              <a:spcBef>
                <a:spcPts val="0"/>
              </a:spcBef>
              <a:spcAft>
                <a:spcPts val="0"/>
              </a:spcAft>
            </a:pPr>
            <a:r>
              <a:rPr sz="1800" b="0" i="0">
                <a:solidFill>
                  <a:srgbClr val="1F2933"/>
                </a:solidFill>
                <a:latin typeface="Calibri"/>
              </a:rPr>
              <a:t>+81,3%</a:t>
            </a:r>
          </a:p>
        </p:txBody>
      </p:sp>
      <p:sp>
        <p:nvSpPr>
          <p:cNvPr id="19" name="tabel"/>
          <p:cNvSpPr txBox="1"/>
          <p:nvPr/>
        </p:nvSpPr>
        <p:spPr>
          <a:xfrm>
            <a:off x="548640" y="3246120"/>
            <a:ext cx="2121408" cy="502920"/>
          </a:xfrm>
          <a:prstGeom prst="rect">
            <a:avLst/>
          </a:prstGeom>
          <a:noFill/>
        </p:spPr>
        <p:txBody>
          <a:bodyPr wrap="square" lIns="0" rIns="0" tIns="0" bIns="0" anchor="ctr">
            <a:noAutofit/>
          </a:bodyPr>
          <a:lstStyle/>
          <a:p>
            <a:pPr algn="l">
              <a:lnSpc>
                <a:spcPct val="100000"/>
              </a:lnSpc>
              <a:spcBef>
                <a:spcPts val="0"/>
              </a:spcBef>
              <a:spcAft>
                <a:spcPts val="0"/>
              </a:spcAft>
            </a:pPr>
            <a:r>
              <a:rPr sz="1800" b="0" i="0">
                <a:solidFill>
                  <a:srgbClr val="1F2933"/>
                </a:solidFill>
                <a:latin typeface="Calibri"/>
              </a:rPr>
              <a:t>90%</a:t>
            </a:r>
          </a:p>
        </p:txBody>
      </p:sp>
      <p:sp>
        <p:nvSpPr>
          <p:cNvPr id="20" name="tabel"/>
          <p:cNvSpPr txBox="1"/>
          <p:nvPr/>
        </p:nvSpPr>
        <p:spPr>
          <a:xfrm>
            <a:off x="2743200" y="3246120"/>
            <a:ext cx="1389888" cy="502920"/>
          </a:xfrm>
          <a:prstGeom prst="rect">
            <a:avLst/>
          </a:prstGeom>
          <a:noFill/>
        </p:spPr>
        <p:txBody>
          <a:bodyPr wrap="square" lIns="0" rIns="0" tIns="0" bIns="0" anchor="ctr">
            <a:noAutofit/>
          </a:bodyPr>
          <a:lstStyle/>
          <a:p>
            <a:pPr algn="r">
              <a:lnSpc>
                <a:spcPct val="100000"/>
              </a:lnSpc>
              <a:spcBef>
                <a:spcPts val="0"/>
              </a:spcBef>
              <a:spcAft>
                <a:spcPts val="0"/>
              </a:spcAft>
            </a:pPr>
            <a:r>
              <a:rPr sz="1800" b="0" i="0">
                <a:solidFill>
                  <a:srgbClr val="1F2933"/>
                </a:solidFill>
                <a:latin typeface="Calibri"/>
              </a:rPr>
              <a:t>+128,0%</a:t>
            </a:r>
          </a:p>
        </p:txBody>
      </p:sp>
      <p:sp>
        <p:nvSpPr>
          <p:cNvPr id="21" name="tabel"/>
          <p:cNvSpPr txBox="1"/>
          <p:nvPr/>
        </p:nvSpPr>
        <p:spPr>
          <a:xfrm>
            <a:off x="4206240" y="3246120"/>
            <a:ext cx="1389888" cy="502920"/>
          </a:xfrm>
          <a:prstGeom prst="rect">
            <a:avLst/>
          </a:prstGeom>
          <a:noFill/>
        </p:spPr>
        <p:txBody>
          <a:bodyPr wrap="square" lIns="0" rIns="0" tIns="0" bIns="0" anchor="ctr">
            <a:noAutofit/>
          </a:bodyPr>
          <a:lstStyle/>
          <a:p>
            <a:pPr algn="r">
              <a:lnSpc>
                <a:spcPct val="100000"/>
              </a:lnSpc>
              <a:spcBef>
                <a:spcPts val="0"/>
              </a:spcBef>
              <a:spcAft>
                <a:spcPts val="0"/>
              </a:spcAft>
            </a:pPr>
            <a:r>
              <a:rPr sz="1800" b="0" i="0">
                <a:solidFill>
                  <a:srgbClr val="1F2933"/>
                </a:solidFill>
                <a:latin typeface="Calibri"/>
              </a:rPr>
              <a:t>+106,7%</a:t>
            </a:r>
          </a:p>
        </p:txBody>
      </p:sp>
      <p:sp>
        <p:nvSpPr>
          <p:cNvPr id="22" name="tabel"/>
          <p:cNvSpPr txBox="1"/>
          <p:nvPr/>
        </p:nvSpPr>
        <p:spPr>
          <a:xfrm>
            <a:off x="5669279" y="3246120"/>
            <a:ext cx="1389888" cy="502920"/>
          </a:xfrm>
          <a:prstGeom prst="rect">
            <a:avLst/>
          </a:prstGeom>
          <a:noFill/>
        </p:spPr>
        <p:txBody>
          <a:bodyPr wrap="square" lIns="0" rIns="0" tIns="0" bIns="0" anchor="ctr">
            <a:noAutofit/>
          </a:bodyPr>
          <a:lstStyle/>
          <a:p>
            <a:pPr algn="r">
              <a:lnSpc>
                <a:spcPct val="100000"/>
              </a:lnSpc>
              <a:spcBef>
                <a:spcPts val="0"/>
              </a:spcBef>
              <a:spcAft>
                <a:spcPts val="0"/>
              </a:spcAft>
            </a:pPr>
            <a:r>
              <a:rPr sz="1800" b="0" i="0">
                <a:solidFill>
                  <a:srgbClr val="1F2933"/>
                </a:solidFill>
                <a:latin typeface="Calibri"/>
              </a:rPr>
              <a:t>+91,5%</a:t>
            </a:r>
          </a:p>
        </p:txBody>
      </p:sp>
      <p:sp>
        <p:nvSpPr>
          <p:cNvPr id="23" name="body"/>
          <p:cNvSpPr txBox="1"/>
          <p:nvPr/>
        </p:nvSpPr>
        <p:spPr>
          <a:xfrm>
            <a:off x="548640" y="3931920"/>
            <a:ext cx="6583680" cy="1554480"/>
          </a:xfrm>
          <a:prstGeom prst="rect">
            <a:avLst/>
          </a:prstGeom>
          <a:noFill/>
        </p:spPr>
        <p:txBody>
          <a:bodyPr wrap="square" lIns="0" rIns="0" tIns="0" bIns="0" anchor="t">
            <a:noAutofit/>
          </a:bodyPr>
          <a:lstStyle/>
          <a:p>
            <a:pPr algn="l">
              <a:lnSpc>
                <a:spcPct val="98000"/>
              </a:lnSpc>
              <a:spcBef>
                <a:spcPts val="0"/>
              </a:spcBef>
              <a:spcAft>
                <a:spcPts val="800"/>
              </a:spcAft>
            </a:pPr>
            <a:r>
              <a:rPr sz="1400" b="0" i="0">
                <a:solidFill>
                  <a:srgbClr val="5F6B7A"/>
                </a:solidFill>
                <a:latin typeface="Calibri"/>
              </a:rPr>
              <a:t>Rumus: gas × porsi pemanasan / COP / listrik. Asumsi seragam mengalikan semua zona dengan faktor yang sama, jadi urutan zona tetap secara aljabar, bukan karena diuji.</a:t>
            </a:r>
          </a:p>
          <a:p>
            <a:pPr algn="l">
              <a:lnSpc>
                <a:spcPct val="98000"/>
              </a:lnSpc>
              <a:spcBef>
                <a:spcPts val="0"/>
              </a:spcBef>
              <a:spcAft>
                <a:spcPts val="0"/>
              </a:spcAft>
            </a:pPr>
            <a:r>
              <a:rPr sz="1400" b="0" i="0">
                <a:solidFill>
                  <a:srgbClr val="5F6B7A"/>
                </a:solidFill>
                <a:latin typeface="Calibri"/>
              </a:rPr>
              <a:t>Median 94,85% (sel 50) dikali (porsi / 0,8) × (3 / COP); </a:t>
            </a:r>
            <a:r>
              <a:rPr sz="1400" b="0" i="1">
                <a:solidFill>
                  <a:srgbClr val="5F6B7A"/>
                </a:solidFill>
                <a:latin typeface="Calibri"/>
              </a:rPr>
              <a:t>writeup</a:t>
            </a:r>
            <a:r>
              <a:rPr sz="1400" b="0" i="0">
                <a:solidFill>
                  <a:srgbClr val="5F6B7A"/>
                </a:solidFill>
                <a:latin typeface="Calibri"/>
              </a:rPr>
              <a:t> Tabel 4 memuat nilai yang sama dalam bilangan bulat (+71% sampai +128%).</a:t>
            </a:r>
          </a:p>
        </p:txBody>
      </p:sp>
      <p:sp>
        <p:nvSpPr>
          <p:cNvPr id="24" name="Rounded Rectangle 23"/>
          <p:cNvSpPr/>
          <p:nvPr/>
        </p:nvSpPr>
        <p:spPr>
          <a:xfrm>
            <a:off x="7452360" y="1783080"/>
            <a:ext cx="4190695" cy="3611880"/>
          </a:xfrm>
          <a:prstGeom prst="roundRect">
            <a:avLst>
              <a:gd name="adj" fmla="val 2531"/>
            </a:avLst>
          </a:prstGeom>
          <a:solidFill>
            <a:srgbClr val="E3F1F4"/>
          </a:solidFill>
          <a:ln>
            <a:noFill/>
          </a:ln>
        </p:spPr>
        <p:txBody>
          <a:bodyPr rtlCol="0" anchor="ctr"/>
          <a:lstStyle/>
          <a:p>
            <a:pPr algn="ctr"/>
          </a:p>
        </p:txBody>
      </p:sp>
      <p:sp>
        <p:nvSpPr>
          <p:cNvPr id="25" name="label"/>
          <p:cNvSpPr txBox="1"/>
          <p:nvPr/>
        </p:nvSpPr>
        <p:spPr>
          <a:xfrm>
            <a:off x="7680960" y="1920240"/>
            <a:ext cx="3733495" cy="320040"/>
          </a:xfrm>
          <a:prstGeom prst="rect">
            <a:avLst/>
          </a:prstGeom>
          <a:noFill/>
        </p:spPr>
        <p:txBody>
          <a:bodyPr wrap="square" lIns="0" rIns="0" tIns="0" bIns="0" anchor="t">
            <a:noAutofit/>
          </a:bodyPr>
          <a:lstStyle/>
          <a:p>
            <a:pPr algn="l">
              <a:lnSpc>
                <a:spcPct val="100000"/>
              </a:lnSpc>
              <a:spcBef>
                <a:spcPts val="0"/>
              </a:spcBef>
              <a:spcAft>
                <a:spcPts val="0"/>
              </a:spcAft>
            </a:pPr>
            <a:r>
              <a:rPr sz="1100" b="1" i="0" spc="80">
                <a:solidFill>
                  <a:srgbClr val="17606E"/>
                </a:solidFill>
                <a:latin typeface="Calibri"/>
              </a:rPr>
              <a:t>UJI KETAHANAN URUTAN ZONA</a:t>
            </a:r>
          </a:p>
        </p:txBody>
      </p:sp>
      <p:sp>
        <p:nvSpPr>
          <p:cNvPr id="26" name="body"/>
          <p:cNvSpPr txBox="1"/>
          <p:nvPr/>
        </p:nvSpPr>
        <p:spPr>
          <a:xfrm>
            <a:off x="7680960" y="2286000"/>
            <a:ext cx="3733495" cy="1463040"/>
          </a:xfrm>
          <a:prstGeom prst="rect">
            <a:avLst/>
          </a:prstGeom>
          <a:noFill/>
        </p:spPr>
        <p:txBody>
          <a:bodyPr wrap="square" lIns="0" rIns="0" tIns="0" bIns="0" anchor="t">
            <a:noAutofit/>
          </a:bodyPr>
          <a:lstStyle/>
          <a:p>
            <a:pPr algn="l">
              <a:lnSpc>
                <a:spcPct val="98000"/>
              </a:lnSpc>
              <a:spcBef>
                <a:spcPts val="0"/>
              </a:spcBef>
              <a:spcAft>
                <a:spcPts val="0"/>
              </a:spcAft>
            </a:pPr>
            <a:r>
              <a:rPr sz="1400" b="1" i="0">
                <a:solidFill>
                  <a:srgbClr val="1F2933"/>
                </a:solidFill>
                <a:latin typeface="Calibri"/>
              </a:rPr>
              <a:t>Galat prediksi</a:t>
            </a:r>
            <a:r>
              <a:rPr sz="1400" b="0" i="0">
                <a:solidFill>
                  <a:srgbClr val="1F2933"/>
                </a:solidFill>
                <a:latin typeface="Calibri"/>
              </a:rPr>
              <a:t> baris uji, 200 simulasi: Spearman 0,998; median 8 zona pindah kuadran; 5 zona teratas tetap.</a:t>
            </a:r>
          </a:p>
        </p:txBody>
      </p:sp>
      <p:sp>
        <p:nvSpPr>
          <p:cNvPr id="27" name="body"/>
          <p:cNvSpPr txBox="1"/>
          <p:nvPr/>
        </p:nvSpPr>
        <p:spPr>
          <a:xfrm>
            <a:off x="7680960" y="3657600"/>
            <a:ext cx="3733495" cy="1645920"/>
          </a:xfrm>
          <a:prstGeom prst="rect">
            <a:avLst/>
          </a:prstGeom>
          <a:noFill/>
        </p:spPr>
        <p:txBody>
          <a:bodyPr wrap="square" lIns="0" rIns="0" tIns="0" bIns="0" anchor="t">
            <a:noAutofit/>
          </a:bodyPr>
          <a:lstStyle/>
          <a:p>
            <a:pPr algn="l">
              <a:lnSpc>
                <a:spcPct val="98000"/>
              </a:lnSpc>
              <a:spcBef>
                <a:spcPts val="0"/>
              </a:spcBef>
              <a:spcAft>
                <a:spcPts val="0"/>
              </a:spcAft>
            </a:pPr>
            <a:r>
              <a:rPr sz="1400" b="1" i="0">
                <a:solidFill>
                  <a:srgbClr val="9A5212"/>
                </a:solidFill>
                <a:latin typeface="Calibri"/>
              </a:rPr>
              <a:t>COP 2,5 sampai 3,5 menurut iklim zona:</a:t>
            </a:r>
            <a:r>
              <a:rPr sz="1400" b="0" i="0">
                <a:solidFill>
                  <a:srgbClr val="9A5212"/>
                </a:solidFill>
                <a:latin typeface="Calibri"/>
              </a:rPr>
              <a:t> Spearman 0,81; 68 zona pindah kuadran; 1 dari 5 zona teratas tetap.</a:t>
            </a:r>
          </a:p>
        </p:txBody>
      </p:sp>
      <p:sp>
        <p:nvSpPr>
          <p:cNvPr id="28" name="Rounded Rectangle 27"/>
          <p:cNvSpPr/>
          <p:nvPr/>
        </p:nvSpPr>
        <p:spPr>
          <a:xfrm>
            <a:off x="548640" y="5596128"/>
            <a:ext cx="6491576" cy="292608"/>
          </a:xfrm>
          <a:prstGeom prst="roundRect">
            <a:avLst>
              <a:gd name="adj" fmla="val 25000"/>
            </a:avLst>
          </a:prstGeom>
          <a:solidFill>
            <a:srgbClr val="FBEEDF"/>
          </a:solidFill>
          <a:ln>
            <a:noFill/>
          </a:ln>
        </p:spPr>
        <p:txBody>
          <a:bodyPr rtlCol="0" anchor="ctr"/>
          <a:lstStyle/>
          <a:p>
            <a:pPr algn="ctr"/>
          </a:p>
        </p:txBody>
      </p:sp>
      <p:sp>
        <p:nvSpPr>
          <p:cNvPr id="29" name="sumber"/>
          <p:cNvSpPr txBox="1"/>
          <p:nvPr/>
        </p:nvSpPr>
        <p:spPr>
          <a:xfrm>
            <a:off x="667512" y="5632704"/>
            <a:ext cx="6272120"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9A5212"/>
                </a:solidFill>
                <a:latin typeface="Calibri"/>
              </a:rPr>
              <a:t>ASUMSI</a:t>
            </a:r>
            <a:r>
              <a:rPr sz="1200" b="0" i="0">
                <a:solidFill>
                  <a:srgbClr val="9A5212"/>
                </a:solidFill>
                <a:latin typeface="Calibri"/>
              </a:rPr>
              <a:t> · energi tahunan; COP per iklim adalah uji tekanan, bukan data · bukti/cek_kebijakan.json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Validasi per zona keliru untuk data ini karena data uji diambil acak per baris</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CADANGAN C5 · TANYA JAWAB</a:t>
            </a:r>
          </a:p>
        </p:txBody>
      </p:sp>
      <p:sp>
        <p:nvSpPr>
          <p:cNvPr id="4"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5"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C5</a:t>
            </a:r>
          </a:p>
        </p:txBody>
      </p:sp>
      <p:sp>
        <p:nvSpPr>
          <p:cNvPr id="6" name="tabel"/>
          <p:cNvSpPr txBox="1"/>
          <p:nvPr/>
        </p:nvSpPr>
        <p:spPr>
          <a:xfrm>
            <a:off x="548640" y="1783080"/>
            <a:ext cx="1938528" cy="310896"/>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F6B7A"/>
                </a:solidFill>
                <a:latin typeface="Calibri"/>
              </a:rPr>
              <a:t>Skema</a:t>
            </a:r>
          </a:p>
        </p:txBody>
      </p:sp>
      <p:sp>
        <p:nvSpPr>
          <p:cNvPr id="7" name="tabel"/>
          <p:cNvSpPr txBox="1"/>
          <p:nvPr/>
        </p:nvSpPr>
        <p:spPr>
          <a:xfrm>
            <a:off x="2560320" y="1783080"/>
            <a:ext cx="1847088" cy="310896"/>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F6B7A"/>
                </a:solidFill>
                <a:latin typeface="Calibri"/>
              </a:rPr>
              <a:t>Rata-rata wilayah</a:t>
            </a:r>
          </a:p>
        </p:txBody>
      </p:sp>
      <p:sp>
        <p:nvSpPr>
          <p:cNvPr id="8" name="tabel"/>
          <p:cNvSpPr txBox="1"/>
          <p:nvPr/>
        </p:nvSpPr>
        <p:spPr>
          <a:xfrm>
            <a:off x="4480560" y="1783080"/>
            <a:ext cx="1115568"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Gas</a:t>
            </a:r>
          </a:p>
        </p:txBody>
      </p:sp>
      <p:sp>
        <p:nvSpPr>
          <p:cNvPr id="9" name="tabel"/>
          <p:cNvSpPr txBox="1"/>
          <p:nvPr/>
        </p:nvSpPr>
        <p:spPr>
          <a:xfrm>
            <a:off x="5669280" y="1783080"/>
            <a:ext cx="1115568"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EUI</a:t>
            </a:r>
          </a:p>
        </p:txBody>
      </p:sp>
      <p:sp>
        <p:nvSpPr>
          <p:cNvPr id="10" name="tabel"/>
          <p:cNvSpPr txBox="1"/>
          <p:nvPr/>
        </p:nvSpPr>
        <p:spPr>
          <a:xfrm>
            <a:off x="6858000" y="1783080"/>
            <a:ext cx="1115568"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Listrik</a:t>
            </a:r>
          </a:p>
        </p:txBody>
      </p:sp>
      <p:cxnSp>
        <p:nvCxnSpPr>
          <p:cNvPr id="11" name="Connector 10"/>
          <p:cNvCxnSpPr/>
          <p:nvPr/>
        </p:nvCxnSpPr>
        <p:spPr>
          <a:xfrm>
            <a:off x="548640" y="2148840"/>
            <a:ext cx="7498080" cy="0"/>
          </a:xfrm>
          <a:prstGeom prst="line">
            <a:avLst/>
          </a:prstGeom>
          <a:ln w="12700">
            <a:solidFill>
              <a:srgbClr val="D5DBE3"/>
            </a:solidFill>
          </a:ln>
        </p:spPr>
      </p:cxnSp>
      <p:sp>
        <p:nvSpPr>
          <p:cNvPr id="12" name="tabel"/>
          <p:cNvSpPr txBox="1"/>
          <p:nvPr/>
        </p:nvSpPr>
        <p:spPr>
          <a:xfrm>
            <a:off x="548640" y="2240280"/>
            <a:ext cx="1938528" cy="45720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acak per baris</a:t>
            </a:r>
          </a:p>
        </p:txBody>
      </p:sp>
      <p:sp>
        <p:nvSpPr>
          <p:cNvPr id="13" name="tabel"/>
          <p:cNvSpPr txBox="1"/>
          <p:nvPr/>
        </p:nvSpPr>
        <p:spPr>
          <a:xfrm>
            <a:off x="2560320" y="2240280"/>
            <a:ext cx="1847088" cy="45720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tanpa</a:t>
            </a:r>
          </a:p>
        </p:txBody>
      </p:sp>
      <p:sp>
        <p:nvSpPr>
          <p:cNvPr id="14" name="tabel"/>
          <p:cNvSpPr txBox="1"/>
          <p:nvPr/>
        </p:nvSpPr>
        <p:spPr>
          <a:xfrm>
            <a:off x="4480560" y="2240280"/>
            <a:ext cx="1115568" cy="457200"/>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0,2573</a:t>
            </a:r>
          </a:p>
        </p:txBody>
      </p:sp>
      <p:sp>
        <p:nvSpPr>
          <p:cNvPr id="15" name="tabel"/>
          <p:cNvSpPr txBox="1"/>
          <p:nvPr/>
        </p:nvSpPr>
        <p:spPr>
          <a:xfrm>
            <a:off x="5669280" y="2240280"/>
            <a:ext cx="1115568" cy="457200"/>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0,6721</a:t>
            </a:r>
          </a:p>
        </p:txBody>
      </p:sp>
      <p:sp>
        <p:nvSpPr>
          <p:cNvPr id="16" name="tabel"/>
          <p:cNvSpPr txBox="1"/>
          <p:nvPr/>
        </p:nvSpPr>
        <p:spPr>
          <a:xfrm>
            <a:off x="6858000" y="2240280"/>
            <a:ext cx="1115568" cy="457200"/>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0,3262</a:t>
            </a:r>
          </a:p>
        </p:txBody>
      </p:sp>
      <p:sp>
        <p:nvSpPr>
          <p:cNvPr id="17" name="tabel"/>
          <p:cNvSpPr txBox="1"/>
          <p:nvPr/>
        </p:nvSpPr>
        <p:spPr>
          <a:xfrm>
            <a:off x="548640" y="2697480"/>
            <a:ext cx="1938528" cy="45720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acak per baris</a:t>
            </a:r>
          </a:p>
        </p:txBody>
      </p:sp>
      <p:sp>
        <p:nvSpPr>
          <p:cNvPr id="18" name="tabel"/>
          <p:cNvSpPr txBox="1"/>
          <p:nvPr/>
        </p:nvSpPr>
        <p:spPr>
          <a:xfrm>
            <a:off x="2560320" y="2697480"/>
            <a:ext cx="1847088" cy="45720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dengan</a:t>
            </a:r>
          </a:p>
        </p:txBody>
      </p:sp>
      <p:sp>
        <p:nvSpPr>
          <p:cNvPr id="19" name="tabel"/>
          <p:cNvSpPr txBox="1"/>
          <p:nvPr/>
        </p:nvSpPr>
        <p:spPr>
          <a:xfrm>
            <a:off x="4480560" y="2697480"/>
            <a:ext cx="1115568" cy="457200"/>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0,2562</a:t>
            </a:r>
          </a:p>
        </p:txBody>
      </p:sp>
      <p:sp>
        <p:nvSpPr>
          <p:cNvPr id="20" name="tabel"/>
          <p:cNvSpPr txBox="1"/>
          <p:nvPr/>
        </p:nvSpPr>
        <p:spPr>
          <a:xfrm>
            <a:off x="5669280" y="2697480"/>
            <a:ext cx="1115568" cy="457200"/>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0,6699</a:t>
            </a:r>
          </a:p>
        </p:txBody>
      </p:sp>
      <p:sp>
        <p:nvSpPr>
          <p:cNvPr id="21" name="tabel"/>
          <p:cNvSpPr txBox="1"/>
          <p:nvPr/>
        </p:nvSpPr>
        <p:spPr>
          <a:xfrm>
            <a:off x="6858000" y="2697480"/>
            <a:ext cx="1115568" cy="457200"/>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0,3255</a:t>
            </a:r>
          </a:p>
        </p:txBody>
      </p:sp>
      <p:sp>
        <p:nvSpPr>
          <p:cNvPr id="22" name="tabel"/>
          <p:cNvSpPr txBox="1"/>
          <p:nvPr/>
        </p:nvSpPr>
        <p:spPr>
          <a:xfrm>
            <a:off x="548640" y="3154680"/>
            <a:ext cx="1938528" cy="45720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per zona</a:t>
            </a:r>
          </a:p>
        </p:txBody>
      </p:sp>
      <p:sp>
        <p:nvSpPr>
          <p:cNvPr id="23" name="tabel"/>
          <p:cNvSpPr txBox="1"/>
          <p:nvPr/>
        </p:nvSpPr>
        <p:spPr>
          <a:xfrm>
            <a:off x="2560320" y="3154680"/>
            <a:ext cx="1847088" cy="45720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tanpa</a:t>
            </a:r>
          </a:p>
        </p:txBody>
      </p:sp>
      <p:sp>
        <p:nvSpPr>
          <p:cNvPr id="24" name="tabel"/>
          <p:cNvSpPr txBox="1"/>
          <p:nvPr/>
        </p:nvSpPr>
        <p:spPr>
          <a:xfrm>
            <a:off x="4480560" y="3154680"/>
            <a:ext cx="1115568" cy="457200"/>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0,2708</a:t>
            </a:r>
          </a:p>
        </p:txBody>
      </p:sp>
      <p:sp>
        <p:nvSpPr>
          <p:cNvPr id="25" name="tabel"/>
          <p:cNvSpPr txBox="1"/>
          <p:nvPr/>
        </p:nvSpPr>
        <p:spPr>
          <a:xfrm>
            <a:off x="5669280" y="3154680"/>
            <a:ext cx="1115568" cy="457200"/>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0,6923</a:t>
            </a:r>
          </a:p>
        </p:txBody>
      </p:sp>
      <p:sp>
        <p:nvSpPr>
          <p:cNvPr id="26" name="tabel"/>
          <p:cNvSpPr txBox="1"/>
          <p:nvPr/>
        </p:nvSpPr>
        <p:spPr>
          <a:xfrm>
            <a:off x="6858000" y="3154680"/>
            <a:ext cx="1115568" cy="457200"/>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0,3302</a:t>
            </a:r>
          </a:p>
        </p:txBody>
      </p:sp>
      <p:sp>
        <p:nvSpPr>
          <p:cNvPr id="27" name="tabel"/>
          <p:cNvSpPr txBox="1"/>
          <p:nvPr/>
        </p:nvSpPr>
        <p:spPr>
          <a:xfrm>
            <a:off x="548640" y="3611880"/>
            <a:ext cx="1938528" cy="45720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per zona</a:t>
            </a:r>
          </a:p>
        </p:txBody>
      </p:sp>
      <p:sp>
        <p:nvSpPr>
          <p:cNvPr id="28" name="tabel"/>
          <p:cNvSpPr txBox="1"/>
          <p:nvPr/>
        </p:nvSpPr>
        <p:spPr>
          <a:xfrm>
            <a:off x="2560320" y="3611880"/>
            <a:ext cx="1847088" cy="457200"/>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dengan</a:t>
            </a:r>
          </a:p>
        </p:txBody>
      </p:sp>
      <p:sp>
        <p:nvSpPr>
          <p:cNvPr id="29" name="tabel"/>
          <p:cNvSpPr txBox="1"/>
          <p:nvPr/>
        </p:nvSpPr>
        <p:spPr>
          <a:xfrm>
            <a:off x="4480560" y="3611880"/>
            <a:ext cx="1115568" cy="457200"/>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0,3637</a:t>
            </a:r>
          </a:p>
        </p:txBody>
      </p:sp>
      <p:sp>
        <p:nvSpPr>
          <p:cNvPr id="30" name="tabel"/>
          <p:cNvSpPr txBox="1"/>
          <p:nvPr/>
        </p:nvSpPr>
        <p:spPr>
          <a:xfrm>
            <a:off x="5669280" y="3611880"/>
            <a:ext cx="1115568" cy="457200"/>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0,8331</a:t>
            </a:r>
          </a:p>
        </p:txBody>
      </p:sp>
      <p:sp>
        <p:nvSpPr>
          <p:cNvPr id="31" name="tabel"/>
          <p:cNvSpPr txBox="1"/>
          <p:nvPr/>
        </p:nvSpPr>
        <p:spPr>
          <a:xfrm>
            <a:off x="6858000" y="3611880"/>
            <a:ext cx="1115568" cy="457200"/>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0,3474</a:t>
            </a:r>
          </a:p>
        </p:txBody>
      </p:sp>
      <p:sp>
        <p:nvSpPr>
          <p:cNvPr id="32" name="body"/>
          <p:cNvSpPr txBox="1"/>
          <p:nvPr/>
        </p:nvSpPr>
        <p:spPr>
          <a:xfrm>
            <a:off x="548640" y="4251960"/>
            <a:ext cx="7498079" cy="118872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Data uji diambil acak per baris (AUC 0,4997; subzona baru 8,14% vs 8,17%). Skema per zona menguji situasi yang tidak terjadi di data uji dan membuat fitur rata-rata wilayah tampak merusak.</a:t>
            </a:r>
          </a:p>
        </p:txBody>
      </p:sp>
      <p:sp>
        <p:nvSpPr>
          <p:cNvPr id="33" name="body"/>
          <p:cNvSpPr txBox="1"/>
          <p:nvPr/>
        </p:nvSpPr>
        <p:spPr>
          <a:xfrm>
            <a:off x="8503920" y="1783080"/>
            <a:ext cx="3139135" cy="3200400"/>
          </a:xfrm>
          <a:prstGeom prst="rect">
            <a:avLst/>
          </a:prstGeom>
          <a:noFill/>
        </p:spPr>
        <p:txBody>
          <a:bodyPr wrap="square" lIns="0" rIns="0" tIns="0" bIns="0" anchor="t">
            <a:noAutofit/>
          </a:bodyPr>
          <a:lstStyle/>
          <a:p>
            <a:pPr algn="l">
              <a:lnSpc>
                <a:spcPct val="98000"/>
              </a:lnSpc>
              <a:spcBef>
                <a:spcPts val="0"/>
              </a:spcBef>
              <a:spcAft>
                <a:spcPts val="0"/>
              </a:spcAft>
            </a:pPr>
            <a:r>
              <a:rPr sz="1700" b="1" i="0">
                <a:solidFill>
                  <a:srgbClr val="16324F"/>
                </a:solidFill>
                <a:latin typeface="Calibri"/>
              </a:rPr>
              <a:t>Pada skema yang sesuai data uji, fitur yang sama menurunkan galat di ketiga target. Skema yang keliru akan membuang fitur yang berguna.</a:t>
            </a:r>
          </a:p>
        </p:txBody>
      </p:sp>
      <p:sp>
        <p:nvSpPr>
          <p:cNvPr id="34" name="Rounded Rectangle 33"/>
          <p:cNvSpPr/>
          <p:nvPr/>
        </p:nvSpPr>
        <p:spPr>
          <a:xfrm>
            <a:off x="548640" y="5596128"/>
            <a:ext cx="5498391" cy="292608"/>
          </a:xfrm>
          <a:prstGeom prst="roundRect">
            <a:avLst>
              <a:gd name="adj" fmla="val 25000"/>
            </a:avLst>
          </a:prstGeom>
          <a:solidFill>
            <a:srgbClr val="E3EAF2"/>
          </a:solidFill>
          <a:ln>
            <a:noFill/>
          </a:ln>
        </p:spPr>
        <p:txBody>
          <a:bodyPr rtlCol="0" anchor="ctr"/>
          <a:lstStyle/>
          <a:p>
            <a:pPr algn="ctr"/>
          </a:p>
        </p:txBody>
      </p:sp>
      <p:sp>
        <p:nvSpPr>
          <p:cNvPr id="35" name="sumber"/>
          <p:cNvSpPr txBox="1"/>
          <p:nvPr/>
        </p:nvSpPr>
        <p:spPr>
          <a:xfrm>
            <a:off x="667512" y="5632704"/>
            <a:ext cx="5278935"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6324F"/>
                </a:solidFill>
                <a:latin typeface="Calibri"/>
              </a:rPr>
              <a:t>FAKTA</a:t>
            </a:r>
            <a:r>
              <a:rPr sz="1200" b="0" i="0">
                <a:solidFill>
                  <a:srgbClr val="16324F"/>
                </a:solidFill>
                <a:latin typeface="Calibri"/>
              </a:rPr>
              <a:t> · writeup Tabel 1 (LightGBM, dijalankan saat pengembangan); sel 54 dan 55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Adopsi di subzona baru dimodelkan sebagai peluang dari jumlah rumah tangga</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CADANGAN C6 · TANYA JAWAB</a:t>
            </a:r>
          </a:p>
        </p:txBody>
      </p:sp>
      <p:sp>
        <p:nvSpPr>
          <p:cNvPr id="4"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5"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C6</a:t>
            </a:r>
          </a:p>
        </p:txBody>
      </p:sp>
      <p:sp>
        <p:nvSpPr>
          <p:cNvPr id="6" name="body"/>
          <p:cNvSpPr txBox="1"/>
          <p:nvPr/>
        </p:nvSpPr>
        <p:spPr>
          <a:xfrm>
            <a:off x="548640" y="1783080"/>
            <a:ext cx="5760720" cy="3566160"/>
          </a:xfrm>
          <a:prstGeom prst="rect">
            <a:avLst/>
          </a:prstGeom>
          <a:noFill/>
        </p:spPr>
        <p:txBody>
          <a:bodyPr wrap="square" lIns="0" rIns="0" tIns="0" bIns="0" anchor="t">
            <a:noAutofit/>
          </a:bodyPr>
          <a:lstStyle/>
          <a:p>
            <a:pPr algn="l" marL="228600" indent="-228600">
              <a:lnSpc>
                <a:spcPct val="98000"/>
              </a:lnSpc>
              <a:spcBef>
                <a:spcPts val="0"/>
              </a:spcBef>
              <a:spcAft>
                <a:spcPts val="800"/>
              </a:spcAft>
              <a:buFont typeface="Arial"/>
              <a:buChar char="•"/>
            </a:pPr>
            <a:r>
              <a:rPr sz="1500" b="0" i="0">
                <a:solidFill>
                  <a:srgbClr val="1F2933"/>
                </a:solidFill>
                <a:latin typeface="Calibri"/>
              </a:rPr>
              <a:t>Kolom komposisi pemanas adalah pecahan jumlah rumah tangga N. Bilangan bulat terkecil yang membuat semua pecahan bulat adalah N.</a:t>
            </a:r>
          </a:p>
          <a:p>
            <a:pPr algn="l" marL="228600" indent="-228600">
              <a:lnSpc>
                <a:spcPct val="98000"/>
              </a:lnSpc>
              <a:spcBef>
                <a:spcPts val="0"/>
              </a:spcBef>
              <a:spcAft>
                <a:spcPts val="800"/>
              </a:spcAft>
              <a:buFont typeface="Arial"/>
              <a:buChar char="•"/>
            </a:pPr>
            <a:r>
              <a:rPr sz="1500" b="0" i="0">
                <a:solidFill>
                  <a:srgbClr val="1F2933"/>
                </a:solidFill>
                <a:latin typeface="Calibri"/>
              </a:rPr>
              <a:t>K = rumah tangga di luar kategori pemanas yang tercatat. Model menebak peluang rumah tangga K bukan pengguna pemanas listrik.</a:t>
            </a:r>
          </a:p>
          <a:p>
            <a:pPr algn="l" marL="228600" indent="-228600">
              <a:lnSpc>
                <a:spcPct val="98000"/>
              </a:lnSpc>
              <a:spcBef>
                <a:spcPts val="0"/>
              </a:spcBef>
              <a:spcAft>
                <a:spcPts val="0"/>
              </a:spcAft>
              <a:buFont typeface="Arial"/>
              <a:buChar char="•"/>
            </a:pPr>
            <a:r>
              <a:rPr sz="1500" b="0" i="0">
                <a:solidFill>
                  <a:srgbClr val="1F2933"/>
                </a:solidFill>
                <a:latin typeface="Calibri"/>
              </a:rPr>
              <a:t>Dua LightGBM (q_xent, r_reg) dirata-rata; validasi 5 </a:t>
            </a:r>
            <a:r>
              <a:rPr sz="1500" b="0" i="1">
                <a:solidFill>
                  <a:srgbClr val="1F2933"/>
                </a:solidFill>
                <a:latin typeface="Calibri"/>
              </a:rPr>
              <a:t>fold</a:t>
            </a:r>
            <a:r>
              <a:rPr sz="1500" b="0" i="0">
                <a:solidFill>
                  <a:srgbClr val="1F2933"/>
                </a:solidFill>
                <a:latin typeface="Calibri"/>
              </a:rPr>
              <a:t> per subzona, dibobot ulang ke komposisi subzona baru.</a:t>
            </a:r>
          </a:p>
        </p:txBody>
      </p:sp>
      <p:sp>
        <p:nvSpPr>
          <p:cNvPr id="7" name="Rounded Rectangle 6"/>
          <p:cNvSpPr/>
          <p:nvPr/>
        </p:nvSpPr>
        <p:spPr>
          <a:xfrm>
            <a:off x="6675120" y="1783080"/>
            <a:ext cx="4967935" cy="3566160"/>
          </a:xfrm>
          <a:prstGeom prst="roundRect">
            <a:avLst>
              <a:gd name="adj" fmla="val 2564"/>
            </a:avLst>
          </a:prstGeom>
          <a:solidFill>
            <a:srgbClr val="E3F1F4"/>
          </a:solidFill>
          <a:ln>
            <a:noFill/>
          </a:ln>
        </p:spPr>
        <p:txBody>
          <a:bodyPr rtlCol="0" anchor="ctr"/>
          <a:lstStyle/>
          <a:p>
            <a:pPr algn="ctr"/>
          </a:p>
        </p:txBody>
      </p:sp>
      <p:sp>
        <p:nvSpPr>
          <p:cNvPr id="8" name="angka"/>
          <p:cNvSpPr txBox="1"/>
          <p:nvPr/>
        </p:nvSpPr>
        <p:spPr>
          <a:xfrm>
            <a:off x="6949440" y="1965960"/>
            <a:ext cx="4419295" cy="571500"/>
          </a:xfrm>
          <a:prstGeom prst="rect">
            <a:avLst/>
          </a:prstGeom>
          <a:noFill/>
        </p:spPr>
        <p:txBody>
          <a:bodyPr wrap="square" lIns="0" rIns="0" tIns="0" bIns="0" anchor="t">
            <a:noAutofit/>
          </a:bodyPr>
          <a:lstStyle/>
          <a:p>
            <a:pPr algn="l">
              <a:lnSpc>
                <a:spcPct val="90000"/>
              </a:lnSpc>
              <a:spcBef>
                <a:spcPts val="0"/>
              </a:spcBef>
              <a:spcAft>
                <a:spcPts val="0"/>
              </a:spcAft>
            </a:pPr>
            <a:r>
              <a:rPr sz="3600" b="1" i="0">
                <a:solidFill>
                  <a:srgbClr val="1F7A8C"/>
                </a:solidFill>
                <a:latin typeface="Calibri"/>
              </a:rPr>
              <a:t>1,03 poin</a:t>
            </a:r>
          </a:p>
        </p:txBody>
      </p:sp>
      <p:sp>
        <p:nvSpPr>
          <p:cNvPr id="9" name="body"/>
          <p:cNvSpPr txBox="1"/>
          <p:nvPr/>
        </p:nvSpPr>
        <p:spPr>
          <a:xfrm>
            <a:off x="6949440" y="2523744"/>
            <a:ext cx="4419295" cy="64008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RMSE pada subzona baru (0,143 setelah dibagi σ adopsi)</a:t>
            </a:r>
          </a:p>
        </p:txBody>
      </p:sp>
      <p:sp>
        <p:nvSpPr>
          <p:cNvPr id="10" name="angka"/>
          <p:cNvSpPr txBox="1"/>
          <p:nvPr/>
        </p:nvSpPr>
        <p:spPr>
          <a:xfrm>
            <a:off x="6949440" y="3429000"/>
            <a:ext cx="4419295" cy="571500"/>
          </a:xfrm>
          <a:prstGeom prst="rect">
            <a:avLst/>
          </a:prstGeom>
          <a:noFill/>
        </p:spPr>
        <p:txBody>
          <a:bodyPr wrap="square" lIns="0" rIns="0" tIns="0" bIns="0" anchor="t">
            <a:noAutofit/>
          </a:bodyPr>
          <a:lstStyle/>
          <a:p>
            <a:pPr algn="l">
              <a:lnSpc>
                <a:spcPct val="90000"/>
              </a:lnSpc>
              <a:spcBef>
                <a:spcPts val="0"/>
              </a:spcBef>
              <a:spcAft>
                <a:spcPts val="0"/>
              </a:spcAft>
            </a:pPr>
            <a:r>
              <a:rPr sz="3600" b="1" i="0">
                <a:solidFill>
                  <a:srgbClr val="16324F"/>
                </a:solidFill>
                <a:latin typeface="Calibri"/>
              </a:rPr>
              <a:t>8,14%</a:t>
            </a:r>
          </a:p>
        </p:txBody>
      </p:sp>
      <p:sp>
        <p:nvSpPr>
          <p:cNvPr id="11" name="body"/>
          <p:cNvSpPr txBox="1"/>
          <p:nvPr/>
        </p:nvSpPr>
        <p:spPr>
          <a:xfrm>
            <a:off x="6949440" y="3986784"/>
            <a:ext cx="4419295" cy="640080"/>
          </a:xfrm>
          <a:prstGeom prst="rect">
            <a:avLst/>
          </a:prstGeom>
          <a:noFill/>
        </p:spPr>
        <p:txBody>
          <a:bodyPr wrap="square" lIns="0" rIns="0" tIns="0" bIns="0" anchor="t">
            <a:noAutofit/>
          </a:bodyPr>
          <a:lstStyle/>
          <a:p>
            <a:pPr algn="l">
              <a:lnSpc>
                <a:spcPct val="98000"/>
              </a:lnSpc>
              <a:spcBef>
                <a:spcPts val="0"/>
              </a:spcBef>
              <a:spcAft>
                <a:spcPts val="0"/>
              </a:spcAft>
            </a:pPr>
            <a:r>
              <a:rPr sz="1500" b="0" i="0">
                <a:solidFill>
                  <a:srgbClr val="1F2933"/>
                </a:solidFill>
                <a:latin typeface="Calibri"/>
              </a:rPr>
              <a:t>kawasan uji yang memakai model ini; 91,86% sisanya disalin</a:t>
            </a:r>
          </a:p>
        </p:txBody>
      </p:sp>
      <p:sp>
        <p:nvSpPr>
          <p:cNvPr id="12" name="Rounded Rectangle 11"/>
          <p:cNvSpPr/>
          <p:nvPr/>
        </p:nvSpPr>
        <p:spPr>
          <a:xfrm>
            <a:off x="548640" y="5596128"/>
            <a:ext cx="4084467" cy="292608"/>
          </a:xfrm>
          <a:prstGeom prst="roundRect">
            <a:avLst>
              <a:gd name="adj" fmla="val 25000"/>
            </a:avLst>
          </a:prstGeom>
          <a:solidFill>
            <a:srgbClr val="E3F1F4"/>
          </a:solidFill>
          <a:ln>
            <a:noFill/>
          </a:ln>
        </p:spPr>
        <p:txBody>
          <a:bodyPr rtlCol="0" anchor="ctr"/>
          <a:lstStyle/>
          <a:p>
            <a:pPr algn="ctr"/>
          </a:p>
        </p:txBody>
      </p:sp>
      <p:sp>
        <p:nvSpPr>
          <p:cNvPr id="13" name="sumber"/>
          <p:cNvSpPr txBox="1"/>
          <p:nvPr/>
        </p:nvSpPr>
        <p:spPr>
          <a:xfrm>
            <a:off x="667512" y="5632704"/>
            <a:ext cx="3865011"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7606E"/>
                </a:solidFill>
                <a:latin typeface="Calibri"/>
              </a:rPr>
              <a:t>HASIL</a:t>
            </a:r>
            <a:r>
              <a:rPr sz="1200" b="0" i="0">
                <a:solidFill>
                  <a:srgbClr val="17606E"/>
                </a:solidFill>
                <a:latin typeface="Calibri"/>
              </a:rPr>
              <a:t> · sel 35 (CV rmse unseen-weighted 1,0303) dan sel 39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Uji label acak: fitur bertarget tidak berubah saat label baris yang dinilai diacak</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CADANGAN C7 · TANYA JAWAB</a:t>
            </a:r>
          </a:p>
        </p:txBody>
      </p:sp>
      <p:sp>
        <p:nvSpPr>
          <p:cNvPr id="4"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5"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C7</a:t>
            </a:r>
          </a:p>
        </p:txBody>
      </p:sp>
      <p:sp>
        <p:nvSpPr>
          <p:cNvPr id="6" name="tabel"/>
          <p:cNvSpPr txBox="1"/>
          <p:nvPr/>
        </p:nvSpPr>
        <p:spPr>
          <a:xfrm>
            <a:off x="548640" y="1783080"/>
            <a:ext cx="3447288" cy="310896"/>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F6B7A"/>
                </a:solidFill>
                <a:latin typeface="Calibri"/>
              </a:rPr>
              <a:t>Blok fitur (fold 0 dari 10)</a:t>
            </a:r>
          </a:p>
        </p:txBody>
      </p:sp>
      <p:sp>
        <p:nvSpPr>
          <p:cNvPr id="7" name="tabel"/>
          <p:cNvSpPr txBox="1"/>
          <p:nvPr/>
        </p:nvSpPr>
        <p:spPr>
          <a:xfrm>
            <a:off x="4069080" y="1783080"/>
            <a:ext cx="749808"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Kolom</a:t>
            </a:r>
          </a:p>
        </p:txBody>
      </p:sp>
      <p:sp>
        <p:nvSpPr>
          <p:cNvPr id="8" name="tabel"/>
          <p:cNvSpPr txBox="1"/>
          <p:nvPr/>
        </p:nvSpPr>
        <p:spPr>
          <a:xfrm>
            <a:off x="4892040" y="1783080"/>
            <a:ext cx="1024127"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Baris</a:t>
            </a:r>
          </a:p>
        </p:txBody>
      </p:sp>
      <p:sp>
        <p:nvSpPr>
          <p:cNvPr id="9" name="tabel"/>
          <p:cNvSpPr txBox="1"/>
          <p:nvPr/>
        </p:nvSpPr>
        <p:spPr>
          <a:xfrm>
            <a:off x="5989320" y="1783080"/>
            <a:ext cx="1207007"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Berubah</a:t>
            </a:r>
          </a:p>
        </p:txBody>
      </p:sp>
      <p:cxnSp>
        <p:nvCxnSpPr>
          <p:cNvPr id="10" name="Connector 9"/>
          <p:cNvCxnSpPr/>
          <p:nvPr/>
        </p:nvCxnSpPr>
        <p:spPr>
          <a:xfrm>
            <a:off x="548640" y="2148840"/>
            <a:ext cx="6720839" cy="0"/>
          </a:xfrm>
          <a:prstGeom prst="line">
            <a:avLst/>
          </a:prstGeom>
          <a:ln w="12700">
            <a:solidFill>
              <a:srgbClr val="D5DBE3"/>
            </a:solidFill>
          </a:ln>
        </p:spPr>
      </p:cxnSp>
      <p:sp>
        <p:nvSpPr>
          <p:cNvPr id="11" name="tabel"/>
          <p:cNvSpPr txBox="1"/>
          <p:nvPr/>
        </p:nvSpPr>
        <p:spPr>
          <a:xfrm>
            <a:off x="548640" y="2240280"/>
            <a:ext cx="34472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kNN-target, baris validasi</a:t>
            </a:r>
          </a:p>
        </p:txBody>
      </p:sp>
      <p:sp>
        <p:nvSpPr>
          <p:cNvPr id="12" name="tabel"/>
          <p:cNvSpPr txBox="1"/>
          <p:nvPr/>
        </p:nvSpPr>
        <p:spPr>
          <a:xfrm>
            <a:off x="4069080" y="2240280"/>
            <a:ext cx="74980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39</a:t>
            </a:r>
          </a:p>
        </p:txBody>
      </p:sp>
      <p:sp>
        <p:nvSpPr>
          <p:cNvPr id="13" name="tabel"/>
          <p:cNvSpPr txBox="1"/>
          <p:nvPr/>
        </p:nvSpPr>
        <p:spPr>
          <a:xfrm>
            <a:off x="4892040" y="2240280"/>
            <a:ext cx="102412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42.931</a:t>
            </a:r>
          </a:p>
        </p:txBody>
      </p:sp>
      <p:sp>
        <p:nvSpPr>
          <p:cNvPr id="14" name="tabel"/>
          <p:cNvSpPr txBox="1"/>
          <p:nvPr/>
        </p:nvSpPr>
        <p:spPr>
          <a:xfrm>
            <a:off x="5989320" y="2240280"/>
            <a:ext cx="120700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a:t>
            </a:r>
          </a:p>
        </p:txBody>
      </p:sp>
      <p:sp>
        <p:nvSpPr>
          <p:cNvPr id="15" name="tabel"/>
          <p:cNvSpPr txBox="1"/>
          <p:nvPr/>
        </p:nvSpPr>
        <p:spPr>
          <a:xfrm>
            <a:off x="548640" y="2606040"/>
            <a:ext cx="34472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kNN-target, data uji</a:t>
            </a:r>
          </a:p>
        </p:txBody>
      </p:sp>
      <p:sp>
        <p:nvSpPr>
          <p:cNvPr id="16" name="tabel"/>
          <p:cNvSpPr txBox="1"/>
          <p:nvPr/>
        </p:nvSpPr>
        <p:spPr>
          <a:xfrm>
            <a:off x="4069080" y="2606040"/>
            <a:ext cx="74980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39</a:t>
            </a:r>
          </a:p>
        </p:txBody>
      </p:sp>
      <p:sp>
        <p:nvSpPr>
          <p:cNvPr id="17" name="tabel"/>
          <p:cNvSpPr txBox="1"/>
          <p:nvPr/>
        </p:nvSpPr>
        <p:spPr>
          <a:xfrm>
            <a:off x="4892040" y="2606040"/>
            <a:ext cx="102412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183.987</a:t>
            </a:r>
          </a:p>
        </p:txBody>
      </p:sp>
      <p:sp>
        <p:nvSpPr>
          <p:cNvPr id="18" name="tabel"/>
          <p:cNvSpPr txBox="1"/>
          <p:nvPr/>
        </p:nvSpPr>
        <p:spPr>
          <a:xfrm>
            <a:off x="5989320" y="2606040"/>
            <a:ext cx="120700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a:t>
            </a:r>
          </a:p>
        </p:txBody>
      </p:sp>
      <p:sp>
        <p:nvSpPr>
          <p:cNvPr id="19" name="tabel"/>
          <p:cNvSpPr txBox="1"/>
          <p:nvPr/>
        </p:nvSpPr>
        <p:spPr>
          <a:xfrm>
            <a:off x="548640" y="2971800"/>
            <a:ext cx="34472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rata-rata wilayah, validasi</a:t>
            </a:r>
          </a:p>
        </p:txBody>
      </p:sp>
      <p:sp>
        <p:nvSpPr>
          <p:cNvPr id="20" name="tabel"/>
          <p:cNvSpPr txBox="1"/>
          <p:nvPr/>
        </p:nvSpPr>
        <p:spPr>
          <a:xfrm>
            <a:off x="4069080" y="2971800"/>
            <a:ext cx="74980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42</a:t>
            </a:r>
          </a:p>
        </p:txBody>
      </p:sp>
      <p:sp>
        <p:nvSpPr>
          <p:cNvPr id="21" name="tabel"/>
          <p:cNvSpPr txBox="1"/>
          <p:nvPr/>
        </p:nvSpPr>
        <p:spPr>
          <a:xfrm>
            <a:off x="4892040" y="2971800"/>
            <a:ext cx="102412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42.931</a:t>
            </a:r>
          </a:p>
        </p:txBody>
      </p:sp>
      <p:sp>
        <p:nvSpPr>
          <p:cNvPr id="22" name="tabel"/>
          <p:cNvSpPr txBox="1"/>
          <p:nvPr/>
        </p:nvSpPr>
        <p:spPr>
          <a:xfrm>
            <a:off x="5989320" y="2971800"/>
            <a:ext cx="120700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a:t>
            </a:r>
          </a:p>
        </p:txBody>
      </p:sp>
      <p:sp>
        <p:nvSpPr>
          <p:cNvPr id="23" name="tabel"/>
          <p:cNvSpPr txBox="1"/>
          <p:nvPr/>
        </p:nvSpPr>
        <p:spPr>
          <a:xfrm>
            <a:off x="548640" y="3337560"/>
            <a:ext cx="34472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rata-rata wilayah, data uji</a:t>
            </a:r>
          </a:p>
        </p:txBody>
      </p:sp>
      <p:sp>
        <p:nvSpPr>
          <p:cNvPr id="24" name="tabel"/>
          <p:cNvSpPr txBox="1"/>
          <p:nvPr/>
        </p:nvSpPr>
        <p:spPr>
          <a:xfrm>
            <a:off x="4069080" y="3337560"/>
            <a:ext cx="74980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42</a:t>
            </a:r>
          </a:p>
        </p:txBody>
      </p:sp>
      <p:sp>
        <p:nvSpPr>
          <p:cNvPr id="25" name="tabel"/>
          <p:cNvSpPr txBox="1"/>
          <p:nvPr/>
        </p:nvSpPr>
        <p:spPr>
          <a:xfrm>
            <a:off x="4892040" y="3337560"/>
            <a:ext cx="102412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183.987</a:t>
            </a:r>
          </a:p>
        </p:txBody>
      </p:sp>
      <p:sp>
        <p:nvSpPr>
          <p:cNvPr id="26" name="tabel"/>
          <p:cNvSpPr txBox="1"/>
          <p:nvPr/>
        </p:nvSpPr>
        <p:spPr>
          <a:xfrm>
            <a:off x="5989320" y="3337560"/>
            <a:ext cx="120700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a:t>
            </a:r>
          </a:p>
        </p:txBody>
      </p:sp>
      <p:sp>
        <p:nvSpPr>
          <p:cNvPr id="27" name="tabel"/>
          <p:cNvSpPr txBox="1"/>
          <p:nvPr/>
        </p:nvSpPr>
        <p:spPr>
          <a:xfrm>
            <a:off x="548640" y="3703320"/>
            <a:ext cx="34472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kNN-target, baris latih bagian 0</a:t>
            </a:r>
          </a:p>
        </p:txBody>
      </p:sp>
      <p:sp>
        <p:nvSpPr>
          <p:cNvPr id="28" name="tabel"/>
          <p:cNvSpPr txBox="1"/>
          <p:nvPr/>
        </p:nvSpPr>
        <p:spPr>
          <a:xfrm>
            <a:off x="4069080" y="3703320"/>
            <a:ext cx="74980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39</a:t>
            </a:r>
          </a:p>
        </p:txBody>
      </p:sp>
      <p:sp>
        <p:nvSpPr>
          <p:cNvPr id="29" name="tabel"/>
          <p:cNvSpPr txBox="1"/>
          <p:nvPr/>
        </p:nvSpPr>
        <p:spPr>
          <a:xfrm>
            <a:off x="4892040" y="3703320"/>
            <a:ext cx="102412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77.275</a:t>
            </a:r>
          </a:p>
        </p:txBody>
      </p:sp>
      <p:sp>
        <p:nvSpPr>
          <p:cNvPr id="30" name="tabel"/>
          <p:cNvSpPr txBox="1"/>
          <p:nvPr/>
        </p:nvSpPr>
        <p:spPr>
          <a:xfrm>
            <a:off x="5989320" y="3703320"/>
            <a:ext cx="120700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a:t>
            </a:r>
          </a:p>
        </p:txBody>
      </p:sp>
      <p:sp>
        <p:nvSpPr>
          <p:cNvPr id="31" name="tabel"/>
          <p:cNvSpPr txBox="1"/>
          <p:nvPr/>
        </p:nvSpPr>
        <p:spPr>
          <a:xfrm>
            <a:off x="548640" y="4069080"/>
            <a:ext cx="34472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rata-rata wilayah, baris latih bagian 0</a:t>
            </a:r>
          </a:p>
        </p:txBody>
      </p:sp>
      <p:sp>
        <p:nvSpPr>
          <p:cNvPr id="32" name="tabel"/>
          <p:cNvSpPr txBox="1"/>
          <p:nvPr/>
        </p:nvSpPr>
        <p:spPr>
          <a:xfrm>
            <a:off x="4069080" y="4069080"/>
            <a:ext cx="74980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42</a:t>
            </a:r>
          </a:p>
        </p:txBody>
      </p:sp>
      <p:sp>
        <p:nvSpPr>
          <p:cNvPr id="33" name="tabel"/>
          <p:cNvSpPr txBox="1"/>
          <p:nvPr/>
        </p:nvSpPr>
        <p:spPr>
          <a:xfrm>
            <a:off x="4892040" y="4069080"/>
            <a:ext cx="102412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77.275</a:t>
            </a:r>
          </a:p>
        </p:txBody>
      </p:sp>
      <p:sp>
        <p:nvSpPr>
          <p:cNvPr id="34" name="tabel"/>
          <p:cNvSpPr txBox="1"/>
          <p:nvPr/>
        </p:nvSpPr>
        <p:spPr>
          <a:xfrm>
            <a:off x="5989320" y="4069080"/>
            <a:ext cx="120700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0</a:t>
            </a:r>
          </a:p>
        </p:txBody>
      </p:sp>
      <p:sp>
        <p:nvSpPr>
          <p:cNvPr id="35" name="tabel"/>
          <p:cNvSpPr txBox="1"/>
          <p:nvPr/>
        </p:nvSpPr>
        <p:spPr>
          <a:xfrm>
            <a:off x="548640" y="4434840"/>
            <a:ext cx="3447288" cy="365760"/>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F2933"/>
                </a:solidFill>
                <a:latin typeface="Calibri"/>
              </a:rPr>
              <a:t>KONTROL: tetangga termasuk validasi</a:t>
            </a:r>
          </a:p>
        </p:txBody>
      </p:sp>
      <p:sp>
        <p:nvSpPr>
          <p:cNvPr id="36" name="tabel"/>
          <p:cNvSpPr txBox="1"/>
          <p:nvPr/>
        </p:nvSpPr>
        <p:spPr>
          <a:xfrm>
            <a:off x="4069080" y="4434840"/>
            <a:ext cx="749808"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15</a:t>
            </a:r>
          </a:p>
        </p:txBody>
      </p:sp>
      <p:sp>
        <p:nvSpPr>
          <p:cNvPr id="37" name="tabel"/>
          <p:cNvSpPr txBox="1"/>
          <p:nvPr/>
        </p:nvSpPr>
        <p:spPr>
          <a:xfrm>
            <a:off x="4892040" y="4434840"/>
            <a:ext cx="102412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42.931</a:t>
            </a:r>
          </a:p>
        </p:txBody>
      </p:sp>
      <p:sp>
        <p:nvSpPr>
          <p:cNvPr id="38" name="tabel"/>
          <p:cNvSpPr txBox="1"/>
          <p:nvPr/>
        </p:nvSpPr>
        <p:spPr>
          <a:xfrm>
            <a:off x="5989320" y="4434840"/>
            <a:ext cx="1207007" cy="365760"/>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1F2933"/>
                </a:solidFill>
                <a:latin typeface="Calibri"/>
              </a:rPr>
              <a:t>42.931</a:t>
            </a:r>
          </a:p>
        </p:txBody>
      </p:sp>
      <p:sp>
        <p:nvSpPr>
          <p:cNvPr id="39" name="body"/>
          <p:cNvSpPr txBox="1"/>
          <p:nvPr/>
        </p:nvSpPr>
        <p:spPr>
          <a:xfrm>
            <a:off x="7635240" y="1783080"/>
            <a:ext cx="4007815" cy="2286000"/>
          </a:xfrm>
          <a:prstGeom prst="rect">
            <a:avLst/>
          </a:prstGeom>
          <a:noFill/>
        </p:spPr>
        <p:txBody>
          <a:bodyPr wrap="square" lIns="0" rIns="0" tIns="0" bIns="0" anchor="t">
            <a:noAutofit/>
          </a:bodyPr>
          <a:lstStyle/>
          <a:p>
            <a:pPr algn="l">
              <a:lnSpc>
                <a:spcPct val="98000"/>
              </a:lnSpc>
              <a:spcBef>
                <a:spcPts val="0"/>
              </a:spcBef>
              <a:spcAft>
                <a:spcPts val="600"/>
              </a:spcAft>
            </a:pPr>
            <a:r>
              <a:rPr sz="1300" b="0" i="0">
                <a:solidFill>
                  <a:srgbClr val="1F2933"/>
                </a:solidFill>
                <a:latin typeface="Calibri"/>
              </a:rPr>
              <a:t>Label kelima target diacak (1) di baris validasi dan (2) di satu bagian dalam baris latih; fitur dihitung ulang dengan modul notebook yang sama.</a:t>
            </a:r>
          </a:p>
          <a:p>
            <a:pPr algn="l">
              <a:lnSpc>
                <a:spcPct val="98000"/>
              </a:lnSpc>
              <a:spcBef>
                <a:spcPts val="0"/>
              </a:spcBef>
              <a:spcAft>
                <a:spcPts val="0"/>
              </a:spcAft>
            </a:pPr>
            <a:r>
              <a:rPr sz="1300" b="0" i="0">
                <a:solidFill>
                  <a:srgbClr val="1F2933"/>
                </a:solidFill>
                <a:latin typeface="Calibri"/>
              </a:rPr>
              <a:t>Lulus bila blok yang tidak boleh membaca label itu identik bit, dan kontrol bocor berubah. Cakupan: satu fold, kNN-target dan rata-rata wilayah.</a:t>
            </a:r>
          </a:p>
        </p:txBody>
      </p:sp>
      <p:sp>
        <p:nvSpPr>
          <p:cNvPr id="40" name="body"/>
          <p:cNvSpPr txBox="1"/>
          <p:nvPr/>
        </p:nvSpPr>
        <p:spPr>
          <a:xfrm>
            <a:off x="7635240" y="4206240"/>
            <a:ext cx="4007815" cy="1188720"/>
          </a:xfrm>
          <a:prstGeom prst="rect">
            <a:avLst/>
          </a:prstGeom>
          <a:noFill/>
        </p:spPr>
        <p:txBody>
          <a:bodyPr wrap="square" lIns="0" rIns="0" tIns="0" bIns="0" anchor="t">
            <a:noAutofit/>
          </a:bodyPr>
          <a:lstStyle/>
          <a:p>
            <a:pPr algn="l">
              <a:lnSpc>
                <a:spcPct val="98000"/>
              </a:lnSpc>
              <a:spcBef>
                <a:spcPts val="0"/>
              </a:spcBef>
              <a:spcAft>
                <a:spcPts val="0"/>
              </a:spcAft>
            </a:pPr>
            <a:r>
              <a:rPr sz="1300" b="0" i="0">
                <a:solidFill>
                  <a:srgbClr val="16324F"/>
                </a:solidFill>
                <a:latin typeface="Calibri"/>
              </a:rPr>
              <a:t>Bobot dari prediksi </a:t>
            </a:r>
            <a:r>
              <a:rPr sz="1300" b="0" i="1">
                <a:solidFill>
                  <a:srgbClr val="16324F"/>
                </a:solidFill>
                <a:latin typeface="Calibri"/>
              </a:rPr>
              <a:t>out-of-fold</a:t>
            </a:r>
            <a:r>
              <a:rPr sz="1300" b="0" i="0">
                <a:solidFill>
                  <a:srgbClr val="16324F"/>
                </a:solidFill>
                <a:latin typeface="Calibri"/>
              </a:rPr>
              <a:t> (0,25096) setara dengan bobot yang di-fit di </a:t>
            </a:r>
            <a:r>
              <a:rPr sz="1300" b="0" i="1">
                <a:solidFill>
                  <a:srgbClr val="16324F"/>
                </a:solidFill>
                <a:latin typeface="Calibri"/>
              </a:rPr>
              <a:t>holdout set</a:t>
            </a:r>
            <a:r>
              <a:rPr sz="1300" b="0" i="0">
                <a:solidFill>
                  <a:srgbClr val="16324F"/>
                </a:solidFill>
                <a:latin typeface="Calibri"/>
              </a:rPr>
              <a:t> (0,25095); ensemble pengembangan 13 Okt (D002).</a:t>
            </a:r>
          </a:p>
        </p:txBody>
      </p:sp>
      <p:sp>
        <p:nvSpPr>
          <p:cNvPr id="41" name="Rounded Rectangle 40"/>
          <p:cNvSpPr/>
          <p:nvPr/>
        </p:nvSpPr>
        <p:spPr>
          <a:xfrm>
            <a:off x="548640" y="5596128"/>
            <a:ext cx="7360389" cy="292608"/>
          </a:xfrm>
          <a:prstGeom prst="roundRect">
            <a:avLst>
              <a:gd name="adj" fmla="val 25000"/>
            </a:avLst>
          </a:prstGeom>
          <a:solidFill>
            <a:srgbClr val="E3F1F4"/>
          </a:solidFill>
          <a:ln>
            <a:noFill/>
          </a:ln>
        </p:spPr>
        <p:txBody>
          <a:bodyPr rtlCol="0" anchor="ctr"/>
          <a:lstStyle/>
          <a:p>
            <a:pPr algn="ctr"/>
          </a:p>
        </p:txBody>
      </p:sp>
      <p:sp>
        <p:nvSpPr>
          <p:cNvPr id="42" name="sumber"/>
          <p:cNvSpPr txBox="1"/>
          <p:nvPr/>
        </p:nvSpPr>
        <p:spPr>
          <a:xfrm>
            <a:off x="667512" y="5632704"/>
            <a:ext cx="7140933"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7606E"/>
                </a:solidFill>
                <a:latin typeface="Calibri"/>
              </a:rPr>
              <a:t>HASIL</a:t>
            </a:r>
            <a:r>
              <a:rPr sz="1200" b="0" i="0">
                <a:solidFill>
                  <a:srgbClr val="17606E"/>
                </a:solidFill>
                <a:latin typeface="Calibri"/>
              </a:rPr>
              <a:t> · bukti/uji_kebocoran_notebook.json dan uji_kebocoran_oof_dalam.json; tests/test_no_leakage.py (LK1)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4415" cy="960120"/>
          </a:xfrm>
        </p:spPr>
        <p:txBody>
          <a:bodyPr wrap="square" lIns="0" rIns="0" tIns="0" bIns="0" anchor="t">
            <a:noAutofit/>
          </a:bodyPr>
          <a:lstStyle/>
          <a:p>
            <a:pPr algn="l">
              <a:lnSpc>
                <a:spcPct val="95000"/>
              </a:lnSpc>
              <a:spcBef>
                <a:spcPts val="0"/>
              </a:spcBef>
              <a:spcAft>
                <a:spcPts val="0"/>
              </a:spcAft>
            </a:pPr>
            <a:r>
              <a:rPr sz="2800" b="1" i="0">
                <a:solidFill>
                  <a:srgbClr val="1F2933"/>
                </a:solidFill>
                <a:latin typeface="Calibri"/>
              </a:rPr>
              <a:t>SHAP dibaca dari model penjelas terpisah karena gabungan 41 model memakai fitur yang bukan tuas kebijakan</a:t>
            </a:r>
          </a:p>
        </p:txBody>
      </p:sp>
      <p:sp>
        <p:nvSpPr>
          <p:cNvPr id="3" name="kicker"/>
          <p:cNvSpPr txBox="1"/>
          <p:nvPr/>
        </p:nvSpPr>
        <p:spPr>
          <a:xfrm>
            <a:off x="548640" y="347472"/>
            <a:ext cx="86868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spc="120">
                <a:solidFill>
                  <a:srgbClr val="1F7A8C"/>
                </a:solidFill>
                <a:latin typeface="Calibri"/>
              </a:rPr>
              <a:t>CADANGAN C8 · TANYA JAWAB</a:t>
            </a:r>
          </a:p>
        </p:txBody>
      </p:sp>
      <p:sp>
        <p:nvSpPr>
          <p:cNvPr id="4" name="footer"/>
          <p:cNvSpPr txBox="1"/>
          <p:nvPr/>
        </p:nvSpPr>
        <p:spPr>
          <a:xfrm>
            <a:off x="548640" y="6473952"/>
            <a:ext cx="54864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6B7A"/>
                </a:solidFill>
                <a:latin typeface="Calibri"/>
              </a:rPr>
              <a:t>Tim BISMILLAH · DICE FEST 2026 · Babak final</a:t>
            </a:r>
          </a:p>
        </p:txBody>
      </p:sp>
      <p:sp>
        <p:nvSpPr>
          <p:cNvPr id="5" name="footer"/>
          <p:cNvSpPr txBox="1"/>
          <p:nvPr/>
        </p:nvSpPr>
        <p:spPr>
          <a:xfrm>
            <a:off x="10271455" y="6473952"/>
            <a:ext cx="13716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F6B7A"/>
                </a:solidFill>
                <a:latin typeface="Calibri"/>
              </a:rPr>
              <a:t>C8</a:t>
            </a:r>
          </a:p>
        </p:txBody>
      </p:sp>
      <p:sp>
        <p:nvSpPr>
          <p:cNvPr id="6" name="tabel"/>
          <p:cNvSpPr txBox="1"/>
          <p:nvPr/>
        </p:nvSpPr>
        <p:spPr>
          <a:xfrm>
            <a:off x="548640" y="1783080"/>
            <a:ext cx="3584448" cy="310896"/>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F6B7A"/>
                </a:solidFill>
                <a:latin typeface="Calibri"/>
              </a:rPr>
              <a:t>Model penjelas</a:t>
            </a:r>
          </a:p>
        </p:txBody>
      </p:sp>
      <p:sp>
        <p:nvSpPr>
          <p:cNvPr id="7" name="tabel"/>
          <p:cNvSpPr txBox="1"/>
          <p:nvPr/>
        </p:nvSpPr>
        <p:spPr>
          <a:xfrm>
            <a:off x="4206240" y="1783080"/>
            <a:ext cx="1024127" cy="310896"/>
          </a:xfrm>
          <a:prstGeom prst="rect">
            <a:avLst/>
          </a:prstGeom>
          <a:noFill/>
        </p:spPr>
        <p:txBody>
          <a:bodyPr wrap="square" lIns="0" rIns="0" tIns="0" bIns="0" anchor="t">
            <a:noAutofit/>
          </a:bodyPr>
          <a:lstStyle/>
          <a:p>
            <a:pPr algn="r">
              <a:lnSpc>
                <a:spcPct val="100000"/>
              </a:lnSpc>
              <a:spcBef>
                <a:spcPts val="0"/>
              </a:spcBef>
              <a:spcAft>
                <a:spcPts val="0"/>
              </a:spcAft>
            </a:pPr>
            <a:r>
              <a:rPr sz="1200" b="1" i="0">
                <a:solidFill>
                  <a:srgbClr val="5F6B7A"/>
                </a:solidFill>
                <a:latin typeface="Calibri"/>
              </a:rPr>
              <a:t>R²</a:t>
            </a:r>
          </a:p>
        </p:txBody>
      </p:sp>
      <p:cxnSp>
        <p:nvCxnSpPr>
          <p:cNvPr id="8" name="Connector 7"/>
          <p:cNvCxnSpPr/>
          <p:nvPr/>
        </p:nvCxnSpPr>
        <p:spPr>
          <a:xfrm>
            <a:off x="548640" y="2148840"/>
            <a:ext cx="4754880" cy="0"/>
          </a:xfrm>
          <a:prstGeom prst="line">
            <a:avLst/>
          </a:prstGeom>
          <a:ln w="12700">
            <a:solidFill>
              <a:srgbClr val="D5DBE3"/>
            </a:solidFill>
          </a:ln>
        </p:spPr>
      </p:cxnSp>
      <p:sp>
        <p:nvSpPr>
          <p:cNvPr id="9" name="tabel"/>
          <p:cNvSpPr txBox="1"/>
          <p:nvPr/>
        </p:nvSpPr>
        <p:spPr>
          <a:xfrm>
            <a:off x="548640" y="2240280"/>
            <a:ext cx="3584448" cy="438912"/>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log intensitas gas (EUI)</a:t>
            </a:r>
          </a:p>
        </p:txBody>
      </p:sp>
      <p:sp>
        <p:nvSpPr>
          <p:cNvPr id="10" name="tabel"/>
          <p:cNvSpPr txBox="1"/>
          <p:nvPr/>
        </p:nvSpPr>
        <p:spPr>
          <a:xfrm>
            <a:off x="4206240" y="2240280"/>
            <a:ext cx="1024127" cy="438912"/>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0,563</a:t>
            </a:r>
          </a:p>
        </p:txBody>
      </p:sp>
      <p:sp>
        <p:nvSpPr>
          <p:cNvPr id="11" name="tabel"/>
          <p:cNvSpPr txBox="1"/>
          <p:nvPr/>
        </p:nvSpPr>
        <p:spPr>
          <a:xfrm>
            <a:off x="548640" y="2679192"/>
            <a:ext cx="3584448" cy="438912"/>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log gas per meter</a:t>
            </a:r>
          </a:p>
        </p:txBody>
      </p:sp>
      <p:sp>
        <p:nvSpPr>
          <p:cNvPr id="12" name="tabel"/>
          <p:cNvSpPr txBox="1"/>
          <p:nvPr/>
        </p:nvSpPr>
        <p:spPr>
          <a:xfrm>
            <a:off x="4206240" y="2679192"/>
            <a:ext cx="1024127" cy="438912"/>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0,747</a:t>
            </a:r>
          </a:p>
        </p:txBody>
      </p:sp>
      <p:sp>
        <p:nvSpPr>
          <p:cNvPr id="13" name="tabel"/>
          <p:cNvSpPr txBox="1"/>
          <p:nvPr/>
        </p:nvSpPr>
        <p:spPr>
          <a:xfrm>
            <a:off x="548640" y="3118104"/>
            <a:ext cx="3584448" cy="438912"/>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log listrik per meter</a:t>
            </a:r>
          </a:p>
        </p:txBody>
      </p:sp>
      <p:sp>
        <p:nvSpPr>
          <p:cNvPr id="14" name="tabel"/>
          <p:cNvSpPr txBox="1"/>
          <p:nvPr/>
        </p:nvSpPr>
        <p:spPr>
          <a:xfrm>
            <a:off x="4206240" y="3118104"/>
            <a:ext cx="1024127" cy="438912"/>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0,491</a:t>
            </a:r>
          </a:p>
        </p:txBody>
      </p:sp>
      <p:sp>
        <p:nvSpPr>
          <p:cNvPr id="15" name="tabel"/>
          <p:cNvSpPr txBox="1"/>
          <p:nvPr/>
        </p:nvSpPr>
        <p:spPr>
          <a:xfrm>
            <a:off x="548640" y="3557016"/>
            <a:ext cx="3584448" cy="438912"/>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F2933"/>
                </a:solidFill>
                <a:latin typeface="Calibri"/>
              </a:rPr>
              <a:t>adopsi pemanas listrik</a:t>
            </a:r>
          </a:p>
        </p:txBody>
      </p:sp>
      <p:sp>
        <p:nvSpPr>
          <p:cNvPr id="16" name="tabel"/>
          <p:cNvSpPr txBox="1"/>
          <p:nvPr/>
        </p:nvSpPr>
        <p:spPr>
          <a:xfrm>
            <a:off x="4206240" y="3557016"/>
            <a:ext cx="1024127" cy="438912"/>
          </a:xfrm>
          <a:prstGeom prst="rect">
            <a:avLst/>
          </a:prstGeom>
          <a:noFill/>
        </p:spPr>
        <p:txBody>
          <a:bodyPr wrap="square" lIns="0" rIns="0" tIns="0" bIns="0" anchor="ctr">
            <a:noAutofit/>
          </a:bodyPr>
          <a:lstStyle/>
          <a:p>
            <a:pPr algn="r">
              <a:lnSpc>
                <a:spcPct val="100000"/>
              </a:lnSpc>
              <a:spcBef>
                <a:spcPts val="0"/>
              </a:spcBef>
              <a:spcAft>
                <a:spcPts val="0"/>
              </a:spcAft>
            </a:pPr>
            <a:r>
              <a:rPr sz="1600" b="0" i="0">
                <a:solidFill>
                  <a:srgbClr val="1F2933"/>
                </a:solidFill>
                <a:latin typeface="Calibri"/>
              </a:rPr>
              <a:t>0,991</a:t>
            </a:r>
          </a:p>
        </p:txBody>
      </p:sp>
      <p:sp>
        <p:nvSpPr>
          <p:cNvPr id="17" name="body"/>
          <p:cNvSpPr txBox="1"/>
          <p:nvPr/>
        </p:nvSpPr>
        <p:spPr>
          <a:xfrm>
            <a:off x="548640" y="4023360"/>
            <a:ext cx="4846320" cy="1371600"/>
          </a:xfrm>
          <a:prstGeom prst="rect">
            <a:avLst/>
          </a:prstGeom>
          <a:noFill/>
        </p:spPr>
        <p:txBody>
          <a:bodyPr wrap="square" lIns="0" rIns="0" tIns="0" bIns="0" anchor="t">
            <a:noAutofit/>
          </a:bodyPr>
          <a:lstStyle/>
          <a:p>
            <a:pPr algn="l">
              <a:lnSpc>
                <a:spcPct val="98000"/>
              </a:lnSpc>
              <a:spcBef>
                <a:spcPts val="0"/>
              </a:spcBef>
              <a:spcAft>
                <a:spcPts val="0"/>
              </a:spcAft>
            </a:pPr>
            <a:r>
              <a:rPr sz="1400" b="0" i="0">
                <a:solidFill>
                  <a:srgbClr val="5F6B7A"/>
                </a:solidFill>
                <a:latin typeface="Calibri"/>
              </a:rPr>
              <a:t>R² adopsi tinggi karena porsi jenis pemanas berjumlah 100%, bukan karena perilaku terjelaskan (identitas komposisi).</a:t>
            </a:r>
          </a:p>
        </p:txBody>
      </p:sp>
      <p:sp>
        <p:nvSpPr>
          <p:cNvPr id="18" name="body"/>
          <p:cNvSpPr txBox="1"/>
          <p:nvPr/>
        </p:nvSpPr>
        <p:spPr>
          <a:xfrm>
            <a:off x="5852160" y="1783080"/>
            <a:ext cx="5790895" cy="3566160"/>
          </a:xfrm>
          <a:prstGeom prst="rect">
            <a:avLst/>
          </a:prstGeom>
          <a:noFill/>
        </p:spPr>
        <p:txBody>
          <a:bodyPr wrap="square" lIns="0" rIns="0" tIns="0" bIns="0" anchor="t">
            <a:noAutofit/>
          </a:bodyPr>
          <a:lstStyle/>
          <a:p>
            <a:pPr algn="l" marL="228600" indent="-228600">
              <a:lnSpc>
                <a:spcPct val="98000"/>
              </a:lnSpc>
              <a:spcBef>
                <a:spcPts val="0"/>
              </a:spcBef>
              <a:spcAft>
                <a:spcPts val="800"/>
              </a:spcAft>
              <a:buFont typeface="Arial"/>
              <a:buChar char="•"/>
            </a:pPr>
            <a:r>
              <a:rPr sz="1500" b="0" i="0">
                <a:solidFill>
                  <a:srgbClr val="1F2933"/>
                </a:solidFill>
                <a:latin typeface="Calibri"/>
              </a:rPr>
              <a:t>Gabungan 41 model memakai rata-rata target wilayah, yang bukan tuas kebijakan, dan sulit dibaca.</a:t>
            </a:r>
          </a:p>
          <a:p>
            <a:pPr algn="l" marL="228600" indent="-228600">
              <a:lnSpc>
                <a:spcPct val="98000"/>
              </a:lnSpc>
              <a:spcBef>
                <a:spcPts val="0"/>
              </a:spcBef>
              <a:spcAft>
                <a:spcPts val="800"/>
              </a:spcAft>
              <a:buFont typeface="Arial"/>
              <a:buChar char="•"/>
            </a:pPr>
            <a:r>
              <a:rPr sz="1500" b="0" i="0">
                <a:solidFill>
                  <a:srgbClr val="1F2933"/>
                </a:solidFill>
                <a:latin typeface="Calibri"/>
              </a:rPr>
              <a:t>Model penjelas hanya memakai karakteristik terukur: bangunan, periode, komposisi pemanas, sosiodemografi, iklim, agregat kawasan.</a:t>
            </a:r>
          </a:p>
          <a:p>
            <a:pPr algn="l" marL="228600" indent="-228600">
              <a:lnSpc>
                <a:spcPct val="98000"/>
              </a:lnSpc>
              <a:spcBef>
                <a:spcPts val="0"/>
              </a:spcBef>
              <a:spcAft>
                <a:spcPts val="0"/>
              </a:spcAft>
              <a:buFont typeface="Arial"/>
              <a:buChar char="•"/>
            </a:pPr>
            <a:r>
              <a:rPr sz="1500" b="0" i="0">
                <a:solidFill>
                  <a:srgbClr val="1F2933"/>
                </a:solidFill>
                <a:latin typeface="Calibri"/>
              </a:rPr>
              <a:t>Porsi kontribusi (dibaca dari grafik sel 43): adopsi, komposisi pemanas sekitar 81% dan sosiodemografi sekitar 15%; listrik per meter, sosiodemografi sekitar 40%.</a:t>
            </a:r>
          </a:p>
        </p:txBody>
      </p:sp>
      <p:sp>
        <p:nvSpPr>
          <p:cNvPr id="19" name="Rounded Rectangle 18"/>
          <p:cNvSpPr/>
          <p:nvPr/>
        </p:nvSpPr>
        <p:spPr>
          <a:xfrm>
            <a:off x="548640" y="5596128"/>
            <a:ext cx="4417062" cy="292608"/>
          </a:xfrm>
          <a:prstGeom prst="roundRect">
            <a:avLst>
              <a:gd name="adj" fmla="val 25000"/>
            </a:avLst>
          </a:prstGeom>
          <a:solidFill>
            <a:srgbClr val="E3F1F4"/>
          </a:solidFill>
          <a:ln>
            <a:noFill/>
          </a:ln>
        </p:spPr>
        <p:txBody>
          <a:bodyPr rtlCol="0" anchor="ctr"/>
          <a:lstStyle/>
          <a:p>
            <a:pPr algn="ctr"/>
          </a:p>
        </p:txBody>
      </p:sp>
      <p:sp>
        <p:nvSpPr>
          <p:cNvPr id="20" name="sumber"/>
          <p:cNvSpPr txBox="1"/>
          <p:nvPr/>
        </p:nvSpPr>
        <p:spPr>
          <a:xfrm>
            <a:off x="667512" y="5632704"/>
            <a:ext cx="4197606" cy="219456"/>
          </a:xfrm>
          <a:prstGeom prst="rect">
            <a:avLst/>
          </a:prstGeom>
          <a:noFill/>
        </p:spPr>
        <p:txBody>
          <a:bodyPr wrap="square" lIns="0" rIns="0" tIns="0" bIns="0" anchor="ctr">
            <a:noAutofit/>
          </a:bodyPr>
          <a:lstStyle/>
          <a:p>
            <a:pPr algn="l">
              <a:lnSpc>
                <a:spcPct val="100000"/>
              </a:lnSpc>
              <a:spcBef>
                <a:spcPts val="0"/>
              </a:spcBef>
              <a:spcAft>
                <a:spcPts val="0"/>
              </a:spcAft>
            </a:pPr>
            <a:r>
              <a:rPr sz="1200" b="1" i="0">
                <a:solidFill>
                  <a:srgbClr val="17606E"/>
                </a:solidFill>
                <a:latin typeface="Calibri"/>
              </a:rPr>
              <a:t>HASIL</a:t>
            </a:r>
            <a:r>
              <a:rPr sz="1200" b="0" i="0">
                <a:solidFill>
                  <a:srgbClr val="17606E"/>
                </a:solidFill>
                <a:latin typeface="Calibri"/>
              </a:rPr>
              <a:t> · sel 40 sampai 43; LightGBM 800 putaran, TreeSHAP eksak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BISMILLAH: Dari prediksi energi ke urutan program 330 zona</dc:title>
  <dc:subject/>
  <dc:creator>Tim BISMILLAH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