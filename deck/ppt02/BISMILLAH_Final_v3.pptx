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 Pembukaan" id="{c61598db-b33e-665f-2f7f-65c08130182b}">
          <p14:sldIdLst>
            <p14:sldId id="256"/>
            <p14:sldId id="257"/>
          </p14:sldIdLst>
        </p14:section>
        <p14:section name="II. Rekayasa fitur" id="{a2eafa1d-b7c1-a5ab-3fcf-1c4b62c505d8}">
          <p14:sldIdLst>
            <p14:sldId id="258"/>
            <p14:sldId id="259"/>
            <p14:sldId id="260"/>
          </p14:sldIdLst>
        </p14:section>
        <p14:section name="III. Arsitektur model" id="{6ef95979-b8cc-bcea-ea92-9568c5a1ba98}">
          <p14:sldIdLst>
            <p14:sldId id="261"/>
            <p14:sldId id="262"/>
          </p14:sldIdLst>
        </p14:section>
        <p14:section name="IV. Kebijakan publik" id="{97d7b3a2-2b32-b2c1-426d-9f2562fe9ec3}">
          <p14:sldIdLst>
            <p14:sldId id="263"/>
            <p14:sldId id="264"/>
            <p14:sldId id="265"/>
            <p14:sldId id="266"/>
          </p14:sldIdLst>
        </p14:section>
        <p14:section name="V. Keterbatasan dan penutup" id="{6a460a51-b3e2-4864-2ac3-d45d3045aca6}">
          <p14:sldIdLst>
            <p14:sldId id="267"/>
            <p14:sldId id="268"/>
          </p14:sldIdLst>
        </p14:section>
        <p14:section name="Cadangan tanya jawab" id="{b85e0851-1f9b-4f93-9815-c17394393677}">
          <p14:sldIdLst>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5348025310931686"/>
          <c:y val="0.030303030303030328"/>
          <c:w val="0.46912502727471084"/>
          <c:h val="0.9393939393939393"/>
        </c:manualLayout>
      </c:layout>
      <c:barChart>
        <c:barDir val="bar"/>
        <c:grouping val="clustered"/>
        <c:varyColors val="0"/>
        <c:ser>
          <c:idx val="0"/>
          <c:order val="0"/>
          <c:tx>
            <c:strRef>
              <c:f>Sheet1!$B$1</c:f>
              <c:strCache>
                <c:ptCount val="1"/>
                <c:pt idx="0">
                  <c:v>nilai</c:v>
                </c:pt>
              </c:strCache>
            </c:strRef>
          </c:tx>
          <c:spPr>
            <a:solidFill>
              <a:srgbClr val="D97B2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B29"/>
              </a:solidFill>
              <a:effectLst/>
            </c:spPr>
          </c:dPt>
          <c:dPt>
            <c:idx val="1"/>
            <c:invertIfNegative val="0"/>
            <c:bubble3D val="0"/>
            <c:spPr>
              <a:solidFill>
                <a:srgbClr val="A7B1BD"/>
              </a:solidFill>
              <a:effectLst/>
            </c:spPr>
          </c:dPt>
          <c:dPt>
            <c:idx val="2"/>
            <c:invertIfNegative val="0"/>
            <c:bubble3D val="0"/>
            <c:spPr>
              <a:solidFill>
                <a:srgbClr val="A7B1BD"/>
              </a:solidFill>
              <a:effectLst/>
            </c:spPr>
          </c:dPt>
          <c:dPt>
            <c:idx val="3"/>
            <c:invertIfNegative val="0"/>
            <c:bubble3D val="0"/>
            <c:spPr>
              <a:solidFill>
                <a:srgbClr val="A7B1BD"/>
              </a:solidFill>
              <a:effectLst/>
            </c:spPr>
          </c:dPt>
          <c:dPt>
            <c:idx val="4"/>
            <c:invertIfNegative val="0"/>
            <c:bubble3D val="0"/>
            <c:spPr>
              <a:solidFill>
                <a:srgbClr val="A7B1BD"/>
              </a:solidFill>
              <a:effectLst/>
            </c:spPr>
          </c:dPt>
          <c:cat>
            <c:multiLvlStrRef>
              <c:f>Sheet1!$A$2:$A$6</c:f>
              <c:multiLvlStrCache>
                <c:ptCount val="5"/>
                <c:lvl>
                  <c:pt idx="0">
                    <c:v>area_per_meter</c:v>
                  </c:pt>
                  <c:pt idx="1">
                    <c:v>env_climate_05</c:v>
                  </c:pt>
                  <c:pt idx="2">
                    <c:v>socio_demog_082</c:v>
                  </c:pt>
                  <c:pt idx="3">
                    <c:v>area_per_epc</c:v>
                  </c:pt>
                  <c:pt idx="4">
                    <c:v>s002_ratio</c:v>
                  </c:pt>
                </c:lvl>
              </c:multiLvlStrCache>
            </c:multiLvlStrRef>
          </c:cat>
          <c:val>
            <c:numRef>
              <c:f>Sheet1!$B$2:$B$6</c:f>
              <c:numCache>
                <c:formatCode>General</c:formatCode>
                <c:ptCount val="5"/>
                <c:pt idx="0">
                  <c:v>0.0895</c:v>
                </c:pt>
                <c:pt idx="1">
                  <c:v>0.0321</c:v>
                </c:pt>
                <c:pt idx="2">
                  <c:v>0.0276</c:v>
                </c:pt>
                <c:pt idx="3">
                  <c:v>0.026</c:v>
                </c:pt>
                <c:pt idx="4">
                  <c:v>0.025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5348025310931686"/>
          <c:y val="0.030303030303030328"/>
          <c:w val="0.46912502727471084"/>
          <c:h val="0.9393939393939393"/>
        </c:manualLayout>
      </c:layout>
      <c:barChart>
        <c:barDir val="bar"/>
        <c:grouping val="clustered"/>
        <c:varyColors val="0"/>
        <c:ser>
          <c:idx val="0"/>
          <c:order val="0"/>
          <c:tx>
            <c:strRef>
              <c:f>Sheet1!$B$1</c:f>
              <c:strCache>
                <c:ptCount val="1"/>
                <c:pt idx="0">
                  <c:v>nilai</c:v>
                </c:pt>
              </c:strCache>
            </c:strRef>
          </c:tx>
          <c:spPr>
            <a:solidFill>
              <a:srgbClr val="D97B2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B29"/>
              </a:solidFill>
              <a:effectLst/>
            </c:spPr>
          </c:dPt>
          <c:dPt>
            <c:idx val="1"/>
            <c:invertIfNegative val="0"/>
            <c:bubble3D val="0"/>
            <c:spPr>
              <a:solidFill>
                <a:srgbClr val="A7B1BD"/>
              </a:solidFill>
              <a:effectLst/>
            </c:spPr>
          </c:dPt>
          <c:dPt>
            <c:idx val="2"/>
            <c:invertIfNegative val="0"/>
            <c:bubble3D val="0"/>
            <c:spPr>
              <a:solidFill>
                <a:srgbClr val="A7B1BD"/>
              </a:solidFill>
              <a:effectLst/>
            </c:spPr>
          </c:dPt>
          <c:dPt>
            <c:idx val="3"/>
            <c:invertIfNegative val="0"/>
            <c:bubble3D val="0"/>
            <c:spPr>
              <a:solidFill>
                <a:srgbClr val="A7B1BD"/>
              </a:solidFill>
              <a:effectLst/>
            </c:spPr>
          </c:dPt>
          <c:dPt>
            <c:idx val="4"/>
            <c:invertIfNegative val="0"/>
            <c:bubble3D val="0"/>
            <c:spPr>
              <a:solidFill>
                <a:srgbClr val="A7B1BD"/>
              </a:solidFill>
              <a:effectLst/>
            </c:spPr>
          </c:dPt>
          <c:cat>
            <c:multiLvlStrRef>
              <c:f>Sheet1!$A$2:$A$6</c:f>
              <c:multiLvlStrCache>
                <c:ptCount val="5"/>
                <c:lvl>
                  <c:pt idx="0">
                    <c:v>area_per_meter</c:v>
                  </c:pt>
                  <c:pt idx="1">
                    <c:v>meters_per_epc</c:v>
                  </c:pt>
                  <c:pt idx="2">
                    <c:v>socio_demog_005</c:v>
                  </c:pt>
                  <c:pt idx="3">
                    <c:v>socio_demog_038</c:v>
                  </c:pt>
                  <c:pt idx="4">
                    <c:v>socio_demog_061</c:v>
                  </c:pt>
                </c:lvl>
              </c:multiLvlStrCache>
            </c:multiLvlStrRef>
          </c:cat>
          <c:val>
            <c:numRef>
              <c:f>Sheet1!$B$2:$B$6</c:f>
              <c:numCache>
                <c:formatCode>General</c:formatCode>
                <c:ptCount val="5"/>
                <c:pt idx="0">
                  <c:v>0.0895</c:v>
                </c:pt>
                <c:pt idx="1">
                  <c:v>0.0294</c:v>
                </c:pt>
                <c:pt idx="2">
                  <c:v>0.0222</c:v>
                </c:pt>
                <c:pt idx="3">
                  <c:v>0.0196</c:v>
                </c:pt>
                <c:pt idx="4">
                  <c:v>0.0163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7543859649122806"/>
          <c:y val="0.026785714285714506"/>
          <c:w val="0.5"/>
          <c:h val="0.9464285714285714"/>
        </c:manualLayout>
      </c:layout>
      <c:barChart>
        <c:barDir val="bar"/>
        <c:grouping val="clustered"/>
        <c:varyColors val="0"/>
        <c:ser>
          <c:idx val="0"/>
          <c:order val="0"/>
          <c:tx>
            <c:strRef>
              <c:f>Sheet1!$B$1</c:f>
              <c:strCache>
                <c:ptCount val="1"/>
                <c:pt idx="0">
                  <c:v>nilai</c:v>
                </c:pt>
              </c:strCache>
            </c:strRef>
          </c:tx>
          <c:spPr>
            <a:solidFill>
              <a:srgbClr val="D97B2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B29"/>
              </a:solidFill>
              <a:effectLst/>
            </c:spPr>
          </c:dPt>
          <c:dPt>
            <c:idx val="1"/>
            <c:invertIfNegative val="0"/>
            <c:bubble3D val="0"/>
            <c:spPr>
              <a:solidFill>
                <a:srgbClr val="D97B29"/>
              </a:solidFill>
              <a:effectLst/>
            </c:spPr>
          </c:dPt>
          <c:dPt>
            <c:idx val="2"/>
            <c:invertIfNegative val="0"/>
            <c:bubble3D val="0"/>
            <c:spPr>
              <a:solidFill>
                <a:srgbClr val="D97B29"/>
              </a:solidFill>
              <a:effectLst/>
            </c:spPr>
          </c:dPt>
          <c:cat>
            <c:multiLvlStrRef>
              <c:f>Sheet1!$A$2:$A$4</c:f>
              <c:multiLvlStrCache>
                <c:ptCount val="3"/>
                <c:lvl>
                  <c:pt idx="0">
                    <c:v>REG_273</c:v>
                  </c:pt>
                  <c:pt idx="1">
                    <c:v>REG_270</c:v>
                  </c:pt>
                  <c:pt idx="2">
                    <c:v>REG_045</c:v>
                  </c:pt>
                </c:lvl>
              </c:multiLvlStrCache>
            </c:multiLvlStrRef>
          </c:cat>
          <c:val>
            <c:numRef>
              <c:f>Sheet1!$B$2:$B$4</c:f>
              <c:numCache>
                <c:formatCode>General</c:formatCode>
                <c:ptCount val="3"/>
                <c:pt idx="0">
                  <c:v>170.1</c:v>
                </c:pt>
                <c:pt idx="1">
                  <c:v>139.9</c:v>
                </c:pt>
                <c:pt idx="2">
                  <c:v>110.8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4912280701754383"/>
          <c:y val="0.014999999999999902"/>
          <c:w val="0.3771929824561403"/>
          <c:h val="0.97"/>
        </c:manualLayout>
      </c:layout>
      <c:barChart>
        <c:barDir val="bar"/>
        <c:grouping val="clustered"/>
        <c:varyColors val="0"/>
        <c:ser>
          <c:idx val="0"/>
          <c:order val="0"/>
          <c:tx>
            <c:strRef>
              <c:f>Sheet1!$B$1</c:f>
              <c:strCache>
                <c:ptCount val="1"/>
                <c:pt idx="0">
                  <c:v>nilai</c:v>
                </c:pt>
              </c:strCache>
            </c:strRef>
          </c:tx>
          <c:spPr>
            <a:solidFill>
              <a:srgbClr val="A7B1B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A7B1BD"/>
              </a:solidFill>
              <a:effectLst/>
            </c:spPr>
          </c:dPt>
          <c:dPt>
            <c:idx val="1"/>
            <c:invertIfNegative val="0"/>
            <c:bubble3D val="0"/>
            <c:spPr>
              <a:solidFill>
                <a:srgbClr val="A7B1BD"/>
              </a:solidFill>
              <a:effectLst/>
            </c:spPr>
          </c:dPt>
          <c:dPt>
            <c:idx val="2"/>
            <c:invertIfNegative val="0"/>
            <c:bubble3D val="0"/>
            <c:spPr>
              <a:solidFill>
                <a:srgbClr val="A7B1BD"/>
              </a:solidFill>
              <a:effectLst/>
            </c:spPr>
          </c:dPt>
          <c:dPt>
            <c:idx val="3"/>
            <c:invertIfNegative val="0"/>
            <c:bubble3D val="0"/>
            <c:spPr>
              <a:solidFill>
                <a:srgbClr val="A7B1BD"/>
              </a:solidFill>
              <a:effectLst/>
            </c:spPr>
          </c:dPt>
          <c:dPt>
            <c:idx val="4"/>
            <c:invertIfNegative val="0"/>
            <c:bubble3D val="0"/>
            <c:spPr>
              <a:solidFill>
                <a:srgbClr val="D97B29"/>
              </a:solidFill>
              <a:effectLst/>
            </c:spPr>
          </c:dPt>
          <c:dPt>
            <c:idx val="5"/>
            <c:invertIfNegative val="0"/>
            <c:bubble3D val="0"/>
            <c:spPr>
              <a:solidFill>
                <a:srgbClr val="C3D0DE"/>
              </a:solidFill>
              <a:effectLst/>
            </c:spPr>
          </c:dPt>
          <c:cat>
            <c:multiLvlStrRef>
              <c:f>Sheet1!$A$2:$A$7</c:f>
              <c:multiLvlStrCache>
                <c:ptCount val="6"/>
                <c:lvl>
                  <c:pt idx="0">
                    <c:v>REG_290</c:v>
                  </c:pt>
                  <c:pt idx="1">
                    <c:v>REG_259</c:v>
                  </c:pt>
                  <c:pt idx="2">
                    <c:v>REG_275</c:v>
                  </c:pt>
                  <c:pt idx="3">
                    <c:v>REG_260</c:v>
                  </c:pt>
                  <c:pt idx="4">
                    <c:v>REG_270</c:v>
                  </c:pt>
                  <c:pt idx="5">
                    <c:v>median 330 zona</c:v>
                  </c:pt>
                </c:lvl>
              </c:multiLvlStrCache>
            </c:multiLvlStrRef>
          </c:cat>
          <c:val>
            <c:numRef>
              <c:f>Sheet1!$B$2:$B$7</c:f>
              <c:numCache>
                <c:formatCode>General</c:formatCode>
                <c:ptCount val="6"/>
                <c:pt idx="0">
                  <c:v>121.41</c:v>
                </c:pt>
                <c:pt idx="1">
                  <c:v>115.1</c:v>
                </c:pt>
                <c:pt idx="2">
                  <c:v>114.29</c:v>
                </c:pt>
                <c:pt idx="3">
                  <c:v>113.91</c:v>
                </c:pt>
                <c:pt idx="4">
                  <c:v>113.46</c:v>
                </c:pt>
                <c:pt idx="5">
                  <c:v>94.85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35087719298245626"/>
          <c:y val="0.14893617021276598"/>
          <c:w val="0.9298245614035087"/>
          <c:h val="0.7659574468085106"/>
        </c:manualLayout>
      </c:layout>
      <c:barChart>
        <c:barDir val="col"/>
        <c:grouping val="clustered"/>
        <c:varyColors val="0"/>
        <c:ser>
          <c:idx val="0"/>
          <c:order val="0"/>
          <c:tx>
            <c:strRef>
              <c:f>Sheet1!$B$1</c:f>
              <c:strCache>
                <c:ptCount val="1"/>
                <c:pt idx="0">
                  <c:v>nilai</c:v>
                </c:pt>
              </c:strCache>
            </c:strRef>
          </c:tx>
          <c:spPr>
            <a:solidFill>
              <a:srgbClr val="1F7A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1F7A8C"/>
              </a:solidFill>
              <a:effectLst/>
            </c:spPr>
          </c:dPt>
          <c:dPt>
            <c:idx val="1"/>
            <c:invertIfNegative val="0"/>
            <c:bubble3D val="0"/>
            <c:spPr>
              <a:solidFill>
                <a:srgbClr val="1F7A8C"/>
              </a:solidFill>
              <a:effectLst/>
            </c:spPr>
          </c:dPt>
          <c:dPt>
            <c:idx val="2"/>
            <c:invertIfNegative val="0"/>
            <c:bubble3D val="0"/>
            <c:spPr>
              <a:solidFill>
                <a:srgbClr val="1F7A8C"/>
              </a:solidFill>
              <a:effectLst/>
            </c:spPr>
          </c:dPt>
          <c:dPt>
            <c:idx val="3"/>
            <c:invertIfNegative val="0"/>
            <c:bubble3D val="0"/>
            <c:spPr>
              <a:solidFill>
                <a:srgbClr val="D97B29"/>
              </a:solidFill>
              <a:effectLst/>
            </c:spPr>
          </c:dPt>
          <c:cat>
            <c:multiLvlStrRef>
              <c:f>Sheet1!$A$2:$A$5</c:f>
              <c:multiLvlStrCache>
                <c:ptCount val="4"/>
                <c:lvl>
                  <c:pt idx="0">
                    <c:v>≤40%</c:v>
                  </c:pt>
                  <c:pt idx="1">
                    <c:v>40–60%</c:v>
                  </c:pt>
                  <c:pt idx="2">
                    <c:v>60–80%</c:v>
                  </c:pt>
                  <c:pt idx="3">
                    <c:v>&gt;80%</c:v>
                  </c:pt>
                </c:lvl>
              </c:multiLvlStrCache>
            </c:multiLvlStrRef>
          </c:cat>
          <c:val>
            <c:numRef>
              <c:f>Sheet1!$B$2:$B$5</c:f>
              <c:numCache>
                <c:formatCode>General</c:formatCode>
                <c:ptCount val="4"/>
                <c:pt idx="0">
                  <c:v>40.24</c:v>
                </c:pt>
                <c:pt idx="1">
                  <c:v>26.92</c:v>
                </c:pt>
                <c:pt idx="2">
                  <c:v>9.46</c:v>
                </c:pt>
                <c:pt idx="3">
                  <c:v>2.73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2"/>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[00:00–00:25 · 25 detik · Orang 1 (jangkar)]
Bapak dan Ibu juri, kami tim BISMILLAH. Kota yang beralih dari pemanas gas ke pemanas listrik menghadapi trilema: emisi harus turun, jaringan listrik tetap andal, dan biaya energi tetap terjangkau. Dalam skenario kami, bila semua pemanas gas diganti pompa panas, konsumsi listrik tahunan zona naik dengan median hampir 95 persen.
Sumber: writeup bab 1 (definisi trilema); sel 48 (asumsi skenario); sel 50 (median 94,85%)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[00:25–01:00 · 35 detik · Orang 1 (jangkar)]
Tesis kami: transisi 330 zona perlu diurutkan per kuadran, bukan diseragamkan. Tiga rekomendasi menjawabnya. Pertama, untuk biaya dan emisi: retrofit selubung bangunan lebih dulu di 118 zona yang intensitas gas dan kenaikan listriknya sama-sama tinggi, yang memuat 47 persen konsumsi gas. Kedua, untuk keandalan: kapasitas gardu dinilai sebelum subsidi pompa panas dibuka. Ketiga, agar transisi terukur: elektrifikasi kawasan bergas dimulai sebagai pilot pompa panas. Setelah ini, [nama Orang 2] menunjukkan dasar analisisnya.
Sumber: sel 49 (118 zona, porsi gas 0,468); sel 51 (rekomendasi); writeup bab 1 (aspek trilema per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[01:00–01:55 · 55 detik · Orang 2 (teknis)]
Dasar pertama adalah fitur. Fitur fisik utama kami sederhana: luas lantai kawasan dibagi jumlah meteran. Satu meteran kira-kira satu rumah tangga, jadi angka ini kira-kira luas rata-rata satu rumah. Integritas fitur penting, karena fitur yang diam-diam membawa jawaban membuat skor validasi tampak bagus, tetapi gagal di data baru. Risiko itu kami kendalikan sejak desain: fitur ini hanya membagi dua kolom input pada baris yang sama, tanpa target dan tanpa statistik lintas baris, dengan rumus yang sama untuk data latih dan data uji. Kontribusinya terlihat di model penjelas, yaitu model terpisah yang hanya memakai karakteristik terukur dan dibaca dengan SHAP: fitur ini peringkat pertama untuk intensitas gas dan listrik per rumah, sekitar tiga kali fitur kedua. Inilah dasar rekomendasi retrofit nanti.
Sumber: sel 28 (rumus dan alasan bebas target); sel 40 (model penjelas); sel 45 (mean |SHAP| 0,0895; 0,0321; 0,0294); cek_kebijakan.json (±37 dan ±173 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[01:55–02:45 · 50 detik · Orang 2 (teknis)]
Fitur kedua bersifat spasial. Untuk setiap kawasan, kami mencari kawasan dengan stok bangunan paling mirip di sekitarnya, lalu memakai rata-rata konsumsinya. Sekitar berarti nomor subzona yang berdekatan: 96,5 persen pasangan subzona bernomor berurutan berada di zona yang sama, jadi penomorannya kami pakai sebagai pendekatan kedekatan lokasi. Karena fitur ini memakai target tetangga, risikonya adalah kebocoran target. Maka fitur ini dihitung out-of-fold dua lapis. Lapis luar: baris yang sedang dinilai hanya melihat tetangga dari sembilan fold lain. Lapis dalam: baris latih pun hanya melihat tetangga dari empat bagian lain, supaya model tidak belajar dari fitur yang memuat targetnya sendiri.
Sumber: sel 28 (definisi dan skema dua lapis); train_lib.Data.KNN_CONFIGS (sel 8: jendela 30, 100, 300); bukti/cek_zona_contoh.json (96,5%)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[02:45–03:30 · 45 detik · Orang 2 (teknis)]
Desain itu kami uji, bukan kami asumsikan. Label target konsumsi pada lebih dari 42 ribu baris validasi kami acak, lalu fitur dihitung ulang. Fitur validasi dan kawasan uji tetap identik sampai bit terakhir. Untuk baris latih, label satu bagian dalam diacak: fitur bagian itu tetap identik, sedangkan bagian lain berubah karena memakainya sebagai tetangga, sesuai rancangan. Versi yang sengaja dibuat bocor langsung berubah, jadi uji ini mampu menangkap kebocoran. Cakupannya dua blok fitur pada satu fold. Fitur ini memberi perbaikan galat EUI terbesar dari satu kelompok fitur, dan prediksi kawasan uji, sekitar 30 persen nilai peta zona, memakainya.
Sumber: deck/ppt01/bukti/uji_kebocoran_notebook.json dan uji_kebocoran_oof_dalam.json; sel 28 (−0,0022); sel 24 (data uji tepat 30% dari seluruh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[03:30–04:30 · 60 detik · Orang 2 (teknis)]
Arsitekturnya mengikuti struktur data. Metrik menilai setiap kolom terpisah, jadi setiap target boleh punya jalur sendiri. Jalur pertama untuk gas dan EUI dengan 28 model, karena gas selalu sama dengan EUI dikali luas lantai, sehingga keduanya satu besaran. Jalur kedua untuk listrik dengan 13 model. Di dua jalur ini, model digabung dengan bobot adaptif, yaitu bobot yang berubah menurut luas, jumlah meter, dan besar prediksi kawasan, lalu dikoreksi dengan galat tetangga dan disesuaikan dengan batas data. Jalur ketiga hampir tanpa model: porsi bangunan bersih dihitung dengan rumus eksak, dan adopsi disalin dari subzonanya. Hanya untuk 8,14 persen kawasan uji di subzona baru, dua LightGBM terpisah memprediksi adopsi. Jadi totalnya 43 model: 41 di-blend, 2 berdiri sendiri.
Sumber: sel 23 (28 dan 13); sel 25 (identitas, 91,86%); sel 30 (tiga jalur); sel 35 (dua LightGBM adopsi, porsi 0,0814; galat jujur); sel 39 (ringkasan galat); writeup bab 1 (skala metrik)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[04:30–05:00 · 30 detik · Orang 2 (teknis)]
Apakah arsitektur ini bekerja di data baru? Skor privat dari data yang tidak pernah kami lihat adalah 0,24844, peringkat 8, tidak memburuk dibanding skor publik. Validasi kami meniru kondisi uji, karena data latih dan uji tidak dapat dibedakan: AUC 0,4997. Notebook kami menghasilkan berkas identik setiap diulang di perangkat yang sama. [nama Orang 3] melanjutkan ke kebijakan.
Sumber: Kaggle LB privat (24 Okt 2026); sel 3 (17 modul); sel 35 (sha256); sel 37 (publik); sel 55 (AUC); deck/ppt01/fakta_tambahan.md bagian H (56 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[05:00–05:55 · 55 detik · Orang 3 (kebijakan)]
Sekarang kebijakan. Nilai aktual kawasan latih dan prediksi kawasan uji, total 613 ribu kawasan, kami ringkas menjadi 330 zona. Ini peta kuadran, bukan peta geografis, karena data tidak memuat koordinat. Sumbu mendatar adalah intensitas gas zona; sumbu tegak adalah kenaikan konsumsi listrik tahunan bila pemanas gas diganti pompa panas. Garis median membagi empat kuadran. Kuadran satu berisi 118 zona yang berada di atas median pada kedua sumbu, dan memuat 47 persen konsumsi gas. Uji ketahanan menunjukkan urutan zona tahan terhadap derau prediksi acak, tetapi berubah bila efisiensi pompa panas berbeda per iklim. Karena itu peta ini adalah daftar kandidat: posisi setiap zona menentukan program yang didahulukan.
Sumber: sel 48 (definisi), 49 (tabel kuadran), 50 (141,35 TWh; 7,39 TWh); cek_kebijakan.json (Spearman); explain.zone_indices (sel 19, ambang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[05:55–06:45 · 50 detik · Orang 3 (kebijakan)]
Rekomendasi pertama menyangkut retrofit. Temuan SHAP, yaitu sumbangan tiap variabel pada prediksi model penjelas: kawasan rumah terkecil punya sumbangan gas per meter persegi sekitar 65 persen lebih tinggi daripada rumah terbesar, dan satu periode bangunan sekitar 7 persen. Ini asosiasi, bukan sebab-akibat; kemungkinan karena dinding dan atap rumah kecil relatif luas dibanding ruang yang dipanaskan, bagian yang disasar perbaikan selubung. Temuan model mendukung rekomendasi ini: retrofit selubung lebih dulu di zona kuadran satu, yang boros gas dan kenaikan listriknya juga tinggi. Karena potensinya baru indikator, langkah pertamanya audit energi di REG_273, REG_270, dan REG_045, lalu pilot dengan pembanding.
Sumber: sel 47 dan 48 (dependensi SHAP, bld_era_15, penjelasan selubung); sel 49 dan 50 (Q1, kandidat); cek_kebijakan.json (kontras 5% dan kuartil); cek_zona_contoh.json (kandidat tetap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[06:45–07:35 · 50 detik · Orang 3 (kebijakan)]
Rekomendasi kedua menyangkut keandalan jaringan. Temuannya: dalam skenario elektrifikasi penuh, konsumsi listrik tahunan lima zona tertinggi naik 113 sampai 121 persen. Urutan ini peka terhadap efisiensi pompa panas per iklim; yang tetap sepuluh besar dalam persen dan tambahan absolut di kedua skenario adalah REG_270 dan REG_045, sedangkan tambahan absolut terbesar tetap REG_263. Perlu dibedakan: ini hitungan kebutuhan energi tahunan, sedangkan kapasitas gardu dan beban puncak tidak ada dalam data. Jadi temuan model mendukung rekomendasi ini sebagai daftar skrining, bukan bukti bahwa gardu tertentu cukup atau tidak. Operator jaringan menilai gardu mulai dari ketiga zona itu, lalu subsidi dibuka bertahap.
Sumber: sel 48 (energi tahunan, data tanpa profil beban); sel 50 (sepuluh zona kenaikan tertinggi); sel 51 butir 3; cek_kebijakan.json (tambahan absolut); cek_zona_contoh.json (peringkat pada kedua skenario)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[07:35–08:30 · 55 detik · Orang 3 (kebijakan)]
Rekomendasi ketiga menyangkut adopsi. Temuannya: adopsi pemanas listrik sekitar 40 persen di kawasan yang sedikit tersambung gas, tetapi hanya 2,73 persen di kawasan yang lebih dari 80 persen rumahnya memakai gas jaringan, padahal kawasan seperti itu 70 persen dari seluruh kawasan. Model penjelas menunjukkan pola yang sama, tetapi karena porsi jenis pemanas berjumlah 100 persen, ini pola komposisi, bukan sebab-akibat. Temuan model mendukung rekomendasi ini: kawasan bergas perlu dorongan, dimulai dengan pilot pompa panas di zona kuadran dua seperti REG_033, yang boros gas tetapi kenaikan listriknya di bawah median pada kedua skenario. Pilot didahului cek gardu, disertai audit energi, memakai zona pembanding, dan diperluas hanya bila hasilnya terukur. [nama Orang 1] akan menutup.
Sumber: cek_kebijakan.json (tingkat adopsi per porsi gas jaringan); sel 47 dan 48 (pola SHAP); sel 51 butir 2 dan 4; bukti/cek_zona_contoh.json (REG_033 tetap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[08:30–09:05 · 35 detik · Orang 1 (jangkar)]
Ada tiga batas yang kami akui. Pertama, data hanya memuat energi tahunan; beban puncak dan kapasitas gardu yang terukur tidak tersedia, jadi penilaian gardu tetap pekerjaan operator. Kedua, efisiensi pompa panas lokal belum diketahui, ambang kuadran hanya median, dan makna kolom yang disamarkan masih dugaan, jadi daftar zona adalah kandidat. Ketiga, SHAP bukan sebab-akibat, dan potensi retrofit baru indikator. Karena itu rekomendasi ini adalah dasar prioritas dan evaluasi lanjutan, bukan pengganti audit teknis atau validasi lapangan.
Sumber: sel 28, 40, 48, dan 51 (keterbatasan); cek_kebijakan.json (kepekaan COP, komposisi potensi)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[09:05–09:30 · 25 detik · Orang 1 (jangkar)]
Dengan kenaikan listrik hampir dua kali lipat, trilema ini tidak selesai dengan satu program untuk semua zona. Retrofit di kuadran satu menjawab biaya dan emisi, penilaian gardu menjaga keandalan, dan pilot di kuadran dua menguji transisinya. Langkah pertamanya: data gardu dari operator, audit energi, dan satu pilot dengan pembanding. Terima kasih.
Sumber: rangkuman slide 1, 2, 8 sampai 12; sel 51 butir 1 (kebutuhan panas turun mengurangi tagihan dan emisi)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C1 · penjawab: Orang 2]
Pertanyaan juri:
- "Apa yang dimaksud bobot adaptif?"
- "Apakah bobot sebanyak itu tidak *overfit*?"
- "Berapa sumbangannya terhadap skor?"
Pedoman jawaban: Model yang paling akurat di kawasan kecil belum tentu paling akurat di kawasan besar, sehingga bobotnya dibiarkan berubah halus menurut luas, jumlah meter, dan besar prediksi. Semua bobot tidak negatif dan jumlahnya kecil dibandingkan dengan 429.303 baris. Pada skor jujur, tidak ada kolom yang memburuk; perbaikan terbesar ada di EUI dan rata-rata lima target −0,000125. Catatan jujur: bentuk ini dipilih pada data yang sama, sehingga bukti independennya adalah leaderboard publik, yaitu 0,24934 menjadi 0,24925 (−0,00009). Tiga simpul tidak lebih baik daripada dua.
Sumber: sel 23, 35, 37; deck/ppt01/bukti/skor_jujur_bobot_adaptif.json; reports/DECISIONS.md D012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C2 · penjawab: Orang 2]
Pertanyaan juri:
- "Apakah koreksi ini memakai target data uji?"
- "Bagaimana λ dipilih, dan mengapa ada yang negatif?"
- "Berapa besar pengaruhnya?"
Pedoman jawaban: Setelah digabung, galat masih berkelompok: bila tetangga yang mirip sama-sama ditebak terlalu rendah, kawasan ini kemungkinan juga terlalu rendah. Untuk baris uji, yang dirata-rata hanya galat baris latih; target data uji tidak pernah dipakai. λ dipilih di holdout set yang tidak ikut menyusun tetangga, lalu dibekukan. λ negatif kecil muncul karena fitur tetangga saling berkorelasi; yang divalidasi adalah efek totalnya.
Sumber: sel 22, 35, 37, 39; reports/DECISIONS.md D015; deck/fakta_turunan.md; reports/cv_lb_history.csv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C3 · penjawab: Orang 2]
Pertanyaan juri:
- "Bagaimana Anda tahu tidak ada kebocoran?"
- "Mengapa baris latih bagian lain berubah?"
- "Apakah agregat yang memakai data uji termasuk kebocoran?"
- "Apakah *early stopping* membuat galat *out-of-fold* bias?"
Pedoman jawaban: Baris validasi dan uji tidak membaca label validasi, dan baris latih tidak membaca label bagian dalamnya sendiri. Bagian lain berubah karena memakai bagian yang diacak sebagai tetangga; itu justru syarat lulus. Kontrol bocor membuktikan uji ini peka. Klaimnya terbatas pada dua blok fitur dan satu fold. Agregat kawasan hanya memakai kolom fitur, bukan target. XGBoost dan LightGBM memakai early stopping (penghentian pelatihan lebih awal) pada fold validasinya sendiri, sehingga galat out-of-fold sedikit optimistis; karena itu keputusan diambil dari holdout set. Bobot dari prediksi out-of-fold setara dengan bobot yang di-fit di holdout set (0,25096 vs 0,25095, D002).
Sumber: deck/ppt01/bukti/uji_kebocoran_notebook.py dan .json, uji_kebocoran_oof_dalam.json; sel 28, 36; reports/DECISIONS.md D002; adopt_v2.neighbour_feats (sel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C4 · penjawab: Orang 2]
Pertanyaan juri:
- "Mengapa 41 model, bukan satu model terbaik?"
- "*Notebook* menulis 42 model; mana yang benar?"
- "Apakah dua LightGBM adopsi ikut digabung?"
- "Berapa model yang sebenarnya dilatih?"
Pedoman jawaban: Angka 43 adalah jumlah model yang keluarannya masuk berkas submisi: 41 di dua kelompok gabungan berbobot adaptif, ditambah 2 LightGBM adopsi yang berdiri sendiri. Angka 41 dihitung per keluaran: MLP dua keluaran mk2 adalah satu jaringan yang menyumbang satu anggota ke jalur gas/EUI dan satu ke jalur listrik. Notebook melatih 42 model di jalur 1 dan 2, yaitu 36 model dengan sepuluh fold dan 6 model dengan lima fold. Satu keluaran tidak terpilih, yaitu mk1_gpm (keluaran gas dari MLP dua keluaran yang keluaran listriknya terpilih). Setiap anggota dilatih per fold, sebagian dengan tiga seed, sehingga di balik 41 anggota terdapat 550 model terlatih. Gabungan memperbaiki model tunggal terbaik sebesar 0,0083 untuk EUI, 0,0036 untuk gas, dan 0,0027 untuk listrik; angka ini diukur pada holdout set versi v16, bukan pada gabungan final.
Sumber: sel 23, 31, 32, 33, 35; writeup B bab 6; reports/KAGGLE_WRITEUP_TOP20.md bagian 3.3; configs/members.yaml (sel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C5 · penjawab: Orang 3]
Pertanyaan juri:
- "Apakah SHAP membuktikan sebab-akibat?"
- "Mengapa tidak membaca SHAP dari gabungan 41 model?"
- "Mengapa R² adopsi 0,991?"
- "Mengapa nilai 0,0895 muncul dua kali di sel 45?"
Pedoman jawaban: Tidak; SHAP (SHapley Additive exPlanations) menguraikan prediksi model menjadi sumbangan aditif tiap fitur, bukan efek intervensi. Karena itu setiap program diusulkan sebagai pilot dengan zona pembanding. Gabungan 41 model memakai rata-rata target wilayah, yang bukan tuas kebijakan, sehingga dilatih satu LightGBM penjelas per target (800 putaran) yang hanya memakai karakteristik terukur. TreeSHAP eksak dihitung pada sampel 20.000 baris latih untuk tabel dan grafik, sedangkan peta zona memakai kontribusi di seluruh 613 ribu kawasan. R² adopsi tinggi karena porsi jenis pemanas berjumlah 100%, bukan karena perilaku terjelaskan. Untuk alasan yang sama, porsi sosiodemografi 15% pada adopsi diukur terhadap total yang 81%-nya identitas komposisi, sehingga tidak dipakai sebagai bukti di slide utama. Peringkat area_per_meter adalah peringkat pada model penjelas, bukan ukuran sumbangannya pada akurasi prediksi. Nilai 0,0895 pada dua target adalah kebetulan pembulatan: nilai lengkapnya 0,08953 dan 0,08948. Nama kolom disamarkan panitia, sehingga maknanya berupa dugaan, kecuali bld_dim_06 sebagai luas lantai yang terbukti dari identitas EUI × luas lantai = gas.
Sumber: sel 40, 41, 42, 45; writeup B Tabel 3; reports/policy/shap_eui.npz, shap_epm.npz; deck/ppt01/fakta_tambahan.md bagian C dan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C6 · penjawab: Orang 3]
Pertanyaan juri:
- "Data apa yang masih dibutuhkan sebelum eksekusi?"
- "Siapa yang menjalankan setiap rekomendasi?"
- "Bagaimana memvalidasinya di lapangan?"
Pedoman jawaban: Sebelum eksekusi dibutuhkan beban puncak dan kapasitas gardu dari operator, COP lokal per zona, dan hasil audit energi. Kenaikan yang dihitung adalah energi tahunan; beban puncak dapat jauh lebih besar karena pemanasan menumpuk di bulan terdingin dan COP turun saat dingin. Setiap program dijalankan sebagai pilot dengan zona pembanding sehingga dampaknya terukur sebelum diperluas.
Sumber: sel 48, 51; deck/ppt01/06_qna_juri_v2.md P11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C7 · penjawab: Orang 2]
Pertanyaan juri:
- "Mengapa tidak memakai validasi per wilayah (*GroupKFold*)?"
- "Apakah model *overfit* ke *leaderboard* publik?"
Pedoman jawaban: Data uji diambil acak per baris, sehingga 92% kawasan uji berada di subzona yang juga ada di data latih. Skema per zona menguji situasi yang tidak terjadi di data uji dan membuat rata-rata wilayah tampak merusak (EUI 0,6923 menjadi 0,8331). Komponen diterima berdasarkan holdout set; leaderboard hanya mengonfirmasi arah. Selisih privat dan publik yang kecil konsisten dengan tidak overfit, tetapi bukan bukti mutlak.
Sumber: writeup B Tabel 1; sel 54, 55; Kaggle LB privat; reports/DECISIONS.md D011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C8 · penjawab: Orang 2]
Pertanyaan juri:
- "Apa saja langkah setelah penggabungan?"
- "Bisakah hasilnya direproduksi?"
Pedoman jawaban: Perakitan berjalan dengan urutan tetap: gabung, koreksi, sesuaikan batas, salin duplikat, periksa, lalu tulis. S1 berasal dari prediksi out-of-fold penuh, k pada S3 dari holdout set, dan batas S4 dari data latih; semuanya dibekukan di satu berkas konfigurasi (D015).
Sumber: sel 0, 22, 30, 35, 37; deck/fakta_turunan.md; reports/DECISIONS.md D015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C9 · penjawab: Orang 2]
Pertanyaan juri:
- "Bagaimana memprediksi adopsi di subzona yang belum pernah terlihat?"
- "Mengapa dua LightGBM?"
- "Mengapa 8,14%?"
Pedoman jawaban: Adopsi seragam dalam satu subzona, sehingga 91,86% kawasan uji cukup disalin dari subzonanya. Untuk 8,14% sisanya, q_xent menebak peluang rumah tangga K berada di kategori lain yang bukan pemanas listrik (cross-entropy dengan bobot K), sedangkan r_reg menebak porsi kategori itu secara langsung. Adopsi adalah sisa porsi dikurangi tebakan tersebut, dan rata-rata kedua model lebih baik daripada masing-masing. Angka 8,14% adalah porsi kawasan uji, bukan porsi subzona, dan sesuai harapan pengacakan per baris (8,17%).
Sumber: sel 28, 35, 39, 54; final/nbrun_final/dicefest_nb/src/adopt_v2.py (docstring dan fit_predict); writeup B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C10 · penjawab: Orang 3]
Pertanyaan juri:
- "Seberapa yakin dengan urutan zona?"
- "Mengapa bukan REG_290, zona dengan kenaikan tertinggi, atau REG_259 dan REG_275?"
- "Mengapa pompa panas dulu di Q2, padahal potensi *retrofit* relatifnya lebih tinggi?"
- "Apakah 7,39 TWh realistis?"
Pedoman jawaban: Urutan zona hampir tidak terpengaruh derau acak karena setiap zona merata-ratakan banyak kawasan, tetapi sangat terpengaruh COP yang berbeda per iklim. Karena itu titik awal dipilih dari zona yang tetap sepuluh besar dalam persen dan tambahan absolut pada kedua skenario, yaitu REG_270 dan REG_045, ditambah REG_263 sebagai tambahan absolut terbesar. Enam zona tetap sepuluh besar dalam persen, tetapi REG_259 dan REG_275 menambah konsumsi listrik yang relatif kecil; keduanya, juga REG_290, tetap dinilai sebagai bagian daftar skrining. Urutan program di Q2 mengikuti tekanan jaringan: kenaikan listriknya di bawah median, sehingga elektrifikasi di sana paling sedikit menambah tekanan, sedangkan audit energi tetap berjalan di zona pilot. Angka 7,39 TWh adalah indikator dengan bias dua arah: definisinya ikut memuat ukuran rumah yang tidak dapat diubah retrofit (bila hanya periode bangunan dihitung, tersisa 0,513 bagian), tetapi acuannya rata-rata nasional, sehingga acuan praktik yang lebih baik akan membuatnya lebih besar. Audit energi yang menentukan angka nyatanya.
Sumber: deck/ppt02/bukti/cek_zona_contoh.json; deck/ppt01/bukti/cek_kebijakan.json; sel 49 sampai 51; writeup 7.3 dan Tabel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C11 · penjawab: Orang 3]
Pertanyaan juri:
- "Apakah satu program bisa sekaligus menurunkan tagihan dan emisi?"
- "Bagaimana lima target lomba berhubungan dengan trilema?"
Pedoman jawaban: Ini rekomendasi kelima notebook. Rumah kecil boros gas per meter persegi, sedangkan rumah besar boros listrik per rumah, sehingga program keterjangkauan sebaiknya menyasar kawasan rumah kecil dan bangunan lama, sedangkan program pengurangan emisi menyasar zona dengan volume gas terbesar, seperti REG_263 dan REG_273. Pola ini berupa sumbangan pada prediksi model penjelas, bukan efek kausal.
Sumber: sel 47, 48, 51 butir 5; writeup bab 1 dan 7.4 butir 5; cek_kebijakan.json; cek_zona_contoh.json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LAP">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rtlCol="0"/>
          <a:lstStyle>
            <a:lvl1pPr algn="l" indent="0" marL="0">
              <a:buNone/>
              <a:defRPr lang="en-US" sz="1300" b="1" dirty="0">
                <a:solidFill>
                  <a:schemeClr val="accent1"/>
                </a:solidFill>
              </a:defRPr>
            </a:lvl1pPr>
          </a:lstStyle>
          <a:p>
            <a:pPr algn="l" indent="0" marL="0">
              <a:buNone/>
            </a:pPr>
            <a:endParaRPr lang="en-US" sz="1300" dirty="0"/>
          </a:p>
        </p:txBody>
      </p:sp>
      <p:sp>
        <p:nvSpPr>
          <p:cNvPr id="3" name="Text 0"/>
          <p:cNvSpPr/>
          <p:nvPr>
            <p:ph idx="101" type="title" hasCustomPrompt="1"/>
          </p:nvPr>
        </p:nvSpPr>
        <p:spPr>
          <a:xfrm>
            <a:off x="548640" y="804672"/>
            <a:ext cx="11094415" cy="11887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1000" dirty="0">
                <a:solidFill>
                  <a:schemeClr val="accent4"/>
                </a:solidFill>
              </a:rPr>
              <a:t>Tim BISMILLAH · DICE FEST 2026 · Babak final</a:t>
            </a:r>
            <a:endParaRPr lang="en-US" sz="10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NUTUP">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rtlCol="0"/>
          <a:lstStyle>
            <a:lvl1pPr algn="l" indent="0" marL="0">
              <a:buNone/>
              <a:defRPr lang="en-US" sz="1300" b="1" dirty="0">
                <a:solidFill>
                  <a:schemeClr val="accent1"/>
                </a:solidFill>
              </a:defRPr>
            </a:lvl1pPr>
          </a:lstStyle>
          <a:p>
            <a:pPr algn="l" indent="0" marL="0">
              <a:buNone/>
            </a:pPr>
            <a:endParaRPr lang="en-US" sz="1300" dirty="0"/>
          </a:p>
        </p:txBody>
      </p:sp>
      <p:sp>
        <p:nvSpPr>
          <p:cNvPr id="3" name="Text 0"/>
          <p:cNvSpPr/>
          <p:nvPr>
            <p:ph idx="101" type="title" hasCustomPrompt="1"/>
          </p:nvPr>
        </p:nvSpPr>
        <p:spPr>
          <a:xfrm>
            <a:off x="548640" y="804672"/>
            <a:ext cx="11094415" cy="16459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1000" dirty="0">
                <a:solidFill>
                  <a:schemeClr val="accent4"/>
                </a:solidFill>
              </a:rPr>
              <a:t>Tim BISMILLAH · DICE FEST 2026 · Babak final</a:t>
            </a:r>
            <a:endParaRPr lang="en-US" sz="10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rtlCol="0"/>
          <a:lstStyle>
            <a:lvl1pPr algn="l" indent="0" marL="0">
              <a:buNone/>
              <a:defRPr lang="en-US" sz="1200" b="1"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chemeClr val="accent5"/>
                </a:solidFill>
              </a:rPr>
              <a:t>Tim BISMILLAH · DICE FEST 2026 · Babak final</a:t>
            </a:r>
            <a:endParaRPr lang="en-US" sz="10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ADANGA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rtlCol="0"/>
          <a:lstStyle>
            <a:lvl1pPr algn="l" indent="0" marL="0">
              <a:buNone/>
              <a:defRPr lang="en-US" sz="1200" b="1"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4" name="Text 0"/>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chemeClr val="accent5"/>
                </a:solidFill>
              </a:rPr>
              <a:t>Cadangan tanya jawab · Tim BISMILLAH · DICE FEST 2026 · Babak final</a:t>
            </a:r>
            <a:endParaRPr lang="en-US" sz="10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7" Type="http://schemas.openxmlformats.org/officeDocument/2006/relationships/chart" Target="/ppt/charts/chart1.xml"/><Relationship Id="rId8" Type="http://schemas.openxmlformats.org/officeDocument/2006/relationships/chart" Target="/ppt/charts/chart2.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9-1.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1-1.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lIns="0" tIns="0" rIns="0" bIns="0" rtlCol="0" anchor="t"/>
          <a:lstStyle/>
          <a:p>
            <a:pPr algn="l" indent="0" marL="0">
              <a:buNone/>
            </a:pPr>
            <a:r>
              <a:rPr lang="en-US" sz="1300" b="1" dirty="0">
                <a:solidFill>
                  <a:schemeClr val="accent1"/>
                </a:solidFill>
              </a:rPr>
              <a:t>DICE FEST 2026 · BABAK FINAL · TIM BISMILLAH</a:t>
            </a:r>
            <a:endParaRPr lang="en-US" sz="1300" dirty="0"/>
          </a:p>
        </p:txBody>
      </p:sp>
      <p:sp>
        <p:nvSpPr>
          <p:cNvPr id="3" name="Text 0"/>
          <p:cNvSpPr/>
          <p:nvPr>
            <p:ph idx="101" type="title" hasCustomPrompt="1"/>
          </p:nvPr>
        </p:nvSpPr>
        <p:spPr>
          <a:xfrm>
            <a:off x="548640" y="804672"/>
            <a:ext cx="11094415" cy="1188720"/>
          </a:xfrm>
          <a:prstGeom prst="rect">
            <a:avLst/>
          </a:prstGeom>
          <a:noFill/>
          <a:ln/>
        </p:spPr>
        <p:txBody>
          <a:bodyPr wrap="square" lIns="0" tIns="0" rIns="0" bIns="0" rtlCol="0" anchor="t"/>
          <a:lstStyle/>
          <a:p>
            <a:pPr algn="l" indent="0" marL="0">
              <a:buNone/>
            </a:pPr>
            <a:r>
              <a:rPr lang="en-US" sz="3200" b="1" dirty="0">
                <a:solidFill>
                  <a:schemeClr val="bg1"/>
                </a:solidFill>
              </a:rPr>
              <a:t>Trilema energi kota: elektrifikasi penuh</a:t>
            </a:r>
            <a:br/>
            <a:pPr algn="l" indent="0" marL="0">
              <a:buNone/>
            </a:pPr>
            <a:r>
              <a:rPr lang="en-US" sz="3200" b="1" dirty="0">
                <a:solidFill>
                  <a:schemeClr val="bg1"/>
                </a:solidFill>
              </a:rPr>
              <a:t>hampir menggandakan konsumsi listrik zona</a:t>
            </a:r>
            <a:endParaRPr lang="en-US" sz="3200" dirty="0"/>
          </a:p>
        </p:txBody>
      </p:sp>
      <p:sp>
        <p:nvSpPr>
          <p:cNvPr id="4" name="segitiga trilema"/>
          <p:cNvSpPr/>
          <p:nvPr/>
        </p:nvSpPr>
        <p:spPr>
          <a:xfrm>
            <a:off x="1645920" y="2697480"/>
            <a:ext cx="3383280" cy="2468880"/>
          </a:xfrm>
          <a:prstGeom prst="triangle">
            <a:avLst/>
          </a:prstGeom>
          <a:solidFill>
            <a:schemeClr val="bg1">
              <a:alpha val="7000"/>
            </a:schemeClr>
          </a:solidFill>
          <a:ln w="19050">
            <a:solidFill>
              <a:schemeClr val="accent4"/>
            </a:solidFill>
            <a:prstDash val="solid"/>
          </a:ln>
        </p:spPr>
      </p:sp>
      <p:sp>
        <p:nvSpPr>
          <p:cNvPr id="5" name="sudut Emisi turun"/>
          <p:cNvSpPr/>
          <p:nvPr/>
        </p:nvSpPr>
        <p:spPr>
          <a:xfrm>
            <a:off x="2926080" y="2286000"/>
            <a:ext cx="822960" cy="822960"/>
          </a:xfrm>
          <a:prstGeom prst="ellipse">
            <a:avLst/>
          </a:prstGeom>
          <a:solidFill>
            <a:schemeClr val="accent1"/>
          </a:solidFill>
          <a:ln w="25400">
            <a:solidFill>
              <a:schemeClr val="bg1"/>
            </a:solidFill>
            <a:prstDash val="solid"/>
          </a:ln>
        </p:spPr>
      </p:sp>
      <p:pic>
        <p:nvPicPr>
          <p:cNvPr id="6" name="Image 0" descr="FaLeaf">    </p:cNvPr>
          <p:cNvPicPr>
            <a:picLocks noChangeAspect="1"/>
          </p:cNvPicPr>
          <p:nvPr/>
        </p:nvPicPr>
        <p:blipFill>
          <a:blip r:embed="rId1"/>
          <a:stretch>
            <a:fillRect/>
          </a:stretch>
        </p:blipFill>
        <p:spPr>
          <a:xfrm>
            <a:off x="3131820" y="2491740"/>
            <a:ext cx="411480" cy="411480"/>
          </a:xfrm>
          <a:prstGeom prst="rect">
            <a:avLst/>
          </a:prstGeom>
        </p:spPr>
      </p:pic>
      <p:sp>
        <p:nvSpPr>
          <p:cNvPr id="7" name="Text 4"/>
          <p:cNvSpPr txBox="1"/>
          <p:nvPr/>
        </p:nvSpPr>
        <p:spPr>
          <a:xfrm>
            <a:off x="3886200" y="2496312"/>
            <a:ext cx="2194560" cy="402336"/>
          </a:xfrm>
          <a:prstGeom prst="rect">
            <a:avLst/>
          </a:prstGeom>
          <a:noFill/>
          <a:ln/>
        </p:spPr>
        <p:txBody>
          <a:bodyPr wrap="square" lIns="0" tIns="0" rIns="0" bIns="0" rtlCol="0" anchor="ctr"/>
          <a:lstStyle/>
          <a:p>
            <a:pPr algn="l" indent="0" marL="0">
              <a:buNone/>
            </a:pPr>
            <a:r>
              <a:rPr lang="en-US" sz="1800" b="1" dirty="0">
                <a:solidFill>
                  <a:schemeClr val="bg1"/>
                </a:solidFill>
              </a:rPr>
              <a:t>Emisi turun</a:t>
            </a:r>
            <a:endParaRPr lang="en-US" sz="1800" dirty="0"/>
          </a:p>
        </p:txBody>
      </p:sp>
      <p:sp>
        <p:nvSpPr>
          <p:cNvPr id="8" name="sudut Biaya terjangkau"/>
          <p:cNvSpPr/>
          <p:nvPr/>
        </p:nvSpPr>
        <p:spPr>
          <a:xfrm>
            <a:off x="1234440" y="4754880"/>
            <a:ext cx="822960" cy="822960"/>
          </a:xfrm>
          <a:prstGeom prst="ellipse">
            <a:avLst/>
          </a:prstGeom>
          <a:solidFill>
            <a:schemeClr val="accent3"/>
          </a:solidFill>
          <a:ln w="25400">
            <a:solidFill>
              <a:schemeClr val="bg1"/>
            </a:solidFill>
            <a:prstDash val="solid"/>
          </a:ln>
        </p:spPr>
      </p:sp>
      <p:pic>
        <p:nvPicPr>
          <p:cNvPr id="9" name="Image 1" descr="FaWallet">    </p:cNvPr>
          <p:cNvPicPr>
            <a:picLocks noChangeAspect="1"/>
          </p:cNvPicPr>
          <p:nvPr/>
        </p:nvPicPr>
        <p:blipFill>
          <a:blip r:embed="rId2"/>
          <a:stretch>
            <a:fillRect/>
          </a:stretch>
        </p:blipFill>
        <p:spPr>
          <a:xfrm>
            <a:off x="1440180" y="4960620"/>
            <a:ext cx="411480" cy="411480"/>
          </a:xfrm>
          <a:prstGeom prst="rect">
            <a:avLst/>
          </a:prstGeom>
        </p:spPr>
      </p:pic>
      <p:sp>
        <p:nvSpPr>
          <p:cNvPr id="10" name="Text 6"/>
          <p:cNvSpPr txBox="1"/>
          <p:nvPr/>
        </p:nvSpPr>
        <p:spPr>
          <a:xfrm>
            <a:off x="548640" y="5669280"/>
            <a:ext cx="2194560" cy="402336"/>
          </a:xfrm>
          <a:prstGeom prst="rect">
            <a:avLst/>
          </a:prstGeom>
          <a:noFill/>
          <a:ln/>
        </p:spPr>
        <p:txBody>
          <a:bodyPr wrap="square" lIns="0" tIns="0" rIns="0" bIns="0" rtlCol="0" anchor="ctr"/>
          <a:lstStyle/>
          <a:p>
            <a:pPr algn="ctr" indent="0" marL="0">
              <a:buNone/>
            </a:pPr>
            <a:r>
              <a:rPr lang="en-US" sz="1800" b="1" dirty="0">
                <a:solidFill>
                  <a:schemeClr val="bg1"/>
                </a:solidFill>
              </a:rPr>
              <a:t>Biaya terjangkau</a:t>
            </a:r>
            <a:endParaRPr lang="en-US" sz="1800" dirty="0"/>
          </a:p>
        </p:txBody>
      </p:sp>
      <p:sp>
        <p:nvSpPr>
          <p:cNvPr id="11" name="sudut Jaringan listrik andal"/>
          <p:cNvSpPr/>
          <p:nvPr/>
        </p:nvSpPr>
        <p:spPr>
          <a:xfrm>
            <a:off x="4617720" y="4754880"/>
            <a:ext cx="822960" cy="822960"/>
          </a:xfrm>
          <a:prstGeom prst="ellipse">
            <a:avLst/>
          </a:prstGeom>
          <a:solidFill>
            <a:schemeClr val="accent2"/>
          </a:solidFill>
          <a:ln w="25400">
            <a:solidFill>
              <a:schemeClr val="bg1"/>
            </a:solidFill>
            <a:prstDash val="solid"/>
          </a:ln>
        </p:spPr>
      </p:sp>
      <p:pic>
        <p:nvPicPr>
          <p:cNvPr id="12" name="Image 2" descr="FaBolt">    </p:cNvPr>
          <p:cNvPicPr>
            <a:picLocks noChangeAspect="1"/>
          </p:cNvPicPr>
          <p:nvPr/>
        </p:nvPicPr>
        <p:blipFill>
          <a:blip r:embed="rId3"/>
          <a:stretch>
            <a:fillRect/>
          </a:stretch>
        </p:blipFill>
        <p:spPr>
          <a:xfrm>
            <a:off x="4823460" y="4960620"/>
            <a:ext cx="411480" cy="411480"/>
          </a:xfrm>
          <a:prstGeom prst="rect">
            <a:avLst/>
          </a:prstGeom>
        </p:spPr>
      </p:pic>
      <p:sp>
        <p:nvSpPr>
          <p:cNvPr id="13" name="Text 8"/>
          <p:cNvSpPr txBox="1"/>
          <p:nvPr/>
        </p:nvSpPr>
        <p:spPr>
          <a:xfrm>
            <a:off x="3749040" y="5669280"/>
            <a:ext cx="2560320" cy="402336"/>
          </a:xfrm>
          <a:prstGeom prst="rect">
            <a:avLst/>
          </a:prstGeom>
          <a:noFill/>
          <a:ln/>
        </p:spPr>
        <p:txBody>
          <a:bodyPr wrap="square" lIns="0" tIns="0" rIns="0" bIns="0" rtlCol="0" anchor="ctr"/>
          <a:lstStyle/>
          <a:p>
            <a:pPr algn="ctr" indent="0" marL="0">
              <a:buNone/>
            </a:pPr>
            <a:r>
              <a:rPr lang="en-US" sz="1800" b="1" dirty="0">
                <a:solidFill>
                  <a:schemeClr val="bg1"/>
                </a:solidFill>
              </a:rPr>
              <a:t>Jaringan listrik andal</a:t>
            </a:r>
            <a:endParaRPr lang="en-US" sz="1800" dirty="0"/>
          </a:p>
        </p:txBody>
      </p:sp>
      <p:sp>
        <p:nvSpPr>
          <p:cNvPr id="14" name="Text 9"/>
          <p:cNvSpPr txBox="1"/>
          <p:nvPr/>
        </p:nvSpPr>
        <p:spPr>
          <a:xfrm>
            <a:off x="2377440" y="4297680"/>
            <a:ext cx="1920240" cy="365760"/>
          </a:xfrm>
          <a:prstGeom prst="rect">
            <a:avLst/>
          </a:prstGeom>
          <a:noFill/>
          <a:ln/>
        </p:spPr>
        <p:txBody>
          <a:bodyPr wrap="square" lIns="0" tIns="0" rIns="0" bIns="0" rtlCol="0" anchor="ctr"/>
          <a:lstStyle/>
          <a:p>
            <a:pPr algn="ctr" indent="0" marL="0">
              <a:buNone/>
            </a:pPr>
            <a:r>
              <a:rPr lang="en-US" sz="1400" i="1" dirty="0">
                <a:solidFill>
                  <a:schemeClr val="accent4"/>
                </a:solidFill>
              </a:rPr>
              <a:t>saling tarik</a:t>
            </a:r>
            <a:endParaRPr lang="en-US" sz="1400" dirty="0"/>
          </a:p>
        </p:txBody>
      </p:sp>
      <p:sp>
        <p:nvSpPr>
          <p:cNvPr id="15" name="Text 10"/>
          <p:cNvSpPr txBox="1"/>
          <p:nvPr/>
        </p:nvSpPr>
        <p:spPr>
          <a:xfrm>
            <a:off x="6263640" y="2331720"/>
            <a:ext cx="5376672" cy="1234440"/>
          </a:xfrm>
          <a:prstGeom prst="rect">
            <a:avLst/>
          </a:prstGeom>
          <a:noFill/>
          <a:ln/>
        </p:spPr>
        <p:txBody>
          <a:bodyPr wrap="square" lIns="0" tIns="0" rIns="0" bIns="0" rtlCol="0" anchor="ctr"/>
          <a:lstStyle/>
          <a:p>
            <a:pPr algn="l" indent="0" marL="0">
              <a:buNone/>
            </a:pPr>
            <a:r>
              <a:rPr lang="en-US" sz="8000" b="1" dirty="0">
                <a:solidFill>
                  <a:schemeClr val="accent1"/>
                </a:solidFill>
              </a:rPr>
              <a:t>+94,85%</a:t>
            </a:r>
            <a:endParaRPr lang="en-US" sz="8000" dirty="0"/>
          </a:p>
        </p:txBody>
      </p:sp>
      <p:sp>
        <p:nvSpPr>
          <p:cNvPr id="16" name="Text 11"/>
          <p:cNvSpPr txBox="1"/>
          <p:nvPr/>
        </p:nvSpPr>
        <p:spPr>
          <a:xfrm>
            <a:off x="6263640" y="3611880"/>
            <a:ext cx="5120640" cy="914400"/>
          </a:xfrm>
          <a:prstGeom prst="rect">
            <a:avLst/>
          </a:prstGeom>
          <a:noFill/>
          <a:ln/>
        </p:spPr>
        <p:txBody>
          <a:bodyPr wrap="square" lIns="0" tIns="0" rIns="0" bIns="0" rtlCol="0" anchor="t"/>
          <a:lstStyle/>
          <a:p>
            <a:pPr algn="l" indent="0" marL="0">
              <a:buNone/>
            </a:pPr>
            <a:r>
              <a:rPr lang="en-US" sz="2000" dirty="0">
                <a:solidFill>
                  <a:schemeClr val="bg1"/>
                </a:solidFill>
              </a:rPr>
              <a:t>median kenaikan konsumsi listrik tahunan zona bila semua pemanas gas diganti pompa panas</a:t>
            </a:r>
            <a:endParaRPr lang="en-US" sz="2000" dirty="0"/>
          </a:p>
        </p:txBody>
      </p:sp>
      <p:sp>
        <p:nvSpPr>
          <p:cNvPr id="17" name="label ASUMSI"/>
          <p:cNvSpPr/>
          <p:nvPr/>
        </p:nvSpPr>
        <p:spPr>
          <a:xfrm>
            <a:off x="6263640" y="4754880"/>
            <a:ext cx="960120" cy="274320"/>
          </a:xfrm>
          <a:prstGeom prst="roundRect">
            <a:avLst>
              <a:gd name="adj" fmla="val 20000"/>
            </a:avLst>
          </a:prstGeom>
          <a:solidFill>
            <a:schemeClr val="bg1">
              <a:alpha val="15000"/>
            </a:schemeClr>
          </a:solidFill>
          <a:ln/>
        </p:spPr>
      </p:sp>
      <p:sp>
        <p:nvSpPr>
          <p:cNvPr id="18" name="Text 13"/>
          <p:cNvSpPr txBox="1"/>
          <p:nvPr/>
        </p:nvSpPr>
        <p:spPr>
          <a:xfrm>
            <a:off x="6263640" y="4754880"/>
            <a:ext cx="960120"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ASUMSI</a:t>
            </a:r>
            <a:endParaRPr lang="en-US" sz="1100" dirty="0"/>
          </a:p>
        </p:txBody>
      </p:sp>
      <p:sp>
        <p:nvSpPr>
          <p:cNvPr id="19" name="Text 14"/>
          <p:cNvSpPr txBox="1"/>
          <p:nvPr/>
        </p:nvSpPr>
        <p:spPr>
          <a:xfrm>
            <a:off x="6263640" y="5120640"/>
            <a:ext cx="5120640" cy="685800"/>
          </a:xfrm>
          <a:prstGeom prst="rect">
            <a:avLst/>
          </a:prstGeom>
          <a:noFill/>
          <a:ln/>
        </p:spPr>
        <p:txBody>
          <a:bodyPr wrap="square" lIns="0" tIns="0" rIns="0" bIns="0" rtlCol="0" anchor="t"/>
          <a:lstStyle/>
          <a:p>
            <a:pPr algn="l" indent="0" marL="0">
              <a:buNone/>
            </a:pPr>
            <a:r>
              <a:rPr lang="en-US" sz="1500" dirty="0">
                <a:solidFill>
                  <a:schemeClr val="accent4"/>
                </a:solidFill>
              </a:rPr>
              <a:t>80% gas untuk pemanasan, COP 3 (3 kWh panas per 1 kWh listrik); energi tahunan, bukan beban puncak</a:t>
            </a:r>
            <a:endParaRPr lang="en-US" sz="15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I · RINGKASAN EKSEKUTIF</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Transisi 330 zona perlu diurutkan per kuadran, bukan diseragamkan</a:t>
            </a:r>
            <a:endParaRPr lang="en-US" sz="2800" dirty="0"/>
          </a:p>
        </p:txBody>
      </p:sp>
      <p:sp>
        <p:nvSpPr>
          <p:cNvPr id="4" name="kartu R1"/>
          <p:cNvSpPr/>
          <p:nvPr/>
        </p:nvSpPr>
        <p:spPr>
          <a:xfrm>
            <a:off x="548640" y="1920240"/>
            <a:ext cx="3063240" cy="3429000"/>
          </a:xfrm>
          <a:prstGeom prst="roundRect">
            <a:avLst>
              <a:gd name="adj" fmla="val 3582"/>
            </a:avLst>
          </a:prstGeom>
          <a:solidFill>
            <a:schemeClr val="bg2"/>
          </a:solidFill>
          <a:ln/>
        </p:spPr>
      </p:sp>
      <p:sp>
        <p:nvSpPr>
          <p:cNvPr id="5" name="nomor 1"/>
          <p:cNvSpPr/>
          <p:nvPr/>
        </p:nvSpPr>
        <p:spPr>
          <a:xfrm>
            <a:off x="768096" y="2139696"/>
            <a:ext cx="566928" cy="566928"/>
          </a:xfrm>
          <a:prstGeom prst="ellipse">
            <a:avLst/>
          </a:prstGeom>
          <a:solidFill>
            <a:schemeClr val="accent1"/>
          </a:solidFill>
          <a:ln/>
        </p:spPr>
      </p:sp>
      <p:sp>
        <p:nvSpPr>
          <p:cNvPr id="6" name="Text 4"/>
          <p:cNvSpPr txBox="1"/>
          <p:nvPr/>
        </p:nvSpPr>
        <p:spPr>
          <a:xfrm>
            <a:off x="768096" y="2139696"/>
            <a:ext cx="566928" cy="566928"/>
          </a:xfrm>
          <a:prstGeom prst="rect">
            <a:avLst/>
          </a:prstGeom>
          <a:noFill/>
          <a:ln/>
        </p:spPr>
        <p:txBody>
          <a:bodyPr wrap="square" lIns="0" tIns="0" rIns="0" bIns="0" rtlCol="0" anchor="ctr"/>
          <a:lstStyle/>
          <a:p>
            <a:pPr algn="ctr" indent="0" marL="0">
              <a:buNone/>
            </a:pPr>
            <a:r>
              <a:rPr lang="en-US" sz="2100" b="1" dirty="0">
                <a:solidFill>
                  <a:schemeClr val="bg1"/>
                </a:solidFill>
              </a:rPr>
              <a:t>1</a:t>
            </a:r>
            <a:endParaRPr lang="en-US" sz="2100" dirty="0"/>
          </a:p>
        </p:txBody>
      </p:sp>
      <p:sp>
        <p:nvSpPr>
          <p:cNvPr id="7" name="Text 5"/>
          <p:cNvSpPr txBox="1"/>
          <p:nvPr/>
        </p:nvSpPr>
        <p:spPr>
          <a:xfrm>
            <a:off x="822960" y="2926080"/>
            <a:ext cx="2697480" cy="777240"/>
          </a:xfrm>
          <a:prstGeom prst="rect">
            <a:avLst/>
          </a:prstGeom>
          <a:noFill/>
          <a:ln/>
        </p:spPr>
        <p:txBody>
          <a:bodyPr wrap="square" lIns="0" tIns="0" rIns="0" bIns="0" rtlCol="0" anchor="t"/>
          <a:lstStyle/>
          <a:p>
            <a:pPr algn="l" indent="0" marL="0">
              <a:buNone/>
            </a:pPr>
            <a:r>
              <a:rPr lang="en-US" sz="2000" b="1" i="1" dirty="0">
                <a:solidFill>
                  <a:schemeClr val="tx1"/>
                </a:solidFill>
              </a:rPr>
              <a:t>Retrofit</a:t>
            </a:r>
            <a:pPr algn="l" indent="0" marL="0">
              <a:buNone/>
            </a:pPr>
            <a:r>
              <a:rPr lang="en-US" sz="2000" b="1" dirty="0">
                <a:solidFill>
                  <a:schemeClr val="tx1"/>
                </a:solidFill>
              </a:rPr>
              <a:t> selubung dulu di zona Q1</a:t>
            </a:r>
            <a:endParaRPr lang="en-US" sz="2000" dirty="0"/>
          </a:p>
        </p:txBody>
      </p:sp>
      <p:sp>
        <p:nvSpPr>
          <p:cNvPr id="8" name="Text 6"/>
          <p:cNvSpPr txBox="1"/>
          <p:nvPr/>
        </p:nvSpPr>
        <p:spPr>
          <a:xfrm>
            <a:off x="822960" y="3703320"/>
            <a:ext cx="2606040" cy="685800"/>
          </a:xfrm>
          <a:prstGeom prst="rect">
            <a:avLst/>
          </a:prstGeom>
          <a:noFill/>
          <a:ln/>
        </p:spPr>
        <p:txBody>
          <a:bodyPr wrap="square" lIns="0" tIns="0" rIns="0" bIns="0" rtlCol="0" anchor="ctr"/>
          <a:lstStyle/>
          <a:p>
            <a:pPr algn="l" indent="0" marL="0">
              <a:buNone/>
            </a:pPr>
            <a:r>
              <a:rPr lang="en-US" sz="4000" b="1" dirty="0">
                <a:solidFill>
                  <a:schemeClr val="accent1"/>
                </a:solidFill>
              </a:rPr>
              <a:t>118 zona</a:t>
            </a:r>
            <a:endParaRPr lang="en-US" sz="1600" dirty="0"/>
          </a:p>
        </p:txBody>
      </p:sp>
      <p:sp>
        <p:nvSpPr>
          <p:cNvPr id="9" name="Text 7"/>
          <p:cNvSpPr txBox="1"/>
          <p:nvPr/>
        </p:nvSpPr>
        <p:spPr>
          <a:xfrm>
            <a:off x="822960" y="4370832"/>
            <a:ext cx="2606040" cy="365760"/>
          </a:xfrm>
          <a:prstGeom prst="rect">
            <a:avLst/>
          </a:prstGeom>
          <a:noFill/>
          <a:ln/>
        </p:spPr>
        <p:txBody>
          <a:bodyPr wrap="square" lIns="0" tIns="0" rIns="0" bIns="0" rtlCol="0" anchor="t"/>
          <a:lstStyle/>
          <a:p>
            <a:pPr algn="l" indent="0" marL="0">
              <a:buNone/>
            </a:pPr>
            <a:r>
              <a:rPr lang="en-US" sz="1800" b="1" dirty="0">
                <a:solidFill>
                  <a:schemeClr val="accent1"/>
                </a:solidFill>
              </a:rPr>
              <a:t>47% konsumsi gas</a:t>
            </a:r>
            <a:endParaRPr lang="en-US" sz="1800" dirty="0"/>
          </a:p>
        </p:txBody>
      </p:sp>
      <p:sp>
        <p:nvSpPr>
          <p:cNvPr id="10" name="titik trilema 1"/>
          <p:cNvSpPr/>
          <p:nvPr/>
        </p:nvSpPr>
        <p:spPr>
          <a:xfrm>
            <a:off x="822960" y="4855464"/>
            <a:ext cx="182880" cy="182880"/>
          </a:xfrm>
          <a:prstGeom prst="ellipse">
            <a:avLst/>
          </a:prstGeom>
          <a:solidFill>
            <a:schemeClr val="accent1"/>
          </a:solidFill>
          <a:ln/>
        </p:spPr>
      </p:sp>
      <p:sp>
        <p:nvSpPr>
          <p:cNvPr id="11" name="titik trilema 2"/>
          <p:cNvSpPr/>
          <p:nvPr/>
        </p:nvSpPr>
        <p:spPr>
          <a:xfrm>
            <a:off x="1060704" y="4855464"/>
            <a:ext cx="182880" cy="182880"/>
          </a:xfrm>
          <a:prstGeom prst="ellipse">
            <a:avLst/>
          </a:prstGeom>
          <a:solidFill>
            <a:schemeClr val="accent3"/>
          </a:solidFill>
          <a:ln/>
        </p:spPr>
      </p:sp>
      <p:sp>
        <p:nvSpPr>
          <p:cNvPr id="12" name="Text 10"/>
          <p:cNvSpPr txBox="1"/>
          <p:nvPr/>
        </p:nvSpPr>
        <p:spPr>
          <a:xfrm>
            <a:off x="1371600" y="4800600"/>
            <a:ext cx="2377440" cy="292608"/>
          </a:xfrm>
          <a:prstGeom prst="rect">
            <a:avLst/>
          </a:prstGeom>
          <a:noFill/>
          <a:ln/>
        </p:spPr>
        <p:txBody>
          <a:bodyPr wrap="square" lIns="0" tIns="0" rIns="0" bIns="0" rtlCol="0" anchor="ctr"/>
          <a:lstStyle/>
          <a:p>
            <a:pPr algn="l" indent="0" marL="0">
              <a:buNone/>
            </a:pPr>
            <a:r>
              <a:rPr lang="en-US" sz="1400" b="1" dirty="0">
                <a:solidFill>
                  <a:schemeClr val="tx1"/>
                </a:solidFill>
              </a:rPr>
              <a:t>biaya dan emisi</a:t>
            </a:r>
            <a:endParaRPr lang="en-US" sz="1400" dirty="0"/>
          </a:p>
        </p:txBody>
      </p:sp>
      <p:sp>
        <p:nvSpPr>
          <p:cNvPr id="13" name="gerbang R2"/>
          <p:cNvSpPr/>
          <p:nvPr/>
        </p:nvSpPr>
        <p:spPr>
          <a:xfrm>
            <a:off x="4480560" y="1691640"/>
            <a:ext cx="3230575" cy="3886200"/>
          </a:xfrm>
          <a:prstGeom prst="roundRect">
            <a:avLst>
              <a:gd name="adj" fmla="val 3397"/>
            </a:avLst>
          </a:prstGeom>
          <a:solidFill>
            <a:schemeClr val="tx2"/>
          </a:solidFill>
          <a:ln/>
        </p:spPr>
      </p:sp>
      <p:sp>
        <p:nvSpPr>
          <p:cNvPr id="14" name="nomor 2"/>
          <p:cNvSpPr/>
          <p:nvPr/>
        </p:nvSpPr>
        <p:spPr>
          <a:xfrm>
            <a:off x="4700016" y="1956816"/>
            <a:ext cx="566928" cy="566928"/>
          </a:xfrm>
          <a:prstGeom prst="ellipse">
            <a:avLst/>
          </a:prstGeom>
          <a:solidFill>
            <a:schemeClr val="bg1"/>
          </a:solidFill>
          <a:ln/>
        </p:spPr>
      </p:sp>
      <p:sp>
        <p:nvSpPr>
          <p:cNvPr id="15" name="Text 13"/>
          <p:cNvSpPr txBox="1"/>
          <p:nvPr/>
        </p:nvSpPr>
        <p:spPr>
          <a:xfrm>
            <a:off x="4700016" y="1956816"/>
            <a:ext cx="566928" cy="566928"/>
          </a:xfrm>
          <a:prstGeom prst="rect">
            <a:avLst/>
          </a:prstGeom>
          <a:noFill/>
          <a:ln/>
        </p:spPr>
        <p:txBody>
          <a:bodyPr wrap="square" lIns="0" tIns="0" rIns="0" bIns="0" rtlCol="0" anchor="ctr"/>
          <a:lstStyle/>
          <a:p>
            <a:pPr algn="ctr" indent="0" marL="0">
              <a:buNone/>
            </a:pPr>
            <a:r>
              <a:rPr lang="en-US" sz="2100" b="1" dirty="0">
                <a:solidFill>
                  <a:schemeClr val="tx2"/>
                </a:solidFill>
              </a:rPr>
              <a:t>2</a:t>
            </a:r>
            <a:endParaRPr lang="en-US" sz="2100" dirty="0"/>
          </a:p>
        </p:txBody>
      </p:sp>
      <p:pic>
        <p:nvPicPr>
          <p:cNvPr id="16" name="Image 0" descr="ikon gardu">    </p:cNvPr>
          <p:cNvPicPr>
            <a:picLocks noChangeAspect="1"/>
          </p:cNvPicPr>
          <p:nvPr/>
        </p:nvPicPr>
        <p:blipFill>
          <a:blip r:embed="rId1"/>
          <a:stretch>
            <a:fillRect/>
          </a:stretch>
        </p:blipFill>
        <p:spPr>
          <a:xfrm>
            <a:off x="6842455" y="1965960"/>
            <a:ext cx="566928" cy="566928"/>
          </a:xfrm>
          <a:prstGeom prst="rect">
            <a:avLst/>
          </a:prstGeom>
        </p:spPr>
      </p:pic>
      <p:sp>
        <p:nvSpPr>
          <p:cNvPr id="17" name="Text 14"/>
          <p:cNvSpPr txBox="1"/>
          <p:nvPr/>
        </p:nvSpPr>
        <p:spPr>
          <a:xfrm>
            <a:off x="4754880" y="2834640"/>
            <a:ext cx="2681935" cy="1508760"/>
          </a:xfrm>
          <a:prstGeom prst="rect">
            <a:avLst/>
          </a:prstGeom>
          <a:noFill/>
          <a:ln/>
        </p:spPr>
        <p:txBody>
          <a:bodyPr wrap="square" lIns="0" tIns="0" rIns="0" bIns="0" rtlCol="0" anchor="t"/>
          <a:lstStyle/>
          <a:p>
            <a:pPr algn="l" indent="0" marL="0">
              <a:buNone/>
            </a:pPr>
            <a:r>
              <a:rPr lang="en-US" sz="2400" b="1" dirty="0">
                <a:solidFill>
                  <a:schemeClr val="bg1"/>
                </a:solidFill>
              </a:rPr>
              <a:t>Gardu dinilai sebelum subsidi pompa panas dibuka</a:t>
            </a:r>
            <a:endParaRPr lang="en-US" sz="2400" dirty="0"/>
          </a:p>
        </p:txBody>
      </p:sp>
      <p:sp>
        <p:nvSpPr>
          <p:cNvPr id="18" name="Text 15"/>
          <p:cNvSpPr txBox="1"/>
          <p:nvPr/>
        </p:nvSpPr>
        <p:spPr>
          <a:xfrm>
            <a:off x="4754880" y="4297680"/>
            <a:ext cx="2681935" cy="548640"/>
          </a:xfrm>
          <a:prstGeom prst="rect">
            <a:avLst/>
          </a:prstGeom>
          <a:noFill/>
          <a:ln/>
        </p:spPr>
        <p:txBody>
          <a:bodyPr wrap="square" lIns="0" tIns="0" rIns="0" bIns="0" rtlCol="0" anchor="t"/>
          <a:lstStyle/>
          <a:p>
            <a:pPr algn="l" indent="0" marL="0">
              <a:buNone/>
            </a:pPr>
            <a:r>
              <a:rPr lang="en-US" sz="1400" i="1" dirty="0">
                <a:solidFill>
                  <a:schemeClr val="accent4"/>
                </a:solidFill>
              </a:rPr>
              <a:t>gerbang untuk pompa panas di Q1 dan Q2</a:t>
            </a:r>
            <a:endParaRPr lang="en-US" sz="1400" dirty="0"/>
          </a:p>
        </p:txBody>
      </p:sp>
      <p:sp>
        <p:nvSpPr>
          <p:cNvPr id="19" name="titik trilema 1"/>
          <p:cNvSpPr/>
          <p:nvPr/>
        </p:nvSpPr>
        <p:spPr>
          <a:xfrm>
            <a:off x="4754880" y="5084064"/>
            <a:ext cx="182880" cy="182880"/>
          </a:xfrm>
          <a:prstGeom prst="ellipse">
            <a:avLst/>
          </a:prstGeom>
          <a:solidFill>
            <a:schemeClr val="accent2"/>
          </a:solidFill>
          <a:ln/>
        </p:spPr>
      </p:sp>
      <p:sp>
        <p:nvSpPr>
          <p:cNvPr id="20" name="Text 17"/>
          <p:cNvSpPr txBox="1"/>
          <p:nvPr/>
        </p:nvSpPr>
        <p:spPr>
          <a:xfrm>
            <a:off x="5065776" y="5029200"/>
            <a:ext cx="2377440" cy="292608"/>
          </a:xfrm>
          <a:prstGeom prst="rect">
            <a:avLst/>
          </a:prstGeom>
          <a:noFill/>
          <a:ln/>
        </p:spPr>
        <p:txBody>
          <a:bodyPr wrap="square" lIns="0" tIns="0" rIns="0" bIns="0" rtlCol="0" anchor="ctr"/>
          <a:lstStyle/>
          <a:p>
            <a:pPr algn="l" indent="0" marL="0">
              <a:buNone/>
            </a:pPr>
            <a:r>
              <a:rPr lang="en-US" sz="1400" b="1" dirty="0">
                <a:solidFill>
                  <a:schemeClr val="bg1"/>
                </a:solidFill>
              </a:rPr>
              <a:t>keandalan jaringan</a:t>
            </a:r>
            <a:endParaRPr lang="en-US" sz="1400" dirty="0"/>
          </a:p>
        </p:txBody>
      </p:sp>
      <p:sp>
        <p:nvSpPr>
          <p:cNvPr id="21" name="kartu R3"/>
          <p:cNvSpPr/>
          <p:nvPr/>
        </p:nvSpPr>
        <p:spPr>
          <a:xfrm>
            <a:off x="8579815" y="1920240"/>
            <a:ext cx="3063240" cy="3429000"/>
          </a:xfrm>
          <a:prstGeom prst="roundRect">
            <a:avLst>
              <a:gd name="adj" fmla="val 3582"/>
            </a:avLst>
          </a:prstGeom>
          <a:solidFill>
            <a:schemeClr val="bg2"/>
          </a:solidFill>
          <a:ln/>
        </p:spPr>
      </p:sp>
      <p:sp>
        <p:nvSpPr>
          <p:cNvPr id="22" name="nomor 3"/>
          <p:cNvSpPr/>
          <p:nvPr/>
        </p:nvSpPr>
        <p:spPr>
          <a:xfrm>
            <a:off x="8799271" y="2139696"/>
            <a:ext cx="566928" cy="566928"/>
          </a:xfrm>
          <a:prstGeom prst="ellipse">
            <a:avLst/>
          </a:prstGeom>
          <a:solidFill>
            <a:schemeClr val="accent2"/>
          </a:solidFill>
          <a:ln/>
        </p:spPr>
      </p:sp>
      <p:sp>
        <p:nvSpPr>
          <p:cNvPr id="23" name="Text 20"/>
          <p:cNvSpPr txBox="1"/>
          <p:nvPr/>
        </p:nvSpPr>
        <p:spPr>
          <a:xfrm>
            <a:off x="8799271" y="2139696"/>
            <a:ext cx="566928" cy="566928"/>
          </a:xfrm>
          <a:prstGeom prst="rect">
            <a:avLst/>
          </a:prstGeom>
          <a:noFill/>
          <a:ln/>
        </p:spPr>
        <p:txBody>
          <a:bodyPr wrap="square" lIns="0" tIns="0" rIns="0" bIns="0" rtlCol="0" anchor="ctr"/>
          <a:lstStyle/>
          <a:p>
            <a:pPr algn="ctr" indent="0" marL="0">
              <a:buNone/>
            </a:pPr>
            <a:r>
              <a:rPr lang="en-US" sz="2100" b="1" dirty="0">
                <a:solidFill>
                  <a:schemeClr val="bg1"/>
                </a:solidFill>
              </a:rPr>
              <a:t>3</a:t>
            </a:r>
            <a:endParaRPr lang="en-US" sz="2100" dirty="0"/>
          </a:p>
        </p:txBody>
      </p:sp>
      <p:sp>
        <p:nvSpPr>
          <p:cNvPr id="24" name="Text 21"/>
          <p:cNvSpPr txBox="1"/>
          <p:nvPr/>
        </p:nvSpPr>
        <p:spPr>
          <a:xfrm>
            <a:off x="8854135" y="2926080"/>
            <a:ext cx="2606040" cy="914400"/>
          </a:xfrm>
          <a:prstGeom prst="rect">
            <a:avLst/>
          </a:prstGeom>
          <a:noFill/>
          <a:ln/>
        </p:spPr>
        <p:txBody>
          <a:bodyPr wrap="square" lIns="0" tIns="0" rIns="0" bIns="0" rtlCol="0" anchor="t"/>
          <a:lstStyle/>
          <a:p>
            <a:pPr algn="l" indent="0" marL="0">
              <a:buNone/>
            </a:pPr>
            <a:r>
              <a:rPr lang="en-US" sz="2000" b="1" dirty="0">
                <a:solidFill>
                  <a:schemeClr val="tx1"/>
                </a:solidFill>
              </a:rPr>
              <a:t>Pilot pompa panas di kawasan bergas zona Q2</a:t>
            </a:r>
            <a:endParaRPr lang="en-US" sz="2000" dirty="0"/>
          </a:p>
        </p:txBody>
      </p:sp>
      <p:sp>
        <p:nvSpPr>
          <p:cNvPr id="25" name="ikon pilot"/>
          <p:cNvSpPr/>
          <p:nvPr/>
        </p:nvSpPr>
        <p:spPr>
          <a:xfrm>
            <a:off x="8803843" y="3909060"/>
            <a:ext cx="685800" cy="685800"/>
          </a:xfrm>
          <a:prstGeom prst="ellipse">
            <a:avLst/>
          </a:prstGeom>
          <a:solidFill>
            <a:schemeClr val="accent2"/>
          </a:solidFill>
          <a:ln/>
        </p:spPr>
      </p:sp>
      <p:pic>
        <p:nvPicPr>
          <p:cNvPr id="26" name="Image 1" descr="FaFlask">    </p:cNvPr>
          <p:cNvPicPr>
            <a:picLocks noChangeAspect="1"/>
          </p:cNvPicPr>
          <p:nvPr/>
        </p:nvPicPr>
        <p:blipFill>
          <a:blip r:embed="rId2"/>
          <a:stretch>
            <a:fillRect/>
          </a:stretch>
        </p:blipFill>
        <p:spPr>
          <a:xfrm>
            <a:off x="8975293" y="4080510"/>
            <a:ext cx="342900" cy="342900"/>
          </a:xfrm>
          <a:prstGeom prst="rect">
            <a:avLst/>
          </a:prstGeom>
        </p:spPr>
      </p:pic>
      <p:sp>
        <p:nvSpPr>
          <p:cNvPr id="27" name="titik trilema 1"/>
          <p:cNvSpPr/>
          <p:nvPr/>
        </p:nvSpPr>
        <p:spPr>
          <a:xfrm>
            <a:off x="8854135" y="4855464"/>
            <a:ext cx="182880" cy="182880"/>
          </a:xfrm>
          <a:prstGeom prst="ellipse">
            <a:avLst/>
          </a:prstGeom>
          <a:solidFill>
            <a:schemeClr val="accent1"/>
          </a:solidFill>
          <a:ln/>
        </p:spPr>
      </p:sp>
      <p:sp>
        <p:nvSpPr>
          <p:cNvPr id="28" name="titik trilema 2"/>
          <p:cNvSpPr/>
          <p:nvPr/>
        </p:nvSpPr>
        <p:spPr>
          <a:xfrm>
            <a:off x="9091879" y="4855464"/>
            <a:ext cx="182880" cy="182880"/>
          </a:xfrm>
          <a:prstGeom prst="ellipse">
            <a:avLst/>
          </a:prstGeom>
          <a:solidFill>
            <a:schemeClr val="accent2"/>
          </a:solidFill>
          <a:ln/>
        </p:spPr>
      </p:sp>
      <p:sp>
        <p:nvSpPr>
          <p:cNvPr id="29" name="Text 25"/>
          <p:cNvSpPr txBox="1"/>
          <p:nvPr/>
        </p:nvSpPr>
        <p:spPr>
          <a:xfrm>
            <a:off x="9402775" y="4800600"/>
            <a:ext cx="2377440" cy="292608"/>
          </a:xfrm>
          <a:prstGeom prst="rect">
            <a:avLst/>
          </a:prstGeom>
          <a:noFill/>
          <a:ln/>
        </p:spPr>
        <p:txBody>
          <a:bodyPr wrap="square" lIns="0" tIns="0" rIns="0" bIns="0" rtlCol="0" anchor="ctr"/>
          <a:lstStyle/>
          <a:p>
            <a:pPr algn="l" indent="0" marL="0">
              <a:buNone/>
            </a:pPr>
            <a:r>
              <a:rPr lang="en-US" sz="1400" b="1" dirty="0">
                <a:solidFill>
                  <a:schemeClr val="tx1"/>
                </a:solidFill>
              </a:rPr>
              <a:t>transisi yang terukur</a:t>
            </a:r>
            <a:endParaRPr lang="en-US" sz="1400" dirty="0"/>
          </a:p>
        </p:txBody>
      </p:sp>
      <p:sp>
        <p:nvSpPr>
          <p:cNvPr id="30" name="Shape 26"/>
          <p:cNvSpPr/>
          <p:nvPr/>
        </p:nvSpPr>
        <p:spPr>
          <a:xfrm>
            <a:off x="3685032" y="3931920"/>
            <a:ext cx="722376" cy="914"/>
          </a:xfrm>
          <a:prstGeom prst="line">
            <a:avLst/>
          </a:prstGeom>
          <a:noFill/>
          <a:ln w="25400">
            <a:solidFill>
              <a:schemeClr val="accent5"/>
            </a:solidFill>
            <a:prstDash val="solid"/>
            <a:tailEnd type="triangle"/>
          </a:ln>
        </p:spPr>
      </p:sp>
      <p:sp>
        <p:nvSpPr>
          <p:cNvPr id="31" name="Shape 27"/>
          <p:cNvSpPr/>
          <p:nvPr/>
        </p:nvSpPr>
        <p:spPr>
          <a:xfrm flipH="1">
            <a:off x="7784287" y="3931920"/>
            <a:ext cx="722376" cy="914"/>
          </a:xfrm>
          <a:prstGeom prst="line">
            <a:avLst/>
          </a:prstGeom>
          <a:noFill/>
          <a:ln w="25400">
            <a:solidFill>
              <a:schemeClr val="accent5"/>
            </a:solidFill>
            <a:prstDash val="solid"/>
            <a:tailEnd type="triangle"/>
          </a:ln>
        </p:spPr>
      </p:sp>
      <p:sp>
        <p:nvSpPr>
          <p:cNvPr id="32" name="Text 28"/>
          <p:cNvSpPr txBox="1"/>
          <p:nvPr/>
        </p:nvSpPr>
        <p:spPr>
          <a:xfrm>
            <a:off x="3703320" y="3310128"/>
            <a:ext cx="685800" cy="548640"/>
          </a:xfrm>
          <a:prstGeom prst="rect">
            <a:avLst/>
          </a:prstGeom>
          <a:noFill/>
          <a:ln/>
        </p:spPr>
        <p:txBody>
          <a:bodyPr wrap="square" lIns="0" tIns="0" rIns="0" bIns="0" rtlCol="0" anchor="b"/>
          <a:lstStyle/>
          <a:p>
            <a:pPr algn="ctr" indent="0" marL="0">
              <a:buNone/>
            </a:pPr>
            <a:r>
              <a:rPr lang="en-US" sz="1200" dirty="0">
                <a:solidFill>
                  <a:schemeClr val="accent5"/>
                </a:solidFill>
              </a:rPr>
              <a:t>pompa</a:t>
            </a:r>
            <a:endParaRPr lang="en-US" sz="1200" dirty="0"/>
          </a:p>
          <a:p>
            <a:pPr algn="ctr" indent="0" marL="0">
              <a:buNone/>
            </a:pPr>
            <a:r>
              <a:rPr lang="en-US" sz="1200" dirty="0">
                <a:solidFill>
                  <a:schemeClr val="accent5"/>
                </a:solidFill>
              </a:rPr>
              <a:t>panas</a:t>
            </a:r>
            <a:endParaRPr lang="en-US" sz="1200" dirty="0"/>
          </a:p>
        </p:txBody>
      </p:sp>
      <p:sp>
        <p:nvSpPr>
          <p:cNvPr id="33" name="Text 29"/>
          <p:cNvSpPr txBox="1"/>
          <p:nvPr/>
        </p:nvSpPr>
        <p:spPr>
          <a:xfrm>
            <a:off x="7802575" y="3310128"/>
            <a:ext cx="685800" cy="548640"/>
          </a:xfrm>
          <a:prstGeom prst="rect">
            <a:avLst/>
          </a:prstGeom>
          <a:noFill/>
          <a:ln/>
        </p:spPr>
        <p:txBody>
          <a:bodyPr wrap="square" lIns="0" tIns="0" rIns="0" bIns="0" rtlCol="0" anchor="b"/>
          <a:lstStyle/>
          <a:p>
            <a:pPr algn="ctr" indent="0" marL="0">
              <a:buNone/>
            </a:pPr>
            <a:r>
              <a:rPr lang="en-US" sz="1200" dirty="0">
                <a:solidFill>
                  <a:schemeClr val="accent5"/>
                </a:solidFill>
              </a:rPr>
              <a:t>pompa</a:t>
            </a:r>
            <a:endParaRPr lang="en-US" sz="1200" dirty="0"/>
          </a:p>
          <a:p>
            <a:pPr algn="ctr" indent="0" marL="0">
              <a:buNone/>
            </a:pPr>
            <a:r>
              <a:rPr lang="en-US" sz="1200" dirty="0">
                <a:solidFill>
                  <a:schemeClr val="accent5"/>
                </a:solidFill>
              </a:rPr>
              <a:t>panas</a:t>
            </a:r>
            <a:endParaRPr lang="en-US" sz="1200" dirty="0"/>
          </a:p>
        </p:txBody>
      </p:sp>
      <p:sp>
        <p:nvSpPr>
          <p:cNvPr id="34" name="Text 30"/>
          <p:cNvSpPr txBox="1"/>
          <p:nvPr/>
        </p:nvSpPr>
        <p:spPr>
          <a:xfrm>
            <a:off x="548640" y="5779008"/>
            <a:ext cx="11094415" cy="365760"/>
          </a:xfrm>
          <a:prstGeom prst="rect">
            <a:avLst/>
          </a:prstGeom>
          <a:noFill/>
          <a:ln/>
        </p:spPr>
        <p:txBody>
          <a:bodyPr wrap="square" lIns="0" tIns="0" rIns="0" bIns="0" rtlCol="0" anchor="ctr"/>
          <a:lstStyle/>
          <a:p>
            <a:pPr algn="l" indent="0" marL="0">
              <a:buNone/>
            </a:pPr>
            <a:r>
              <a:rPr lang="en-US" sz="1500" b="1" dirty="0">
                <a:solidFill>
                  <a:schemeClr val="tx2"/>
                </a:solidFill>
              </a:rPr>
              <a:t>Berikutnya: </a:t>
            </a:r>
            <a:pPr algn="l" indent="0" marL="0">
              <a:buNone/>
            </a:pPr>
            <a:r>
              <a:rPr lang="en-US" sz="1500" dirty="0">
                <a:solidFill>
                  <a:schemeClr val="accent5"/>
                </a:solidFill>
              </a:rPr>
              <a:t>fitur → model → kebijakan → batas</a:t>
            </a:r>
            <a:endParaRPr lang="en-US" sz="15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II · REKAYASA FITUR</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Luas lantai per meter: fitur teratas model penjelas konsumsi,</a:t>
            </a:r>
            <a:br/>
            <a:pPr algn="l" indent="0" marL="0">
              <a:buNone/>
            </a:pPr>
            <a:r>
              <a:rPr lang="en-US" sz="2800" b="1" dirty="0">
                <a:solidFill>
                  <a:schemeClr val="tx2"/>
                </a:solidFill>
              </a:rPr>
              <a:t>dihitung tanpa menyentuh target</a:t>
            </a:r>
            <a:endParaRPr lang="en-US" sz="2800" dirty="0"/>
          </a:p>
        </p:txBody>
      </p:sp>
      <p:sp>
        <p:nvSpPr>
          <p:cNvPr id="4" name="label DIBANGUN"/>
          <p:cNvSpPr/>
          <p:nvPr/>
        </p:nvSpPr>
        <p:spPr>
          <a:xfrm>
            <a:off x="548640" y="1691640"/>
            <a:ext cx="953902" cy="310896"/>
          </a:xfrm>
          <a:prstGeom prst="roundRect">
            <a:avLst>
              <a:gd name="adj" fmla="val 17647"/>
            </a:avLst>
          </a:prstGeom>
          <a:solidFill>
            <a:schemeClr val="tx2"/>
          </a:solidFill>
          <a:ln/>
        </p:spPr>
      </p:sp>
      <p:sp>
        <p:nvSpPr>
          <p:cNvPr id="5" name="Text 3"/>
          <p:cNvSpPr txBox="1"/>
          <p:nvPr/>
        </p:nvSpPr>
        <p:spPr>
          <a:xfrm>
            <a:off x="548640" y="1691640"/>
            <a:ext cx="953902" cy="310896"/>
          </a:xfrm>
          <a:prstGeom prst="rect">
            <a:avLst/>
          </a:prstGeom>
          <a:noFill/>
          <a:ln/>
        </p:spPr>
        <p:txBody>
          <a:bodyPr wrap="square" lIns="0" tIns="0" rIns="0" bIns="0" rtlCol="0" anchor="ctr"/>
          <a:lstStyle/>
          <a:p>
            <a:pPr algn="ctr" indent="0" marL="0">
              <a:buNone/>
            </a:pPr>
            <a:r>
              <a:rPr lang="en-US" sz="1200" b="1" spc="50" kern="0" dirty="0">
                <a:solidFill>
                  <a:schemeClr val="bg1"/>
                </a:solidFill>
              </a:rPr>
              <a:t>DIBANGUN</a:t>
            </a:r>
            <a:endParaRPr lang="en-US" sz="1200" dirty="0"/>
          </a:p>
        </p:txBody>
      </p:sp>
      <p:sp>
        <p:nvSpPr>
          <p:cNvPr id="6" name="label RISIKO DIKENDALIKAN"/>
          <p:cNvSpPr/>
          <p:nvPr/>
        </p:nvSpPr>
        <p:spPr>
          <a:xfrm>
            <a:off x="4114800" y="1691640"/>
            <a:ext cx="2064349" cy="310896"/>
          </a:xfrm>
          <a:prstGeom prst="roundRect">
            <a:avLst>
              <a:gd name="adj" fmla="val 17647"/>
            </a:avLst>
          </a:prstGeom>
          <a:solidFill>
            <a:schemeClr val="accent1"/>
          </a:solidFill>
          <a:ln/>
        </p:spPr>
      </p:sp>
      <p:sp>
        <p:nvSpPr>
          <p:cNvPr id="7" name="Text 5"/>
          <p:cNvSpPr txBox="1"/>
          <p:nvPr/>
        </p:nvSpPr>
        <p:spPr>
          <a:xfrm>
            <a:off x="4114800" y="1691640"/>
            <a:ext cx="2064349" cy="310896"/>
          </a:xfrm>
          <a:prstGeom prst="rect">
            <a:avLst/>
          </a:prstGeom>
          <a:noFill/>
          <a:ln/>
        </p:spPr>
        <p:txBody>
          <a:bodyPr wrap="square" lIns="0" tIns="0" rIns="0" bIns="0" rtlCol="0" anchor="ctr"/>
          <a:lstStyle/>
          <a:p>
            <a:pPr algn="ctr" indent="0" marL="0">
              <a:buNone/>
            </a:pPr>
            <a:r>
              <a:rPr lang="en-US" sz="1200" b="1" spc="50" kern="0" dirty="0">
                <a:solidFill>
                  <a:schemeClr val="bg1"/>
                </a:solidFill>
              </a:rPr>
              <a:t>RISIKO DIKENDALIKAN</a:t>
            </a:r>
            <a:endParaRPr lang="en-US" sz="1200" dirty="0"/>
          </a:p>
        </p:txBody>
      </p:sp>
      <p:sp>
        <p:nvSpPr>
          <p:cNvPr id="8" name="label KONTRIBUSI"/>
          <p:cNvSpPr/>
          <p:nvPr/>
        </p:nvSpPr>
        <p:spPr>
          <a:xfrm>
            <a:off x="7452360" y="1691640"/>
            <a:ext cx="1155802" cy="310896"/>
          </a:xfrm>
          <a:prstGeom prst="roundRect">
            <a:avLst>
              <a:gd name="adj" fmla="val 17647"/>
            </a:avLst>
          </a:prstGeom>
          <a:solidFill>
            <a:schemeClr val="accent2"/>
          </a:solidFill>
          <a:ln/>
        </p:spPr>
      </p:sp>
      <p:sp>
        <p:nvSpPr>
          <p:cNvPr id="9" name="Text 7"/>
          <p:cNvSpPr txBox="1"/>
          <p:nvPr/>
        </p:nvSpPr>
        <p:spPr>
          <a:xfrm>
            <a:off x="7452360" y="1691640"/>
            <a:ext cx="1155802" cy="310896"/>
          </a:xfrm>
          <a:prstGeom prst="rect">
            <a:avLst/>
          </a:prstGeom>
          <a:noFill/>
          <a:ln/>
        </p:spPr>
        <p:txBody>
          <a:bodyPr wrap="square" lIns="0" tIns="0" rIns="0" bIns="0" rtlCol="0" anchor="ctr"/>
          <a:lstStyle/>
          <a:p>
            <a:pPr algn="ctr" indent="0" marL="0">
              <a:buNone/>
            </a:pPr>
            <a:r>
              <a:rPr lang="en-US" sz="1200" b="1" spc="50" kern="0" dirty="0">
                <a:solidFill>
                  <a:schemeClr val="bg1"/>
                </a:solidFill>
              </a:rPr>
              <a:t>KONTRIBUSI</a:t>
            </a:r>
            <a:endParaRPr lang="en-US" sz="1200" dirty="0"/>
          </a:p>
        </p:txBody>
      </p:sp>
      <p:sp>
        <p:nvSpPr>
          <p:cNvPr id="10" name="Shape 8"/>
          <p:cNvSpPr/>
          <p:nvPr/>
        </p:nvSpPr>
        <p:spPr>
          <a:xfrm>
            <a:off x="3474720" y="1847088"/>
            <a:ext cx="530352" cy="914"/>
          </a:xfrm>
          <a:prstGeom prst="line">
            <a:avLst/>
          </a:prstGeom>
          <a:noFill/>
          <a:ln w="19050">
            <a:solidFill>
              <a:schemeClr val="accent4"/>
            </a:solidFill>
            <a:prstDash val="solid"/>
            <a:tailEnd type="triangle"/>
          </a:ln>
        </p:spPr>
      </p:sp>
      <p:sp>
        <p:nvSpPr>
          <p:cNvPr id="11" name="Shape 9"/>
          <p:cNvSpPr/>
          <p:nvPr/>
        </p:nvSpPr>
        <p:spPr>
          <a:xfrm>
            <a:off x="7022592" y="1847088"/>
            <a:ext cx="320040" cy="914"/>
          </a:xfrm>
          <a:prstGeom prst="line">
            <a:avLst/>
          </a:prstGeom>
          <a:noFill/>
          <a:ln w="19050">
            <a:solidFill>
              <a:schemeClr val="accent4"/>
            </a:solidFill>
            <a:prstDash val="solid"/>
            <a:tailEnd type="triangle"/>
          </a:ln>
        </p:spPr>
      </p:sp>
      <p:sp>
        <p:nvSpPr>
          <p:cNvPr id="12" name="kartu rumus"/>
          <p:cNvSpPr/>
          <p:nvPr/>
        </p:nvSpPr>
        <p:spPr>
          <a:xfrm>
            <a:off x="548640" y="2194560"/>
            <a:ext cx="3246120" cy="1600200"/>
          </a:xfrm>
          <a:prstGeom prst="roundRect">
            <a:avLst>
              <a:gd name="adj" fmla="val 5714"/>
            </a:avLst>
          </a:prstGeom>
          <a:solidFill>
            <a:schemeClr val="bg2"/>
          </a:solidFill>
          <a:ln/>
        </p:spPr>
      </p:sp>
      <p:sp>
        <p:nvSpPr>
          <p:cNvPr id="13" name="Text 11"/>
          <p:cNvSpPr txBox="1"/>
          <p:nvPr/>
        </p:nvSpPr>
        <p:spPr>
          <a:xfrm>
            <a:off x="731520" y="2304288"/>
            <a:ext cx="2926080" cy="1097280"/>
          </a:xfrm>
          <a:prstGeom prst="rect">
            <a:avLst/>
          </a:prstGeom>
          <a:noFill/>
          <a:ln/>
        </p:spPr>
        <p:txBody>
          <a:bodyPr wrap="square" lIns="0" tIns="0" rIns="0" bIns="0" rtlCol="0" anchor="t"/>
          <a:lstStyle/>
          <a:p>
            <a:pPr algn="l" indent="0" marL="0">
              <a:buNone/>
            </a:pPr>
            <a:r>
              <a:rPr lang="en-US" sz="2000" b="1" dirty="0">
                <a:solidFill>
                  <a:schemeClr val="tx2"/>
                </a:solidFill>
              </a:rPr>
              <a:t>area_per_meter</a:t>
            </a:r>
            <a:endParaRPr lang="en-US" sz="1600" dirty="0"/>
          </a:p>
          <a:p>
            <a:pPr algn="l" indent="0" marL="0">
              <a:buNone/>
            </a:pPr>
            <a:r>
              <a:rPr lang="en-US" sz="1700" dirty="0">
                <a:solidFill>
                  <a:schemeClr val="tx1"/>
                </a:solidFill>
              </a:rPr>
              <a:t>= luas lantai ÷ jumlah meter</a:t>
            </a:r>
            <a:endParaRPr lang="en-US" sz="1600" dirty="0"/>
          </a:p>
          <a:p>
            <a:pPr algn="l" indent="0" marL="0">
              <a:buNone/>
            </a:pPr>
            <a:r>
              <a:rPr lang="en-US" sz="1700" b="1" dirty="0">
                <a:solidFill>
                  <a:schemeClr val="accent1"/>
                </a:solidFill>
              </a:rPr>
              <a:t>≈ luas satu rumah</a:t>
            </a:r>
            <a:endParaRPr lang="en-US" sz="1600" dirty="0"/>
          </a:p>
        </p:txBody>
      </p:sp>
      <p:sp>
        <p:nvSpPr>
          <p:cNvPr id="14" name="Text 12"/>
          <p:cNvSpPr txBox="1"/>
          <p:nvPr/>
        </p:nvSpPr>
        <p:spPr>
          <a:xfrm>
            <a:off x="731520" y="3401568"/>
            <a:ext cx="2926080" cy="274320"/>
          </a:xfrm>
          <a:prstGeom prst="rect">
            <a:avLst/>
          </a:prstGeom>
          <a:noFill/>
          <a:ln/>
        </p:spPr>
        <p:txBody>
          <a:bodyPr wrap="square" lIns="0" tIns="0" rIns="0" bIns="0" rtlCol="0" anchor="t"/>
          <a:lstStyle/>
          <a:p>
            <a:pPr algn="l" indent="0" marL="0">
              <a:buNone/>
            </a:pPr>
            <a:r>
              <a:rPr lang="en-US" sz="1200" dirty="0">
                <a:solidFill>
                  <a:schemeClr val="accent5"/>
                </a:solidFill>
              </a:rPr>
              <a:t>(bld_dim_06 ÷ bld_dim_12)</a:t>
            </a:r>
            <a:endParaRPr lang="en-US" sz="1200" dirty="0"/>
          </a:p>
        </p:txBody>
      </p:sp>
      <p:pic>
        <p:nvPicPr>
          <p:cNvPr id="15" name="Image 0" descr="rumah kecil">    </p:cNvPr>
          <p:cNvPicPr>
            <a:picLocks noChangeAspect="1"/>
          </p:cNvPicPr>
          <p:nvPr/>
        </p:nvPicPr>
        <p:blipFill>
          <a:blip r:embed="rId1"/>
          <a:stretch>
            <a:fillRect/>
          </a:stretch>
        </p:blipFill>
        <p:spPr>
          <a:xfrm>
            <a:off x="1074420" y="4343400"/>
            <a:ext cx="502920" cy="502920"/>
          </a:xfrm>
          <a:prstGeom prst="rect">
            <a:avLst/>
          </a:prstGeom>
        </p:spPr>
      </p:pic>
      <p:pic>
        <p:nvPicPr>
          <p:cNvPr id="16" name="Image 1" descr="rumah besar">    </p:cNvPr>
          <p:cNvPicPr>
            <a:picLocks noChangeAspect="1"/>
          </p:cNvPicPr>
          <p:nvPr/>
        </p:nvPicPr>
        <p:blipFill>
          <a:blip r:embed="rId2"/>
          <a:stretch>
            <a:fillRect/>
          </a:stretch>
        </p:blipFill>
        <p:spPr>
          <a:xfrm>
            <a:off x="2514600" y="3931920"/>
            <a:ext cx="914400" cy="914400"/>
          </a:xfrm>
          <a:prstGeom prst="rect">
            <a:avLst/>
          </a:prstGeom>
        </p:spPr>
      </p:pic>
      <p:sp>
        <p:nvSpPr>
          <p:cNvPr id="17" name="Text 13"/>
          <p:cNvSpPr txBox="1"/>
          <p:nvPr/>
        </p:nvSpPr>
        <p:spPr>
          <a:xfrm>
            <a:off x="640080" y="4919472"/>
            <a:ext cx="1371600" cy="502920"/>
          </a:xfrm>
          <a:prstGeom prst="rect">
            <a:avLst/>
          </a:prstGeom>
          <a:noFill/>
          <a:ln/>
        </p:spPr>
        <p:txBody>
          <a:bodyPr wrap="square" lIns="0" tIns="0" rIns="0" bIns="0" rtlCol="0" anchor="t"/>
          <a:lstStyle/>
          <a:p>
            <a:pPr algn="ctr" indent="0" marL="0">
              <a:buNone/>
            </a:pPr>
            <a:r>
              <a:rPr lang="en-US" sz="1400" b="1" dirty="0">
                <a:solidFill>
                  <a:schemeClr val="tx2"/>
                </a:solidFill>
              </a:rPr>
              <a:t>±37 m²</a:t>
            </a:r>
            <a:endParaRPr lang="en-US" sz="1400" dirty="0"/>
          </a:p>
          <a:p>
            <a:pPr algn="ctr" indent="0" marL="0">
              <a:buNone/>
            </a:pPr>
            <a:r>
              <a:rPr lang="en-US" sz="1400" b="1" dirty="0">
                <a:solidFill>
                  <a:schemeClr val="tx2"/>
                </a:solidFill>
              </a:rPr>
              <a:t>per meter</a:t>
            </a:r>
            <a:endParaRPr lang="en-US" sz="1400" dirty="0"/>
          </a:p>
        </p:txBody>
      </p:sp>
      <p:sp>
        <p:nvSpPr>
          <p:cNvPr id="18" name="Text 14"/>
          <p:cNvSpPr txBox="1"/>
          <p:nvPr/>
        </p:nvSpPr>
        <p:spPr>
          <a:xfrm>
            <a:off x="2286000" y="4919472"/>
            <a:ext cx="1371600" cy="502920"/>
          </a:xfrm>
          <a:prstGeom prst="rect">
            <a:avLst/>
          </a:prstGeom>
          <a:noFill/>
          <a:ln/>
        </p:spPr>
        <p:txBody>
          <a:bodyPr wrap="square" lIns="0" tIns="0" rIns="0" bIns="0" rtlCol="0" anchor="t"/>
          <a:lstStyle/>
          <a:p>
            <a:pPr algn="ctr" indent="0" marL="0">
              <a:buNone/>
            </a:pPr>
            <a:r>
              <a:rPr lang="en-US" sz="1400" b="1" dirty="0">
                <a:solidFill>
                  <a:schemeClr val="accent5"/>
                </a:solidFill>
              </a:rPr>
              <a:t>±173 m²</a:t>
            </a:r>
            <a:endParaRPr lang="en-US" sz="1400" dirty="0"/>
          </a:p>
          <a:p>
            <a:pPr algn="ctr" indent="0" marL="0">
              <a:buNone/>
            </a:pPr>
            <a:r>
              <a:rPr lang="en-US" sz="1400" b="1" dirty="0">
                <a:solidFill>
                  <a:schemeClr val="accent5"/>
                </a:solidFill>
              </a:rPr>
              <a:t>per meter</a:t>
            </a:r>
            <a:endParaRPr lang="en-US" sz="1400" dirty="0"/>
          </a:p>
        </p:txBody>
      </p:sp>
      <p:sp>
        <p:nvSpPr>
          <p:cNvPr id="19" name="Text 15"/>
          <p:cNvSpPr txBox="1"/>
          <p:nvPr/>
        </p:nvSpPr>
        <p:spPr>
          <a:xfrm>
            <a:off x="548640" y="5532120"/>
            <a:ext cx="3246120" cy="274320"/>
          </a:xfrm>
          <a:prstGeom prst="rect">
            <a:avLst/>
          </a:prstGeom>
          <a:noFill/>
          <a:ln/>
        </p:spPr>
        <p:txBody>
          <a:bodyPr wrap="square" lIns="0" tIns="0" rIns="0" bIns="0" rtlCol="0" anchor="t"/>
          <a:lstStyle/>
          <a:p>
            <a:pPr algn="ctr" indent="0" marL="0">
              <a:buNone/>
            </a:pPr>
            <a:r>
              <a:rPr lang="en-US" sz="1100" dirty="0">
                <a:solidFill>
                  <a:schemeClr val="accent5"/>
                </a:solidFill>
              </a:rPr>
              <a:t>rata-rata 5% kawasan terkecil dan terbesar</a:t>
            </a:r>
            <a:endParaRPr lang="en-US" sz="1100" dirty="0"/>
          </a:p>
        </p:txBody>
      </p:sp>
      <p:sp>
        <p:nvSpPr>
          <p:cNvPr id="20" name="ikon FaCheck"/>
          <p:cNvSpPr/>
          <p:nvPr/>
        </p:nvSpPr>
        <p:spPr>
          <a:xfrm>
            <a:off x="4133088" y="2286000"/>
            <a:ext cx="457200" cy="457200"/>
          </a:xfrm>
          <a:prstGeom prst="ellipse">
            <a:avLst/>
          </a:prstGeom>
          <a:solidFill>
            <a:schemeClr val="accent2"/>
          </a:solidFill>
          <a:ln/>
        </p:spPr>
      </p:sp>
      <p:pic>
        <p:nvPicPr>
          <p:cNvPr id="21" name="Image 2" descr="FaCheck">    </p:cNvPr>
          <p:cNvPicPr>
            <a:picLocks noChangeAspect="1"/>
          </p:cNvPicPr>
          <p:nvPr/>
        </p:nvPicPr>
        <p:blipFill>
          <a:blip r:embed="rId3"/>
          <a:stretch>
            <a:fillRect/>
          </a:stretch>
        </p:blipFill>
        <p:spPr>
          <a:xfrm>
            <a:off x="4247388" y="2400300"/>
            <a:ext cx="228600" cy="228600"/>
          </a:xfrm>
          <a:prstGeom prst="rect">
            <a:avLst/>
          </a:prstGeom>
        </p:spPr>
      </p:pic>
      <p:sp>
        <p:nvSpPr>
          <p:cNvPr id="22" name="Text 17"/>
          <p:cNvSpPr txBox="1"/>
          <p:nvPr/>
        </p:nvSpPr>
        <p:spPr>
          <a:xfrm>
            <a:off x="4736592" y="2258568"/>
            <a:ext cx="2377440" cy="548640"/>
          </a:xfrm>
          <a:prstGeom prst="rect">
            <a:avLst/>
          </a:prstGeom>
          <a:noFill/>
          <a:ln/>
        </p:spPr>
        <p:txBody>
          <a:bodyPr wrap="square" lIns="0" tIns="0" rIns="0" bIns="0" rtlCol="0" anchor="ctr"/>
          <a:lstStyle/>
          <a:p>
            <a:pPr algn="l" indent="0" marL="0">
              <a:buNone/>
            </a:pPr>
            <a:r>
              <a:rPr lang="en-US" sz="1600" dirty="0">
                <a:solidFill>
                  <a:schemeClr val="tx1"/>
                </a:solidFill>
              </a:rPr>
              <a:t>dua kolom input baris yang sama</a:t>
            </a:r>
            <a:endParaRPr lang="en-US" sz="1600" dirty="0"/>
          </a:p>
        </p:txBody>
      </p:sp>
      <p:sp>
        <p:nvSpPr>
          <p:cNvPr id="23" name="ikon FaCheck"/>
          <p:cNvSpPr/>
          <p:nvPr/>
        </p:nvSpPr>
        <p:spPr>
          <a:xfrm>
            <a:off x="4133088" y="3182112"/>
            <a:ext cx="457200" cy="457200"/>
          </a:xfrm>
          <a:prstGeom prst="ellipse">
            <a:avLst/>
          </a:prstGeom>
          <a:solidFill>
            <a:schemeClr val="accent2"/>
          </a:solidFill>
          <a:ln/>
        </p:spPr>
      </p:sp>
      <p:pic>
        <p:nvPicPr>
          <p:cNvPr id="24" name="Image 3" descr="FaCheck">    </p:cNvPr>
          <p:cNvPicPr>
            <a:picLocks noChangeAspect="1"/>
          </p:cNvPicPr>
          <p:nvPr/>
        </p:nvPicPr>
        <p:blipFill>
          <a:blip r:embed="rId4"/>
          <a:stretch>
            <a:fillRect/>
          </a:stretch>
        </p:blipFill>
        <p:spPr>
          <a:xfrm>
            <a:off x="4247388" y="3296412"/>
            <a:ext cx="228600" cy="228600"/>
          </a:xfrm>
          <a:prstGeom prst="rect">
            <a:avLst/>
          </a:prstGeom>
        </p:spPr>
      </p:pic>
      <p:sp>
        <p:nvSpPr>
          <p:cNvPr id="25" name="Text 19"/>
          <p:cNvSpPr txBox="1"/>
          <p:nvPr/>
        </p:nvSpPr>
        <p:spPr>
          <a:xfrm>
            <a:off x="4736592" y="3154680"/>
            <a:ext cx="2377440" cy="548640"/>
          </a:xfrm>
          <a:prstGeom prst="rect">
            <a:avLst/>
          </a:prstGeom>
          <a:noFill/>
          <a:ln/>
        </p:spPr>
        <p:txBody>
          <a:bodyPr wrap="square" lIns="0" tIns="0" rIns="0" bIns="0" rtlCol="0" anchor="ctr"/>
          <a:lstStyle/>
          <a:p>
            <a:pPr algn="l" indent="0" marL="0">
              <a:buNone/>
            </a:pPr>
            <a:r>
              <a:rPr lang="en-US" sz="1600" dirty="0">
                <a:solidFill>
                  <a:schemeClr val="tx1"/>
                </a:solidFill>
              </a:rPr>
              <a:t>tanpa target</a:t>
            </a:r>
            <a:endParaRPr lang="en-US" sz="1600" dirty="0"/>
          </a:p>
        </p:txBody>
      </p:sp>
      <p:sp>
        <p:nvSpPr>
          <p:cNvPr id="26" name="ikon FaCheck"/>
          <p:cNvSpPr/>
          <p:nvPr/>
        </p:nvSpPr>
        <p:spPr>
          <a:xfrm>
            <a:off x="4133088" y="4078224"/>
            <a:ext cx="457200" cy="457200"/>
          </a:xfrm>
          <a:prstGeom prst="ellipse">
            <a:avLst/>
          </a:prstGeom>
          <a:solidFill>
            <a:schemeClr val="accent2"/>
          </a:solidFill>
          <a:ln/>
        </p:spPr>
      </p:sp>
      <p:pic>
        <p:nvPicPr>
          <p:cNvPr id="27" name="Image 4" descr="FaCheck">    </p:cNvPr>
          <p:cNvPicPr>
            <a:picLocks noChangeAspect="1"/>
          </p:cNvPicPr>
          <p:nvPr/>
        </p:nvPicPr>
        <p:blipFill>
          <a:blip r:embed="rId5"/>
          <a:stretch>
            <a:fillRect/>
          </a:stretch>
        </p:blipFill>
        <p:spPr>
          <a:xfrm>
            <a:off x="4247388" y="4192524"/>
            <a:ext cx="228600" cy="228600"/>
          </a:xfrm>
          <a:prstGeom prst="rect">
            <a:avLst/>
          </a:prstGeom>
        </p:spPr>
      </p:pic>
      <p:sp>
        <p:nvSpPr>
          <p:cNvPr id="28" name="Text 21"/>
          <p:cNvSpPr txBox="1"/>
          <p:nvPr/>
        </p:nvSpPr>
        <p:spPr>
          <a:xfrm>
            <a:off x="4736592" y="4050792"/>
            <a:ext cx="2377440" cy="548640"/>
          </a:xfrm>
          <a:prstGeom prst="rect">
            <a:avLst/>
          </a:prstGeom>
          <a:noFill/>
          <a:ln/>
        </p:spPr>
        <p:txBody>
          <a:bodyPr wrap="square" lIns="0" tIns="0" rIns="0" bIns="0" rtlCol="0" anchor="ctr"/>
          <a:lstStyle/>
          <a:p>
            <a:pPr algn="l" indent="0" marL="0">
              <a:buNone/>
            </a:pPr>
            <a:r>
              <a:rPr lang="en-US" sz="1600" dirty="0">
                <a:solidFill>
                  <a:schemeClr val="tx1"/>
                </a:solidFill>
              </a:rPr>
              <a:t>tanpa statistik lintas baris</a:t>
            </a:r>
            <a:endParaRPr lang="en-US" sz="1600" dirty="0"/>
          </a:p>
        </p:txBody>
      </p:sp>
      <p:sp>
        <p:nvSpPr>
          <p:cNvPr id="29" name="ikon FaCheck"/>
          <p:cNvSpPr/>
          <p:nvPr/>
        </p:nvSpPr>
        <p:spPr>
          <a:xfrm>
            <a:off x="4133088" y="4974336"/>
            <a:ext cx="457200" cy="457200"/>
          </a:xfrm>
          <a:prstGeom prst="ellipse">
            <a:avLst/>
          </a:prstGeom>
          <a:solidFill>
            <a:schemeClr val="accent2"/>
          </a:solidFill>
          <a:ln/>
        </p:spPr>
      </p:sp>
      <p:pic>
        <p:nvPicPr>
          <p:cNvPr id="30" name="Image 5" descr="FaCheck">    </p:cNvPr>
          <p:cNvPicPr>
            <a:picLocks noChangeAspect="1"/>
          </p:cNvPicPr>
          <p:nvPr/>
        </p:nvPicPr>
        <p:blipFill>
          <a:blip r:embed="rId6"/>
          <a:stretch>
            <a:fillRect/>
          </a:stretch>
        </p:blipFill>
        <p:spPr>
          <a:xfrm>
            <a:off x="4247388" y="5088636"/>
            <a:ext cx="228600" cy="228600"/>
          </a:xfrm>
          <a:prstGeom prst="rect">
            <a:avLst/>
          </a:prstGeom>
        </p:spPr>
      </p:pic>
      <p:sp>
        <p:nvSpPr>
          <p:cNvPr id="31" name="Text 23"/>
          <p:cNvSpPr txBox="1"/>
          <p:nvPr/>
        </p:nvSpPr>
        <p:spPr>
          <a:xfrm>
            <a:off x="4736592" y="4946904"/>
            <a:ext cx="2377440" cy="548640"/>
          </a:xfrm>
          <a:prstGeom prst="rect">
            <a:avLst/>
          </a:prstGeom>
          <a:noFill/>
          <a:ln/>
        </p:spPr>
        <p:txBody>
          <a:bodyPr wrap="square" lIns="0" tIns="0" rIns="0" bIns="0" rtlCol="0" anchor="ctr"/>
          <a:lstStyle/>
          <a:p>
            <a:pPr algn="l" indent="0" marL="0">
              <a:buNone/>
            </a:pPr>
            <a:r>
              <a:rPr lang="en-US" sz="1600" dirty="0">
                <a:solidFill>
                  <a:schemeClr val="tx1"/>
                </a:solidFill>
              </a:rPr>
              <a:t>rumus sama di data latih dan uji</a:t>
            </a:r>
            <a:endParaRPr lang="en-US" sz="1600" dirty="0"/>
          </a:p>
        </p:txBody>
      </p:sp>
      <p:sp>
        <p:nvSpPr>
          <p:cNvPr id="32" name="Text 24"/>
          <p:cNvSpPr txBox="1"/>
          <p:nvPr/>
        </p:nvSpPr>
        <p:spPr>
          <a:xfrm>
            <a:off x="7452360" y="2176272"/>
            <a:ext cx="4190695" cy="566928"/>
          </a:xfrm>
          <a:prstGeom prst="rect">
            <a:avLst/>
          </a:prstGeom>
          <a:noFill/>
          <a:ln/>
        </p:spPr>
        <p:txBody>
          <a:bodyPr wrap="square" lIns="0" tIns="0" rIns="0" bIns="0" rtlCol="0" anchor="t"/>
          <a:lstStyle/>
          <a:p>
            <a:pPr algn="l" indent="0" marL="0">
              <a:buNone/>
            </a:pPr>
            <a:r>
              <a:rPr lang="en-US" sz="1400" dirty="0">
                <a:solidFill>
                  <a:schemeClr val="tx1"/>
                </a:solidFill>
              </a:rPr>
              <a:t>peringkat 1 model penjelas intensitas gas (2,8× fitur kedua) dan listrik per meter (3,0×)</a:t>
            </a:r>
            <a:endParaRPr lang="en-US" sz="1400" dirty="0"/>
          </a:p>
        </p:txBody>
      </p:sp>
      <p:sp>
        <p:nvSpPr>
          <p:cNvPr id="33" name="Text 25"/>
          <p:cNvSpPr txBox="1"/>
          <p:nvPr/>
        </p:nvSpPr>
        <p:spPr>
          <a:xfrm>
            <a:off x="7452360" y="2816352"/>
            <a:ext cx="4190695" cy="256032"/>
          </a:xfrm>
          <a:prstGeom prst="rect">
            <a:avLst/>
          </a:prstGeom>
          <a:noFill/>
          <a:ln/>
        </p:spPr>
        <p:txBody>
          <a:bodyPr wrap="square" lIns="0" tIns="0" rIns="0" bIns="0" rtlCol="0" anchor="t"/>
          <a:lstStyle/>
          <a:p>
            <a:pPr algn="l" indent="0" marL="0">
              <a:buNone/>
            </a:pPr>
            <a:r>
              <a:rPr lang="en-US" sz="1200" b="1" dirty="0">
                <a:solidFill>
                  <a:schemeClr val="tx2"/>
                </a:solidFill>
              </a:rPr>
              <a:t>log intensitas gas (EUI)</a:t>
            </a:r>
            <a:endParaRPr lang="en-US" sz="1200" dirty="0"/>
          </a:p>
        </p:txBody>
      </p:sp>
      <p:graphicFrame>
        <p:nvGraphicFramePr>
          <p:cNvPr id="34" name="grafik SHAP log intensitas gas (EUI)" descr="Rata-rata |SHAP| lima fitur teratas, log intensitas gas (EUI)"/>
          <p:cNvGraphicFramePr/>
          <p:nvPr/>
        </p:nvGraphicFramePr>
        <p:xfrm>
          <a:off x="7452360" y="3090672"/>
          <a:ext cx="4190695" cy="1207008"/>
        </p:xfrm>
        <a:graphic xmlns:a="http://schemas.openxmlformats.org/drawingml/2006/main">
          <a:graphicData uri="http://schemas.openxmlformats.org/drawingml/2006/chart">
            <c:chart xmlns:c="http://schemas.openxmlformats.org/drawingml/2006/chart" r:id="rId7"/>
          </a:graphicData>
        </a:graphic>
      </p:graphicFrame>
      <p:sp>
        <p:nvSpPr>
          <p:cNvPr id="35" name="Text 26"/>
          <p:cNvSpPr txBox="1"/>
          <p:nvPr/>
        </p:nvSpPr>
        <p:spPr>
          <a:xfrm>
            <a:off x="7452360" y="3130906"/>
            <a:ext cx="1417320" cy="219456"/>
          </a:xfrm>
          <a:prstGeom prst="rect">
            <a:avLst/>
          </a:prstGeom>
          <a:noFill/>
          <a:ln/>
        </p:spPr>
        <p:txBody>
          <a:bodyPr wrap="square" lIns="0" tIns="0" rIns="0" bIns="0" rtlCol="0" anchor="ctr"/>
          <a:lstStyle/>
          <a:p>
            <a:pPr algn="r" indent="0" marL="0">
              <a:buNone/>
            </a:pPr>
            <a:r>
              <a:rPr lang="en-US" sz="1100" dirty="0">
                <a:solidFill>
                  <a:schemeClr val="tx1"/>
                </a:solidFill>
              </a:rPr>
              <a:t>area_per_meter</a:t>
            </a:r>
            <a:endParaRPr lang="en-US" sz="1100" dirty="0"/>
          </a:p>
        </p:txBody>
      </p:sp>
      <p:sp>
        <p:nvSpPr>
          <p:cNvPr id="36" name="Text 27"/>
          <p:cNvSpPr txBox="1"/>
          <p:nvPr/>
        </p:nvSpPr>
        <p:spPr>
          <a:xfrm>
            <a:off x="10748086" y="3130906"/>
            <a:ext cx="640080" cy="219456"/>
          </a:xfrm>
          <a:prstGeom prst="rect">
            <a:avLst/>
          </a:prstGeom>
          <a:noFill/>
          <a:ln/>
        </p:spPr>
        <p:txBody>
          <a:bodyPr wrap="square" lIns="0" tIns="0" rIns="0" bIns="0" rtlCol="0" anchor="ctr"/>
          <a:lstStyle/>
          <a:p>
            <a:pPr algn="l" indent="0" marL="0">
              <a:buNone/>
            </a:pPr>
            <a:r>
              <a:rPr lang="en-US" sz="1100" b="1" dirty="0">
                <a:solidFill>
                  <a:schemeClr val="accent1"/>
                </a:solidFill>
              </a:rPr>
              <a:t>0,0895</a:t>
            </a:r>
            <a:endParaRPr lang="en-US" sz="1100" dirty="0"/>
          </a:p>
        </p:txBody>
      </p:sp>
      <p:sp>
        <p:nvSpPr>
          <p:cNvPr id="37" name="Text 28"/>
          <p:cNvSpPr txBox="1"/>
          <p:nvPr/>
        </p:nvSpPr>
        <p:spPr>
          <a:xfrm>
            <a:off x="7452360" y="3357677"/>
            <a:ext cx="1417320" cy="219456"/>
          </a:xfrm>
          <a:prstGeom prst="rect">
            <a:avLst/>
          </a:prstGeom>
          <a:noFill/>
          <a:ln/>
        </p:spPr>
        <p:txBody>
          <a:bodyPr wrap="square" lIns="0" tIns="0" rIns="0" bIns="0" rtlCol="0" anchor="ctr"/>
          <a:lstStyle/>
          <a:p>
            <a:pPr algn="r" indent="0" marL="0">
              <a:buNone/>
            </a:pPr>
            <a:r>
              <a:rPr lang="en-US" sz="1100" dirty="0">
                <a:solidFill>
                  <a:schemeClr val="tx1"/>
                </a:solidFill>
              </a:rPr>
              <a:t>env_climate_05</a:t>
            </a:r>
            <a:endParaRPr lang="en-US" sz="1100" dirty="0"/>
          </a:p>
        </p:txBody>
      </p:sp>
      <p:sp>
        <p:nvSpPr>
          <p:cNvPr id="38" name="Text 29"/>
          <p:cNvSpPr txBox="1"/>
          <p:nvPr/>
        </p:nvSpPr>
        <p:spPr>
          <a:xfrm>
            <a:off x="9619625" y="3357677"/>
            <a:ext cx="640080" cy="219456"/>
          </a:xfrm>
          <a:prstGeom prst="rect">
            <a:avLst/>
          </a:prstGeom>
          <a:noFill/>
          <a:ln/>
        </p:spPr>
        <p:txBody>
          <a:bodyPr wrap="square" lIns="0" tIns="0" rIns="0" bIns="0" rtlCol="0" anchor="ctr"/>
          <a:lstStyle/>
          <a:p>
            <a:pPr algn="l" indent="0" marL="0">
              <a:buNone/>
            </a:pPr>
            <a:r>
              <a:rPr lang="en-US" sz="1100" dirty="0">
                <a:solidFill>
                  <a:schemeClr val="accent5"/>
                </a:solidFill>
              </a:rPr>
              <a:t>0,0321</a:t>
            </a:r>
            <a:endParaRPr lang="en-US" sz="1100" dirty="0"/>
          </a:p>
        </p:txBody>
      </p:sp>
      <p:sp>
        <p:nvSpPr>
          <p:cNvPr id="39" name="Text 30"/>
          <p:cNvSpPr txBox="1"/>
          <p:nvPr/>
        </p:nvSpPr>
        <p:spPr>
          <a:xfrm>
            <a:off x="7452360" y="3584448"/>
            <a:ext cx="1417320" cy="219456"/>
          </a:xfrm>
          <a:prstGeom prst="rect">
            <a:avLst/>
          </a:prstGeom>
          <a:noFill/>
          <a:ln/>
        </p:spPr>
        <p:txBody>
          <a:bodyPr wrap="square" lIns="0" tIns="0" rIns="0" bIns="0" rtlCol="0" anchor="ctr"/>
          <a:lstStyle/>
          <a:p>
            <a:pPr algn="r" indent="0" marL="0">
              <a:buNone/>
            </a:pPr>
            <a:r>
              <a:rPr lang="en-US" sz="1100" dirty="0">
                <a:solidFill>
                  <a:schemeClr val="tx1"/>
                </a:solidFill>
              </a:rPr>
              <a:t>socio_demog_082</a:t>
            </a:r>
            <a:endParaRPr lang="en-US" sz="1100" dirty="0"/>
          </a:p>
        </p:txBody>
      </p:sp>
      <p:sp>
        <p:nvSpPr>
          <p:cNvPr id="40" name="Text 31"/>
          <p:cNvSpPr txBox="1"/>
          <p:nvPr/>
        </p:nvSpPr>
        <p:spPr>
          <a:xfrm>
            <a:off x="9531157" y="3584448"/>
            <a:ext cx="640080" cy="219456"/>
          </a:xfrm>
          <a:prstGeom prst="rect">
            <a:avLst/>
          </a:prstGeom>
          <a:noFill/>
          <a:ln/>
        </p:spPr>
        <p:txBody>
          <a:bodyPr wrap="square" lIns="0" tIns="0" rIns="0" bIns="0" rtlCol="0" anchor="ctr"/>
          <a:lstStyle/>
          <a:p>
            <a:pPr algn="l" indent="0" marL="0">
              <a:buNone/>
            </a:pPr>
            <a:r>
              <a:rPr lang="en-US" sz="1100" dirty="0">
                <a:solidFill>
                  <a:schemeClr val="accent5"/>
                </a:solidFill>
              </a:rPr>
              <a:t>0,0276</a:t>
            </a:r>
            <a:endParaRPr lang="en-US" sz="1100" dirty="0"/>
          </a:p>
        </p:txBody>
      </p:sp>
      <p:sp>
        <p:nvSpPr>
          <p:cNvPr id="41" name="Text 32"/>
          <p:cNvSpPr txBox="1"/>
          <p:nvPr/>
        </p:nvSpPr>
        <p:spPr>
          <a:xfrm>
            <a:off x="7452360" y="3811219"/>
            <a:ext cx="1417320" cy="219456"/>
          </a:xfrm>
          <a:prstGeom prst="rect">
            <a:avLst/>
          </a:prstGeom>
          <a:noFill/>
          <a:ln/>
        </p:spPr>
        <p:txBody>
          <a:bodyPr wrap="square" lIns="0" tIns="0" rIns="0" bIns="0" rtlCol="0" anchor="ctr"/>
          <a:lstStyle/>
          <a:p>
            <a:pPr algn="r" indent="0" marL="0">
              <a:buNone/>
            </a:pPr>
            <a:r>
              <a:rPr lang="en-US" sz="1100" dirty="0">
                <a:solidFill>
                  <a:schemeClr val="tx1"/>
                </a:solidFill>
              </a:rPr>
              <a:t>area_per_epc</a:t>
            </a:r>
            <a:endParaRPr lang="en-US" sz="1100" dirty="0"/>
          </a:p>
        </p:txBody>
      </p:sp>
      <p:sp>
        <p:nvSpPr>
          <p:cNvPr id="42" name="Text 33"/>
          <p:cNvSpPr txBox="1"/>
          <p:nvPr/>
        </p:nvSpPr>
        <p:spPr>
          <a:xfrm>
            <a:off x="9499702" y="3811219"/>
            <a:ext cx="640080" cy="219456"/>
          </a:xfrm>
          <a:prstGeom prst="rect">
            <a:avLst/>
          </a:prstGeom>
          <a:noFill/>
          <a:ln/>
        </p:spPr>
        <p:txBody>
          <a:bodyPr wrap="square" lIns="0" tIns="0" rIns="0" bIns="0" rtlCol="0" anchor="ctr"/>
          <a:lstStyle/>
          <a:p>
            <a:pPr algn="l" indent="0" marL="0">
              <a:buNone/>
            </a:pPr>
            <a:r>
              <a:rPr lang="en-US" sz="1100" dirty="0">
                <a:solidFill>
                  <a:schemeClr val="accent5"/>
                </a:solidFill>
              </a:rPr>
              <a:t>0,0260</a:t>
            </a:r>
            <a:endParaRPr lang="en-US" sz="1100" dirty="0"/>
          </a:p>
        </p:txBody>
      </p:sp>
      <p:sp>
        <p:nvSpPr>
          <p:cNvPr id="43" name="Text 34"/>
          <p:cNvSpPr txBox="1"/>
          <p:nvPr/>
        </p:nvSpPr>
        <p:spPr>
          <a:xfrm>
            <a:off x="7452360" y="4037990"/>
            <a:ext cx="1417320" cy="219456"/>
          </a:xfrm>
          <a:prstGeom prst="rect">
            <a:avLst/>
          </a:prstGeom>
          <a:noFill/>
          <a:ln/>
        </p:spPr>
        <p:txBody>
          <a:bodyPr wrap="square" lIns="0" tIns="0" rIns="0" bIns="0" rtlCol="0" anchor="ctr"/>
          <a:lstStyle/>
          <a:p>
            <a:pPr algn="r" indent="0" marL="0">
              <a:buNone/>
            </a:pPr>
            <a:r>
              <a:rPr lang="en-US" sz="1100" dirty="0">
                <a:solidFill>
                  <a:schemeClr val="tx1"/>
                </a:solidFill>
              </a:rPr>
              <a:t>s002_ratio</a:t>
            </a:r>
            <a:endParaRPr lang="en-US" sz="1100" dirty="0"/>
          </a:p>
        </p:txBody>
      </p:sp>
      <p:sp>
        <p:nvSpPr>
          <p:cNvPr id="44" name="Text 35"/>
          <p:cNvSpPr txBox="1"/>
          <p:nvPr/>
        </p:nvSpPr>
        <p:spPr>
          <a:xfrm>
            <a:off x="9480042" y="4037990"/>
            <a:ext cx="640080" cy="219456"/>
          </a:xfrm>
          <a:prstGeom prst="rect">
            <a:avLst/>
          </a:prstGeom>
          <a:noFill/>
          <a:ln/>
        </p:spPr>
        <p:txBody>
          <a:bodyPr wrap="square" lIns="0" tIns="0" rIns="0" bIns="0" rtlCol="0" anchor="ctr"/>
          <a:lstStyle/>
          <a:p>
            <a:pPr algn="l" indent="0" marL="0">
              <a:buNone/>
            </a:pPr>
            <a:r>
              <a:rPr lang="en-US" sz="1100" dirty="0">
                <a:solidFill>
                  <a:schemeClr val="accent5"/>
                </a:solidFill>
              </a:rPr>
              <a:t>0,0250</a:t>
            </a:r>
            <a:endParaRPr lang="en-US" sz="1100" dirty="0"/>
          </a:p>
        </p:txBody>
      </p:sp>
      <p:sp>
        <p:nvSpPr>
          <p:cNvPr id="45" name="Text 36"/>
          <p:cNvSpPr txBox="1"/>
          <p:nvPr/>
        </p:nvSpPr>
        <p:spPr>
          <a:xfrm>
            <a:off x="7452360" y="4370832"/>
            <a:ext cx="4190695" cy="256032"/>
          </a:xfrm>
          <a:prstGeom prst="rect">
            <a:avLst/>
          </a:prstGeom>
          <a:noFill/>
          <a:ln/>
        </p:spPr>
        <p:txBody>
          <a:bodyPr wrap="square" lIns="0" tIns="0" rIns="0" bIns="0" rtlCol="0" anchor="t"/>
          <a:lstStyle/>
          <a:p>
            <a:pPr algn="l" indent="0" marL="0">
              <a:buNone/>
            </a:pPr>
            <a:r>
              <a:rPr lang="en-US" sz="1200" b="1" dirty="0">
                <a:solidFill>
                  <a:schemeClr val="tx2"/>
                </a:solidFill>
              </a:rPr>
              <a:t>log listrik per meter</a:t>
            </a:r>
            <a:endParaRPr lang="en-US" sz="1200" dirty="0"/>
          </a:p>
        </p:txBody>
      </p:sp>
      <p:graphicFrame>
        <p:nvGraphicFramePr>
          <p:cNvPr id="46" name="grafik SHAP log listrik per meter" descr="Rata-rata |SHAP| lima fitur teratas, log listrik per meter"/>
          <p:cNvGraphicFramePr/>
          <p:nvPr/>
        </p:nvGraphicFramePr>
        <p:xfrm>
          <a:off x="7452360" y="4645152"/>
          <a:ext cx="4190695" cy="1207008"/>
        </p:xfrm>
        <a:graphic xmlns:a="http://schemas.openxmlformats.org/drawingml/2006/main">
          <a:graphicData uri="http://schemas.openxmlformats.org/drawingml/2006/chart">
            <c:chart xmlns:c="http://schemas.openxmlformats.org/drawingml/2006/chart" r:id="rId8"/>
          </a:graphicData>
        </a:graphic>
      </p:graphicFrame>
      <p:sp>
        <p:nvSpPr>
          <p:cNvPr id="47" name="Text 37"/>
          <p:cNvSpPr txBox="1"/>
          <p:nvPr/>
        </p:nvSpPr>
        <p:spPr>
          <a:xfrm>
            <a:off x="7452360" y="4685386"/>
            <a:ext cx="1417320" cy="219456"/>
          </a:xfrm>
          <a:prstGeom prst="rect">
            <a:avLst/>
          </a:prstGeom>
          <a:noFill/>
          <a:ln/>
        </p:spPr>
        <p:txBody>
          <a:bodyPr wrap="square" lIns="0" tIns="0" rIns="0" bIns="0" rtlCol="0" anchor="ctr"/>
          <a:lstStyle/>
          <a:p>
            <a:pPr algn="r" indent="0" marL="0">
              <a:buNone/>
            </a:pPr>
            <a:r>
              <a:rPr lang="en-US" sz="1100" dirty="0">
                <a:solidFill>
                  <a:schemeClr val="tx1"/>
                </a:solidFill>
              </a:rPr>
              <a:t>area_per_meter</a:t>
            </a:r>
            <a:endParaRPr lang="en-US" sz="1100" dirty="0"/>
          </a:p>
        </p:txBody>
      </p:sp>
      <p:sp>
        <p:nvSpPr>
          <p:cNvPr id="48" name="Text 38"/>
          <p:cNvSpPr txBox="1"/>
          <p:nvPr/>
        </p:nvSpPr>
        <p:spPr>
          <a:xfrm>
            <a:off x="10748086" y="4685386"/>
            <a:ext cx="640080" cy="219456"/>
          </a:xfrm>
          <a:prstGeom prst="rect">
            <a:avLst/>
          </a:prstGeom>
          <a:noFill/>
          <a:ln/>
        </p:spPr>
        <p:txBody>
          <a:bodyPr wrap="square" lIns="0" tIns="0" rIns="0" bIns="0" rtlCol="0" anchor="ctr"/>
          <a:lstStyle/>
          <a:p>
            <a:pPr algn="l" indent="0" marL="0">
              <a:buNone/>
            </a:pPr>
            <a:r>
              <a:rPr lang="en-US" sz="1100" b="1" dirty="0">
                <a:solidFill>
                  <a:schemeClr val="accent1"/>
                </a:solidFill>
              </a:rPr>
              <a:t>0,0895</a:t>
            </a:r>
            <a:endParaRPr lang="en-US" sz="1100" dirty="0"/>
          </a:p>
        </p:txBody>
      </p:sp>
      <p:sp>
        <p:nvSpPr>
          <p:cNvPr id="49" name="Text 39"/>
          <p:cNvSpPr txBox="1"/>
          <p:nvPr/>
        </p:nvSpPr>
        <p:spPr>
          <a:xfrm>
            <a:off x="7452360" y="4912157"/>
            <a:ext cx="1417320" cy="219456"/>
          </a:xfrm>
          <a:prstGeom prst="rect">
            <a:avLst/>
          </a:prstGeom>
          <a:noFill/>
          <a:ln/>
        </p:spPr>
        <p:txBody>
          <a:bodyPr wrap="square" lIns="0" tIns="0" rIns="0" bIns="0" rtlCol="0" anchor="ctr"/>
          <a:lstStyle/>
          <a:p>
            <a:pPr algn="r" indent="0" marL="0">
              <a:buNone/>
            </a:pPr>
            <a:r>
              <a:rPr lang="en-US" sz="1100" dirty="0">
                <a:solidFill>
                  <a:schemeClr val="tx1"/>
                </a:solidFill>
              </a:rPr>
              <a:t>meters_per_epc</a:t>
            </a:r>
            <a:endParaRPr lang="en-US" sz="1100" dirty="0"/>
          </a:p>
        </p:txBody>
      </p:sp>
      <p:sp>
        <p:nvSpPr>
          <p:cNvPr id="50" name="Text 40"/>
          <p:cNvSpPr txBox="1"/>
          <p:nvPr/>
        </p:nvSpPr>
        <p:spPr>
          <a:xfrm>
            <a:off x="9566544" y="4912157"/>
            <a:ext cx="640080" cy="219456"/>
          </a:xfrm>
          <a:prstGeom prst="rect">
            <a:avLst/>
          </a:prstGeom>
          <a:noFill/>
          <a:ln/>
        </p:spPr>
        <p:txBody>
          <a:bodyPr wrap="square" lIns="0" tIns="0" rIns="0" bIns="0" rtlCol="0" anchor="ctr"/>
          <a:lstStyle/>
          <a:p>
            <a:pPr algn="l" indent="0" marL="0">
              <a:buNone/>
            </a:pPr>
            <a:r>
              <a:rPr lang="en-US" sz="1100" dirty="0">
                <a:solidFill>
                  <a:schemeClr val="accent5"/>
                </a:solidFill>
              </a:rPr>
              <a:t>0,0294</a:t>
            </a:r>
            <a:endParaRPr lang="en-US" sz="1100" dirty="0"/>
          </a:p>
        </p:txBody>
      </p:sp>
      <p:sp>
        <p:nvSpPr>
          <p:cNvPr id="51" name="Text 41"/>
          <p:cNvSpPr txBox="1"/>
          <p:nvPr/>
        </p:nvSpPr>
        <p:spPr>
          <a:xfrm>
            <a:off x="7452360" y="5138928"/>
            <a:ext cx="1417320" cy="219456"/>
          </a:xfrm>
          <a:prstGeom prst="rect">
            <a:avLst/>
          </a:prstGeom>
          <a:noFill/>
          <a:ln/>
        </p:spPr>
        <p:txBody>
          <a:bodyPr wrap="square" lIns="0" tIns="0" rIns="0" bIns="0" rtlCol="0" anchor="ctr"/>
          <a:lstStyle/>
          <a:p>
            <a:pPr algn="r" indent="0" marL="0">
              <a:buNone/>
            </a:pPr>
            <a:r>
              <a:rPr lang="en-US" sz="1100" dirty="0">
                <a:solidFill>
                  <a:schemeClr val="tx1"/>
                </a:solidFill>
              </a:rPr>
              <a:t>socio_demog_005</a:t>
            </a:r>
            <a:endParaRPr lang="en-US" sz="1100" dirty="0"/>
          </a:p>
        </p:txBody>
      </p:sp>
      <p:sp>
        <p:nvSpPr>
          <p:cNvPr id="52" name="Text 42"/>
          <p:cNvSpPr txBox="1"/>
          <p:nvPr/>
        </p:nvSpPr>
        <p:spPr>
          <a:xfrm>
            <a:off x="9424995" y="5138928"/>
            <a:ext cx="640080" cy="219456"/>
          </a:xfrm>
          <a:prstGeom prst="rect">
            <a:avLst/>
          </a:prstGeom>
          <a:noFill/>
          <a:ln/>
        </p:spPr>
        <p:txBody>
          <a:bodyPr wrap="square" lIns="0" tIns="0" rIns="0" bIns="0" rtlCol="0" anchor="ctr"/>
          <a:lstStyle/>
          <a:p>
            <a:pPr algn="l" indent="0" marL="0">
              <a:buNone/>
            </a:pPr>
            <a:r>
              <a:rPr lang="en-US" sz="1100" dirty="0">
                <a:solidFill>
                  <a:schemeClr val="accent5"/>
                </a:solidFill>
              </a:rPr>
              <a:t>0,0222</a:t>
            </a:r>
            <a:endParaRPr lang="en-US" sz="1100" dirty="0"/>
          </a:p>
        </p:txBody>
      </p:sp>
      <p:sp>
        <p:nvSpPr>
          <p:cNvPr id="53" name="Text 43"/>
          <p:cNvSpPr txBox="1"/>
          <p:nvPr/>
        </p:nvSpPr>
        <p:spPr>
          <a:xfrm>
            <a:off x="7452360" y="5365699"/>
            <a:ext cx="1417320" cy="219456"/>
          </a:xfrm>
          <a:prstGeom prst="rect">
            <a:avLst/>
          </a:prstGeom>
          <a:noFill/>
          <a:ln/>
        </p:spPr>
        <p:txBody>
          <a:bodyPr wrap="square" lIns="0" tIns="0" rIns="0" bIns="0" rtlCol="0" anchor="ctr"/>
          <a:lstStyle/>
          <a:p>
            <a:pPr algn="r" indent="0" marL="0">
              <a:buNone/>
            </a:pPr>
            <a:r>
              <a:rPr lang="en-US" sz="1100" dirty="0">
                <a:solidFill>
                  <a:schemeClr val="tx1"/>
                </a:solidFill>
              </a:rPr>
              <a:t>socio_demog_038</a:t>
            </a:r>
            <a:endParaRPr lang="en-US" sz="1100" dirty="0"/>
          </a:p>
        </p:txBody>
      </p:sp>
      <p:sp>
        <p:nvSpPr>
          <p:cNvPr id="54" name="Text 44"/>
          <p:cNvSpPr txBox="1"/>
          <p:nvPr/>
        </p:nvSpPr>
        <p:spPr>
          <a:xfrm>
            <a:off x="9373880" y="5365699"/>
            <a:ext cx="640080" cy="219456"/>
          </a:xfrm>
          <a:prstGeom prst="rect">
            <a:avLst/>
          </a:prstGeom>
          <a:noFill/>
          <a:ln/>
        </p:spPr>
        <p:txBody>
          <a:bodyPr wrap="square" lIns="0" tIns="0" rIns="0" bIns="0" rtlCol="0" anchor="ctr"/>
          <a:lstStyle/>
          <a:p>
            <a:pPr algn="l" indent="0" marL="0">
              <a:buNone/>
            </a:pPr>
            <a:r>
              <a:rPr lang="en-US" sz="1100" dirty="0">
                <a:solidFill>
                  <a:schemeClr val="accent5"/>
                </a:solidFill>
              </a:rPr>
              <a:t>0,0196</a:t>
            </a:r>
            <a:endParaRPr lang="en-US" sz="1100" dirty="0"/>
          </a:p>
        </p:txBody>
      </p:sp>
      <p:sp>
        <p:nvSpPr>
          <p:cNvPr id="55" name="Text 45"/>
          <p:cNvSpPr txBox="1"/>
          <p:nvPr/>
        </p:nvSpPr>
        <p:spPr>
          <a:xfrm>
            <a:off x="7452360" y="5592470"/>
            <a:ext cx="1417320" cy="219456"/>
          </a:xfrm>
          <a:prstGeom prst="rect">
            <a:avLst/>
          </a:prstGeom>
          <a:noFill/>
          <a:ln/>
        </p:spPr>
        <p:txBody>
          <a:bodyPr wrap="square" lIns="0" tIns="0" rIns="0" bIns="0" rtlCol="0" anchor="ctr"/>
          <a:lstStyle/>
          <a:p>
            <a:pPr algn="r" indent="0" marL="0">
              <a:buNone/>
            </a:pPr>
            <a:r>
              <a:rPr lang="en-US" sz="1100" dirty="0">
                <a:solidFill>
                  <a:schemeClr val="tx1"/>
                </a:solidFill>
              </a:rPr>
              <a:t>socio_demog_061</a:t>
            </a:r>
            <a:endParaRPr lang="en-US" sz="1100" dirty="0"/>
          </a:p>
        </p:txBody>
      </p:sp>
      <p:sp>
        <p:nvSpPr>
          <p:cNvPr id="56" name="Text 46"/>
          <p:cNvSpPr txBox="1"/>
          <p:nvPr/>
        </p:nvSpPr>
        <p:spPr>
          <a:xfrm>
            <a:off x="9309003" y="5592470"/>
            <a:ext cx="640080" cy="219456"/>
          </a:xfrm>
          <a:prstGeom prst="rect">
            <a:avLst/>
          </a:prstGeom>
          <a:noFill/>
          <a:ln/>
        </p:spPr>
        <p:txBody>
          <a:bodyPr wrap="square" lIns="0" tIns="0" rIns="0" bIns="0" rtlCol="0" anchor="ctr"/>
          <a:lstStyle/>
          <a:p>
            <a:pPr algn="l" indent="0" marL="0">
              <a:buNone/>
            </a:pPr>
            <a:r>
              <a:rPr lang="en-US" sz="1100" dirty="0">
                <a:solidFill>
                  <a:schemeClr val="accent5"/>
                </a:solidFill>
              </a:rPr>
              <a:t>0,0163</a:t>
            </a:r>
            <a:endParaRPr lang="en-US" sz="1100" dirty="0"/>
          </a:p>
        </p:txBody>
      </p:sp>
      <p:sp>
        <p:nvSpPr>
          <p:cNvPr id="57" name="Text 47"/>
          <p:cNvSpPr txBox="1"/>
          <p:nvPr/>
        </p:nvSpPr>
        <p:spPr>
          <a:xfrm>
            <a:off x="7452360" y="5897880"/>
            <a:ext cx="4190695" cy="256032"/>
          </a:xfrm>
          <a:prstGeom prst="rect">
            <a:avLst/>
          </a:prstGeom>
          <a:noFill/>
          <a:ln/>
        </p:spPr>
        <p:txBody>
          <a:bodyPr wrap="square" lIns="0" tIns="0" rIns="0" bIns="0" rtlCol="0" anchor="t"/>
          <a:lstStyle/>
          <a:p>
            <a:pPr algn="l" indent="0" marL="0">
              <a:buNone/>
            </a:pPr>
            <a:r>
              <a:rPr lang="en-US" sz="1100" dirty="0">
                <a:solidFill>
                  <a:schemeClr val="accent5"/>
                </a:solidFill>
              </a:rPr>
              <a:t>rata-rata |SHAP| pada sampel 20.000 baris latih</a:t>
            </a:r>
            <a:endParaRPr lang="en-US" sz="11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II · REKAYASA FITUR</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Fitur kawasan termirip memakai target tetangga,</a:t>
            </a:r>
            <a:br/>
            <a:pPr algn="l" indent="0" marL="0">
              <a:buNone/>
            </a:pPr>
            <a:r>
              <a:rPr lang="en-US" sz="2800" b="1" dirty="0">
                <a:solidFill>
                  <a:schemeClr val="tx2"/>
                </a:solidFill>
              </a:rPr>
              <a:t>tetapi dihitung </a:t>
            </a:r>
            <a:pPr algn="l" indent="0" marL="0">
              <a:buNone/>
            </a:pPr>
            <a:r>
              <a:rPr lang="en-US" sz="2800" b="1" i="1" dirty="0">
                <a:solidFill>
                  <a:schemeClr val="tx2"/>
                </a:solidFill>
              </a:rPr>
              <a:t>out-of-fold</a:t>
            </a:r>
            <a:pPr algn="l" indent="0" marL="0">
              <a:buNone/>
            </a:pPr>
            <a:r>
              <a:rPr lang="en-US" sz="2800" b="1" dirty="0">
                <a:solidFill>
                  <a:schemeClr val="tx2"/>
                </a:solidFill>
              </a:rPr>
              <a:t> dua lapis</a:t>
            </a:r>
            <a:endParaRPr lang="en-US" sz="2800" dirty="0"/>
          </a:p>
        </p:txBody>
      </p:sp>
      <p:sp>
        <p:nvSpPr>
          <p:cNvPr id="4" name="kartu dibangun"/>
          <p:cNvSpPr/>
          <p:nvPr/>
        </p:nvSpPr>
        <p:spPr>
          <a:xfrm>
            <a:off x="548640" y="1691640"/>
            <a:ext cx="3611880" cy="1828800"/>
          </a:xfrm>
          <a:prstGeom prst="roundRect">
            <a:avLst>
              <a:gd name="adj" fmla="val 5000"/>
            </a:avLst>
          </a:prstGeom>
          <a:solidFill>
            <a:schemeClr val="bg2"/>
          </a:solidFill>
          <a:ln/>
        </p:spPr>
      </p:sp>
      <p:sp>
        <p:nvSpPr>
          <p:cNvPr id="5" name="label DIBANGUN"/>
          <p:cNvSpPr/>
          <p:nvPr/>
        </p:nvSpPr>
        <p:spPr>
          <a:xfrm>
            <a:off x="731520" y="1874520"/>
            <a:ext cx="953902" cy="292608"/>
          </a:xfrm>
          <a:prstGeom prst="roundRect">
            <a:avLst>
              <a:gd name="adj" fmla="val 18750"/>
            </a:avLst>
          </a:prstGeom>
          <a:solidFill>
            <a:schemeClr val="tx2"/>
          </a:solidFill>
          <a:ln/>
        </p:spPr>
      </p:sp>
      <p:sp>
        <p:nvSpPr>
          <p:cNvPr id="6" name="Text 4"/>
          <p:cNvSpPr txBox="1"/>
          <p:nvPr/>
        </p:nvSpPr>
        <p:spPr>
          <a:xfrm>
            <a:off x="731520" y="1874520"/>
            <a:ext cx="953902" cy="292608"/>
          </a:xfrm>
          <a:prstGeom prst="rect">
            <a:avLst/>
          </a:prstGeom>
          <a:noFill/>
          <a:ln/>
        </p:spPr>
        <p:txBody>
          <a:bodyPr wrap="square" lIns="0" tIns="0" rIns="0" bIns="0" rtlCol="0" anchor="ctr"/>
          <a:lstStyle/>
          <a:p>
            <a:pPr algn="ctr" indent="0" marL="0">
              <a:buNone/>
            </a:pPr>
            <a:r>
              <a:rPr lang="en-US" sz="1200" b="1" spc="50" kern="0" dirty="0">
                <a:solidFill>
                  <a:schemeClr val="bg1"/>
                </a:solidFill>
              </a:rPr>
              <a:t>DIBANGUN</a:t>
            </a:r>
            <a:endParaRPr lang="en-US" sz="1200" dirty="0"/>
          </a:p>
        </p:txBody>
      </p:sp>
      <p:sp>
        <p:nvSpPr>
          <p:cNvPr id="7" name="Text 5"/>
          <p:cNvSpPr txBox="1"/>
          <p:nvPr/>
        </p:nvSpPr>
        <p:spPr>
          <a:xfrm>
            <a:off x="731520" y="2286000"/>
            <a:ext cx="3246120" cy="1143000"/>
          </a:xfrm>
          <a:prstGeom prst="rect">
            <a:avLst/>
          </a:prstGeom>
          <a:noFill/>
          <a:ln/>
        </p:spPr>
        <p:txBody>
          <a:bodyPr wrap="square" lIns="0" tIns="0" rIns="0" bIns="0" rtlCol="0" anchor="t"/>
          <a:lstStyle/>
          <a:p>
            <a:pPr algn="l" indent="0" marL="0">
              <a:buNone/>
            </a:pPr>
            <a:r>
              <a:rPr lang="en-US" sz="1600" dirty="0">
                <a:solidFill>
                  <a:schemeClr val="tx1"/>
                </a:solidFill>
              </a:rPr>
              <a:t>rata-rata konsumsi k kawasan paling mirip, dalam jendela nomor subzona (misalnya ±30, ±100, ±300)</a:t>
            </a:r>
            <a:endParaRPr lang="en-US" sz="1600" dirty="0"/>
          </a:p>
        </p:txBody>
      </p:sp>
      <p:sp>
        <p:nvSpPr>
          <p:cNvPr id="8" name="kartu risiko"/>
          <p:cNvSpPr/>
          <p:nvPr/>
        </p:nvSpPr>
        <p:spPr>
          <a:xfrm>
            <a:off x="548640" y="3794760"/>
            <a:ext cx="3611880" cy="2331720"/>
          </a:xfrm>
          <a:prstGeom prst="roundRect">
            <a:avLst>
              <a:gd name="adj" fmla="val 3922"/>
            </a:avLst>
          </a:prstGeom>
          <a:solidFill>
            <a:schemeClr val="bg2"/>
          </a:solidFill>
          <a:ln/>
        </p:spPr>
      </p:sp>
      <p:sp>
        <p:nvSpPr>
          <p:cNvPr id="9" name="label RISIKO DIKENDALIKAN"/>
          <p:cNvSpPr/>
          <p:nvPr/>
        </p:nvSpPr>
        <p:spPr>
          <a:xfrm>
            <a:off x="731520" y="3977640"/>
            <a:ext cx="2064349" cy="292608"/>
          </a:xfrm>
          <a:prstGeom prst="roundRect">
            <a:avLst>
              <a:gd name="adj" fmla="val 18750"/>
            </a:avLst>
          </a:prstGeom>
          <a:solidFill>
            <a:schemeClr val="accent1"/>
          </a:solidFill>
          <a:ln/>
        </p:spPr>
      </p:sp>
      <p:sp>
        <p:nvSpPr>
          <p:cNvPr id="10" name="Text 8"/>
          <p:cNvSpPr txBox="1"/>
          <p:nvPr/>
        </p:nvSpPr>
        <p:spPr>
          <a:xfrm>
            <a:off x="731520" y="3977640"/>
            <a:ext cx="2064349" cy="292608"/>
          </a:xfrm>
          <a:prstGeom prst="rect">
            <a:avLst/>
          </a:prstGeom>
          <a:noFill/>
          <a:ln/>
        </p:spPr>
        <p:txBody>
          <a:bodyPr wrap="square" lIns="0" tIns="0" rIns="0" bIns="0" rtlCol="0" anchor="ctr"/>
          <a:lstStyle/>
          <a:p>
            <a:pPr algn="ctr" indent="0" marL="0">
              <a:buNone/>
            </a:pPr>
            <a:r>
              <a:rPr lang="en-US" sz="1200" b="1" spc="50" kern="0" dirty="0">
                <a:solidFill>
                  <a:schemeClr val="bg1"/>
                </a:solidFill>
              </a:rPr>
              <a:t>RISIKO DIKENDALIKAN</a:t>
            </a:r>
            <a:endParaRPr lang="en-US" sz="1200" dirty="0"/>
          </a:p>
        </p:txBody>
      </p:sp>
      <p:sp>
        <p:nvSpPr>
          <p:cNvPr id="11" name="Text 9"/>
          <p:cNvSpPr txBox="1"/>
          <p:nvPr/>
        </p:nvSpPr>
        <p:spPr>
          <a:xfrm>
            <a:off x="731520" y="4389120"/>
            <a:ext cx="3246120" cy="1051560"/>
          </a:xfrm>
          <a:prstGeom prst="rect">
            <a:avLst/>
          </a:prstGeom>
          <a:noFill/>
          <a:ln/>
        </p:spPr>
        <p:txBody>
          <a:bodyPr wrap="square" lIns="0" tIns="0" rIns="0" bIns="0" rtlCol="0" anchor="t"/>
          <a:lstStyle/>
          <a:p>
            <a:pPr algn="l" indent="0" marL="0">
              <a:buNone/>
            </a:pPr>
            <a:r>
              <a:rPr lang="en-US" sz="1600" dirty="0">
                <a:solidFill>
                  <a:schemeClr val="tx1"/>
                </a:solidFill>
              </a:rPr>
              <a:t>lapis luar 10 </a:t>
            </a:r>
            <a:pPr algn="l" indent="0" marL="0">
              <a:buNone/>
            </a:pPr>
            <a:r>
              <a:rPr lang="en-US" sz="1600" i="1" dirty="0">
                <a:solidFill>
                  <a:schemeClr val="tx1"/>
                </a:solidFill>
              </a:rPr>
              <a:t>fold</a:t>
            </a:r>
            <a:pPr algn="l" indent="0" marL="0">
              <a:buNone/>
            </a:pPr>
            <a:r>
              <a:rPr lang="en-US" sz="1600" dirty="0">
                <a:solidFill>
                  <a:schemeClr val="tx1"/>
                </a:solidFill>
              </a:rPr>
              <a:t>, lapis dalam 5 bagian: tidak ada baris memakai targetnya sendiri</a:t>
            </a:r>
            <a:endParaRPr lang="en-US" sz="1600" dirty="0"/>
          </a:p>
        </p:txBody>
      </p:sp>
      <p:sp>
        <p:nvSpPr>
          <p:cNvPr id="12" name="ikon pengaman"/>
          <p:cNvSpPr/>
          <p:nvPr/>
        </p:nvSpPr>
        <p:spPr>
          <a:xfrm>
            <a:off x="777240" y="5349240"/>
            <a:ext cx="548640" cy="548640"/>
          </a:xfrm>
          <a:prstGeom prst="ellipse">
            <a:avLst/>
          </a:prstGeom>
          <a:solidFill>
            <a:schemeClr val="accent1"/>
          </a:solidFill>
          <a:ln/>
        </p:spPr>
      </p:sp>
      <p:pic>
        <p:nvPicPr>
          <p:cNvPr id="13" name="Image 0" descr="FaShieldHalved">    </p:cNvPr>
          <p:cNvPicPr>
            <a:picLocks noChangeAspect="1"/>
          </p:cNvPicPr>
          <p:nvPr/>
        </p:nvPicPr>
        <p:blipFill>
          <a:blip r:embed="rId1"/>
          <a:stretch>
            <a:fillRect/>
          </a:stretch>
        </p:blipFill>
        <p:spPr>
          <a:xfrm>
            <a:off x="914400" y="5486400"/>
            <a:ext cx="274320" cy="274320"/>
          </a:xfrm>
          <a:prstGeom prst="rect">
            <a:avLst/>
          </a:prstGeom>
        </p:spPr>
      </p:pic>
      <p:sp>
        <p:nvSpPr>
          <p:cNvPr id="14" name="subzona 1"/>
          <p:cNvSpPr/>
          <p:nvPr/>
        </p:nvSpPr>
        <p:spPr>
          <a:xfrm>
            <a:off x="4753966" y="2578608"/>
            <a:ext cx="187452" cy="347472"/>
          </a:xfrm>
          <a:prstGeom prst="rect">
            <a:avLst/>
          </a:prstGeom>
          <a:solidFill>
            <a:schemeClr val="tx2">
              <a:alpha val="18000"/>
            </a:schemeClr>
          </a:solidFill>
          <a:ln/>
        </p:spPr>
      </p:sp>
      <p:sp>
        <p:nvSpPr>
          <p:cNvPr id="15" name="subzona 2"/>
          <p:cNvSpPr/>
          <p:nvPr/>
        </p:nvSpPr>
        <p:spPr>
          <a:xfrm>
            <a:off x="4968850" y="2578608"/>
            <a:ext cx="187452" cy="347472"/>
          </a:xfrm>
          <a:prstGeom prst="rect">
            <a:avLst/>
          </a:prstGeom>
          <a:solidFill>
            <a:schemeClr val="tx2">
              <a:alpha val="18000"/>
            </a:schemeClr>
          </a:solidFill>
          <a:ln/>
        </p:spPr>
      </p:sp>
      <p:sp>
        <p:nvSpPr>
          <p:cNvPr id="16" name="subzona 3"/>
          <p:cNvSpPr/>
          <p:nvPr/>
        </p:nvSpPr>
        <p:spPr>
          <a:xfrm>
            <a:off x="5183734" y="2578608"/>
            <a:ext cx="187452" cy="347472"/>
          </a:xfrm>
          <a:prstGeom prst="rect">
            <a:avLst/>
          </a:prstGeom>
          <a:solidFill>
            <a:schemeClr val="tx2">
              <a:alpha val="18000"/>
            </a:schemeClr>
          </a:solidFill>
          <a:ln/>
        </p:spPr>
      </p:sp>
      <p:sp>
        <p:nvSpPr>
          <p:cNvPr id="17" name="subzona 4"/>
          <p:cNvSpPr/>
          <p:nvPr/>
        </p:nvSpPr>
        <p:spPr>
          <a:xfrm>
            <a:off x="5398618" y="2578608"/>
            <a:ext cx="187452" cy="347472"/>
          </a:xfrm>
          <a:prstGeom prst="rect">
            <a:avLst/>
          </a:prstGeom>
          <a:solidFill>
            <a:schemeClr val="tx2">
              <a:alpha val="18000"/>
            </a:schemeClr>
          </a:solidFill>
          <a:ln/>
        </p:spPr>
      </p:sp>
      <p:sp>
        <p:nvSpPr>
          <p:cNvPr id="18" name="subzona 5"/>
          <p:cNvSpPr/>
          <p:nvPr/>
        </p:nvSpPr>
        <p:spPr>
          <a:xfrm>
            <a:off x="5613502" y="2578608"/>
            <a:ext cx="187452" cy="347472"/>
          </a:xfrm>
          <a:prstGeom prst="rect">
            <a:avLst/>
          </a:prstGeom>
          <a:solidFill>
            <a:schemeClr val="tx2">
              <a:alpha val="18000"/>
            </a:schemeClr>
          </a:solidFill>
          <a:ln/>
        </p:spPr>
      </p:sp>
      <p:sp>
        <p:nvSpPr>
          <p:cNvPr id="19" name="subzona 6"/>
          <p:cNvSpPr/>
          <p:nvPr/>
        </p:nvSpPr>
        <p:spPr>
          <a:xfrm>
            <a:off x="5828386" y="2578608"/>
            <a:ext cx="187452" cy="347472"/>
          </a:xfrm>
          <a:prstGeom prst="rect">
            <a:avLst/>
          </a:prstGeom>
          <a:solidFill>
            <a:schemeClr val="tx2">
              <a:alpha val="18000"/>
            </a:schemeClr>
          </a:solidFill>
          <a:ln/>
        </p:spPr>
      </p:sp>
      <p:sp>
        <p:nvSpPr>
          <p:cNvPr id="20" name="subzona 7"/>
          <p:cNvSpPr/>
          <p:nvPr/>
        </p:nvSpPr>
        <p:spPr>
          <a:xfrm>
            <a:off x="6043270" y="2578608"/>
            <a:ext cx="187452" cy="347472"/>
          </a:xfrm>
          <a:prstGeom prst="rect">
            <a:avLst/>
          </a:prstGeom>
          <a:solidFill>
            <a:schemeClr val="tx2">
              <a:alpha val="18000"/>
            </a:schemeClr>
          </a:solidFill>
          <a:ln/>
        </p:spPr>
      </p:sp>
      <p:sp>
        <p:nvSpPr>
          <p:cNvPr id="21" name="subzona 8"/>
          <p:cNvSpPr/>
          <p:nvPr/>
        </p:nvSpPr>
        <p:spPr>
          <a:xfrm>
            <a:off x="6258154" y="2578608"/>
            <a:ext cx="187452" cy="347472"/>
          </a:xfrm>
          <a:prstGeom prst="rect">
            <a:avLst/>
          </a:prstGeom>
          <a:solidFill>
            <a:schemeClr val="tx2">
              <a:alpha val="18000"/>
            </a:schemeClr>
          </a:solidFill>
          <a:ln/>
        </p:spPr>
      </p:sp>
      <p:sp>
        <p:nvSpPr>
          <p:cNvPr id="22" name="subzona 9"/>
          <p:cNvSpPr/>
          <p:nvPr/>
        </p:nvSpPr>
        <p:spPr>
          <a:xfrm>
            <a:off x="6473038" y="2578608"/>
            <a:ext cx="187452" cy="347472"/>
          </a:xfrm>
          <a:prstGeom prst="rect">
            <a:avLst/>
          </a:prstGeom>
          <a:solidFill>
            <a:schemeClr val="tx2">
              <a:alpha val="18000"/>
            </a:schemeClr>
          </a:solidFill>
          <a:ln/>
        </p:spPr>
      </p:sp>
      <p:sp>
        <p:nvSpPr>
          <p:cNvPr id="23" name="subzona 10"/>
          <p:cNvSpPr/>
          <p:nvPr/>
        </p:nvSpPr>
        <p:spPr>
          <a:xfrm>
            <a:off x="6687922" y="2578608"/>
            <a:ext cx="187452" cy="347472"/>
          </a:xfrm>
          <a:prstGeom prst="rect">
            <a:avLst/>
          </a:prstGeom>
          <a:solidFill>
            <a:schemeClr val="tx2">
              <a:alpha val="18000"/>
            </a:schemeClr>
          </a:solidFill>
          <a:ln/>
        </p:spPr>
      </p:sp>
      <p:sp>
        <p:nvSpPr>
          <p:cNvPr id="24" name="subzona 11"/>
          <p:cNvSpPr/>
          <p:nvPr/>
        </p:nvSpPr>
        <p:spPr>
          <a:xfrm>
            <a:off x="6902806" y="2578608"/>
            <a:ext cx="187452" cy="347472"/>
          </a:xfrm>
          <a:prstGeom prst="rect">
            <a:avLst/>
          </a:prstGeom>
          <a:solidFill>
            <a:schemeClr val="tx2">
              <a:alpha val="18000"/>
            </a:schemeClr>
          </a:solidFill>
          <a:ln/>
        </p:spPr>
      </p:sp>
      <p:sp>
        <p:nvSpPr>
          <p:cNvPr id="25" name="subzona 12"/>
          <p:cNvSpPr/>
          <p:nvPr/>
        </p:nvSpPr>
        <p:spPr>
          <a:xfrm>
            <a:off x="7117690" y="2578608"/>
            <a:ext cx="187452" cy="347472"/>
          </a:xfrm>
          <a:prstGeom prst="rect">
            <a:avLst/>
          </a:prstGeom>
          <a:solidFill>
            <a:schemeClr val="tx2">
              <a:alpha val="18000"/>
            </a:schemeClr>
          </a:solidFill>
          <a:ln/>
        </p:spPr>
      </p:sp>
      <p:sp>
        <p:nvSpPr>
          <p:cNvPr id="26" name="subzona 13"/>
          <p:cNvSpPr/>
          <p:nvPr/>
        </p:nvSpPr>
        <p:spPr>
          <a:xfrm>
            <a:off x="7332574" y="2578608"/>
            <a:ext cx="187452" cy="347472"/>
          </a:xfrm>
          <a:prstGeom prst="rect">
            <a:avLst/>
          </a:prstGeom>
          <a:solidFill>
            <a:schemeClr val="tx2">
              <a:alpha val="18000"/>
            </a:schemeClr>
          </a:solidFill>
          <a:ln/>
        </p:spPr>
      </p:sp>
      <p:sp>
        <p:nvSpPr>
          <p:cNvPr id="27" name="subzona 14"/>
          <p:cNvSpPr/>
          <p:nvPr/>
        </p:nvSpPr>
        <p:spPr>
          <a:xfrm>
            <a:off x="7547458" y="2578608"/>
            <a:ext cx="187452" cy="347472"/>
          </a:xfrm>
          <a:prstGeom prst="rect">
            <a:avLst/>
          </a:prstGeom>
          <a:solidFill>
            <a:schemeClr val="tx2">
              <a:alpha val="18000"/>
            </a:schemeClr>
          </a:solidFill>
          <a:ln/>
        </p:spPr>
      </p:sp>
      <p:sp>
        <p:nvSpPr>
          <p:cNvPr id="28" name="subzona 15"/>
          <p:cNvSpPr/>
          <p:nvPr/>
        </p:nvSpPr>
        <p:spPr>
          <a:xfrm>
            <a:off x="7762342" y="2578608"/>
            <a:ext cx="187452" cy="347472"/>
          </a:xfrm>
          <a:prstGeom prst="rect">
            <a:avLst/>
          </a:prstGeom>
          <a:solidFill>
            <a:schemeClr val="tx2">
              <a:alpha val="18000"/>
            </a:schemeClr>
          </a:solidFill>
          <a:ln/>
        </p:spPr>
      </p:sp>
      <p:sp>
        <p:nvSpPr>
          <p:cNvPr id="29" name="kawasan dinilai"/>
          <p:cNvSpPr/>
          <p:nvPr/>
        </p:nvSpPr>
        <p:spPr>
          <a:xfrm>
            <a:off x="7977226" y="2578608"/>
            <a:ext cx="187452" cy="347472"/>
          </a:xfrm>
          <a:prstGeom prst="rect">
            <a:avLst/>
          </a:prstGeom>
          <a:solidFill>
            <a:schemeClr val="accent1"/>
          </a:solidFill>
          <a:ln/>
        </p:spPr>
      </p:sp>
      <p:sp>
        <p:nvSpPr>
          <p:cNvPr id="30" name="subzona 17"/>
          <p:cNvSpPr/>
          <p:nvPr/>
        </p:nvSpPr>
        <p:spPr>
          <a:xfrm>
            <a:off x="8192110" y="2578608"/>
            <a:ext cx="187452" cy="347472"/>
          </a:xfrm>
          <a:prstGeom prst="rect">
            <a:avLst/>
          </a:prstGeom>
          <a:solidFill>
            <a:schemeClr val="tx2">
              <a:alpha val="18000"/>
            </a:schemeClr>
          </a:solidFill>
          <a:ln/>
        </p:spPr>
      </p:sp>
      <p:sp>
        <p:nvSpPr>
          <p:cNvPr id="31" name="subzona 18"/>
          <p:cNvSpPr/>
          <p:nvPr/>
        </p:nvSpPr>
        <p:spPr>
          <a:xfrm>
            <a:off x="8406994" y="2578608"/>
            <a:ext cx="187452" cy="347472"/>
          </a:xfrm>
          <a:prstGeom prst="rect">
            <a:avLst/>
          </a:prstGeom>
          <a:solidFill>
            <a:schemeClr val="tx2">
              <a:alpha val="18000"/>
            </a:schemeClr>
          </a:solidFill>
          <a:ln/>
        </p:spPr>
      </p:sp>
      <p:sp>
        <p:nvSpPr>
          <p:cNvPr id="32" name="subzona 19"/>
          <p:cNvSpPr/>
          <p:nvPr/>
        </p:nvSpPr>
        <p:spPr>
          <a:xfrm>
            <a:off x="8621878" y="2578608"/>
            <a:ext cx="187452" cy="347472"/>
          </a:xfrm>
          <a:prstGeom prst="rect">
            <a:avLst/>
          </a:prstGeom>
          <a:solidFill>
            <a:schemeClr val="tx2">
              <a:alpha val="18000"/>
            </a:schemeClr>
          </a:solidFill>
          <a:ln/>
        </p:spPr>
      </p:sp>
      <p:sp>
        <p:nvSpPr>
          <p:cNvPr id="33" name="subzona 20"/>
          <p:cNvSpPr/>
          <p:nvPr/>
        </p:nvSpPr>
        <p:spPr>
          <a:xfrm>
            <a:off x="8836762" y="2578608"/>
            <a:ext cx="187452" cy="347472"/>
          </a:xfrm>
          <a:prstGeom prst="rect">
            <a:avLst/>
          </a:prstGeom>
          <a:solidFill>
            <a:schemeClr val="tx2">
              <a:alpha val="18000"/>
            </a:schemeClr>
          </a:solidFill>
          <a:ln/>
        </p:spPr>
      </p:sp>
      <p:sp>
        <p:nvSpPr>
          <p:cNvPr id="34" name="subzona 21"/>
          <p:cNvSpPr/>
          <p:nvPr/>
        </p:nvSpPr>
        <p:spPr>
          <a:xfrm>
            <a:off x="9051646" y="2578608"/>
            <a:ext cx="187452" cy="347472"/>
          </a:xfrm>
          <a:prstGeom prst="rect">
            <a:avLst/>
          </a:prstGeom>
          <a:solidFill>
            <a:schemeClr val="tx2">
              <a:alpha val="18000"/>
            </a:schemeClr>
          </a:solidFill>
          <a:ln/>
        </p:spPr>
      </p:sp>
      <p:sp>
        <p:nvSpPr>
          <p:cNvPr id="35" name="subzona 22"/>
          <p:cNvSpPr/>
          <p:nvPr/>
        </p:nvSpPr>
        <p:spPr>
          <a:xfrm>
            <a:off x="9266530" y="2578608"/>
            <a:ext cx="187452" cy="347472"/>
          </a:xfrm>
          <a:prstGeom prst="rect">
            <a:avLst/>
          </a:prstGeom>
          <a:solidFill>
            <a:schemeClr val="tx2">
              <a:alpha val="18000"/>
            </a:schemeClr>
          </a:solidFill>
          <a:ln/>
        </p:spPr>
      </p:sp>
      <p:sp>
        <p:nvSpPr>
          <p:cNvPr id="36" name="subzona 23"/>
          <p:cNvSpPr/>
          <p:nvPr/>
        </p:nvSpPr>
        <p:spPr>
          <a:xfrm>
            <a:off x="9481414" y="2578608"/>
            <a:ext cx="187452" cy="347472"/>
          </a:xfrm>
          <a:prstGeom prst="rect">
            <a:avLst/>
          </a:prstGeom>
          <a:solidFill>
            <a:schemeClr val="tx2">
              <a:alpha val="18000"/>
            </a:schemeClr>
          </a:solidFill>
          <a:ln/>
        </p:spPr>
      </p:sp>
      <p:sp>
        <p:nvSpPr>
          <p:cNvPr id="37" name="subzona 24"/>
          <p:cNvSpPr/>
          <p:nvPr/>
        </p:nvSpPr>
        <p:spPr>
          <a:xfrm>
            <a:off x="9696298" y="2578608"/>
            <a:ext cx="187452" cy="347472"/>
          </a:xfrm>
          <a:prstGeom prst="rect">
            <a:avLst/>
          </a:prstGeom>
          <a:solidFill>
            <a:schemeClr val="tx2">
              <a:alpha val="18000"/>
            </a:schemeClr>
          </a:solidFill>
          <a:ln/>
        </p:spPr>
      </p:sp>
      <p:sp>
        <p:nvSpPr>
          <p:cNvPr id="38" name="subzona 25"/>
          <p:cNvSpPr/>
          <p:nvPr/>
        </p:nvSpPr>
        <p:spPr>
          <a:xfrm>
            <a:off x="9911182" y="2578608"/>
            <a:ext cx="187452" cy="347472"/>
          </a:xfrm>
          <a:prstGeom prst="rect">
            <a:avLst/>
          </a:prstGeom>
          <a:solidFill>
            <a:schemeClr val="tx2">
              <a:alpha val="18000"/>
            </a:schemeClr>
          </a:solidFill>
          <a:ln/>
        </p:spPr>
      </p:sp>
      <p:sp>
        <p:nvSpPr>
          <p:cNvPr id="39" name="subzona 26"/>
          <p:cNvSpPr/>
          <p:nvPr/>
        </p:nvSpPr>
        <p:spPr>
          <a:xfrm>
            <a:off x="10126066" y="2578608"/>
            <a:ext cx="187452" cy="347472"/>
          </a:xfrm>
          <a:prstGeom prst="rect">
            <a:avLst/>
          </a:prstGeom>
          <a:solidFill>
            <a:schemeClr val="tx2">
              <a:alpha val="18000"/>
            </a:schemeClr>
          </a:solidFill>
          <a:ln/>
        </p:spPr>
      </p:sp>
      <p:sp>
        <p:nvSpPr>
          <p:cNvPr id="40" name="subzona 27"/>
          <p:cNvSpPr/>
          <p:nvPr/>
        </p:nvSpPr>
        <p:spPr>
          <a:xfrm>
            <a:off x="10340950" y="2578608"/>
            <a:ext cx="187452" cy="347472"/>
          </a:xfrm>
          <a:prstGeom prst="rect">
            <a:avLst/>
          </a:prstGeom>
          <a:solidFill>
            <a:schemeClr val="tx2">
              <a:alpha val="18000"/>
            </a:schemeClr>
          </a:solidFill>
          <a:ln/>
        </p:spPr>
      </p:sp>
      <p:sp>
        <p:nvSpPr>
          <p:cNvPr id="41" name="subzona 28"/>
          <p:cNvSpPr/>
          <p:nvPr/>
        </p:nvSpPr>
        <p:spPr>
          <a:xfrm>
            <a:off x="10555834" y="2578608"/>
            <a:ext cx="187452" cy="347472"/>
          </a:xfrm>
          <a:prstGeom prst="rect">
            <a:avLst/>
          </a:prstGeom>
          <a:solidFill>
            <a:schemeClr val="tx2">
              <a:alpha val="18000"/>
            </a:schemeClr>
          </a:solidFill>
          <a:ln/>
        </p:spPr>
      </p:sp>
      <p:sp>
        <p:nvSpPr>
          <p:cNvPr id="42" name="subzona 29"/>
          <p:cNvSpPr/>
          <p:nvPr/>
        </p:nvSpPr>
        <p:spPr>
          <a:xfrm>
            <a:off x="10770718" y="2578608"/>
            <a:ext cx="187452" cy="347472"/>
          </a:xfrm>
          <a:prstGeom prst="rect">
            <a:avLst/>
          </a:prstGeom>
          <a:solidFill>
            <a:schemeClr val="tx2">
              <a:alpha val="18000"/>
            </a:schemeClr>
          </a:solidFill>
          <a:ln/>
        </p:spPr>
      </p:sp>
      <p:sp>
        <p:nvSpPr>
          <p:cNvPr id="43" name="subzona 30"/>
          <p:cNvSpPr/>
          <p:nvPr/>
        </p:nvSpPr>
        <p:spPr>
          <a:xfrm>
            <a:off x="10985602" y="2578608"/>
            <a:ext cx="187452" cy="347472"/>
          </a:xfrm>
          <a:prstGeom prst="rect">
            <a:avLst/>
          </a:prstGeom>
          <a:solidFill>
            <a:schemeClr val="tx2">
              <a:alpha val="18000"/>
            </a:schemeClr>
          </a:solidFill>
          <a:ln/>
        </p:spPr>
      </p:sp>
      <p:sp>
        <p:nvSpPr>
          <p:cNvPr id="44" name="subzona 31"/>
          <p:cNvSpPr/>
          <p:nvPr/>
        </p:nvSpPr>
        <p:spPr>
          <a:xfrm>
            <a:off x="11200486" y="2578608"/>
            <a:ext cx="187452" cy="347472"/>
          </a:xfrm>
          <a:prstGeom prst="rect">
            <a:avLst/>
          </a:prstGeom>
          <a:solidFill>
            <a:schemeClr val="tx2">
              <a:alpha val="18000"/>
            </a:schemeClr>
          </a:solidFill>
          <a:ln/>
        </p:spPr>
      </p:sp>
      <p:sp>
        <p:nvSpPr>
          <p:cNvPr id="45" name="Text 42"/>
          <p:cNvSpPr txBox="1"/>
          <p:nvPr/>
        </p:nvSpPr>
        <p:spPr>
          <a:xfrm>
            <a:off x="7353148" y="2962656"/>
            <a:ext cx="1463040" cy="256032"/>
          </a:xfrm>
          <a:prstGeom prst="rect">
            <a:avLst/>
          </a:prstGeom>
          <a:noFill/>
          <a:ln/>
        </p:spPr>
        <p:txBody>
          <a:bodyPr wrap="square" lIns="0" tIns="0" rIns="0" bIns="0" rtlCol="0" anchor="t"/>
          <a:lstStyle/>
          <a:p>
            <a:pPr algn="ctr" indent="0" marL="0">
              <a:buNone/>
            </a:pPr>
            <a:r>
              <a:rPr lang="en-US" sz="1100" b="1" dirty="0">
                <a:solidFill>
                  <a:schemeClr val="accent1"/>
                </a:solidFill>
              </a:rPr>
              <a:t>kawasan dinilai</a:t>
            </a:r>
            <a:endParaRPr lang="en-US" sz="1100" dirty="0"/>
          </a:p>
        </p:txBody>
      </p:sp>
      <p:sp>
        <p:nvSpPr>
          <p:cNvPr id="46" name="Shape 43"/>
          <p:cNvSpPr/>
          <p:nvPr/>
        </p:nvSpPr>
        <p:spPr>
          <a:xfrm>
            <a:off x="7332574" y="2377440"/>
            <a:ext cx="1476756" cy="914"/>
          </a:xfrm>
          <a:prstGeom prst="line">
            <a:avLst/>
          </a:prstGeom>
          <a:noFill/>
          <a:ln w="19050">
            <a:solidFill>
              <a:schemeClr val="accent2"/>
            </a:solidFill>
            <a:prstDash val="solid"/>
          </a:ln>
        </p:spPr>
      </p:sp>
      <p:sp>
        <p:nvSpPr>
          <p:cNvPr id="47" name="Shape 44"/>
          <p:cNvSpPr/>
          <p:nvPr/>
        </p:nvSpPr>
        <p:spPr>
          <a:xfrm>
            <a:off x="7332574" y="2286000"/>
            <a:ext cx="914" cy="182880"/>
          </a:xfrm>
          <a:prstGeom prst="line">
            <a:avLst/>
          </a:prstGeom>
          <a:noFill/>
          <a:ln w="19050">
            <a:solidFill>
              <a:schemeClr val="accent2"/>
            </a:solidFill>
            <a:prstDash val="solid"/>
          </a:ln>
        </p:spPr>
      </p:sp>
      <p:sp>
        <p:nvSpPr>
          <p:cNvPr id="48" name="Shape 45"/>
          <p:cNvSpPr/>
          <p:nvPr/>
        </p:nvSpPr>
        <p:spPr>
          <a:xfrm>
            <a:off x="8809330" y="2286000"/>
            <a:ext cx="914" cy="182880"/>
          </a:xfrm>
          <a:prstGeom prst="line">
            <a:avLst/>
          </a:prstGeom>
          <a:noFill/>
          <a:ln w="19050">
            <a:solidFill>
              <a:schemeClr val="accent2"/>
            </a:solidFill>
            <a:prstDash val="solid"/>
          </a:ln>
        </p:spPr>
      </p:sp>
      <p:sp>
        <p:nvSpPr>
          <p:cNvPr id="49" name="Text 46"/>
          <p:cNvSpPr txBox="1"/>
          <p:nvPr/>
        </p:nvSpPr>
        <p:spPr>
          <a:xfrm>
            <a:off x="6646774" y="2249424"/>
            <a:ext cx="640080" cy="256032"/>
          </a:xfrm>
          <a:prstGeom prst="rect">
            <a:avLst/>
          </a:prstGeom>
          <a:noFill/>
          <a:ln/>
        </p:spPr>
        <p:txBody>
          <a:bodyPr wrap="square" lIns="0" tIns="0" rIns="0" bIns="0" rtlCol="0" anchor="ctr"/>
          <a:lstStyle/>
          <a:p>
            <a:pPr algn="r" indent="0" marL="0">
              <a:buNone/>
            </a:pPr>
            <a:r>
              <a:rPr lang="en-US" sz="1200" b="1" dirty="0">
                <a:solidFill>
                  <a:schemeClr val="accent2"/>
                </a:solidFill>
              </a:rPr>
              <a:t>±30</a:t>
            </a:r>
            <a:endParaRPr lang="en-US" sz="1200" dirty="0"/>
          </a:p>
        </p:txBody>
      </p:sp>
      <p:sp>
        <p:nvSpPr>
          <p:cNvPr id="50" name="Shape 47"/>
          <p:cNvSpPr/>
          <p:nvPr/>
        </p:nvSpPr>
        <p:spPr>
          <a:xfrm>
            <a:off x="6258154" y="2112264"/>
            <a:ext cx="3625596" cy="914"/>
          </a:xfrm>
          <a:prstGeom prst="line">
            <a:avLst/>
          </a:prstGeom>
          <a:noFill/>
          <a:ln w="19050">
            <a:solidFill>
              <a:schemeClr val="accent2"/>
            </a:solidFill>
            <a:prstDash val="solid"/>
          </a:ln>
        </p:spPr>
      </p:sp>
      <p:sp>
        <p:nvSpPr>
          <p:cNvPr id="51" name="Shape 48"/>
          <p:cNvSpPr/>
          <p:nvPr/>
        </p:nvSpPr>
        <p:spPr>
          <a:xfrm>
            <a:off x="6258154" y="2020824"/>
            <a:ext cx="914" cy="182880"/>
          </a:xfrm>
          <a:prstGeom prst="line">
            <a:avLst/>
          </a:prstGeom>
          <a:noFill/>
          <a:ln w="19050">
            <a:solidFill>
              <a:schemeClr val="accent2"/>
            </a:solidFill>
            <a:prstDash val="solid"/>
          </a:ln>
        </p:spPr>
      </p:sp>
      <p:sp>
        <p:nvSpPr>
          <p:cNvPr id="52" name="Shape 49"/>
          <p:cNvSpPr/>
          <p:nvPr/>
        </p:nvSpPr>
        <p:spPr>
          <a:xfrm>
            <a:off x="9883750" y="2020824"/>
            <a:ext cx="914" cy="182880"/>
          </a:xfrm>
          <a:prstGeom prst="line">
            <a:avLst/>
          </a:prstGeom>
          <a:noFill/>
          <a:ln w="19050">
            <a:solidFill>
              <a:schemeClr val="accent2"/>
            </a:solidFill>
            <a:prstDash val="solid"/>
          </a:ln>
        </p:spPr>
      </p:sp>
      <p:sp>
        <p:nvSpPr>
          <p:cNvPr id="53" name="Text 50"/>
          <p:cNvSpPr txBox="1"/>
          <p:nvPr/>
        </p:nvSpPr>
        <p:spPr>
          <a:xfrm>
            <a:off x="5572354" y="1984248"/>
            <a:ext cx="640080" cy="256032"/>
          </a:xfrm>
          <a:prstGeom prst="rect">
            <a:avLst/>
          </a:prstGeom>
          <a:noFill/>
          <a:ln/>
        </p:spPr>
        <p:txBody>
          <a:bodyPr wrap="square" lIns="0" tIns="0" rIns="0" bIns="0" rtlCol="0" anchor="ctr"/>
          <a:lstStyle/>
          <a:p>
            <a:pPr algn="r" indent="0" marL="0">
              <a:buNone/>
            </a:pPr>
            <a:r>
              <a:rPr lang="en-US" sz="1200" b="1" dirty="0">
                <a:solidFill>
                  <a:schemeClr val="accent2"/>
                </a:solidFill>
              </a:rPr>
              <a:t>±100</a:t>
            </a:r>
            <a:endParaRPr lang="en-US" sz="1200" dirty="0"/>
          </a:p>
        </p:txBody>
      </p:sp>
      <p:sp>
        <p:nvSpPr>
          <p:cNvPr id="54" name="Shape 51"/>
          <p:cNvSpPr/>
          <p:nvPr/>
        </p:nvSpPr>
        <p:spPr>
          <a:xfrm>
            <a:off x="4753966" y="1847088"/>
            <a:ext cx="6633972" cy="914"/>
          </a:xfrm>
          <a:prstGeom prst="line">
            <a:avLst/>
          </a:prstGeom>
          <a:noFill/>
          <a:ln w="19050">
            <a:solidFill>
              <a:schemeClr val="accent2"/>
            </a:solidFill>
            <a:prstDash val="solid"/>
          </a:ln>
        </p:spPr>
      </p:sp>
      <p:sp>
        <p:nvSpPr>
          <p:cNvPr id="55" name="Shape 52"/>
          <p:cNvSpPr/>
          <p:nvPr/>
        </p:nvSpPr>
        <p:spPr>
          <a:xfrm>
            <a:off x="4753966" y="1755648"/>
            <a:ext cx="914" cy="182880"/>
          </a:xfrm>
          <a:prstGeom prst="line">
            <a:avLst/>
          </a:prstGeom>
          <a:noFill/>
          <a:ln w="19050">
            <a:solidFill>
              <a:schemeClr val="accent2"/>
            </a:solidFill>
            <a:prstDash val="solid"/>
          </a:ln>
        </p:spPr>
      </p:sp>
      <p:sp>
        <p:nvSpPr>
          <p:cNvPr id="56" name="Shape 53"/>
          <p:cNvSpPr/>
          <p:nvPr/>
        </p:nvSpPr>
        <p:spPr>
          <a:xfrm>
            <a:off x="11387938" y="1755648"/>
            <a:ext cx="914" cy="182880"/>
          </a:xfrm>
          <a:prstGeom prst="line">
            <a:avLst/>
          </a:prstGeom>
          <a:noFill/>
          <a:ln w="19050">
            <a:solidFill>
              <a:schemeClr val="accent2"/>
            </a:solidFill>
            <a:prstDash val="solid"/>
          </a:ln>
        </p:spPr>
      </p:sp>
      <p:sp>
        <p:nvSpPr>
          <p:cNvPr id="57" name="Text 54"/>
          <p:cNvSpPr txBox="1"/>
          <p:nvPr/>
        </p:nvSpPr>
        <p:spPr>
          <a:xfrm>
            <a:off x="4068166" y="1719072"/>
            <a:ext cx="640080" cy="256032"/>
          </a:xfrm>
          <a:prstGeom prst="rect">
            <a:avLst/>
          </a:prstGeom>
          <a:noFill/>
          <a:ln/>
        </p:spPr>
        <p:txBody>
          <a:bodyPr wrap="square" lIns="0" tIns="0" rIns="0" bIns="0" rtlCol="0" anchor="ctr"/>
          <a:lstStyle/>
          <a:p>
            <a:pPr algn="r" indent="0" marL="0">
              <a:buNone/>
            </a:pPr>
            <a:r>
              <a:rPr lang="en-US" sz="1200" b="1" dirty="0">
                <a:solidFill>
                  <a:schemeClr val="accent2"/>
                </a:solidFill>
              </a:rPr>
              <a:t>±300</a:t>
            </a:r>
            <a:endParaRPr lang="en-US" sz="1200" dirty="0"/>
          </a:p>
        </p:txBody>
      </p:sp>
      <p:sp>
        <p:nvSpPr>
          <p:cNvPr id="58" name="Text 55"/>
          <p:cNvSpPr txBox="1"/>
          <p:nvPr/>
        </p:nvSpPr>
        <p:spPr>
          <a:xfrm>
            <a:off x="9952330" y="2962656"/>
            <a:ext cx="1463040" cy="256032"/>
          </a:xfrm>
          <a:prstGeom prst="rect">
            <a:avLst/>
          </a:prstGeom>
          <a:noFill/>
          <a:ln/>
        </p:spPr>
        <p:txBody>
          <a:bodyPr wrap="square" lIns="0" tIns="0" rIns="0" bIns="0" rtlCol="0" anchor="t"/>
          <a:lstStyle/>
          <a:p>
            <a:pPr algn="r" indent="0" marL="0">
              <a:buNone/>
            </a:pPr>
            <a:r>
              <a:rPr lang="en-US" sz="1100" dirty="0">
                <a:solidFill>
                  <a:schemeClr val="accent5"/>
                </a:solidFill>
              </a:rPr>
              <a:t>nomor subzona →</a:t>
            </a:r>
            <a:endParaRPr lang="en-US" sz="1100" dirty="0"/>
          </a:p>
        </p:txBody>
      </p:sp>
      <p:sp>
        <p:nvSpPr>
          <p:cNvPr id="59" name="Text 56"/>
          <p:cNvSpPr txBox="1"/>
          <p:nvPr/>
        </p:nvSpPr>
        <p:spPr>
          <a:xfrm>
            <a:off x="4526280" y="3227832"/>
            <a:ext cx="7116775" cy="502920"/>
          </a:xfrm>
          <a:prstGeom prst="rect">
            <a:avLst/>
          </a:prstGeom>
          <a:noFill/>
          <a:ln/>
        </p:spPr>
        <p:txBody>
          <a:bodyPr wrap="square" lIns="0" tIns="0" rIns="0" bIns="0" rtlCol="0" anchor="t"/>
          <a:lstStyle/>
          <a:p>
            <a:pPr algn="ctr" indent="0" marL="0">
              <a:buNone/>
            </a:pPr>
            <a:r>
              <a:rPr lang="en-US" sz="1400" b="1" dirty="0">
                <a:solidFill>
                  <a:schemeClr val="accent2"/>
                </a:solidFill>
              </a:rPr>
              <a:t>96,5%</a:t>
            </a:r>
            <a:pPr algn="ctr" indent="0" marL="0">
              <a:buNone/>
            </a:pPr>
            <a:r>
              <a:rPr lang="en-US" sz="1400" dirty="0">
                <a:solidFill>
                  <a:schemeClr val="tx1"/>
                </a:solidFill>
              </a:rPr>
              <a:t> pasangan subzona bernomor berurutan berada di zona yang sama</a:t>
            </a:r>
            <a:endParaRPr lang="en-US" sz="1400" dirty="0"/>
          </a:p>
          <a:p>
            <a:pPr algn="ctr" indent="0" marL="0">
              <a:buNone/>
            </a:pPr>
            <a:r>
              <a:rPr lang="en-US" sz="1400" b="1" dirty="0">
                <a:solidFill>
                  <a:schemeClr val="tx2"/>
                </a:solidFill>
              </a:rPr>
              <a:t>→ nomor berdekatan = pendekatan lokasi</a:t>
            </a:r>
            <a:endParaRPr lang="en-US" sz="1400" dirty="0"/>
          </a:p>
        </p:txBody>
      </p:sp>
      <p:sp>
        <p:nvSpPr>
          <p:cNvPr id="60" name="Text 57"/>
          <p:cNvSpPr txBox="1"/>
          <p:nvPr/>
        </p:nvSpPr>
        <p:spPr>
          <a:xfrm>
            <a:off x="4526280" y="3794760"/>
            <a:ext cx="2743200" cy="274320"/>
          </a:xfrm>
          <a:prstGeom prst="rect">
            <a:avLst/>
          </a:prstGeom>
          <a:noFill/>
          <a:ln/>
        </p:spPr>
        <p:txBody>
          <a:bodyPr wrap="square" lIns="0" tIns="0" rIns="0" bIns="0" rtlCol="0" anchor="t"/>
          <a:lstStyle/>
          <a:p>
            <a:pPr algn="l" indent="0" marL="0">
              <a:buNone/>
            </a:pPr>
            <a:r>
              <a:rPr lang="en-US" sz="1300" b="1" dirty="0">
                <a:solidFill>
                  <a:schemeClr val="tx2"/>
                </a:solidFill>
              </a:rPr>
              <a:t>Lapis luar: 10 fold</a:t>
            </a:r>
            <a:endParaRPr lang="en-US" sz="1300" dirty="0"/>
          </a:p>
        </p:txBody>
      </p:sp>
      <p:sp>
        <p:nvSpPr>
          <p:cNvPr id="61" name="fold 1"/>
          <p:cNvSpPr/>
          <p:nvPr/>
        </p:nvSpPr>
        <p:spPr>
          <a:xfrm>
            <a:off x="4526280" y="4096512"/>
            <a:ext cx="654070" cy="548640"/>
          </a:xfrm>
          <a:prstGeom prst="roundRect">
            <a:avLst>
              <a:gd name="adj" fmla="val 8333"/>
            </a:avLst>
          </a:prstGeom>
          <a:solidFill>
            <a:schemeClr val="tx2">
              <a:alpha val="15000"/>
            </a:schemeClr>
          </a:solidFill>
          <a:ln/>
        </p:spPr>
      </p:sp>
      <p:sp>
        <p:nvSpPr>
          <p:cNvPr id="62" name="Text 59"/>
          <p:cNvSpPr txBox="1"/>
          <p:nvPr/>
        </p:nvSpPr>
        <p:spPr>
          <a:xfrm>
            <a:off x="4526280" y="4096512"/>
            <a:ext cx="654070" cy="548640"/>
          </a:xfrm>
          <a:prstGeom prst="rect">
            <a:avLst/>
          </a:prstGeom>
          <a:noFill/>
          <a:ln/>
        </p:spPr>
        <p:txBody>
          <a:bodyPr wrap="square" lIns="0" tIns="0" rIns="0" bIns="0" rtlCol="0" anchor="ctr"/>
          <a:lstStyle/>
          <a:p>
            <a:pPr algn="ctr" indent="0" marL="0">
              <a:buNone/>
            </a:pPr>
            <a:r>
              <a:rPr lang="en-US" sz="1000" dirty="0">
                <a:solidFill>
                  <a:schemeClr val="tx2"/>
                </a:solidFill>
              </a:rPr>
              <a:t>sumber tetangga</a:t>
            </a:r>
            <a:endParaRPr lang="en-US" sz="1000" dirty="0"/>
          </a:p>
        </p:txBody>
      </p:sp>
      <p:sp>
        <p:nvSpPr>
          <p:cNvPr id="63" name="fold 2"/>
          <p:cNvSpPr/>
          <p:nvPr/>
        </p:nvSpPr>
        <p:spPr>
          <a:xfrm>
            <a:off x="5244358" y="4096512"/>
            <a:ext cx="654070" cy="548640"/>
          </a:xfrm>
          <a:prstGeom prst="roundRect">
            <a:avLst>
              <a:gd name="adj" fmla="val 8333"/>
            </a:avLst>
          </a:prstGeom>
          <a:solidFill>
            <a:schemeClr val="tx2">
              <a:alpha val="15000"/>
            </a:schemeClr>
          </a:solidFill>
          <a:ln/>
        </p:spPr>
      </p:sp>
      <p:sp>
        <p:nvSpPr>
          <p:cNvPr id="64" name="Text 61"/>
          <p:cNvSpPr txBox="1"/>
          <p:nvPr/>
        </p:nvSpPr>
        <p:spPr>
          <a:xfrm>
            <a:off x="5244358" y="4096512"/>
            <a:ext cx="654070" cy="548640"/>
          </a:xfrm>
          <a:prstGeom prst="rect">
            <a:avLst/>
          </a:prstGeom>
          <a:noFill/>
          <a:ln/>
        </p:spPr>
        <p:txBody>
          <a:bodyPr wrap="square" lIns="0" tIns="0" rIns="0" bIns="0" rtlCol="0" anchor="ctr"/>
          <a:lstStyle/>
          <a:p>
            <a:pPr algn="ctr" indent="0" marL="0">
              <a:buNone/>
            </a:pPr>
            <a:r>
              <a:rPr lang="en-US" sz="1000" dirty="0">
                <a:solidFill>
                  <a:schemeClr val="tx2"/>
                </a:solidFill>
              </a:rPr>
              <a:t>sumber tetangga</a:t>
            </a:r>
            <a:endParaRPr lang="en-US" sz="1000" dirty="0"/>
          </a:p>
        </p:txBody>
      </p:sp>
      <p:sp>
        <p:nvSpPr>
          <p:cNvPr id="65" name="fold dinilai"/>
          <p:cNvSpPr/>
          <p:nvPr/>
        </p:nvSpPr>
        <p:spPr>
          <a:xfrm>
            <a:off x="5962437" y="4096512"/>
            <a:ext cx="654070" cy="548640"/>
          </a:xfrm>
          <a:prstGeom prst="roundRect">
            <a:avLst>
              <a:gd name="adj" fmla="val 8333"/>
            </a:avLst>
          </a:prstGeom>
          <a:solidFill>
            <a:schemeClr val="accent1"/>
          </a:solidFill>
          <a:ln/>
        </p:spPr>
      </p:sp>
      <p:sp>
        <p:nvSpPr>
          <p:cNvPr id="66" name="Text 63"/>
          <p:cNvSpPr txBox="1"/>
          <p:nvPr/>
        </p:nvSpPr>
        <p:spPr>
          <a:xfrm>
            <a:off x="5962437" y="4096512"/>
            <a:ext cx="654070" cy="548640"/>
          </a:xfrm>
          <a:prstGeom prst="rect">
            <a:avLst/>
          </a:prstGeom>
          <a:noFill/>
          <a:ln/>
        </p:spPr>
        <p:txBody>
          <a:bodyPr wrap="square" lIns="0" tIns="0" rIns="0" bIns="0" rtlCol="0" anchor="ctr"/>
          <a:lstStyle/>
          <a:p>
            <a:pPr algn="ctr" indent="0" marL="0">
              <a:buNone/>
            </a:pPr>
            <a:r>
              <a:rPr lang="en-US" sz="1200" b="1" dirty="0">
                <a:solidFill>
                  <a:schemeClr val="bg1"/>
                </a:solidFill>
              </a:rPr>
              <a:t>dinilai</a:t>
            </a:r>
            <a:endParaRPr lang="en-US" sz="1200" dirty="0"/>
          </a:p>
        </p:txBody>
      </p:sp>
      <p:sp>
        <p:nvSpPr>
          <p:cNvPr id="67" name="fold 4"/>
          <p:cNvSpPr/>
          <p:nvPr/>
        </p:nvSpPr>
        <p:spPr>
          <a:xfrm>
            <a:off x="6680515" y="4096512"/>
            <a:ext cx="654070" cy="548640"/>
          </a:xfrm>
          <a:prstGeom prst="roundRect">
            <a:avLst>
              <a:gd name="adj" fmla="val 8333"/>
            </a:avLst>
          </a:prstGeom>
          <a:solidFill>
            <a:schemeClr val="tx2">
              <a:alpha val="15000"/>
            </a:schemeClr>
          </a:solidFill>
          <a:ln/>
        </p:spPr>
      </p:sp>
      <p:sp>
        <p:nvSpPr>
          <p:cNvPr id="68" name="Text 65"/>
          <p:cNvSpPr txBox="1"/>
          <p:nvPr/>
        </p:nvSpPr>
        <p:spPr>
          <a:xfrm>
            <a:off x="6680515" y="4096512"/>
            <a:ext cx="654070" cy="548640"/>
          </a:xfrm>
          <a:prstGeom prst="rect">
            <a:avLst/>
          </a:prstGeom>
          <a:noFill/>
          <a:ln/>
        </p:spPr>
        <p:txBody>
          <a:bodyPr wrap="square" lIns="0" tIns="0" rIns="0" bIns="0" rtlCol="0" anchor="ctr"/>
          <a:lstStyle/>
          <a:p>
            <a:pPr algn="ctr" indent="0" marL="0">
              <a:buNone/>
            </a:pPr>
            <a:r>
              <a:rPr lang="en-US" sz="1000" dirty="0">
                <a:solidFill>
                  <a:schemeClr val="tx2"/>
                </a:solidFill>
              </a:rPr>
              <a:t>sumber tetangga</a:t>
            </a:r>
            <a:endParaRPr lang="en-US" sz="1000" dirty="0"/>
          </a:p>
        </p:txBody>
      </p:sp>
      <p:sp>
        <p:nvSpPr>
          <p:cNvPr id="69" name="fold 5"/>
          <p:cNvSpPr/>
          <p:nvPr/>
        </p:nvSpPr>
        <p:spPr>
          <a:xfrm>
            <a:off x="7398593" y="4096512"/>
            <a:ext cx="654070" cy="548640"/>
          </a:xfrm>
          <a:prstGeom prst="roundRect">
            <a:avLst>
              <a:gd name="adj" fmla="val 8333"/>
            </a:avLst>
          </a:prstGeom>
          <a:solidFill>
            <a:schemeClr val="tx2">
              <a:alpha val="15000"/>
            </a:schemeClr>
          </a:solidFill>
          <a:ln/>
        </p:spPr>
      </p:sp>
      <p:sp>
        <p:nvSpPr>
          <p:cNvPr id="70" name="Text 67"/>
          <p:cNvSpPr txBox="1"/>
          <p:nvPr/>
        </p:nvSpPr>
        <p:spPr>
          <a:xfrm>
            <a:off x="7398593" y="4096512"/>
            <a:ext cx="654070" cy="548640"/>
          </a:xfrm>
          <a:prstGeom prst="rect">
            <a:avLst/>
          </a:prstGeom>
          <a:noFill/>
          <a:ln/>
        </p:spPr>
        <p:txBody>
          <a:bodyPr wrap="square" lIns="0" tIns="0" rIns="0" bIns="0" rtlCol="0" anchor="ctr"/>
          <a:lstStyle/>
          <a:p>
            <a:pPr algn="ctr" indent="0" marL="0">
              <a:buNone/>
            </a:pPr>
            <a:r>
              <a:rPr lang="en-US" sz="1000" dirty="0">
                <a:solidFill>
                  <a:schemeClr val="tx2"/>
                </a:solidFill>
              </a:rPr>
              <a:t>sumber tetangga</a:t>
            </a:r>
            <a:endParaRPr lang="en-US" sz="1000" dirty="0"/>
          </a:p>
        </p:txBody>
      </p:sp>
      <p:sp>
        <p:nvSpPr>
          <p:cNvPr id="71" name="fold 6"/>
          <p:cNvSpPr/>
          <p:nvPr/>
        </p:nvSpPr>
        <p:spPr>
          <a:xfrm>
            <a:off x="8116672" y="4096512"/>
            <a:ext cx="654070" cy="548640"/>
          </a:xfrm>
          <a:prstGeom prst="roundRect">
            <a:avLst>
              <a:gd name="adj" fmla="val 8333"/>
            </a:avLst>
          </a:prstGeom>
          <a:solidFill>
            <a:schemeClr val="tx2">
              <a:alpha val="15000"/>
            </a:schemeClr>
          </a:solidFill>
          <a:ln/>
        </p:spPr>
      </p:sp>
      <p:sp>
        <p:nvSpPr>
          <p:cNvPr id="72" name="Text 69"/>
          <p:cNvSpPr txBox="1"/>
          <p:nvPr/>
        </p:nvSpPr>
        <p:spPr>
          <a:xfrm>
            <a:off x="8116672" y="4096512"/>
            <a:ext cx="654070" cy="548640"/>
          </a:xfrm>
          <a:prstGeom prst="rect">
            <a:avLst/>
          </a:prstGeom>
          <a:noFill/>
          <a:ln/>
        </p:spPr>
        <p:txBody>
          <a:bodyPr wrap="square" lIns="0" tIns="0" rIns="0" bIns="0" rtlCol="0" anchor="ctr"/>
          <a:lstStyle/>
          <a:p>
            <a:pPr algn="ctr" indent="0" marL="0">
              <a:buNone/>
            </a:pPr>
            <a:r>
              <a:rPr lang="en-US" sz="1000" dirty="0">
                <a:solidFill>
                  <a:schemeClr val="tx2"/>
                </a:solidFill>
              </a:rPr>
              <a:t>sumber tetangga</a:t>
            </a:r>
            <a:endParaRPr lang="en-US" sz="1000" dirty="0"/>
          </a:p>
        </p:txBody>
      </p:sp>
      <p:sp>
        <p:nvSpPr>
          <p:cNvPr id="73" name="fold 7"/>
          <p:cNvSpPr/>
          <p:nvPr/>
        </p:nvSpPr>
        <p:spPr>
          <a:xfrm>
            <a:off x="8834750" y="4096512"/>
            <a:ext cx="654070" cy="548640"/>
          </a:xfrm>
          <a:prstGeom prst="roundRect">
            <a:avLst>
              <a:gd name="adj" fmla="val 8333"/>
            </a:avLst>
          </a:prstGeom>
          <a:solidFill>
            <a:schemeClr val="tx2">
              <a:alpha val="15000"/>
            </a:schemeClr>
          </a:solidFill>
          <a:ln/>
        </p:spPr>
      </p:sp>
      <p:sp>
        <p:nvSpPr>
          <p:cNvPr id="74" name="Text 71"/>
          <p:cNvSpPr txBox="1"/>
          <p:nvPr/>
        </p:nvSpPr>
        <p:spPr>
          <a:xfrm>
            <a:off x="8834750" y="4096512"/>
            <a:ext cx="654070" cy="548640"/>
          </a:xfrm>
          <a:prstGeom prst="rect">
            <a:avLst/>
          </a:prstGeom>
          <a:noFill/>
          <a:ln/>
        </p:spPr>
        <p:txBody>
          <a:bodyPr wrap="square" lIns="0" tIns="0" rIns="0" bIns="0" rtlCol="0" anchor="ctr"/>
          <a:lstStyle/>
          <a:p>
            <a:pPr algn="ctr" indent="0" marL="0">
              <a:buNone/>
            </a:pPr>
            <a:r>
              <a:rPr lang="en-US" sz="1000" dirty="0">
                <a:solidFill>
                  <a:schemeClr val="tx2"/>
                </a:solidFill>
              </a:rPr>
              <a:t>sumber tetangga</a:t>
            </a:r>
            <a:endParaRPr lang="en-US" sz="1000" dirty="0"/>
          </a:p>
        </p:txBody>
      </p:sp>
      <p:sp>
        <p:nvSpPr>
          <p:cNvPr id="75" name="fold 8"/>
          <p:cNvSpPr/>
          <p:nvPr/>
        </p:nvSpPr>
        <p:spPr>
          <a:xfrm>
            <a:off x="9552828" y="4096512"/>
            <a:ext cx="654070" cy="548640"/>
          </a:xfrm>
          <a:prstGeom prst="roundRect">
            <a:avLst>
              <a:gd name="adj" fmla="val 8333"/>
            </a:avLst>
          </a:prstGeom>
          <a:solidFill>
            <a:schemeClr val="tx2">
              <a:alpha val="15000"/>
            </a:schemeClr>
          </a:solidFill>
          <a:ln/>
        </p:spPr>
      </p:sp>
      <p:sp>
        <p:nvSpPr>
          <p:cNvPr id="76" name="Text 73"/>
          <p:cNvSpPr txBox="1"/>
          <p:nvPr/>
        </p:nvSpPr>
        <p:spPr>
          <a:xfrm>
            <a:off x="9552828" y="4096512"/>
            <a:ext cx="654070" cy="548640"/>
          </a:xfrm>
          <a:prstGeom prst="rect">
            <a:avLst/>
          </a:prstGeom>
          <a:noFill/>
          <a:ln/>
        </p:spPr>
        <p:txBody>
          <a:bodyPr wrap="square" lIns="0" tIns="0" rIns="0" bIns="0" rtlCol="0" anchor="ctr"/>
          <a:lstStyle/>
          <a:p>
            <a:pPr algn="ctr" indent="0" marL="0">
              <a:buNone/>
            </a:pPr>
            <a:r>
              <a:rPr lang="en-US" sz="1000" dirty="0">
                <a:solidFill>
                  <a:schemeClr val="tx2"/>
                </a:solidFill>
              </a:rPr>
              <a:t>sumber tetangga</a:t>
            </a:r>
            <a:endParaRPr lang="en-US" sz="1000" dirty="0"/>
          </a:p>
        </p:txBody>
      </p:sp>
      <p:sp>
        <p:nvSpPr>
          <p:cNvPr id="77" name="fold 9"/>
          <p:cNvSpPr/>
          <p:nvPr/>
        </p:nvSpPr>
        <p:spPr>
          <a:xfrm>
            <a:off x="10270907" y="4096512"/>
            <a:ext cx="654070" cy="548640"/>
          </a:xfrm>
          <a:prstGeom prst="roundRect">
            <a:avLst>
              <a:gd name="adj" fmla="val 8333"/>
            </a:avLst>
          </a:prstGeom>
          <a:solidFill>
            <a:schemeClr val="tx2">
              <a:alpha val="15000"/>
            </a:schemeClr>
          </a:solidFill>
          <a:ln/>
        </p:spPr>
      </p:sp>
      <p:sp>
        <p:nvSpPr>
          <p:cNvPr id="78" name="Text 75"/>
          <p:cNvSpPr txBox="1"/>
          <p:nvPr/>
        </p:nvSpPr>
        <p:spPr>
          <a:xfrm>
            <a:off x="10270907" y="4096512"/>
            <a:ext cx="654070" cy="548640"/>
          </a:xfrm>
          <a:prstGeom prst="rect">
            <a:avLst/>
          </a:prstGeom>
          <a:noFill/>
          <a:ln/>
        </p:spPr>
        <p:txBody>
          <a:bodyPr wrap="square" lIns="0" tIns="0" rIns="0" bIns="0" rtlCol="0" anchor="ctr"/>
          <a:lstStyle/>
          <a:p>
            <a:pPr algn="ctr" indent="0" marL="0">
              <a:buNone/>
            </a:pPr>
            <a:r>
              <a:rPr lang="en-US" sz="1000" dirty="0">
                <a:solidFill>
                  <a:schemeClr val="tx2"/>
                </a:solidFill>
              </a:rPr>
              <a:t>sumber tetangga</a:t>
            </a:r>
            <a:endParaRPr lang="en-US" sz="1000" dirty="0"/>
          </a:p>
        </p:txBody>
      </p:sp>
      <p:sp>
        <p:nvSpPr>
          <p:cNvPr id="79" name="fold 10"/>
          <p:cNvSpPr/>
          <p:nvPr/>
        </p:nvSpPr>
        <p:spPr>
          <a:xfrm>
            <a:off x="10988985" y="4096512"/>
            <a:ext cx="654070" cy="548640"/>
          </a:xfrm>
          <a:prstGeom prst="roundRect">
            <a:avLst>
              <a:gd name="adj" fmla="val 8333"/>
            </a:avLst>
          </a:prstGeom>
          <a:solidFill>
            <a:schemeClr val="tx2">
              <a:alpha val="15000"/>
            </a:schemeClr>
          </a:solidFill>
          <a:ln/>
        </p:spPr>
      </p:sp>
      <p:sp>
        <p:nvSpPr>
          <p:cNvPr id="80" name="Text 77"/>
          <p:cNvSpPr txBox="1"/>
          <p:nvPr/>
        </p:nvSpPr>
        <p:spPr>
          <a:xfrm>
            <a:off x="10988985" y="4096512"/>
            <a:ext cx="654070" cy="548640"/>
          </a:xfrm>
          <a:prstGeom prst="rect">
            <a:avLst/>
          </a:prstGeom>
          <a:noFill/>
          <a:ln/>
        </p:spPr>
        <p:txBody>
          <a:bodyPr wrap="square" lIns="0" tIns="0" rIns="0" bIns="0" rtlCol="0" anchor="ctr"/>
          <a:lstStyle/>
          <a:p>
            <a:pPr algn="ctr" indent="0" marL="0">
              <a:buNone/>
            </a:pPr>
            <a:r>
              <a:rPr lang="en-US" sz="1000" dirty="0">
                <a:solidFill>
                  <a:schemeClr val="tx2"/>
                </a:solidFill>
              </a:rPr>
              <a:t>sumber tetangga</a:t>
            </a:r>
            <a:endParaRPr lang="en-US" sz="1000" dirty="0"/>
          </a:p>
        </p:txBody>
      </p:sp>
      <p:sp>
        <p:nvSpPr>
          <p:cNvPr id="81" name="Text 78"/>
          <p:cNvSpPr txBox="1"/>
          <p:nvPr/>
        </p:nvSpPr>
        <p:spPr>
          <a:xfrm>
            <a:off x="4526280" y="4800600"/>
            <a:ext cx="3657600" cy="274320"/>
          </a:xfrm>
          <a:prstGeom prst="rect">
            <a:avLst/>
          </a:prstGeom>
          <a:noFill/>
          <a:ln/>
        </p:spPr>
        <p:txBody>
          <a:bodyPr wrap="square" lIns="0" tIns="0" rIns="0" bIns="0" rtlCol="0" anchor="t"/>
          <a:lstStyle/>
          <a:p>
            <a:pPr algn="l" indent="0" marL="0">
              <a:buNone/>
            </a:pPr>
            <a:r>
              <a:rPr lang="en-US" sz="1300" b="1" dirty="0">
                <a:solidFill>
                  <a:schemeClr val="tx2"/>
                </a:solidFill>
              </a:rPr>
              <a:t>Lapis dalam: bagian latih dibagi 5</a:t>
            </a:r>
            <a:endParaRPr lang="en-US" sz="1300" dirty="0"/>
          </a:p>
        </p:txBody>
      </p:sp>
      <p:sp>
        <p:nvSpPr>
          <p:cNvPr id="82" name="bagian dihitung"/>
          <p:cNvSpPr/>
          <p:nvPr/>
        </p:nvSpPr>
        <p:spPr>
          <a:xfrm>
            <a:off x="4526280" y="5102352"/>
            <a:ext cx="1372149" cy="457200"/>
          </a:xfrm>
          <a:prstGeom prst="roundRect">
            <a:avLst>
              <a:gd name="adj" fmla="val 10000"/>
            </a:avLst>
          </a:prstGeom>
          <a:solidFill>
            <a:schemeClr val="accent2"/>
          </a:solidFill>
          <a:ln/>
        </p:spPr>
      </p:sp>
      <p:sp>
        <p:nvSpPr>
          <p:cNvPr id="83" name="Text 80"/>
          <p:cNvSpPr txBox="1"/>
          <p:nvPr/>
        </p:nvSpPr>
        <p:spPr>
          <a:xfrm>
            <a:off x="4526280" y="5102352"/>
            <a:ext cx="1372149" cy="457200"/>
          </a:xfrm>
          <a:prstGeom prst="rect">
            <a:avLst/>
          </a:prstGeom>
          <a:noFill/>
          <a:ln/>
        </p:spPr>
        <p:txBody>
          <a:bodyPr wrap="square" lIns="0" tIns="0" rIns="0" bIns="0" rtlCol="0" anchor="ctr"/>
          <a:lstStyle/>
          <a:p>
            <a:pPr algn="ctr" indent="0" marL="0">
              <a:buNone/>
            </a:pPr>
            <a:r>
              <a:rPr lang="en-US" sz="1200" b="1" dirty="0">
                <a:solidFill>
                  <a:schemeClr val="bg1"/>
                </a:solidFill>
              </a:rPr>
              <a:t>dihitung</a:t>
            </a:r>
            <a:endParaRPr lang="en-US" sz="1200" dirty="0"/>
          </a:p>
        </p:txBody>
      </p:sp>
      <p:sp>
        <p:nvSpPr>
          <p:cNvPr id="84" name="bagian 2"/>
          <p:cNvSpPr/>
          <p:nvPr/>
        </p:nvSpPr>
        <p:spPr>
          <a:xfrm>
            <a:off x="5962437" y="5102352"/>
            <a:ext cx="1372149" cy="457200"/>
          </a:xfrm>
          <a:prstGeom prst="roundRect">
            <a:avLst>
              <a:gd name="adj" fmla="val 10000"/>
            </a:avLst>
          </a:prstGeom>
          <a:solidFill>
            <a:schemeClr val="accent2">
              <a:alpha val="18000"/>
            </a:schemeClr>
          </a:solidFill>
          <a:ln/>
        </p:spPr>
      </p:sp>
      <p:sp>
        <p:nvSpPr>
          <p:cNvPr id="85" name="Text 82"/>
          <p:cNvSpPr txBox="1"/>
          <p:nvPr/>
        </p:nvSpPr>
        <p:spPr>
          <a:xfrm>
            <a:off x="5962437" y="5102352"/>
            <a:ext cx="1372149" cy="457200"/>
          </a:xfrm>
          <a:prstGeom prst="rect">
            <a:avLst/>
          </a:prstGeom>
          <a:noFill/>
          <a:ln/>
        </p:spPr>
        <p:txBody>
          <a:bodyPr wrap="square" lIns="0" tIns="0" rIns="0" bIns="0" rtlCol="0" anchor="ctr"/>
          <a:lstStyle/>
          <a:p>
            <a:pPr algn="ctr" indent="0" marL="0">
              <a:buNone/>
            </a:pPr>
            <a:r>
              <a:rPr lang="en-US" sz="1200" dirty="0">
                <a:solidFill>
                  <a:schemeClr val="accent2"/>
                </a:solidFill>
              </a:rPr>
              <a:t>sumber tetangga</a:t>
            </a:r>
            <a:endParaRPr lang="en-US" sz="1200" dirty="0"/>
          </a:p>
        </p:txBody>
      </p:sp>
      <p:sp>
        <p:nvSpPr>
          <p:cNvPr id="86" name="bagian 3"/>
          <p:cNvSpPr/>
          <p:nvPr/>
        </p:nvSpPr>
        <p:spPr>
          <a:xfrm>
            <a:off x="7398593" y="5102352"/>
            <a:ext cx="1372149" cy="457200"/>
          </a:xfrm>
          <a:prstGeom prst="roundRect">
            <a:avLst>
              <a:gd name="adj" fmla="val 10000"/>
            </a:avLst>
          </a:prstGeom>
          <a:solidFill>
            <a:schemeClr val="accent2">
              <a:alpha val="18000"/>
            </a:schemeClr>
          </a:solidFill>
          <a:ln/>
        </p:spPr>
      </p:sp>
      <p:sp>
        <p:nvSpPr>
          <p:cNvPr id="87" name="Text 84"/>
          <p:cNvSpPr txBox="1"/>
          <p:nvPr/>
        </p:nvSpPr>
        <p:spPr>
          <a:xfrm>
            <a:off x="7398593" y="5102352"/>
            <a:ext cx="1372149" cy="457200"/>
          </a:xfrm>
          <a:prstGeom prst="rect">
            <a:avLst/>
          </a:prstGeom>
          <a:noFill/>
          <a:ln/>
        </p:spPr>
        <p:txBody>
          <a:bodyPr wrap="square" lIns="0" tIns="0" rIns="0" bIns="0" rtlCol="0" anchor="ctr"/>
          <a:lstStyle/>
          <a:p>
            <a:pPr algn="ctr" indent="0" marL="0">
              <a:buNone/>
            </a:pPr>
            <a:r>
              <a:rPr lang="en-US" sz="1200" dirty="0">
                <a:solidFill>
                  <a:schemeClr val="accent2"/>
                </a:solidFill>
              </a:rPr>
              <a:t>sumber tetangga</a:t>
            </a:r>
            <a:endParaRPr lang="en-US" sz="1200" dirty="0"/>
          </a:p>
        </p:txBody>
      </p:sp>
      <p:sp>
        <p:nvSpPr>
          <p:cNvPr id="88" name="bagian 4"/>
          <p:cNvSpPr/>
          <p:nvPr/>
        </p:nvSpPr>
        <p:spPr>
          <a:xfrm>
            <a:off x="8834750" y="5102352"/>
            <a:ext cx="1372149" cy="457200"/>
          </a:xfrm>
          <a:prstGeom prst="roundRect">
            <a:avLst>
              <a:gd name="adj" fmla="val 10000"/>
            </a:avLst>
          </a:prstGeom>
          <a:solidFill>
            <a:schemeClr val="accent2">
              <a:alpha val="18000"/>
            </a:schemeClr>
          </a:solidFill>
          <a:ln/>
        </p:spPr>
      </p:sp>
      <p:sp>
        <p:nvSpPr>
          <p:cNvPr id="89" name="Text 86"/>
          <p:cNvSpPr txBox="1"/>
          <p:nvPr/>
        </p:nvSpPr>
        <p:spPr>
          <a:xfrm>
            <a:off x="8834750" y="5102352"/>
            <a:ext cx="1372149" cy="457200"/>
          </a:xfrm>
          <a:prstGeom prst="rect">
            <a:avLst/>
          </a:prstGeom>
          <a:noFill/>
          <a:ln/>
        </p:spPr>
        <p:txBody>
          <a:bodyPr wrap="square" lIns="0" tIns="0" rIns="0" bIns="0" rtlCol="0" anchor="ctr"/>
          <a:lstStyle/>
          <a:p>
            <a:pPr algn="ctr" indent="0" marL="0">
              <a:buNone/>
            </a:pPr>
            <a:r>
              <a:rPr lang="en-US" sz="1200" dirty="0">
                <a:solidFill>
                  <a:schemeClr val="accent2"/>
                </a:solidFill>
              </a:rPr>
              <a:t>sumber tetangga</a:t>
            </a:r>
            <a:endParaRPr lang="en-US" sz="1200" dirty="0"/>
          </a:p>
        </p:txBody>
      </p:sp>
      <p:sp>
        <p:nvSpPr>
          <p:cNvPr id="90" name="bagian 5"/>
          <p:cNvSpPr/>
          <p:nvPr/>
        </p:nvSpPr>
        <p:spPr>
          <a:xfrm>
            <a:off x="10270907" y="5102352"/>
            <a:ext cx="1372149" cy="457200"/>
          </a:xfrm>
          <a:prstGeom prst="roundRect">
            <a:avLst>
              <a:gd name="adj" fmla="val 10000"/>
            </a:avLst>
          </a:prstGeom>
          <a:solidFill>
            <a:schemeClr val="accent2">
              <a:alpha val="18000"/>
            </a:schemeClr>
          </a:solidFill>
          <a:ln/>
        </p:spPr>
      </p:sp>
      <p:sp>
        <p:nvSpPr>
          <p:cNvPr id="91" name="Text 88"/>
          <p:cNvSpPr txBox="1"/>
          <p:nvPr/>
        </p:nvSpPr>
        <p:spPr>
          <a:xfrm>
            <a:off x="10270907" y="5102352"/>
            <a:ext cx="1372149" cy="457200"/>
          </a:xfrm>
          <a:prstGeom prst="rect">
            <a:avLst/>
          </a:prstGeom>
          <a:noFill/>
          <a:ln/>
        </p:spPr>
        <p:txBody>
          <a:bodyPr wrap="square" lIns="0" tIns="0" rIns="0" bIns="0" rtlCol="0" anchor="ctr"/>
          <a:lstStyle/>
          <a:p>
            <a:pPr algn="ctr" indent="0" marL="0">
              <a:buNone/>
            </a:pPr>
            <a:r>
              <a:rPr lang="en-US" sz="1200" dirty="0">
                <a:solidFill>
                  <a:schemeClr val="accent2"/>
                </a:solidFill>
              </a:rPr>
              <a:t>sumber tetangga</a:t>
            </a:r>
            <a:endParaRPr lang="en-US" sz="1200" dirty="0"/>
          </a:p>
        </p:txBody>
      </p:sp>
      <p:pic>
        <p:nvPicPr>
          <p:cNvPr id="92" name="Image 1" descr="panah">    </p:cNvPr>
          <p:cNvPicPr>
            <a:picLocks noChangeAspect="1"/>
          </p:cNvPicPr>
          <p:nvPr/>
        </p:nvPicPr>
        <p:blipFill>
          <a:blip r:embed="rId2"/>
          <a:stretch>
            <a:fillRect/>
          </a:stretch>
        </p:blipFill>
        <p:spPr>
          <a:xfrm>
            <a:off x="4526280" y="5760720"/>
            <a:ext cx="292608" cy="292608"/>
          </a:xfrm>
          <a:prstGeom prst="rect">
            <a:avLst/>
          </a:prstGeom>
        </p:spPr>
      </p:pic>
      <p:sp>
        <p:nvSpPr>
          <p:cNvPr id="93" name="Text 89"/>
          <p:cNvSpPr txBox="1"/>
          <p:nvPr/>
        </p:nvSpPr>
        <p:spPr>
          <a:xfrm>
            <a:off x="4937760" y="5724144"/>
            <a:ext cx="6705295" cy="365760"/>
          </a:xfrm>
          <a:prstGeom prst="rect">
            <a:avLst/>
          </a:prstGeom>
          <a:noFill/>
          <a:ln/>
        </p:spPr>
        <p:txBody>
          <a:bodyPr wrap="square" lIns="0" tIns="0" rIns="0" bIns="0" rtlCol="0" anchor="ctr"/>
          <a:lstStyle/>
          <a:p>
            <a:pPr algn="l" indent="0" marL="0">
              <a:buNone/>
            </a:pPr>
            <a:r>
              <a:rPr lang="en-US" sz="1300" dirty="0">
                <a:solidFill>
                  <a:schemeClr val="accent5"/>
                </a:solidFill>
              </a:rPr>
              <a:t>Data uji mengambil tetangga dari bagian latih model yang sama</a:t>
            </a:r>
            <a:endParaRPr lang="en-US" sz="13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II · REKAYASA FITUR</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Uji label acak lulus: label baris yang dinilai tidak terbaca,</a:t>
            </a:r>
            <a:br/>
            <a:pPr algn="l" indent="0" marL="0">
              <a:buNone/>
            </a:pPr>
            <a:r>
              <a:rPr lang="en-US" sz="2800" b="1" dirty="0">
                <a:solidFill>
                  <a:schemeClr val="tx2"/>
                </a:solidFill>
              </a:rPr>
              <a:t>versi bocor tertangkap</a:t>
            </a:r>
            <a:endParaRPr lang="en-US" sz="2800" dirty="0"/>
          </a:p>
        </p:txBody>
      </p:sp>
      <p:sp>
        <p:nvSpPr>
          <p:cNvPr id="4" name="uji 1"/>
          <p:cNvSpPr/>
          <p:nvPr/>
        </p:nvSpPr>
        <p:spPr>
          <a:xfrm>
            <a:off x="548640" y="1737360"/>
            <a:ext cx="11094415" cy="868680"/>
          </a:xfrm>
          <a:prstGeom prst="roundRect">
            <a:avLst>
              <a:gd name="adj" fmla="val 8421"/>
            </a:avLst>
          </a:prstGeom>
          <a:solidFill>
            <a:schemeClr val="bg2"/>
          </a:solidFill>
          <a:ln/>
        </p:spPr>
      </p:sp>
      <p:sp>
        <p:nvSpPr>
          <p:cNvPr id="5" name="ikon FaCheck"/>
          <p:cNvSpPr/>
          <p:nvPr/>
        </p:nvSpPr>
        <p:spPr>
          <a:xfrm>
            <a:off x="731520" y="1897380"/>
            <a:ext cx="548640" cy="548640"/>
          </a:xfrm>
          <a:prstGeom prst="ellipse">
            <a:avLst/>
          </a:prstGeom>
          <a:solidFill>
            <a:schemeClr val="accent2"/>
          </a:solidFill>
          <a:ln/>
        </p:spPr>
      </p:sp>
      <p:pic>
        <p:nvPicPr>
          <p:cNvPr id="6" name="Image 0" descr="FaCheck">    </p:cNvPr>
          <p:cNvPicPr>
            <a:picLocks noChangeAspect="1"/>
          </p:cNvPicPr>
          <p:nvPr/>
        </p:nvPicPr>
        <p:blipFill>
          <a:blip r:embed="rId1"/>
          <a:stretch>
            <a:fillRect/>
          </a:stretch>
        </p:blipFill>
        <p:spPr>
          <a:xfrm>
            <a:off x="868680" y="2034540"/>
            <a:ext cx="274320" cy="274320"/>
          </a:xfrm>
          <a:prstGeom prst="rect">
            <a:avLst/>
          </a:prstGeom>
        </p:spPr>
      </p:pic>
      <p:sp>
        <p:nvSpPr>
          <p:cNvPr id="7" name="Text 4"/>
          <p:cNvSpPr txBox="1"/>
          <p:nvPr/>
        </p:nvSpPr>
        <p:spPr>
          <a:xfrm>
            <a:off x="1463040" y="1792224"/>
            <a:ext cx="8183880" cy="758952"/>
          </a:xfrm>
          <a:prstGeom prst="rect">
            <a:avLst/>
          </a:prstGeom>
          <a:noFill/>
          <a:ln/>
        </p:spPr>
        <p:txBody>
          <a:bodyPr wrap="square" lIns="0" tIns="0" rIns="0" bIns="0" rtlCol="0" anchor="ctr"/>
          <a:lstStyle/>
          <a:p>
            <a:pPr algn="l" indent="0" marL="0">
              <a:buNone/>
            </a:pPr>
            <a:r>
              <a:rPr lang="en-US" sz="1700" dirty="0">
                <a:solidFill>
                  <a:schemeClr val="tx1"/>
                </a:solidFill>
              </a:rPr>
              <a:t>Label 42.931 baris validasi diacak → fitur validasi dan 183.987 kawasan uji: 0 baris berubah</a:t>
            </a:r>
            <a:endParaRPr lang="en-US" sz="1700" dirty="0"/>
          </a:p>
        </p:txBody>
      </p:sp>
      <p:sp>
        <p:nvSpPr>
          <p:cNvPr id="8" name="hasil 1"/>
          <p:cNvSpPr/>
          <p:nvPr/>
        </p:nvSpPr>
        <p:spPr>
          <a:xfrm>
            <a:off x="9829800" y="1956816"/>
            <a:ext cx="1645920" cy="429768"/>
          </a:xfrm>
          <a:prstGeom prst="roundRect">
            <a:avLst>
              <a:gd name="adj" fmla="val 48936"/>
            </a:avLst>
          </a:prstGeom>
          <a:solidFill>
            <a:schemeClr val="accent2"/>
          </a:solidFill>
          <a:ln/>
        </p:spPr>
      </p:sp>
      <p:sp>
        <p:nvSpPr>
          <p:cNvPr id="9" name="Text 6"/>
          <p:cNvSpPr txBox="1"/>
          <p:nvPr/>
        </p:nvSpPr>
        <p:spPr>
          <a:xfrm>
            <a:off x="9829800" y="1956816"/>
            <a:ext cx="1645920" cy="429768"/>
          </a:xfrm>
          <a:prstGeom prst="rect">
            <a:avLst/>
          </a:prstGeom>
          <a:noFill/>
          <a:ln/>
        </p:spPr>
        <p:txBody>
          <a:bodyPr wrap="square" lIns="0" tIns="0" rIns="0" bIns="0" rtlCol="0" anchor="ctr"/>
          <a:lstStyle/>
          <a:p>
            <a:pPr algn="ctr" indent="0" marL="0">
              <a:buNone/>
            </a:pPr>
            <a:r>
              <a:rPr lang="en-US" sz="1500" b="1" dirty="0">
                <a:solidFill>
                  <a:schemeClr val="bg1"/>
                </a:solidFill>
              </a:rPr>
              <a:t>lulus</a:t>
            </a:r>
            <a:endParaRPr lang="en-US" sz="1500" dirty="0"/>
          </a:p>
        </p:txBody>
      </p:sp>
      <p:sp>
        <p:nvSpPr>
          <p:cNvPr id="10" name="uji 2"/>
          <p:cNvSpPr/>
          <p:nvPr/>
        </p:nvSpPr>
        <p:spPr>
          <a:xfrm>
            <a:off x="548640" y="2688336"/>
            <a:ext cx="11094415" cy="868680"/>
          </a:xfrm>
          <a:prstGeom prst="roundRect">
            <a:avLst>
              <a:gd name="adj" fmla="val 8421"/>
            </a:avLst>
          </a:prstGeom>
          <a:solidFill>
            <a:schemeClr val="bg2"/>
          </a:solidFill>
          <a:ln/>
        </p:spPr>
      </p:sp>
      <p:sp>
        <p:nvSpPr>
          <p:cNvPr id="11" name="ikon FaCheck"/>
          <p:cNvSpPr/>
          <p:nvPr/>
        </p:nvSpPr>
        <p:spPr>
          <a:xfrm>
            <a:off x="731520" y="2848356"/>
            <a:ext cx="548640" cy="548640"/>
          </a:xfrm>
          <a:prstGeom prst="ellipse">
            <a:avLst/>
          </a:prstGeom>
          <a:solidFill>
            <a:schemeClr val="accent2"/>
          </a:solidFill>
          <a:ln/>
        </p:spPr>
      </p:sp>
      <p:pic>
        <p:nvPicPr>
          <p:cNvPr id="12" name="Image 1" descr="FaCheck">    </p:cNvPr>
          <p:cNvPicPr>
            <a:picLocks noChangeAspect="1"/>
          </p:cNvPicPr>
          <p:nvPr/>
        </p:nvPicPr>
        <p:blipFill>
          <a:blip r:embed="rId2"/>
          <a:stretch>
            <a:fillRect/>
          </a:stretch>
        </p:blipFill>
        <p:spPr>
          <a:xfrm>
            <a:off x="868680" y="2985516"/>
            <a:ext cx="274320" cy="274320"/>
          </a:xfrm>
          <a:prstGeom prst="rect">
            <a:avLst/>
          </a:prstGeom>
        </p:spPr>
      </p:pic>
      <p:sp>
        <p:nvSpPr>
          <p:cNvPr id="13" name="Text 9"/>
          <p:cNvSpPr txBox="1"/>
          <p:nvPr/>
        </p:nvSpPr>
        <p:spPr>
          <a:xfrm>
            <a:off x="1463040" y="2743200"/>
            <a:ext cx="8183880" cy="758952"/>
          </a:xfrm>
          <a:prstGeom prst="rect">
            <a:avLst/>
          </a:prstGeom>
          <a:noFill/>
          <a:ln/>
        </p:spPr>
        <p:txBody>
          <a:bodyPr wrap="square" lIns="0" tIns="0" rIns="0" bIns="0" rtlCol="0" anchor="ctr"/>
          <a:lstStyle/>
          <a:p>
            <a:pPr algn="l" indent="0" marL="0">
              <a:buNone/>
            </a:pPr>
            <a:r>
              <a:rPr lang="en-US" sz="1700" dirty="0">
                <a:solidFill>
                  <a:schemeClr val="tx1"/>
                </a:solidFill>
              </a:rPr>
              <a:t>Label 77.275 baris latih bagian dalam diacak → fitur bagian itu identik; 309.097 baris lain berubah, sesuai rancangan</a:t>
            </a:r>
            <a:endParaRPr lang="en-US" sz="1700" dirty="0"/>
          </a:p>
        </p:txBody>
      </p:sp>
      <p:sp>
        <p:nvSpPr>
          <p:cNvPr id="14" name="hasil 2"/>
          <p:cNvSpPr/>
          <p:nvPr/>
        </p:nvSpPr>
        <p:spPr>
          <a:xfrm>
            <a:off x="9829800" y="2907792"/>
            <a:ext cx="1645920" cy="429768"/>
          </a:xfrm>
          <a:prstGeom prst="roundRect">
            <a:avLst>
              <a:gd name="adj" fmla="val 48936"/>
            </a:avLst>
          </a:prstGeom>
          <a:solidFill>
            <a:schemeClr val="accent2"/>
          </a:solidFill>
          <a:ln/>
        </p:spPr>
      </p:sp>
      <p:sp>
        <p:nvSpPr>
          <p:cNvPr id="15" name="Text 11"/>
          <p:cNvSpPr txBox="1"/>
          <p:nvPr/>
        </p:nvSpPr>
        <p:spPr>
          <a:xfrm>
            <a:off x="9829800" y="2907792"/>
            <a:ext cx="1645920" cy="429768"/>
          </a:xfrm>
          <a:prstGeom prst="rect">
            <a:avLst/>
          </a:prstGeom>
          <a:noFill/>
          <a:ln/>
        </p:spPr>
        <p:txBody>
          <a:bodyPr wrap="square" lIns="0" tIns="0" rIns="0" bIns="0" rtlCol="0" anchor="ctr"/>
          <a:lstStyle/>
          <a:p>
            <a:pPr algn="ctr" indent="0" marL="0">
              <a:buNone/>
            </a:pPr>
            <a:r>
              <a:rPr lang="en-US" sz="1500" b="1" dirty="0">
                <a:solidFill>
                  <a:schemeClr val="bg1"/>
                </a:solidFill>
              </a:rPr>
              <a:t>lulus</a:t>
            </a:r>
            <a:endParaRPr lang="en-US" sz="1500" dirty="0"/>
          </a:p>
        </p:txBody>
      </p:sp>
      <p:sp>
        <p:nvSpPr>
          <p:cNvPr id="16" name="uji 3"/>
          <p:cNvSpPr/>
          <p:nvPr/>
        </p:nvSpPr>
        <p:spPr>
          <a:xfrm>
            <a:off x="548640" y="3639312"/>
            <a:ext cx="11094415" cy="868680"/>
          </a:xfrm>
          <a:prstGeom prst="roundRect">
            <a:avLst>
              <a:gd name="adj" fmla="val 8421"/>
            </a:avLst>
          </a:prstGeom>
          <a:solidFill>
            <a:schemeClr val="accent6">
              <a:alpha val="8000"/>
            </a:schemeClr>
          </a:solidFill>
          <a:ln/>
        </p:spPr>
      </p:sp>
      <p:sp>
        <p:nvSpPr>
          <p:cNvPr id="17" name="ikon FaTriangleExclamation"/>
          <p:cNvSpPr/>
          <p:nvPr/>
        </p:nvSpPr>
        <p:spPr>
          <a:xfrm>
            <a:off x="731520" y="3799332"/>
            <a:ext cx="548640" cy="548640"/>
          </a:xfrm>
          <a:prstGeom prst="ellipse">
            <a:avLst/>
          </a:prstGeom>
          <a:solidFill>
            <a:schemeClr val="accent6"/>
          </a:solidFill>
          <a:ln/>
        </p:spPr>
      </p:sp>
      <p:pic>
        <p:nvPicPr>
          <p:cNvPr id="18" name="Image 2" descr="FaTriangleExclamation">    </p:cNvPr>
          <p:cNvPicPr>
            <a:picLocks noChangeAspect="1"/>
          </p:cNvPicPr>
          <p:nvPr/>
        </p:nvPicPr>
        <p:blipFill>
          <a:blip r:embed="rId3"/>
          <a:stretch>
            <a:fillRect/>
          </a:stretch>
        </p:blipFill>
        <p:spPr>
          <a:xfrm>
            <a:off x="868680" y="3936492"/>
            <a:ext cx="274320" cy="274320"/>
          </a:xfrm>
          <a:prstGeom prst="rect">
            <a:avLst/>
          </a:prstGeom>
        </p:spPr>
      </p:pic>
      <p:sp>
        <p:nvSpPr>
          <p:cNvPr id="19" name="label KONTROL"/>
          <p:cNvSpPr/>
          <p:nvPr/>
        </p:nvSpPr>
        <p:spPr>
          <a:xfrm>
            <a:off x="1463040" y="3922776"/>
            <a:ext cx="852952" cy="301752"/>
          </a:xfrm>
          <a:prstGeom prst="roundRect">
            <a:avLst>
              <a:gd name="adj" fmla="val 18182"/>
            </a:avLst>
          </a:prstGeom>
          <a:solidFill>
            <a:schemeClr val="accent6"/>
          </a:solidFill>
          <a:ln/>
        </p:spPr>
      </p:sp>
      <p:sp>
        <p:nvSpPr>
          <p:cNvPr id="20" name="Text 15"/>
          <p:cNvSpPr txBox="1"/>
          <p:nvPr/>
        </p:nvSpPr>
        <p:spPr>
          <a:xfrm>
            <a:off x="1463040" y="3922776"/>
            <a:ext cx="852952" cy="301752"/>
          </a:xfrm>
          <a:prstGeom prst="rect">
            <a:avLst/>
          </a:prstGeom>
          <a:noFill/>
          <a:ln/>
        </p:spPr>
        <p:txBody>
          <a:bodyPr wrap="square" lIns="0" tIns="0" rIns="0" bIns="0" rtlCol="0" anchor="ctr"/>
          <a:lstStyle/>
          <a:p>
            <a:pPr algn="ctr" indent="0" marL="0">
              <a:buNone/>
            </a:pPr>
            <a:r>
              <a:rPr lang="en-US" sz="1200" b="1" spc="50" kern="0" dirty="0">
                <a:solidFill>
                  <a:schemeClr val="bg1"/>
                </a:solidFill>
              </a:rPr>
              <a:t>KONTROL</a:t>
            </a:r>
            <a:endParaRPr lang="en-US" sz="1200" dirty="0"/>
          </a:p>
        </p:txBody>
      </p:sp>
      <p:sp>
        <p:nvSpPr>
          <p:cNvPr id="21" name="Text 16"/>
          <p:cNvSpPr txBox="1"/>
          <p:nvPr/>
        </p:nvSpPr>
        <p:spPr>
          <a:xfrm>
            <a:off x="2514600" y="3694176"/>
            <a:ext cx="7132320" cy="758952"/>
          </a:xfrm>
          <a:prstGeom prst="rect">
            <a:avLst/>
          </a:prstGeom>
          <a:noFill/>
          <a:ln/>
        </p:spPr>
        <p:txBody>
          <a:bodyPr wrap="square" lIns="0" tIns="0" rIns="0" bIns="0" rtlCol="0" anchor="ctr"/>
          <a:lstStyle/>
          <a:p>
            <a:pPr algn="l" indent="0" marL="0">
              <a:buNone/>
            </a:pPr>
            <a:r>
              <a:rPr lang="en-US" sz="1700" dirty="0">
                <a:solidFill>
                  <a:schemeClr val="tx1"/>
                </a:solidFill>
              </a:rPr>
              <a:t>versi bocor berubah di 42.931 baris</a:t>
            </a:r>
            <a:endParaRPr lang="en-US" sz="1700" dirty="0"/>
          </a:p>
        </p:txBody>
      </p:sp>
      <p:sp>
        <p:nvSpPr>
          <p:cNvPr id="22" name="hasil 3"/>
          <p:cNvSpPr/>
          <p:nvPr/>
        </p:nvSpPr>
        <p:spPr>
          <a:xfrm>
            <a:off x="9829800" y="3858768"/>
            <a:ext cx="1645920" cy="429768"/>
          </a:xfrm>
          <a:prstGeom prst="roundRect">
            <a:avLst>
              <a:gd name="adj" fmla="val 48936"/>
            </a:avLst>
          </a:prstGeom>
          <a:solidFill>
            <a:schemeClr val="accent6"/>
          </a:solidFill>
          <a:ln/>
        </p:spPr>
      </p:sp>
      <p:sp>
        <p:nvSpPr>
          <p:cNvPr id="23" name="Text 18"/>
          <p:cNvSpPr txBox="1"/>
          <p:nvPr/>
        </p:nvSpPr>
        <p:spPr>
          <a:xfrm>
            <a:off x="9829800" y="3858768"/>
            <a:ext cx="1645920" cy="429768"/>
          </a:xfrm>
          <a:prstGeom prst="rect">
            <a:avLst/>
          </a:prstGeom>
          <a:noFill/>
          <a:ln/>
        </p:spPr>
        <p:txBody>
          <a:bodyPr wrap="square" lIns="0" tIns="0" rIns="0" bIns="0" rtlCol="0" anchor="ctr"/>
          <a:lstStyle/>
          <a:p>
            <a:pPr algn="ctr" indent="0" marL="0">
              <a:buNone/>
            </a:pPr>
            <a:r>
              <a:rPr lang="en-US" sz="1500" b="1" dirty="0">
                <a:solidFill>
                  <a:schemeClr val="bg1"/>
                </a:solidFill>
              </a:rPr>
              <a:t>tertangkap</a:t>
            </a:r>
            <a:endParaRPr lang="en-US" sz="1500" dirty="0"/>
          </a:p>
        </p:txBody>
      </p:sp>
      <p:sp>
        <p:nvSpPr>
          <p:cNvPr id="24" name="label cakupan"/>
          <p:cNvSpPr/>
          <p:nvPr/>
        </p:nvSpPr>
        <p:spPr>
          <a:xfrm>
            <a:off x="548640" y="4718304"/>
            <a:ext cx="3840480" cy="347472"/>
          </a:xfrm>
          <a:prstGeom prst="roundRect">
            <a:avLst>
              <a:gd name="adj" fmla="val 50000"/>
            </a:avLst>
          </a:prstGeom>
          <a:ln w="12700">
            <a:solidFill>
              <a:schemeClr val="accent5"/>
            </a:solidFill>
            <a:prstDash val="solid"/>
          </a:ln>
        </p:spPr>
      </p:sp>
      <p:sp>
        <p:nvSpPr>
          <p:cNvPr id="25" name="Text 20"/>
          <p:cNvSpPr txBox="1"/>
          <p:nvPr/>
        </p:nvSpPr>
        <p:spPr>
          <a:xfrm>
            <a:off x="548640" y="4718304"/>
            <a:ext cx="3840480" cy="347472"/>
          </a:xfrm>
          <a:prstGeom prst="rect">
            <a:avLst/>
          </a:prstGeom>
          <a:noFill/>
          <a:ln/>
        </p:spPr>
        <p:txBody>
          <a:bodyPr wrap="square" lIns="0" tIns="0" rIns="0" bIns="0" rtlCol="0" anchor="ctr"/>
          <a:lstStyle/>
          <a:p>
            <a:pPr algn="ctr" indent="0" marL="0">
              <a:buNone/>
            </a:pPr>
            <a:r>
              <a:rPr lang="en-US" sz="1300" dirty="0">
                <a:solidFill>
                  <a:schemeClr val="accent5"/>
                </a:solidFill>
              </a:rPr>
              <a:t>Cakupan: dua blok fitur, satu </a:t>
            </a:r>
            <a:pPr algn="ctr" indent="0" marL="0">
              <a:buNone/>
            </a:pPr>
            <a:r>
              <a:rPr lang="en-US" sz="1300" i="1" dirty="0">
                <a:solidFill>
                  <a:schemeClr val="accent5"/>
                </a:solidFill>
              </a:rPr>
              <a:t>fold</a:t>
            </a:r>
            <a:endParaRPr lang="en-US" sz="1300" dirty="0"/>
          </a:p>
        </p:txBody>
      </p:sp>
      <p:sp>
        <p:nvSpPr>
          <p:cNvPr id="26" name="pita kontribusi"/>
          <p:cNvSpPr/>
          <p:nvPr/>
        </p:nvSpPr>
        <p:spPr>
          <a:xfrm>
            <a:off x="548640" y="5303520"/>
            <a:ext cx="11094415" cy="868680"/>
          </a:xfrm>
          <a:prstGeom prst="roundRect">
            <a:avLst>
              <a:gd name="adj" fmla="val 10526"/>
            </a:avLst>
          </a:prstGeom>
          <a:solidFill>
            <a:schemeClr val="accent2">
              <a:alpha val="12000"/>
            </a:schemeClr>
          </a:solidFill>
          <a:ln/>
        </p:spPr>
      </p:sp>
      <p:sp>
        <p:nvSpPr>
          <p:cNvPr id="27" name="label KONTRIBUSI"/>
          <p:cNvSpPr/>
          <p:nvPr/>
        </p:nvSpPr>
        <p:spPr>
          <a:xfrm>
            <a:off x="777240" y="5582412"/>
            <a:ext cx="1155802" cy="310896"/>
          </a:xfrm>
          <a:prstGeom prst="roundRect">
            <a:avLst>
              <a:gd name="adj" fmla="val 17647"/>
            </a:avLst>
          </a:prstGeom>
          <a:solidFill>
            <a:schemeClr val="accent2"/>
          </a:solidFill>
          <a:ln/>
        </p:spPr>
      </p:sp>
      <p:sp>
        <p:nvSpPr>
          <p:cNvPr id="28" name="Text 23"/>
          <p:cNvSpPr txBox="1"/>
          <p:nvPr/>
        </p:nvSpPr>
        <p:spPr>
          <a:xfrm>
            <a:off x="777240" y="5582412"/>
            <a:ext cx="1155802" cy="310896"/>
          </a:xfrm>
          <a:prstGeom prst="rect">
            <a:avLst/>
          </a:prstGeom>
          <a:noFill/>
          <a:ln/>
        </p:spPr>
        <p:txBody>
          <a:bodyPr wrap="square" lIns="0" tIns="0" rIns="0" bIns="0" rtlCol="0" anchor="ctr"/>
          <a:lstStyle/>
          <a:p>
            <a:pPr algn="ctr" indent="0" marL="0">
              <a:buNone/>
            </a:pPr>
            <a:r>
              <a:rPr lang="en-US" sz="1200" b="1" spc="50" kern="0" dirty="0">
                <a:solidFill>
                  <a:schemeClr val="bg1"/>
                </a:solidFill>
              </a:rPr>
              <a:t>KONTRIBUSI</a:t>
            </a:r>
            <a:endParaRPr lang="en-US" sz="1200" dirty="0"/>
          </a:p>
        </p:txBody>
      </p:sp>
      <p:sp>
        <p:nvSpPr>
          <p:cNvPr id="29" name="Text 24"/>
          <p:cNvSpPr txBox="1"/>
          <p:nvPr/>
        </p:nvSpPr>
        <p:spPr>
          <a:xfrm>
            <a:off x="2240280" y="5330952"/>
            <a:ext cx="7863840" cy="813816"/>
          </a:xfrm>
          <a:prstGeom prst="rect">
            <a:avLst/>
          </a:prstGeom>
          <a:noFill/>
          <a:ln/>
        </p:spPr>
        <p:txBody>
          <a:bodyPr wrap="square" lIns="0" tIns="0" rIns="0" bIns="0" rtlCol="0" anchor="ctr"/>
          <a:lstStyle/>
          <a:p>
            <a:pPr algn="l" indent="0" marL="0">
              <a:buNone/>
            </a:pPr>
            <a:r>
              <a:rPr lang="en-US" sz="1700" dirty="0">
                <a:solidFill>
                  <a:schemeClr val="tx1"/>
                </a:solidFill>
              </a:rPr>
              <a:t>galat EUI model tunggal −0,0022; prediksi untuk 30% nilai peta zona memakai fitur ini</a:t>
            </a:r>
            <a:endParaRPr lang="en-US" sz="1700" dirty="0"/>
          </a:p>
        </p:txBody>
      </p:sp>
      <p:sp>
        <p:nvSpPr>
          <p:cNvPr id="30" name="Shape 25"/>
          <p:cNvSpPr/>
          <p:nvPr/>
        </p:nvSpPr>
        <p:spPr>
          <a:xfrm>
            <a:off x="9829800" y="5623560"/>
            <a:ext cx="640080" cy="914"/>
          </a:xfrm>
          <a:prstGeom prst="line">
            <a:avLst/>
          </a:prstGeom>
          <a:noFill/>
          <a:ln w="25400">
            <a:solidFill>
              <a:schemeClr val="accent2"/>
            </a:solidFill>
            <a:prstDash val="solid"/>
            <a:tailEnd type="triangle"/>
          </a:ln>
        </p:spPr>
      </p:sp>
      <p:sp>
        <p:nvSpPr>
          <p:cNvPr id="31" name="ikon peta kuadran"/>
          <p:cNvSpPr/>
          <p:nvPr/>
        </p:nvSpPr>
        <p:spPr>
          <a:xfrm>
            <a:off x="10881360" y="5376672"/>
            <a:ext cx="228600" cy="228600"/>
          </a:xfrm>
          <a:prstGeom prst="rect">
            <a:avLst/>
          </a:prstGeom>
          <a:solidFill>
            <a:schemeClr val="accent1"/>
          </a:solidFill>
          <a:ln/>
        </p:spPr>
      </p:sp>
      <p:sp>
        <p:nvSpPr>
          <p:cNvPr id="32" name="ikon peta kuadran"/>
          <p:cNvSpPr/>
          <p:nvPr/>
        </p:nvSpPr>
        <p:spPr>
          <a:xfrm>
            <a:off x="10881360" y="5632704"/>
            <a:ext cx="228600" cy="228600"/>
          </a:xfrm>
          <a:prstGeom prst="rect">
            <a:avLst/>
          </a:prstGeom>
          <a:solidFill>
            <a:schemeClr val="accent2"/>
          </a:solidFill>
          <a:ln/>
        </p:spPr>
      </p:sp>
      <p:sp>
        <p:nvSpPr>
          <p:cNvPr id="33" name="ikon peta kuadran"/>
          <p:cNvSpPr/>
          <p:nvPr/>
        </p:nvSpPr>
        <p:spPr>
          <a:xfrm>
            <a:off x="10625328" y="5376672"/>
            <a:ext cx="228600" cy="228600"/>
          </a:xfrm>
          <a:prstGeom prst="rect">
            <a:avLst/>
          </a:prstGeom>
          <a:solidFill>
            <a:schemeClr val="tx2"/>
          </a:solidFill>
          <a:ln/>
        </p:spPr>
      </p:sp>
      <p:sp>
        <p:nvSpPr>
          <p:cNvPr id="34" name="ikon peta kuadran"/>
          <p:cNvSpPr/>
          <p:nvPr/>
        </p:nvSpPr>
        <p:spPr>
          <a:xfrm>
            <a:off x="10625328" y="5632704"/>
            <a:ext cx="228600" cy="228600"/>
          </a:xfrm>
          <a:prstGeom prst="rect">
            <a:avLst/>
          </a:prstGeom>
          <a:solidFill>
            <a:schemeClr val="accent4"/>
          </a:solidFill>
          <a:ln/>
        </p:spPr>
      </p:sp>
      <p:sp>
        <p:nvSpPr>
          <p:cNvPr id="35" name="Text 30"/>
          <p:cNvSpPr txBox="1"/>
          <p:nvPr/>
        </p:nvSpPr>
        <p:spPr>
          <a:xfrm>
            <a:off x="10442448" y="5879592"/>
            <a:ext cx="822960" cy="182880"/>
          </a:xfrm>
          <a:prstGeom prst="rect">
            <a:avLst/>
          </a:prstGeom>
          <a:noFill/>
          <a:ln/>
        </p:spPr>
        <p:txBody>
          <a:bodyPr wrap="square" lIns="0" tIns="0" rIns="0" bIns="0" rtlCol="0" anchor="t"/>
          <a:lstStyle/>
          <a:p>
            <a:pPr algn="ctr" indent="0" marL="0">
              <a:buNone/>
            </a:pPr>
            <a:r>
              <a:rPr lang="en-US" sz="1000" dirty="0">
                <a:solidFill>
                  <a:schemeClr val="accent2"/>
                </a:solidFill>
              </a:rPr>
              <a:t>peta zona</a:t>
            </a:r>
            <a:endParaRPr lang="en-US" sz="10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III · ARSITEKTUR MODEL</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43 model, tiga jalur: 41 digabung dengan bobot adaptif,</a:t>
            </a:r>
            <a:br/>
            <a:pPr algn="l" indent="0" marL="0">
              <a:buNone/>
            </a:pPr>
            <a:r>
              <a:rPr lang="en-US" sz="2800" b="1" dirty="0">
                <a:solidFill>
                  <a:schemeClr val="tx2"/>
                </a:solidFill>
              </a:rPr>
              <a:t>2 LightGBM terpisah</a:t>
            </a:r>
            <a:endParaRPr lang="en-US" sz="2800" dirty="0"/>
          </a:p>
        </p:txBody>
      </p:sp>
      <p:sp>
        <p:nvSpPr>
          <p:cNvPr id="4" name="data"/>
          <p:cNvSpPr/>
          <p:nvPr/>
        </p:nvSpPr>
        <p:spPr>
          <a:xfrm>
            <a:off x="548640" y="2606040"/>
            <a:ext cx="1325880" cy="1371600"/>
          </a:xfrm>
          <a:prstGeom prst="roundRect">
            <a:avLst>
              <a:gd name="adj" fmla="val 5517"/>
            </a:avLst>
          </a:prstGeom>
          <a:solidFill>
            <a:schemeClr val="bg2"/>
          </a:solidFill>
          <a:ln w="12700">
            <a:solidFill>
              <a:schemeClr val="tx2"/>
            </a:solidFill>
            <a:prstDash val="solid"/>
          </a:ln>
        </p:spPr>
      </p:sp>
      <p:sp>
        <p:nvSpPr>
          <p:cNvPr id="5" name="Text 3"/>
          <p:cNvSpPr txBox="1"/>
          <p:nvPr/>
        </p:nvSpPr>
        <p:spPr>
          <a:xfrm>
            <a:off x="640080" y="2651760"/>
            <a:ext cx="1143000" cy="1280160"/>
          </a:xfrm>
          <a:prstGeom prst="rect">
            <a:avLst/>
          </a:prstGeom>
          <a:noFill/>
          <a:ln/>
        </p:spPr>
        <p:txBody>
          <a:bodyPr wrap="square" lIns="0" tIns="0" rIns="0" bIns="0" rtlCol="0" anchor="ctr"/>
          <a:lstStyle/>
          <a:p>
            <a:pPr algn="ctr" indent="0" marL="0">
              <a:buNone/>
            </a:pPr>
            <a:r>
              <a:rPr lang="en-US" sz="1400" b="1" dirty="0">
                <a:solidFill>
                  <a:schemeClr val="tx2"/>
                </a:solidFill>
              </a:rPr>
              <a:t>Data latih + uji, 201 kolom</a:t>
            </a:r>
            <a:endParaRPr lang="en-US" sz="1400" dirty="0"/>
          </a:p>
        </p:txBody>
      </p:sp>
      <p:sp>
        <p:nvSpPr>
          <p:cNvPr id="6" name="Shape 4"/>
          <p:cNvSpPr/>
          <p:nvPr/>
        </p:nvSpPr>
        <p:spPr>
          <a:xfrm>
            <a:off x="1874520" y="3291840"/>
            <a:ext cx="228600" cy="914"/>
          </a:xfrm>
          <a:prstGeom prst="line">
            <a:avLst/>
          </a:prstGeom>
          <a:noFill/>
          <a:ln w="19050">
            <a:solidFill>
              <a:schemeClr val="accent5"/>
            </a:solidFill>
            <a:prstDash val="solid"/>
          </a:ln>
        </p:spPr>
      </p:sp>
      <p:sp>
        <p:nvSpPr>
          <p:cNvPr id="7" name="Shape 5"/>
          <p:cNvSpPr/>
          <p:nvPr/>
        </p:nvSpPr>
        <p:spPr>
          <a:xfrm>
            <a:off x="2103120" y="2148840"/>
            <a:ext cx="914" cy="2377440"/>
          </a:xfrm>
          <a:prstGeom prst="line">
            <a:avLst/>
          </a:prstGeom>
          <a:noFill/>
          <a:ln w="19050">
            <a:solidFill>
              <a:schemeClr val="accent5"/>
            </a:solidFill>
            <a:prstDash val="solid"/>
          </a:ln>
        </p:spPr>
      </p:sp>
      <p:sp>
        <p:nvSpPr>
          <p:cNvPr id="8" name="Shape 6"/>
          <p:cNvSpPr/>
          <p:nvPr/>
        </p:nvSpPr>
        <p:spPr>
          <a:xfrm>
            <a:off x="2103120" y="2148840"/>
            <a:ext cx="164592" cy="914"/>
          </a:xfrm>
          <a:prstGeom prst="line">
            <a:avLst/>
          </a:prstGeom>
          <a:noFill/>
          <a:ln w="19050">
            <a:solidFill>
              <a:schemeClr val="accent5"/>
            </a:solidFill>
            <a:prstDash val="solid"/>
            <a:tailEnd type="triangle"/>
          </a:ln>
        </p:spPr>
      </p:sp>
      <p:sp>
        <p:nvSpPr>
          <p:cNvPr id="9" name="Shape 7"/>
          <p:cNvSpPr/>
          <p:nvPr/>
        </p:nvSpPr>
        <p:spPr>
          <a:xfrm>
            <a:off x="2103120" y="3090672"/>
            <a:ext cx="164592" cy="914"/>
          </a:xfrm>
          <a:prstGeom prst="line">
            <a:avLst/>
          </a:prstGeom>
          <a:noFill/>
          <a:ln w="19050">
            <a:solidFill>
              <a:schemeClr val="accent5"/>
            </a:solidFill>
            <a:prstDash val="solid"/>
            <a:tailEnd type="triangle"/>
          </a:ln>
        </p:spPr>
      </p:sp>
      <p:sp>
        <p:nvSpPr>
          <p:cNvPr id="10" name="Shape 8"/>
          <p:cNvSpPr/>
          <p:nvPr/>
        </p:nvSpPr>
        <p:spPr>
          <a:xfrm>
            <a:off x="2103120" y="4526280"/>
            <a:ext cx="164592" cy="914"/>
          </a:xfrm>
          <a:prstGeom prst="line">
            <a:avLst/>
          </a:prstGeom>
          <a:noFill/>
          <a:ln w="19050">
            <a:solidFill>
              <a:schemeClr val="accent5"/>
            </a:solidFill>
            <a:prstDash val="solid"/>
            <a:tailEnd type="triangle"/>
          </a:ln>
        </p:spPr>
      </p:sp>
      <p:sp>
        <p:nvSpPr>
          <p:cNvPr id="11" name="jalur 1"/>
          <p:cNvSpPr/>
          <p:nvPr/>
        </p:nvSpPr>
        <p:spPr>
          <a:xfrm>
            <a:off x="2286000" y="1737360"/>
            <a:ext cx="2743200" cy="841248"/>
          </a:xfrm>
          <a:prstGeom prst="roundRect">
            <a:avLst>
              <a:gd name="adj" fmla="val 8696"/>
            </a:avLst>
          </a:prstGeom>
          <a:solidFill>
            <a:schemeClr val="accent1">
              <a:alpha val="15000"/>
            </a:schemeClr>
          </a:solidFill>
          <a:ln w="12700">
            <a:solidFill>
              <a:schemeClr val="accent1"/>
            </a:solidFill>
            <a:prstDash val="solid"/>
          </a:ln>
        </p:spPr>
      </p:sp>
      <p:sp>
        <p:nvSpPr>
          <p:cNvPr id="12" name="Text 10"/>
          <p:cNvSpPr txBox="1"/>
          <p:nvPr/>
        </p:nvSpPr>
        <p:spPr>
          <a:xfrm>
            <a:off x="2423160" y="1764792"/>
            <a:ext cx="2468880" cy="786384"/>
          </a:xfrm>
          <a:prstGeom prst="rect">
            <a:avLst/>
          </a:prstGeom>
          <a:noFill/>
          <a:ln/>
        </p:spPr>
        <p:txBody>
          <a:bodyPr wrap="square" lIns="0" tIns="0" rIns="0" bIns="0" rtlCol="0" anchor="ctr"/>
          <a:lstStyle/>
          <a:p>
            <a:pPr algn="l" indent="0" marL="0">
              <a:buNone/>
            </a:pPr>
            <a:r>
              <a:rPr lang="en-US" sz="1500" b="1" dirty="0">
                <a:solidFill>
                  <a:schemeClr val="tx1"/>
                </a:solidFill>
              </a:rPr>
              <a:t>Jalur 1 · Gas dan EUI: 28 model</a:t>
            </a:r>
            <a:endParaRPr lang="en-US" sz="1600" dirty="0"/>
          </a:p>
          <a:p>
            <a:pPr algn="l" indent="0" marL="0">
              <a:buNone/>
            </a:pPr>
            <a:r>
              <a:rPr lang="en-US" sz="1200" dirty="0">
                <a:solidFill>
                  <a:schemeClr val="accent5"/>
                </a:solidFill>
              </a:rPr>
              <a:t>XGBoost, LightGBM, MLP, NCA</a:t>
            </a:r>
            <a:endParaRPr lang="en-US" sz="1600" dirty="0"/>
          </a:p>
        </p:txBody>
      </p:sp>
      <p:sp>
        <p:nvSpPr>
          <p:cNvPr id="13" name="jalur 2"/>
          <p:cNvSpPr/>
          <p:nvPr/>
        </p:nvSpPr>
        <p:spPr>
          <a:xfrm>
            <a:off x="2286000" y="2743200"/>
            <a:ext cx="2743200" cy="694944"/>
          </a:xfrm>
          <a:prstGeom prst="roundRect">
            <a:avLst>
              <a:gd name="adj" fmla="val 10526"/>
            </a:avLst>
          </a:prstGeom>
          <a:solidFill>
            <a:schemeClr val="accent2">
              <a:alpha val="15000"/>
            </a:schemeClr>
          </a:solidFill>
          <a:ln w="12700">
            <a:solidFill>
              <a:schemeClr val="accent2"/>
            </a:solidFill>
            <a:prstDash val="solid"/>
          </a:ln>
        </p:spPr>
      </p:sp>
      <p:sp>
        <p:nvSpPr>
          <p:cNvPr id="14" name="Text 12"/>
          <p:cNvSpPr txBox="1"/>
          <p:nvPr/>
        </p:nvSpPr>
        <p:spPr>
          <a:xfrm>
            <a:off x="2423160" y="2743200"/>
            <a:ext cx="2468880" cy="694944"/>
          </a:xfrm>
          <a:prstGeom prst="rect">
            <a:avLst/>
          </a:prstGeom>
          <a:noFill/>
          <a:ln/>
        </p:spPr>
        <p:txBody>
          <a:bodyPr wrap="square" lIns="0" tIns="0" rIns="0" bIns="0" rtlCol="0" anchor="ctr"/>
          <a:lstStyle/>
          <a:p>
            <a:pPr algn="l" indent="0" marL="0">
              <a:buNone/>
            </a:pPr>
            <a:r>
              <a:rPr lang="en-US" sz="1500" b="1" dirty="0">
                <a:solidFill>
                  <a:schemeClr val="tx1"/>
                </a:solidFill>
              </a:rPr>
              <a:t>Jalur 2 · Listrik: 13 model</a:t>
            </a:r>
            <a:endParaRPr lang="en-US" sz="1500" dirty="0"/>
          </a:p>
        </p:txBody>
      </p:sp>
      <p:sp>
        <p:nvSpPr>
          <p:cNvPr id="15" name="kurung 41 model"/>
          <p:cNvSpPr/>
          <p:nvPr/>
        </p:nvSpPr>
        <p:spPr>
          <a:xfrm>
            <a:off x="5102352" y="1737360"/>
            <a:ext cx="201168" cy="1700784"/>
          </a:xfrm>
          <a:prstGeom prst="rightBrace">
            <a:avLst/>
          </a:prstGeom>
          <a:ln w="19050">
            <a:solidFill>
              <a:schemeClr val="tx2"/>
            </a:solidFill>
            <a:prstDash val="solid"/>
          </a:ln>
        </p:spPr>
      </p:sp>
      <p:sp>
        <p:nvSpPr>
          <p:cNvPr id="16" name="Text 14"/>
          <p:cNvSpPr txBox="1"/>
          <p:nvPr/>
        </p:nvSpPr>
        <p:spPr>
          <a:xfrm>
            <a:off x="5349240" y="2011680"/>
            <a:ext cx="1143000" cy="512064"/>
          </a:xfrm>
          <a:prstGeom prst="rect">
            <a:avLst/>
          </a:prstGeom>
          <a:noFill/>
          <a:ln/>
        </p:spPr>
        <p:txBody>
          <a:bodyPr wrap="square" lIns="0" tIns="0" rIns="0" bIns="0" rtlCol="0" anchor="b"/>
          <a:lstStyle/>
          <a:p>
            <a:pPr algn="ctr" indent="0" marL="0">
              <a:buNone/>
            </a:pPr>
            <a:r>
              <a:rPr lang="en-US" sz="1400" b="1" dirty="0">
                <a:solidFill>
                  <a:schemeClr val="tx2"/>
                </a:solidFill>
              </a:rPr>
              <a:t>41 model</a:t>
            </a:r>
            <a:endParaRPr lang="en-US" sz="1400" dirty="0"/>
          </a:p>
          <a:p>
            <a:pPr algn="ctr" indent="0" marL="0">
              <a:buNone/>
            </a:pPr>
            <a:r>
              <a:rPr lang="en-US" sz="1400" b="1" dirty="0">
                <a:solidFill>
                  <a:schemeClr val="tx2"/>
                </a:solidFill>
              </a:rPr>
              <a:t>di-</a:t>
            </a:r>
            <a:pPr algn="ctr" indent="0" marL="0">
              <a:buNone/>
            </a:pPr>
            <a:r>
              <a:rPr lang="en-US" sz="1400" b="1" i="1" dirty="0">
                <a:solidFill>
                  <a:schemeClr val="tx2"/>
                </a:solidFill>
              </a:rPr>
              <a:t>blend</a:t>
            </a:r>
            <a:endParaRPr lang="en-US" sz="1400" dirty="0"/>
          </a:p>
        </p:txBody>
      </p:sp>
      <p:sp>
        <p:nvSpPr>
          <p:cNvPr id="17" name="Shape 15"/>
          <p:cNvSpPr/>
          <p:nvPr/>
        </p:nvSpPr>
        <p:spPr>
          <a:xfrm>
            <a:off x="5349240" y="2587752"/>
            <a:ext cx="1124712" cy="914"/>
          </a:xfrm>
          <a:prstGeom prst="line">
            <a:avLst/>
          </a:prstGeom>
          <a:noFill/>
          <a:ln w="25400">
            <a:solidFill>
              <a:schemeClr val="tx2"/>
            </a:solidFill>
            <a:prstDash val="solid"/>
            <a:tailEnd type="triangle"/>
          </a:ln>
        </p:spPr>
      </p:sp>
      <p:sp>
        <p:nvSpPr>
          <p:cNvPr id="18" name="tahap gabungan"/>
          <p:cNvSpPr/>
          <p:nvPr/>
        </p:nvSpPr>
        <p:spPr>
          <a:xfrm>
            <a:off x="6510528" y="1737360"/>
            <a:ext cx="2468880" cy="1700784"/>
          </a:xfrm>
          <a:prstGeom prst="roundRect">
            <a:avLst>
              <a:gd name="adj" fmla="val 4301"/>
            </a:avLst>
          </a:prstGeom>
          <a:solidFill>
            <a:schemeClr val="tx2"/>
          </a:solidFill>
          <a:ln/>
        </p:spPr>
      </p:sp>
      <p:sp>
        <p:nvSpPr>
          <p:cNvPr id="19" name="Text 17"/>
          <p:cNvSpPr txBox="1"/>
          <p:nvPr/>
        </p:nvSpPr>
        <p:spPr>
          <a:xfrm>
            <a:off x="6556248" y="1783080"/>
            <a:ext cx="2377440" cy="1609344"/>
          </a:xfrm>
          <a:prstGeom prst="rect">
            <a:avLst/>
          </a:prstGeom>
          <a:noFill/>
          <a:ln/>
        </p:spPr>
        <p:txBody>
          <a:bodyPr wrap="square" lIns="0" tIns="0" rIns="0" bIns="0" rtlCol="0" anchor="ctr"/>
          <a:lstStyle/>
          <a:p>
            <a:pPr algn="ctr" indent="0" marL="0">
              <a:buNone/>
            </a:pPr>
            <a:r>
              <a:rPr lang="en-US" sz="1400" b="1" dirty="0">
                <a:solidFill>
                  <a:schemeClr val="bg1"/>
                </a:solidFill>
              </a:rPr>
              <a:t>gabungan bobot adaptif</a:t>
            </a:r>
            <a:endParaRPr lang="en-US" sz="1600" dirty="0"/>
          </a:p>
          <a:p>
            <a:pPr algn="ctr" indent="0" marL="0">
              <a:buNone/>
            </a:pPr>
            <a:r>
              <a:rPr lang="en-US" sz="1200" dirty="0">
                <a:solidFill>
                  <a:schemeClr val="accent4"/>
                </a:solidFill>
              </a:rPr>
              <a:t>↓</a:t>
            </a:r>
            <a:endParaRPr lang="en-US" sz="1600" dirty="0"/>
          </a:p>
          <a:p>
            <a:pPr algn="ctr" indent="0" marL="0">
              <a:buNone/>
            </a:pPr>
            <a:r>
              <a:rPr lang="en-US" sz="1400" b="1" dirty="0">
                <a:solidFill>
                  <a:schemeClr val="bg1"/>
                </a:solidFill>
              </a:rPr>
              <a:t>koreksi galat tetangga</a:t>
            </a:r>
            <a:endParaRPr lang="en-US" sz="1600" dirty="0"/>
          </a:p>
          <a:p>
            <a:pPr algn="ctr" indent="0" marL="0">
              <a:buNone/>
            </a:pPr>
            <a:r>
              <a:rPr lang="en-US" sz="1200" dirty="0">
                <a:solidFill>
                  <a:schemeClr val="accent4"/>
                </a:solidFill>
              </a:rPr>
              <a:t>↓</a:t>
            </a:r>
            <a:endParaRPr lang="en-US" sz="1600" dirty="0"/>
          </a:p>
          <a:p>
            <a:pPr algn="ctr" indent="0" marL="0">
              <a:buNone/>
            </a:pPr>
            <a:r>
              <a:rPr lang="en-US" sz="1400" b="1" dirty="0">
                <a:solidFill>
                  <a:schemeClr val="bg1"/>
                </a:solidFill>
              </a:rPr>
              <a:t>penyesuaian akhir</a:t>
            </a:r>
            <a:endParaRPr lang="en-US" sz="1600" dirty="0"/>
          </a:p>
        </p:txBody>
      </p:sp>
      <p:sp>
        <p:nvSpPr>
          <p:cNvPr id="20" name="Text 18"/>
          <p:cNvSpPr txBox="1"/>
          <p:nvPr/>
        </p:nvSpPr>
        <p:spPr>
          <a:xfrm>
            <a:off x="6510528" y="3474720"/>
            <a:ext cx="2468880" cy="256032"/>
          </a:xfrm>
          <a:prstGeom prst="rect">
            <a:avLst/>
          </a:prstGeom>
          <a:noFill/>
          <a:ln/>
        </p:spPr>
        <p:txBody>
          <a:bodyPr wrap="square" lIns="0" tIns="0" rIns="0" bIns="0" rtlCol="0" anchor="t"/>
          <a:lstStyle/>
          <a:p>
            <a:pPr algn="ctr" indent="0" marL="0">
              <a:buNone/>
            </a:pPr>
            <a:r>
              <a:rPr lang="en-US" sz="1100" dirty="0">
                <a:solidFill>
                  <a:schemeClr val="accent5"/>
                </a:solidFill>
              </a:rPr>
              <a:t>Jalur 1 dan 2</a:t>
            </a:r>
            <a:endParaRPr lang="en-US" sz="1100" dirty="0"/>
          </a:p>
        </p:txBody>
      </p:sp>
      <p:sp>
        <p:nvSpPr>
          <p:cNvPr id="21" name="jalur 3"/>
          <p:cNvSpPr/>
          <p:nvPr/>
        </p:nvSpPr>
        <p:spPr>
          <a:xfrm>
            <a:off x="2286000" y="3931920"/>
            <a:ext cx="6693408" cy="1234440"/>
          </a:xfrm>
          <a:prstGeom prst="roundRect">
            <a:avLst>
              <a:gd name="adj" fmla="val 5926"/>
            </a:avLst>
          </a:prstGeom>
          <a:solidFill>
            <a:schemeClr val="accent4">
              <a:alpha val="20000"/>
            </a:schemeClr>
          </a:solidFill>
          <a:ln w="12700">
            <a:solidFill>
              <a:schemeClr val="accent4"/>
            </a:solidFill>
            <a:prstDash val="solid"/>
          </a:ln>
        </p:spPr>
      </p:sp>
      <p:sp>
        <p:nvSpPr>
          <p:cNvPr id="22" name="Text 20"/>
          <p:cNvSpPr txBox="1"/>
          <p:nvPr/>
        </p:nvSpPr>
        <p:spPr>
          <a:xfrm>
            <a:off x="2423160" y="3986784"/>
            <a:ext cx="2011680" cy="274320"/>
          </a:xfrm>
          <a:prstGeom prst="rect">
            <a:avLst/>
          </a:prstGeom>
          <a:noFill/>
          <a:ln/>
        </p:spPr>
        <p:txBody>
          <a:bodyPr wrap="square" lIns="0" tIns="0" rIns="0" bIns="0" rtlCol="0" anchor="t"/>
          <a:lstStyle/>
          <a:p>
            <a:pPr algn="l" indent="0" marL="0">
              <a:buNone/>
            </a:pPr>
            <a:r>
              <a:rPr lang="en-US" sz="1500" b="1" dirty="0">
                <a:solidFill>
                  <a:schemeClr val="tx1"/>
                </a:solidFill>
              </a:rPr>
              <a:t>Jalur 3 · Adopsi:</a:t>
            </a:r>
            <a:endParaRPr lang="en-US" sz="1500" dirty="0"/>
          </a:p>
        </p:txBody>
      </p:sp>
      <p:sp>
        <p:nvSpPr>
          <p:cNvPr id="23" name="salin subzona"/>
          <p:cNvSpPr/>
          <p:nvPr/>
        </p:nvSpPr>
        <p:spPr>
          <a:xfrm>
            <a:off x="2423160" y="4343400"/>
            <a:ext cx="1783080" cy="685800"/>
          </a:xfrm>
          <a:prstGeom prst="roundRect">
            <a:avLst>
              <a:gd name="adj" fmla="val 8000"/>
            </a:avLst>
          </a:prstGeom>
          <a:solidFill>
            <a:schemeClr val="bg1"/>
          </a:solidFill>
          <a:ln/>
        </p:spPr>
      </p:sp>
      <p:sp>
        <p:nvSpPr>
          <p:cNvPr id="24" name="Text 22"/>
          <p:cNvSpPr txBox="1"/>
          <p:nvPr/>
        </p:nvSpPr>
        <p:spPr>
          <a:xfrm>
            <a:off x="2468880" y="4343400"/>
            <a:ext cx="1691640" cy="685800"/>
          </a:xfrm>
          <a:prstGeom prst="rect">
            <a:avLst/>
          </a:prstGeom>
          <a:noFill/>
          <a:ln/>
        </p:spPr>
        <p:txBody>
          <a:bodyPr wrap="square" lIns="0" tIns="0" rIns="0" bIns="0" rtlCol="0" anchor="ctr"/>
          <a:lstStyle/>
          <a:p>
            <a:pPr algn="ctr" indent="0" marL="0">
              <a:buNone/>
            </a:pPr>
            <a:r>
              <a:rPr lang="en-US" sz="1400" dirty="0">
                <a:solidFill>
                  <a:schemeClr val="tx1"/>
                </a:solidFill>
              </a:rPr>
              <a:t>salin subzona (91,86%)</a:t>
            </a:r>
            <a:endParaRPr lang="en-US" sz="1400" dirty="0"/>
          </a:p>
        </p:txBody>
      </p:sp>
      <p:sp>
        <p:nvSpPr>
          <p:cNvPr id="25" name="Text 23"/>
          <p:cNvSpPr txBox="1"/>
          <p:nvPr/>
        </p:nvSpPr>
        <p:spPr>
          <a:xfrm>
            <a:off x="4224528" y="4434840"/>
            <a:ext cx="274320" cy="50292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26" name="2 LightGBM terpisah"/>
          <p:cNvSpPr/>
          <p:nvPr/>
        </p:nvSpPr>
        <p:spPr>
          <a:xfrm>
            <a:off x="4526280" y="4343400"/>
            <a:ext cx="2514600" cy="685800"/>
          </a:xfrm>
          <a:prstGeom prst="roundRect">
            <a:avLst>
              <a:gd name="adj" fmla="val 8000"/>
            </a:avLst>
          </a:prstGeom>
          <a:solidFill>
            <a:schemeClr val="bg1"/>
          </a:solidFill>
          <a:ln w="15875">
            <a:solidFill>
              <a:schemeClr val="accent6"/>
            </a:solidFill>
            <a:prstDash val="dash"/>
          </a:ln>
        </p:spPr>
      </p:sp>
      <p:sp>
        <p:nvSpPr>
          <p:cNvPr id="27" name="Text 25"/>
          <p:cNvSpPr txBox="1"/>
          <p:nvPr/>
        </p:nvSpPr>
        <p:spPr>
          <a:xfrm>
            <a:off x="4572000" y="4343400"/>
            <a:ext cx="2423160" cy="685800"/>
          </a:xfrm>
          <a:prstGeom prst="rect">
            <a:avLst/>
          </a:prstGeom>
          <a:noFill/>
          <a:ln/>
        </p:spPr>
        <p:txBody>
          <a:bodyPr wrap="square" lIns="0" tIns="0" rIns="0" bIns="0" rtlCol="0" anchor="ctr"/>
          <a:lstStyle/>
          <a:p>
            <a:pPr algn="ctr" indent="0" marL="0">
              <a:buNone/>
            </a:pPr>
            <a:r>
              <a:rPr lang="en-US" sz="1400" b="1" dirty="0">
                <a:solidFill>
                  <a:schemeClr val="tx1"/>
                </a:solidFill>
              </a:rPr>
              <a:t>2 LightGBM terpisah</a:t>
            </a:r>
            <a:endParaRPr lang="en-US" sz="1600" dirty="0"/>
          </a:p>
          <a:p>
            <a:pPr algn="ctr" indent="0" marL="0">
              <a:buNone/>
            </a:pPr>
            <a:r>
              <a:rPr lang="en-US" sz="1200" dirty="0">
                <a:solidFill>
                  <a:schemeClr val="accent5"/>
                </a:solidFill>
              </a:rPr>
              <a:t>8,14% kawasan uji di subzona baru</a:t>
            </a:r>
            <a:endParaRPr lang="en-US" sz="1600" dirty="0"/>
          </a:p>
        </p:txBody>
      </p:sp>
      <p:sp>
        <p:nvSpPr>
          <p:cNvPr id="28" name="Text 26"/>
          <p:cNvSpPr txBox="1"/>
          <p:nvPr/>
        </p:nvSpPr>
        <p:spPr>
          <a:xfrm>
            <a:off x="4526280" y="3986784"/>
            <a:ext cx="2514600" cy="274320"/>
          </a:xfrm>
          <a:prstGeom prst="rect">
            <a:avLst/>
          </a:prstGeom>
          <a:noFill/>
          <a:ln/>
        </p:spPr>
        <p:txBody>
          <a:bodyPr wrap="square" lIns="0" tIns="0" rIns="0" bIns="0" rtlCol="0" anchor="ctr"/>
          <a:lstStyle/>
          <a:p>
            <a:pPr algn="ctr" indent="0" marL="0">
              <a:buNone/>
            </a:pPr>
            <a:r>
              <a:rPr lang="en-US" sz="1200" b="1" dirty="0">
                <a:solidFill>
                  <a:schemeClr val="accent6"/>
                </a:solidFill>
              </a:rPr>
              <a:t>terpisah, tidak ikut </a:t>
            </a:r>
            <a:pPr algn="ctr" indent="0" marL="0">
              <a:buNone/>
            </a:pPr>
            <a:r>
              <a:rPr lang="en-US" sz="1200" b="1" i="1" dirty="0">
                <a:solidFill>
                  <a:schemeClr val="accent6"/>
                </a:solidFill>
              </a:rPr>
              <a:t>blending</a:t>
            </a:r>
            <a:endParaRPr lang="en-US" sz="1200" dirty="0"/>
          </a:p>
        </p:txBody>
      </p:sp>
      <p:sp>
        <p:nvSpPr>
          <p:cNvPr id="29" name="porsi bersih"/>
          <p:cNvSpPr/>
          <p:nvPr/>
        </p:nvSpPr>
        <p:spPr>
          <a:xfrm>
            <a:off x="7269480" y="4343400"/>
            <a:ext cx="1572768" cy="685800"/>
          </a:xfrm>
          <a:prstGeom prst="roundRect">
            <a:avLst>
              <a:gd name="adj" fmla="val 8000"/>
            </a:avLst>
          </a:prstGeom>
          <a:solidFill>
            <a:schemeClr val="bg1"/>
          </a:solidFill>
          <a:ln/>
        </p:spPr>
      </p:sp>
      <p:sp>
        <p:nvSpPr>
          <p:cNvPr id="30" name="Text 28"/>
          <p:cNvSpPr txBox="1"/>
          <p:nvPr/>
        </p:nvSpPr>
        <p:spPr>
          <a:xfrm>
            <a:off x="7315200" y="4343400"/>
            <a:ext cx="1481328" cy="685800"/>
          </a:xfrm>
          <a:prstGeom prst="rect">
            <a:avLst/>
          </a:prstGeom>
          <a:noFill/>
          <a:ln/>
        </p:spPr>
        <p:txBody>
          <a:bodyPr wrap="square" lIns="0" tIns="0" rIns="0" bIns="0" rtlCol="0" anchor="ctr"/>
          <a:lstStyle/>
          <a:p>
            <a:pPr algn="ctr" indent="0" marL="0">
              <a:buNone/>
            </a:pPr>
            <a:r>
              <a:rPr lang="en-US" sz="1400" dirty="0">
                <a:solidFill>
                  <a:schemeClr val="tx1"/>
                </a:solidFill>
              </a:rPr>
              <a:t>Porsi bersih: rumus</a:t>
            </a:r>
            <a:endParaRPr lang="en-US" sz="1400" dirty="0"/>
          </a:p>
        </p:txBody>
      </p:sp>
      <p:sp>
        <p:nvSpPr>
          <p:cNvPr id="31" name="Text 29"/>
          <p:cNvSpPr txBox="1"/>
          <p:nvPr/>
        </p:nvSpPr>
        <p:spPr>
          <a:xfrm>
            <a:off x="9326880" y="1554480"/>
            <a:ext cx="2313432" cy="457200"/>
          </a:xfrm>
          <a:prstGeom prst="rect">
            <a:avLst/>
          </a:prstGeom>
          <a:noFill/>
          <a:ln/>
        </p:spPr>
        <p:txBody>
          <a:bodyPr wrap="square" lIns="0" tIns="0" rIns="0" bIns="0" rtlCol="0" anchor="b"/>
          <a:lstStyle/>
          <a:p>
            <a:pPr algn="r" indent="0" marL="0">
              <a:buNone/>
            </a:pPr>
            <a:r>
              <a:rPr lang="en-US" sz="1100" dirty="0">
                <a:solidFill>
                  <a:schemeClr val="accent5"/>
                </a:solidFill>
              </a:rPr>
              <a:t>Galat jujur (RMSE/σ;</a:t>
            </a:r>
            <a:endParaRPr lang="en-US" sz="1100" dirty="0"/>
          </a:p>
          <a:p>
            <a:pPr algn="r" indent="0" marL="0">
              <a:buNone/>
            </a:pPr>
            <a:r>
              <a:rPr lang="en-US" sz="1100" dirty="0">
                <a:solidFill>
                  <a:schemeClr val="accent5"/>
                </a:solidFill>
              </a:rPr>
              <a:t>menebak rata-rata ≈ 1)</a:t>
            </a:r>
            <a:endParaRPr lang="en-US" sz="1100" dirty="0"/>
          </a:p>
        </p:txBody>
      </p:sp>
      <p:sp>
        <p:nvSpPr>
          <p:cNvPr id="32" name="keluaran Gas"/>
          <p:cNvSpPr/>
          <p:nvPr/>
        </p:nvSpPr>
        <p:spPr>
          <a:xfrm>
            <a:off x="9326880" y="2130552"/>
            <a:ext cx="2313432" cy="384048"/>
          </a:xfrm>
          <a:prstGeom prst="roundRect">
            <a:avLst>
              <a:gd name="adj" fmla="val 14286"/>
            </a:avLst>
          </a:prstGeom>
          <a:solidFill>
            <a:schemeClr val="bg2"/>
          </a:solidFill>
          <a:ln/>
        </p:spPr>
      </p:sp>
      <p:sp>
        <p:nvSpPr>
          <p:cNvPr id="33" name="Text 31"/>
          <p:cNvSpPr txBox="1"/>
          <p:nvPr/>
        </p:nvSpPr>
        <p:spPr>
          <a:xfrm>
            <a:off x="9436608" y="2130552"/>
            <a:ext cx="1280160" cy="384048"/>
          </a:xfrm>
          <a:prstGeom prst="rect">
            <a:avLst/>
          </a:prstGeom>
          <a:noFill/>
          <a:ln/>
        </p:spPr>
        <p:txBody>
          <a:bodyPr wrap="square" lIns="0" tIns="0" rIns="0" bIns="0" rtlCol="0" anchor="ctr"/>
          <a:lstStyle/>
          <a:p>
            <a:pPr algn="l" indent="0" marL="0">
              <a:buNone/>
            </a:pPr>
            <a:r>
              <a:rPr lang="en-US" sz="1400" dirty="0">
                <a:solidFill>
                  <a:schemeClr val="tx1"/>
                </a:solidFill>
              </a:rPr>
              <a:t>Gas</a:t>
            </a:r>
            <a:endParaRPr lang="en-US" sz="1400" dirty="0"/>
          </a:p>
        </p:txBody>
      </p:sp>
      <p:sp>
        <p:nvSpPr>
          <p:cNvPr id="34" name="Text 32"/>
          <p:cNvSpPr txBox="1"/>
          <p:nvPr/>
        </p:nvSpPr>
        <p:spPr>
          <a:xfrm>
            <a:off x="10561320" y="2130552"/>
            <a:ext cx="987552" cy="384048"/>
          </a:xfrm>
          <a:prstGeom prst="rect">
            <a:avLst/>
          </a:prstGeom>
          <a:noFill/>
          <a:ln/>
        </p:spPr>
        <p:txBody>
          <a:bodyPr wrap="square" lIns="0" tIns="0" rIns="0" bIns="0" rtlCol="0" anchor="ctr"/>
          <a:lstStyle/>
          <a:p>
            <a:pPr algn="r" indent="0" marL="0">
              <a:buNone/>
            </a:pPr>
            <a:r>
              <a:rPr lang="en-US" sz="1600" b="1" dirty="0">
                <a:solidFill>
                  <a:schemeClr val="tx2"/>
                </a:solidFill>
              </a:rPr>
              <a:t>0,2449</a:t>
            </a:r>
            <a:endParaRPr lang="en-US" sz="1600" dirty="0"/>
          </a:p>
        </p:txBody>
      </p:sp>
      <p:sp>
        <p:nvSpPr>
          <p:cNvPr id="35" name="keluaran EUI"/>
          <p:cNvSpPr/>
          <p:nvPr/>
        </p:nvSpPr>
        <p:spPr>
          <a:xfrm>
            <a:off x="9326880" y="2569464"/>
            <a:ext cx="2313432" cy="384048"/>
          </a:xfrm>
          <a:prstGeom prst="roundRect">
            <a:avLst>
              <a:gd name="adj" fmla="val 14286"/>
            </a:avLst>
          </a:prstGeom>
          <a:solidFill>
            <a:schemeClr val="bg2"/>
          </a:solidFill>
          <a:ln/>
        </p:spPr>
      </p:sp>
      <p:sp>
        <p:nvSpPr>
          <p:cNvPr id="36" name="Text 34"/>
          <p:cNvSpPr txBox="1"/>
          <p:nvPr/>
        </p:nvSpPr>
        <p:spPr>
          <a:xfrm>
            <a:off x="9436608" y="2569464"/>
            <a:ext cx="1280160" cy="384048"/>
          </a:xfrm>
          <a:prstGeom prst="rect">
            <a:avLst/>
          </a:prstGeom>
          <a:noFill/>
          <a:ln/>
        </p:spPr>
        <p:txBody>
          <a:bodyPr wrap="square" lIns="0" tIns="0" rIns="0" bIns="0" rtlCol="0" anchor="ctr"/>
          <a:lstStyle/>
          <a:p>
            <a:pPr algn="l" indent="0" marL="0">
              <a:buNone/>
            </a:pPr>
            <a:r>
              <a:rPr lang="en-US" sz="1400" dirty="0">
                <a:solidFill>
                  <a:schemeClr val="tx1"/>
                </a:solidFill>
              </a:rPr>
              <a:t>EUI</a:t>
            </a:r>
            <a:endParaRPr lang="en-US" sz="1400" dirty="0"/>
          </a:p>
        </p:txBody>
      </p:sp>
      <p:sp>
        <p:nvSpPr>
          <p:cNvPr id="37" name="Text 35"/>
          <p:cNvSpPr txBox="1"/>
          <p:nvPr/>
        </p:nvSpPr>
        <p:spPr>
          <a:xfrm>
            <a:off x="10561320" y="2569464"/>
            <a:ext cx="987552" cy="384048"/>
          </a:xfrm>
          <a:prstGeom prst="rect">
            <a:avLst/>
          </a:prstGeom>
          <a:noFill/>
          <a:ln/>
        </p:spPr>
        <p:txBody>
          <a:bodyPr wrap="square" lIns="0" tIns="0" rIns="0" bIns="0" rtlCol="0" anchor="ctr"/>
          <a:lstStyle/>
          <a:p>
            <a:pPr algn="r" indent="0" marL="0">
              <a:buNone/>
            </a:pPr>
            <a:r>
              <a:rPr lang="en-US" sz="1600" b="1" dirty="0">
                <a:solidFill>
                  <a:schemeClr val="tx2"/>
                </a:solidFill>
              </a:rPr>
              <a:t>0,6502</a:t>
            </a:r>
            <a:endParaRPr lang="en-US" sz="1600" dirty="0"/>
          </a:p>
        </p:txBody>
      </p:sp>
      <p:sp>
        <p:nvSpPr>
          <p:cNvPr id="38" name="keluaran Listrik"/>
          <p:cNvSpPr/>
          <p:nvPr/>
        </p:nvSpPr>
        <p:spPr>
          <a:xfrm>
            <a:off x="9326880" y="3008376"/>
            <a:ext cx="2313432" cy="384048"/>
          </a:xfrm>
          <a:prstGeom prst="roundRect">
            <a:avLst>
              <a:gd name="adj" fmla="val 14286"/>
            </a:avLst>
          </a:prstGeom>
          <a:solidFill>
            <a:schemeClr val="bg2"/>
          </a:solidFill>
          <a:ln/>
        </p:spPr>
      </p:sp>
      <p:sp>
        <p:nvSpPr>
          <p:cNvPr id="39" name="Text 37"/>
          <p:cNvSpPr txBox="1"/>
          <p:nvPr/>
        </p:nvSpPr>
        <p:spPr>
          <a:xfrm>
            <a:off x="9436608" y="3008376"/>
            <a:ext cx="1280160" cy="384048"/>
          </a:xfrm>
          <a:prstGeom prst="rect">
            <a:avLst/>
          </a:prstGeom>
          <a:noFill/>
          <a:ln/>
        </p:spPr>
        <p:txBody>
          <a:bodyPr wrap="square" lIns="0" tIns="0" rIns="0" bIns="0" rtlCol="0" anchor="ctr"/>
          <a:lstStyle/>
          <a:p>
            <a:pPr algn="l" indent="0" marL="0">
              <a:buNone/>
            </a:pPr>
            <a:r>
              <a:rPr lang="en-US" sz="1400" dirty="0">
                <a:solidFill>
                  <a:schemeClr val="tx1"/>
                </a:solidFill>
              </a:rPr>
              <a:t>Listrik</a:t>
            </a:r>
            <a:endParaRPr lang="en-US" sz="1400" dirty="0"/>
          </a:p>
        </p:txBody>
      </p:sp>
      <p:sp>
        <p:nvSpPr>
          <p:cNvPr id="40" name="Text 38"/>
          <p:cNvSpPr txBox="1"/>
          <p:nvPr/>
        </p:nvSpPr>
        <p:spPr>
          <a:xfrm>
            <a:off x="10561320" y="3008376"/>
            <a:ext cx="987552" cy="384048"/>
          </a:xfrm>
          <a:prstGeom prst="rect">
            <a:avLst/>
          </a:prstGeom>
          <a:noFill/>
          <a:ln/>
        </p:spPr>
        <p:txBody>
          <a:bodyPr wrap="square" lIns="0" tIns="0" rIns="0" bIns="0" rtlCol="0" anchor="ctr"/>
          <a:lstStyle/>
          <a:p>
            <a:pPr algn="r" indent="0" marL="0">
              <a:buNone/>
            </a:pPr>
            <a:r>
              <a:rPr lang="en-US" sz="1600" b="1" dirty="0">
                <a:solidFill>
                  <a:schemeClr val="tx2"/>
                </a:solidFill>
              </a:rPr>
              <a:t>0,3159</a:t>
            </a:r>
            <a:endParaRPr lang="en-US" sz="1600" dirty="0"/>
          </a:p>
        </p:txBody>
      </p:sp>
      <p:sp>
        <p:nvSpPr>
          <p:cNvPr id="41" name="keluaran Porsi bersih"/>
          <p:cNvSpPr/>
          <p:nvPr/>
        </p:nvSpPr>
        <p:spPr>
          <a:xfrm>
            <a:off x="9326880" y="4160520"/>
            <a:ext cx="2313432" cy="384048"/>
          </a:xfrm>
          <a:prstGeom prst="roundRect">
            <a:avLst>
              <a:gd name="adj" fmla="val 14286"/>
            </a:avLst>
          </a:prstGeom>
          <a:solidFill>
            <a:schemeClr val="bg2"/>
          </a:solidFill>
          <a:ln/>
        </p:spPr>
      </p:sp>
      <p:sp>
        <p:nvSpPr>
          <p:cNvPr id="42" name="Text 40"/>
          <p:cNvSpPr txBox="1"/>
          <p:nvPr/>
        </p:nvSpPr>
        <p:spPr>
          <a:xfrm>
            <a:off x="9436608" y="4160520"/>
            <a:ext cx="1280160" cy="384048"/>
          </a:xfrm>
          <a:prstGeom prst="rect">
            <a:avLst/>
          </a:prstGeom>
          <a:noFill/>
          <a:ln/>
        </p:spPr>
        <p:txBody>
          <a:bodyPr wrap="square" lIns="0" tIns="0" rIns="0" bIns="0" rtlCol="0" anchor="ctr"/>
          <a:lstStyle/>
          <a:p>
            <a:pPr algn="l" indent="0" marL="0">
              <a:buNone/>
            </a:pPr>
            <a:r>
              <a:rPr lang="en-US" sz="1400" dirty="0">
                <a:solidFill>
                  <a:schemeClr val="tx1"/>
                </a:solidFill>
              </a:rPr>
              <a:t>Porsi bersih</a:t>
            </a:r>
            <a:endParaRPr lang="en-US" sz="1400" dirty="0"/>
          </a:p>
        </p:txBody>
      </p:sp>
      <p:sp>
        <p:nvSpPr>
          <p:cNvPr id="43" name="Text 41"/>
          <p:cNvSpPr txBox="1"/>
          <p:nvPr/>
        </p:nvSpPr>
        <p:spPr>
          <a:xfrm>
            <a:off x="10561320" y="4160520"/>
            <a:ext cx="987552" cy="384048"/>
          </a:xfrm>
          <a:prstGeom prst="rect">
            <a:avLst/>
          </a:prstGeom>
          <a:noFill/>
          <a:ln/>
        </p:spPr>
        <p:txBody>
          <a:bodyPr wrap="square" lIns="0" tIns="0" rIns="0" bIns="0" rtlCol="0" anchor="ctr"/>
          <a:lstStyle/>
          <a:p>
            <a:pPr algn="r" indent="0" marL="0">
              <a:buNone/>
            </a:pPr>
            <a:r>
              <a:rPr lang="en-US" sz="1600" b="1" dirty="0">
                <a:solidFill>
                  <a:schemeClr val="accent5"/>
                </a:solidFill>
              </a:rPr>
              <a:t>0</a:t>
            </a:r>
            <a:endParaRPr lang="en-US" sz="1600" dirty="0"/>
          </a:p>
        </p:txBody>
      </p:sp>
      <p:sp>
        <p:nvSpPr>
          <p:cNvPr id="44" name="keluaran Adopsi"/>
          <p:cNvSpPr/>
          <p:nvPr/>
        </p:nvSpPr>
        <p:spPr>
          <a:xfrm>
            <a:off x="9326880" y="4617720"/>
            <a:ext cx="2313432" cy="384048"/>
          </a:xfrm>
          <a:prstGeom prst="roundRect">
            <a:avLst>
              <a:gd name="adj" fmla="val 14286"/>
            </a:avLst>
          </a:prstGeom>
          <a:solidFill>
            <a:schemeClr val="bg2"/>
          </a:solidFill>
          <a:ln/>
        </p:spPr>
      </p:sp>
      <p:sp>
        <p:nvSpPr>
          <p:cNvPr id="45" name="Text 43"/>
          <p:cNvSpPr txBox="1"/>
          <p:nvPr/>
        </p:nvSpPr>
        <p:spPr>
          <a:xfrm>
            <a:off x="9436608" y="4617720"/>
            <a:ext cx="1280160" cy="384048"/>
          </a:xfrm>
          <a:prstGeom prst="rect">
            <a:avLst/>
          </a:prstGeom>
          <a:noFill/>
          <a:ln/>
        </p:spPr>
        <p:txBody>
          <a:bodyPr wrap="square" lIns="0" tIns="0" rIns="0" bIns="0" rtlCol="0" anchor="ctr"/>
          <a:lstStyle/>
          <a:p>
            <a:pPr algn="l" indent="0" marL="0">
              <a:buNone/>
            </a:pPr>
            <a:r>
              <a:rPr lang="en-US" sz="1400" dirty="0">
                <a:solidFill>
                  <a:schemeClr val="tx1"/>
                </a:solidFill>
              </a:rPr>
              <a:t>Adopsi</a:t>
            </a:r>
            <a:endParaRPr lang="en-US" sz="1400" dirty="0"/>
          </a:p>
        </p:txBody>
      </p:sp>
      <p:sp>
        <p:nvSpPr>
          <p:cNvPr id="46" name="Text 44"/>
          <p:cNvSpPr txBox="1"/>
          <p:nvPr/>
        </p:nvSpPr>
        <p:spPr>
          <a:xfrm>
            <a:off x="10561320" y="4617720"/>
            <a:ext cx="987552" cy="384048"/>
          </a:xfrm>
          <a:prstGeom prst="rect">
            <a:avLst/>
          </a:prstGeom>
          <a:noFill/>
          <a:ln/>
        </p:spPr>
        <p:txBody>
          <a:bodyPr wrap="square" lIns="0" tIns="0" rIns="0" bIns="0" rtlCol="0" anchor="ctr"/>
          <a:lstStyle/>
          <a:p>
            <a:pPr algn="r" indent="0" marL="0">
              <a:buNone/>
            </a:pPr>
            <a:r>
              <a:rPr lang="en-US" sz="1600" b="1" dirty="0">
                <a:solidFill>
                  <a:schemeClr val="accent5"/>
                </a:solidFill>
              </a:rPr>
              <a:t>≈ 0,04</a:t>
            </a:r>
            <a:endParaRPr lang="en-US" sz="1600" dirty="0"/>
          </a:p>
        </p:txBody>
      </p:sp>
      <p:sp>
        <p:nvSpPr>
          <p:cNvPr id="47" name="Shape 45"/>
          <p:cNvSpPr/>
          <p:nvPr/>
        </p:nvSpPr>
        <p:spPr>
          <a:xfrm>
            <a:off x="8979408" y="2587752"/>
            <a:ext cx="301752" cy="914"/>
          </a:xfrm>
          <a:prstGeom prst="line">
            <a:avLst/>
          </a:prstGeom>
          <a:noFill/>
          <a:ln w="25400">
            <a:solidFill>
              <a:schemeClr val="tx2"/>
            </a:solidFill>
            <a:prstDash val="solid"/>
            <a:tailEnd type="triangle"/>
          </a:ln>
        </p:spPr>
      </p:sp>
      <p:sp>
        <p:nvSpPr>
          <p:cNvPr id="48" name="Shape 46"/>
          <p:cNvSpPr/>
          <p:nvPr/>
        </p:nvSpPr>
        <p:spPr>
          <a:xfrm>
            <a:off x="8979408" y="4553712"/>
            <a:ext cx="301752" cy="914"/>
          </a:xfrm>
          <a:prstGeom prst="line">
            <a:avLst/>
          </a:prstGeom>
          <a:noFill/>
          <a:ln w="25400">
            <a:solidFill>
              <a:schemeClr val="accent5"/>
            </a:solidFill>
            <a:prstDash val="solid"/>
            <a:tailEnd type="triangle"/>
          </a:ln>
        </p:spPr>
      </p:sp>
      <p:sp>
        <p:nvSpPr>
          <p:cNvPr id="49" name="pita 43 model"/>
          <p:cNvSpPr/>
          <p:nvPr/>
        </p:nvSpPr>
        <p:spPr>
          <a:xfrm>
            <a:off x="548640" y="5440680"/>
            <a:ext cx="11094415" cy="731520"/>
          </a:xfrm>
          <a:prstGeom prst="roundRect">
            <a:avLst>
              <a:gd name="adj" fmla="val 12500"/>
            </a:avLst>
          </a:prstGeom>
          <a:solidFill>
            <a:schemeClr val="bg2"/>
          </a:solidFill>
          <a:ln/>
        </p:spPr>
      </p:sp>
      <p:sp>
        <p:nvSpPr>
          <p:cNvPr id="50" name="Text 48"/>
          <p:cNvSpPr txBox="1"/>
          <p:nvPr/>
        </p:nvSpPr>
        <p:spPr>
          <a:xfrm>
            <a:off x="548640" y="5440680"/>
            <a:ext cx="11094415" cy="731520"/>
          </a:xfrm>
          <a:prstGeom prst="rect">
            <a:avLst/>
          </a:prstGeom>
          <a:noFill/>
          <a:ln/>
        </p:spPr>
        <p:txBody>
          <a:bodyPr wrap="square" lIns="0" tIns="0" rIns="0" bIns="0" rtlCol="0" anchor="ctr"/>
          <a:lstStyle/>
          <a:p>
            <a:pPr algn="ctr" indent="0" marL="0">
              <a:buNone/>
            </a:pPr>
            <a:r>
              <a:rPr lang="en-US" sz="2600" b="1" dirty="0">
                <a:solidFill>
                  <a:schemeClr val="tx2"/>
                </a:solidFill>
              </a:rPr>
              <a:t>43 model</a:t>
            </a:r>
            <a:pPr algn="ctr" indent="0" marL="0">
              <a:buNone/>
            </a:pPr>
            <a:r>
              <a:rPr lang="en-US" sz="2600" dirty="0">
                <a:solidFill>
                  <a:schemeClr val="accent5"/>
                </a:solidFill>
              </a:rPr>
              <a:t> = </a:t>
            </a:r>
            <a:pPr algn="ctr" indent="0" marL="0">
              <a:buNone/>
            </a:pPr>
            <a:r>
              <a:rPr lang="en-US" sz="2600" b="1" dirty="0">
                <a:solidFill>
                  <a:schemeClr val="accent1"/>
                </a:solidFill>
              </a:rPr>
              <a:t>41</a:t>
            </a:r>
            <a:pPr algn="ctr" indent="0" marL="0">
              <a:buNone/>
            </a:pPr>
            <a:r>
              <a:rPr lang="en-US" sz="2600" dirty="0">
                <a:solidFill>
                  <a:schemeClr val="tx1"/>
                </a:solidFill>
              </a:rPr>
              <a:t> di-</a:t>
            </a:r>
            <a:pPr algn="ctr" indent="0" marL="0">
              <a:buNone/>
            </a:pPr>
            <a:r>
              <a:rPr lang="en-US" sz="2600" i="1" dirty="0">
                <a:solidFill>
                  <a:schemeClr val="tx1"/>
                </a:solidFill>
              </a:rPr>
              <a:t>blend</a:t>
            </a:r>
            <a:pPr algn="ctr" indent="0" marL="0">
              <a:buNone/>
            </a:pPr>
            <a:r>
              <a:rPr lang="en-US" sz="2600" dirty="0">
                <a:solidFill>
                  <a:schemeClr val="accent5"/>
                </a:solidFill>
              </a:rPr>
              <a:t> + </a:t>
            </a:r>
            <a:pPr algn="ctr" indent="0" marL="0">
              <a:buNone/>
            </a:pPr>
            <a:r>
              <a:rPr lang="en-US" sz="2600" b="1" dirty="0">
                <a:solidFill>
                  <a:schemeClr val="accent5"/>
                </a:solidFill>
              </a:rPr>
              <a:t>2</a:t>
            </a:r>
            <a:pPr algn="ctr" indent="0" marL="0">
              <a:buNone/>
            </a:pPr>
            <a:r>
              <a:rPr lang="en-US" sz="2600" dirty="0">
                <a:solidFill>
                  <a:schemeClr val="tx1"/>
                </a:solidFill>
              </a:rPr>
              <a:t> terpisah</a:t>
            </a:r>
            <a:endParaRPr lang="en-US" sz="26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III · ARSITEKTUR MODEL</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Skor privat 0,24844 (peringkat 8) dari data tersembunyi,</a:t>
            </a:r>
            <a:br/>
            <a:pPr algn="l" indent="0" marL="0">
              <a:buNone/>
            </a:pPr>
            <a:r>
              <a:rPr lang="en-US" sz="2800" b="1" dirty="0">
                <a:solidFill>
                  <a:schemeClr val="tx2"/>
                </a:solidFill>
              </a:rPr>
              <a:t>dan hasilnya dapat diulang</a:t>
            </a:r>
            <a:endParaRPr lang="en-US" sz="2800" dirty="0"/>
          </a:p>
        </p:txBody>
      </p:sp>
      <p:sp>
        <p:nvSpPr>
          <p:cNvPr id="4" name="ubin 1"/>
          <p:cNvSpPr/>
          <p:nvPr/>
        </p:nvSpPr>
        <p:spPr>
          <a:xfrm>
            <a:off x="548640" y="1874520"/>
            <a:ext cx="3502152" cy="3703320"/>
          </a:xfrm>
          <a:prstGeom prst="roundRect">
            <a:avLst>
              <a:gd name="adj" fmla="val 3133"/>
            </a:avLst>
          </a:prstGeom>
          <a:solidFill>
            <a:schemeClr val="bg2"/>
          </a:solidFill>
          <a:ln/>
        </p:spPr>
      </p:sp>
      <p:sp>
        <p:nvSpPr>
          <p:cNvPr id="5" name="ikon FaRankingStar"/>
          <p:cNvSpPr/>
          <p:nvPr/>
        </p:nvSpPr>
        <p:spPr>
          <a:xfrm>
            <a:off x="777240" y="2103120"/>
            <a:ext cx="640080" cy="640080"/>
          </a:xfrm>
          <a:prstGeom prst="ellipse">
            <a:avLst/>
          </a:prstGeom>
          <a:solidFill>
            <a:schemeClr val="accent1"/>
          </a:solidFill>
          <a:ln/>
        </p:spPr>
      </p:sp>
      <p:pic>
        <p:nvPicPr>
          <p:cNvPr id="6" name="Image 0" descr="FaRankingStar">    </p:cNvPr>
          <p:cNvPicPr>
            <a:picLocks noChangeAspect="1"/>
          </p:cNvPicPr>
          <p:nvPr/>
        </p:nvPicPr>
        <p:blipFill>
          <a:blip r:embed="rId1"/>
          <a:stretch>
            <a:fillRect/>
          </a:stretch>
        </p:blipFill>
        <p:spPr>
          <a:xfrm>
            <a:off x="937260" y="2263140"/>
            <a:ext cx="320040" cy="320040"/>
          </a:xfrm>
          <a:prstGeom prst="rect">
            <a:avLst/>
          </a:prstGeom>
        </p:spPr>
      </p:pic>
      <p:sp>
        <p:nvSpPr>
          <p:cNvPr id="7" name="Text 4"/>
          <p:cNvSpPr txBox="1"/>
          <p:nvPr/>
        </p:nvSpPr>
        <p:spPr>
          <a:xfrm>
            <a:off x="822960" y="2926080"/>
            <a:ext cx="3044952" cy="914400"/>
          </a:xfrm>
          <a:prstGeom prst="rect">
            <a:avLst/>
          </a:prstGeom>
          <a:noFill/>
          <a:ln/>
        </p:spPr>
        <p:txBody>
          <a:bodyPr wrap="square" lIns="0" tIns="0" rIns="0" bIns="0" rtlCol="0" anchor="ctr"/>
          <a:lstStyle/>
          <a:p>
            <a:pPr algn="l" indent="0" marL="0">
              <a:buNone/>
            </a:pPr>
            <a:r>
              <a:rPr lang="en-US" sz="5400" b="1" dirty="0">
                <a:solidFill>
                  <a:schemeClr val="accent1"/>
                </a:solidFill>
              </a:rPr>
              <a:t>0,24844</a:t>
            </a:r>
            <a:endParaRPr lang="en-US" sz="5400" dirty="0"/>
          </a:p>
        </p:txBody>
      </p:sp>
      <p:sp>
        <p:nvSpPr>
          <p:cNvPr id="8" name="Text 5"/>
          <p:cNvSpPr txBox="1"/>
          <p:nvPr/>
        </p:nvSpPr>
        <p:spPr>
          <a:xfrm>
            <a:off x="822960" y="3931920"/>
            <a:ext cx="2999232" cy="1463040"/>
          </a:xfrm>
          <a:prstGeom prst="rect">
            <a:avLst/>
          </a:prstGeom>
          <a:noFill/>
          <a:ln/>
        </p:spPr>
        <p:txBody>
          <a:bodyPr wrap="square" lIns="0" tIns="0" rIns="0" bIns="0" rtlCol="0" anchor="t"/>
          <a:lstStyle/>
          <a:p>
            <a:pPr algn="l" indent="0" marL="0">
              <a:buNone/>
            </a:pPr>
            <a:r>
              <a:rPr lang="en-US" sz="1700" dirty="0">
                <a:solidFill>
                  <a:schemeClr val="tx1"/>
                </a:solidFill>
              </a:rPr>
              <a:t>skor privat (makin kecil makin baik), peringkat 8 · publik 0,24913: tidak memburuk</a:t>
            </a:r>
            <a:endParaRPr lang="en-US" sz="1700" dirty="0"/>
          </a:p>
        </p:txBody>
      </p:sp>
      <p:sp>
        <p:nvSpPr>
          <p:cNvPr id="9" name="ubin 2"/>
          <p:cNvSpPr/>
          <p:nvPr/>
        </p:nvSpPr>
        <p:spPr>
          <a:xfrm>
            <a:off x="4344772" y="1874520"/>
            <a:ext cx="3502152" cy="3703320"/>
          </a:xfrm>
          <a:prstGeom prst="roundRect">
            <a:avLst>
              <a:gd name="adj" fmla="val 3133"/>
            </a:avLst>
          </a:prstGeom>
          <a:solidFill>
            <a:schemeClr val="bg2"/>
          </a:solidFill>
          <a:ln/>
        </p:spPr>
      </p:sp>
      <p:sp>
        <p:nvSpPr>
          <p:cNvPr id="10" name="ikon FaScaleBalanced"/>
          <p:cNvSpPr/>
          <p:nvPr/>
        </p:nvSpPr>
        <p:spPr>
          <a:xfrm>
            <a:off x="4573372" y="2103120"/>
            <a:ext cx="640080" cy="640080"/>
          </a:xfrm>
          <a:prstGeom prst="ellipse">
            <a:avLst/>
          </a:prstGeom>
          <a:solidFill>
            <a:schemeClr val="accent2"/>
          </a:solidFill>
          <a:ln/>
        </p:spPr>
      </p:sp>
      <p:pic>
        <p:nvPicPr>
          <p:cNvPr id="11" name="Image 1" descr="FaScaleBalanced">    </p:cNvPr>
          <p:cNvPicPr>
            <a:picLocks noChangeAspect="1"/>
          </p:cNvPicPr>
          <p:nvPr/>
        </p:nvPicPr>
        <p:blipFill>
          <a:blip r:embed="rId2"/>
          <a:stretch>
            <a:fillRect/>
          </a:stretch>
        </p:blipFill>
        <p:spPr>
          <a:xfrm>
            <a:off x="4733392" y="2263140"/>
            <a:ext cx="320040" cy="320040"/>
          </a:xfrm>
          <a:prstGeom prst="rect">
            <a:avLst/>
          </a:prstGeom>
        </p:spPr>
      </p:pic>
      <p:sp>
        <p:nvSpPr>
          <p:cNvPr id="12" name="Text 8"/>
          <p:cNvSpPr txBox="1"/>
          <p:nvPr/>
        </p:nvSpPr>
        <p:spPr>
          <a:xfrm>
            <a:off x="4619092" y="2926080"/>
            <a:ext cx="3044952" cy="914400"/>
          </a:xfrm>
          <a:prstGeom prst="rect">
            <a:avLst/>
          </a:prstGeom>
          <a:noFill/>
          <a:ln/>
        </p:spPr>
        <p:txBody>
          <a:bodyPr wrap="square" lIns="0" tIns="0" rIns="0" bIns="0" rtlCol="0" anchor="ctr"/>
          <a:lstStyle/>
          <a:p>
            <a:pPr algn="l" indent="0" marL="0">
              <a:buNone/>
            </a:pPr>
            <a:r>
              <a:rPr lang="en-US" sz="5400" b="1" dirty="0">
                <a:solidFill>
                  <a:schemeClr val="accent2"/>
                </a:solidFill>
              </a:rPr>
              <a:t>0,4997</a:t>
            </a:r>
            <a:endParaRPr lang="en-US" sz="5400" dirty="0"/>
          </a:p>
        </p:txBody>
      </p:sp>
      <p:sp>
        <p:nvSpPr>
          <p:cNvPr id="13" name="Text 9"/>
          <p:cNvSpPr txBox="1"/>
          <p:nvPr/>
        </p:nvSpPr>
        <p:spPr>
          <a:xfrm>
            <a:off x="4619092" y="3931920"/>
            <a:ext cx="2999232" cy="1463040"/>
          </a:xfrm>
          <a:prstGeom prst="rect">
            <a:avLst/>
          </a:prstGeom>
          <a:noFill/>
          <a:ln/>
        </p:spPr>
        <p:txBody>
          <a:bodyPr wrap="square" lIns="0" tIns="0" rIns="0" bIns="0" rtlCol="0" anchor="t"/>
          <a:lstStyle/>
          <a:p>
            <a:pPr algn="l" indent="0" marL="0">
              <a:buNone/>
            </a:pPr>
            <a:r>
              <a:rPr lang="en-US" sz="1700" dirty="0">
                <a:solidFill>
                  <a:schemeClr val="tx1"/>
                </a:solidFill>
              </a:rPr>
              <a:t>AUC adversarial: latih dan uji tak dapat dibedakan, jadi validasi meniru data uji</a:t>
            </a:r>
            <a:endParaRPr lang="en-US" sz="1700" dirty="0"/>
          </a:p>
        </p:txBody>
      </p:sp>
      <p:sp>
        <p:nvSpPr>
          <p:cNvPr id="14" name="ubin 3"/>
          <p:cNvSpPr/>
          <p:nvPr/>
        </p:nvSpPr>
        <p:spPr>
          <a:xfrm>
            <a:off x="8140903" y="1874520"/>
            <a:ext cx="3502152" cy="3703320"/>
          </a:xfrm>
          <a:prstGeom prst="roundRect">
            <a:avLst>
              <a:gd name="adj" fmla="val 3133"/>
            </a:avLst>
          </a:prstGeom>
          <a:solidFill>
            <a:schemeClr val="bg2"/>
          </a:solidFill>
          <a:ln/>
        </p:spPr>
      </p:sp>
      <p:sp>
        <p:nvSpPr>
          <p:cNvPr id="15" name="ikon FaFingerprint"/>
          <p:cNvSpPr/>
          <p:nvPr/>
        </p:nvSpPr>
        <p:spPr>
          <a:xfrm>
            <a:off x="8369503" y="2103120"/>
            <a:ext cx="640080" cy="640080"/>
          </a:xfrm>
          <a:prstGeom prst="ellipse">
            <a:avLst/>
          </a:prstGeom>
          <a:solidFill>
            <a:schemeClr val="tx2"/>
          </a:solidFill>
          <a:ln/>
        </p:spPr>
      </p:sp>
      <p:pic>
        <p:nvPicPr>
          <p:cNvPr id="16" name="Image 2" descr="FaFingerprint">    </p:cNvPr>
          <p:cNvPicPr>
            <a:picLocks noChangeAspect="1"/>
          </p:cNvPicPr>
          <p:nvPr/>
        </p:nvPicPr>
        <p:blipFill>
          <a:blip r:embed="rId3"/>
          <a:stretch>
            <a:fillRect/>
          </a:stretch>
        </p:blipFill>
        <p:spPr>
          <a:xfrm>
            <a:off x="8529523" y="2263140"/>
            <a:ext cx="320040" cy="320040"/>
          </a:xfrm>
          <a:prstGeom prst="rect">
            <a:avLst/>
          </a:prstGeom>
        </p:spPr>
      </p:pic>
      <p:sp>
        <p:nvSpPr>
          <p:cNvPr id="17" name="Text 12"/>
          <p:cNvSpPr txBox="1"/>
          <p:nvPr/>
        </p:nvSpPr>
        <p:spPr>
          <a:xfrm>
            <a:off x="8415223" y="2926080"/>
            <a:ext cx="3044952" cy="914400"/>
          </a:xfrm>
          <a:prstGeom prst="rect">
            <a:avLst/>
          </a:prstGeom>
          <a:noFill/>
          <a:ln/>
        </p:spPr>
        <p:txBody>
          <a:bodyPr wrap="square" lIns="0" tIns="0" rIns="0" bIns="0" rtlCol="0" anchor="ctr"/>
          <a:lstStyle/>
          <a:p>
            <a:pPr algn="l" indent="0" marL="0">
              <a:buNone/>
            </a:pPr>
            <a:r>
              <a:rPr lang="en-US" sz="3400" b="1" dirty="0">
                <a:solidFill>
                  <a:schemeClr val="tx2"/>
                </a:solidFill>
              </a:rPr>
              <a:t>aec745ab…d66e</a:t>
            </a:r>
            <a:endParaRPr lang="en-US" sz="3400" dirty="0"/>
          </a:p>
        </p:txBody>
      </p:sp>
      <p:sp>
        <p:nvSpPr>
          <p:cNvPr id="18" name="Text 13"/>
          <p:cNvSpPr txBox="1"/>
          <p:nvPr/>
        </p:nvSpPr>
        <p:spPr>
          <a:xfrm>
            <a:off x="8415223" y="3931920"/>
            <a:ext cx="2999232" cy="1463040"/>
          </a:xfrm>
          <a:prstGeom prst="rect">
            <a:avLst/>
          </a:prstGeom>
          <a:noFill/>
          <a:ln/>
        </p:spPr>
        <p:txBody>
          <a:bodyPr wrap="square" lIns="0" tIns="0" rIns="0" bIns="0" rtlCol="0" anchor="t"/>
          <a:lstStyle/>
          <a:p>
            <a:pPr algn="l" indent="0" marL="0">
              <a:buNone/>
            </a:pPr>
            <a:r>
              <a:rPr lang="en-US" sz="1700" dirty="0">
                <a:solidFill>
                  <a:schemeClr val="tx1"/>
                </a:solidFill>
              </a:rPr>
              <a:t>sidik sha256 berkas submisi · </a:t>
            </a:r>
            <a:pPr algn="l" indent="0" marL="0">
              <a:buNone/>
            </a:pPr>
            <a:r>
              <a:rPr lang="en-US" sz="1700" i="1" dirty="0">
                <a:solidFill>
                  <a:schemeClr val="tx1"/>
                </a:solidFill>
              </a:rPr>
              <a:t>notebook</a:t>
            </a:r>
            <a:pPr algn="l" indent="0" marL="0">
              <a:buNone/>
            </a:pPr>
            <a:r>
              <a:rPr lang="en-US" sz="1700" dirty="0">
                <a:solidFill>
                  <a:schemeClr val="tx1"/>
                </a:solidFill>
              </a:rPr>
              <a:t> 56 sel, 17 modul, satu sakelar pelatihan: berkas identik di perangkat yang sama</a:t>
            </a:r>
            <a:endParaRPr lang="en-US" sz="17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IV · KEBIJAKAN PUBLIK</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Peta 330 zona: 118 zona Q1 memuat 47% konsumsi gas,</a:t>
            </a:r>
            <a:br/>
            <a:pPr algn="l" indent="0" marL="0">
              <a:buNone/>
            </a:pPr>
            <a:r>
              <a:rPr lang="en-US" sz="2800" b="1" dirty="0">
                <a:solidFill>
                  <a:schemeClr val="tx2"/>
                </a:solidFill>
              </a:rPr>
              <a:t>jadi program diurutkan per kuadran</a:t>
            </a:r>
            <a:endParaRPr lang="en-US" sz="2800" dirty="0"/>
          </a:p>
        </p:txBody>
      </p:sp>
      <p:pic>
        <p:nvPicPr>
          <p:cNvPr id="4" name="Image 0" descr="Peta kuadran 330 zona: intensitas gas zona terhadap kenaikan konsumsi listrik tahunan, ukuran titik = konsumsi gas zona">    </p:cNvPr>
          <p:cNvPicPr>
            <a:picLocks noChangeAspect="1"/>
          </p:cNvPicPr>
          <p:nvPr/>
        </p:nvPicPr>
        <p:blipFill>
          <a:blip r:embed="rId1"/>
          <a:stretch>
            <a:fillRect/>
          </a:stretch>
        </p:blipFill>
        <p:spPr>
          <a:xfrm>
            <a:off x="548640" y="1691640"/>
            <a:ext cx="5989320" cy="4128516"/>
          </a:xfrm>
          <a:prstGeom prst="rect">
            <a:avLst/>
          </a:prstGeom>
        </p:spPr>
      </p:pic>
      <p:sp>
        <p:nvSpPr>
          <p:cNvPr id="5" name="Text 2"/>
          <p:cNvSpPr txBox="1"/>
          <p:nvPr/>
        </p:nvSpPr>
        <p:spPr>
          <a:xfrm>
            <a:off x="612648" y="5852160"/>
            <a:ext cx="5925312" cy="384048"/>
          </a:xfrm>
          <a:prstGeom prst="rect">
            <a:avLst/>
          </a:prstGeom>
          <a:noFill/>
          <a:ln/>
        </p:spPr>
        <p:txBody>
          <a:bodyPr wrap="square" lIns="0" tIns="0" rIns="0" bIns="0" rtlCol="0" anchor="t"/>
          <a:lstStyle/>
          <a:p>
            <a:pPr algn="l" indent="0" marL="0">
              <a:buNone/>
            </a:pPr>
            <a:r>
              <a:rPr lang="en-US" sz="1100" dirty="0">
                <a:solidFill>
                  <a:schemeClr val="accent5"/>
                </a:solidFill>
              </a:rPr>
              <a:t>Peta kuadran, bukan peta geografis; data tidak memuat koordinat. Nilai zona: aktual 429.303 kawasan latih + prediksi 183.987 kawasan uji</a:t>
            </a:r>
            <a:endParaRPr lang="en-US" sz="1100" dirty="0"/>
          </a:p>
        </p:txBody>
      </p:sp>
      <p:graphicFrame>
        <p:nvGraphicFramePr>
          <p:cNvPr id="9" name="tabel kuadran"/>
          <p:cNvGraphicFramePr>
            <a:graphicFrameLocks noGrp="1"/>
          </p:cNvGraphicFramePr>
          <p:nvPr>
            <p:extLst>
              <p:ext uri="{D42A27DB-BD31-4B8C-83A1-F6EECF244321}">
                <p14:modId xmlns:p14="http://schemas.microsoft.com/office/powerpoint/2010/main" val="1579011935"/>
              </p:ext>
            </p:extLst>
          </p:nvPr>
        </p:nvGraphicFramePr>
        <p:xfrm>
          <a:off x="6812280" y="1691640"/>
          <a:ext cx="4830775" cy="914400"/>
        </p:xfrm>
        <a:graphic>
          <a:graphicData uri="http://schemas.openxmlformats.org/drawingml/2006/table">
            <a:tbl>
              <a:tblPr/>
              <a:tblGrid>
                <a:gridCol w="713232"/>
                <a:gridCol w="548640"/>
                <a:gridCol w="640080"/>
                <a:gridCol w="1042416"/>
                <a:gridCol w="914400"/>
                <a:gridCol w="972007"/>
              </a:tblGrid>
              <a:tr h="566928">
                <a:tc>
                  <a:txBody>
                    <a:bodyPr/>
                    <a:lstStyle/>
                    <a:p>
                      <a:pPr algn="l" indent="0" marL="0">
                        <a:buNone/>
                      </a:pPr>
                      <a:r>
                        <a:rPr lang="en-US" sz="1100" b="1" dirty="0">
                          <a:solidFill>
                            <a:srgbClr val="FFFFFF"/>
                          </a:solidFill>
                        </a:rPr>
                        <a:t>Kuadran</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100" b="1" dirty="0">
                          <a:solidFill>
                            <a:srgbClr val="FFFFFF"/>
                          </a:solidFill>
                        </a:rPr>
                        <a:t>Zona</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100" b="1" dirty="0">
                          <a:solidFill>
                            <a:srgbClr val="FFFFFF"/>
                          </a:solidFill>
                        </a:rPr>
                        <a:t>Porsi gas</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100" b="1" dirty="0">
                          <a:solidFill>
                            <a:srgbClr val="FFFFFF"/>
                          </a:solidFill>
                        </a:rPr>
                        <a:t>Indikator potensi </a:t>
                      </a:r>
                      <a:pPr algn="l" indent="0" marL="0">
                        <a:buNone/>
                      </a:pPr>
                      <a:r>
                        <a:rPr lang="en-US" sz="1100" b="1" i="1" dirty="0">
                          <a:solidFill>
                            <a:srgbClr val="FFFFFF"/>
                          </a:solidFill>
                        </a:rPr>
                        <a:t>retrofit</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100" b="1" dirty="0">
                          <a:solidFill>
                            <a:srgbClr val="FFFFFF"/>
                          </a:solidFill>
                        </a:rPr>
                        <a:t>Kenaikan listrik</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100" b="1" dirty="0">
                          <a:solidFill>
                            <a:srgbClr val="FFFFFF"/>
                          </a:solidFill>
                        </a:rPr>
                        <a:t>Program</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29184">
                <a:tc>
                  <a:txBody>
                    <a:bodyPr/>
                    <a:lstStyle/>
                    <a:p>
                      <a:pPr algn="l" indent="0" marL="0">
                        <a:buNone/>
                      </a:pPr>
                      <a:r>
                        <a:rPr lang="en-US" sz="1400" b="1" dirty="0">
                          <a:solidFill>
                            <a:srgbClr val="D97B29"/>
                          </a:solidFill>
                        </a:rPr>
                        <a:t>Q1</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118</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47%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3,65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+102%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l" indent="0" marL="0">
                        <a:buNone/>
                      </a:pPr>
                      <a:r>
                        <a:rPr lang="en-US" sz="1400" b="1" dirty="0">
                          <a:solidFill>
                            <a:srgbClr val="D97B29"/>
                          </a:solidFill>
                        </a:rPr>
                        <a:t>R1 + R2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r>
              <a:tr h="329184">
                <a:tc>
                  <a:txBody>
                    <a:bodyPr/>
                    <a:lstStyle/>
                    <a:p>
                      <a:pPr algn="l" indent="0" marL="0">
                        <a:buNone/>
                      </a:pPr>
                      <a:r>
                        <a:rPr lang="en-US" sz="1400" b="1" dirty="0">
                          <a:solidFill>
                            <a:srgbClr val="1F2933"/>
                          </a:solidFill>
                        </a:rPr>
                        <a:t>Q2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1,07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+90%</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R3</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b="1" dirty="0">
                          <a:solidFill>
                            <a:srgbClr val="1F2933"/>
                          </a:solidFill>
                        </a:rPr>
                        <a:t>Q3</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15%</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0,86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+99%</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R2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b="1" dirty="0">
                          <a:solidFill>
                            <a:srgbClr val="1F2933"/>
                          </a:solidFill>
                        </a:rPr>
                        <a:t>Q4</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118</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27%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1,81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+87%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standar</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kotak ASUMSI"/>
          <p:cNvSpPr/>
          <p:nvPr/>
        </p:nvSpPr>
        <p:spPr>
          <a:xfrm>
            <a:off x="6812280" y="3794760"/>
            <a:ext cx="4830775" cy="1051560"/>
          </a:xfrm>
          <a:prstGeom prst="roundRect">
            <a:avLst>
              <a:gd name="adj" fmla="val 6957"/>
            </a:avLst>
          </a:prstGeom>
          <a:solidFill>
            <a:schemeClr val="accent3">
              <a:alpha val="10000"/>
            </a:schemeClr>
          </a:solidFill>
          <a:ln/>
        </p:spPr>
      </p:sp>
      <p:sp>
        <p:nvSpPr>
          <p:cNvPr id="8" name="label ASUMSI"/>
          <p:cNvSpPr/>
          <p:nvPr/>
        </p:nvSpPr>
        <p:spPr>
          <a:xfrm>
            <a:off x="6949440" y="3904488"/>
            <a:ext cx="701528" cy="256032"/>
          </a:xfrm>
          <a:prstGeom prst="roundRect">
            <a:avLst>
              <a:gd name="adj" fmla="val 21429"/>
            </a:avLst>
          </a:prstGeom>
          <a:solidFill>
            <a:schemeClr val="accent3"/>
          </a:solidFill>
          <a:ln/>
        </p:spPr>
      </p:sp>
      <p:sp>
        <p:nvSpPr>
          <p:cNvPr id="9" name="Text 5"/>
          <p:cNvSpPr txBox="1"/>
          <p:nvPr/>
        </p:nvSpPr>
        <p:spPr>
          <a:xfrm>
            <a:off x="6949440" y="3904488"/>
            <a:ext cx="701528" cy="256032"/>
          </a:xfrm>
          <a:prstGeom prst="rect">
            <a:avLst/>
          </a:prstGeom>
          <a:noFill/>
          <a:ln/>
        </p:spPr>
        <p:txBody>
          <a:bodyPr wrap="square" lIns="0" tIns="0" rIns="0" bIns="0" rtlCol="0" anchor="ctr"/>
          <a:lstStyle/>
          <a:p>
            <a:pPr algn="ctr" indent="0" marL="0">
              <a:buNone/>
            </a:pPr>
            <a:r>
              <a:rPr lang="en-US" sz="1100" b="1" spc="50" kern="0" dirty="0">
                <a:solidFill>
                  <a:schemeClr val="bg1"/>
                </a:solidFill>
              </a:rPr>
              <a:t>ASUMSI</a:t>
            </a:r>
            <a:endParaRPr lang="en-US" sz="1100" dirty="0"/>
          </a:p>
        </p:txBody>
      </p:sp>
      <p:sp>
        <p:nvSpPr>
          <p:cNvPr id="10" name="Text 6"/>
          <p:cNvSpPr txBox="1"/>
          <p:nvPr/>
        </p:nvSpPr>
        <p:spPr>
          <a:xfrm>
            <a:off x="6949440" y="4187952"/>
            <a:ext cx="4556455" cy="676656"/>
          </a:xfrm>
          <a:prstGeom prst="rect">
            <a:avLst/>
          </a:prstGeom>
          <a:noFill/>
          <a:ln/>
        </p:spPr>
        <p:txBody>
          <a:bodyPr wrap="square" lIns="0" tIns="0" rIns="0" bIns="0" rtlCol="0" anchor="t"/>
          <a:lstStyle/>
          <a:p>
            <a:pPr algn="l" indent="0" marL="0">
              <a:buNone/>
            </a:pPr>
            <a:r>
              <a:rPr lang="en-US" sz="1400" dirty="0">
                <a:solidFill>
                  <a:schemeClr val="tx1"/>
                </a:solidFill>
              </a:rPr>
              <a:t>80% gas untuk pemanasan, COP 3; energi tahunan · potensi </a:t>
            </a:r>
            <a:pPr algn="l" indent="0" marL="0">
              <a:buNone/>
            </a:pPr>
            <a:r>
              <a:rPr lang="en-US" sz="1400" i="1" dirty="0">
                <a:solidFill>
                  <a:schemeClr val="tx1"/>
                </a:solidFill>
              </a:rPr>
              <a:t>retrofit</a:t>
            </a:r>
            <a:pPr algn="l" indent="0" marL="0">
              <a:buNone/>
            </a:pPr>
            <a:r>
              <a:rPr lang="en-US" sz="1400" dirty="0">
                <a:solidFill>
                  <a:schemeClr val="tx1"/>
                </a:solidFill>
              </a:rPr>
              <a:t> 7,39 TWh = indikator, bukan janji penghematan</a:t>
            </a:r>
            <a:endParaRPr lang="en-US" sz="1400" dirty="0"/>
          </a:p>
        </p:txBody>
      </p:sp>
      <p:sp>
        <p:nvSpPr>
          <p:cNvPr id="11" name="kotak UJI KETAHANAN"/>
          <p:cNvSpPr/>
          <p:nvPr/>
        </p:nvSpPr>
        <p:spPr>
          <a:xfrm>
            <a:off x="6812280" y="5001768"/>
            <a:ext cx="4830775" cy="1051560"/>
          </a:xfrm>
          <a:prstGeom prst="roundRect">
            <a:avLst>
              <a:gd name="adj" fmla="val 6957"/>
            </a:avLst>
          </a:prstGeom>
          <a:solidFill>
            <a:schemeClr val="accent2">
              <a:alpha val="10000"/>
            </a:schemeClr>
          </a:solidFill>
          <a:ln/>
        </p:spPr>
      </p:sp>
      <p:sp>
        <p:nvSpPr>
          <p:cNvPr id="12" name="label UJI KETAHANAN"/>
          <p:cNvSpPr/>
          <p:nvPr/>
        </p:nvSpPr>
        <p:spPr>
          <a:xfrm>
            <a:off x="6949440" y="5111496"/>
            <a:ext cx="1349289" cy="256032"/>
          </a:xfrm>
          <a:prstGeom prst="roundRect">
            <a:avLst>
              <a:gd name="adj" fmla="val 21429"/>
            </a:avLst>
          </a:prstGeom>
          <a:solidFill>
            <a:schemeClr val="accent2"/>
          </a:solidFill>
          <a:ln/>
        </p:spPr>
      </p:sp>
      <p:sp>
        <p:nvSpPr>
          <p:cNvPr id="13" name="Text 9"/>
          <p:cNvSpPr txBox="1"/>
          <p:nvPr/>
        </p:nvSpPr>
        <p:spPr>
          <a:xfrm>
            <a:off x="6949440" y="5111496"/>
            <a:ext cx="1349289" cy="256032"/>
          </a:xfrm>
          <a:prstGeom prst="rect">
            <a:avLst/>
          </a:prstGeom>
          <a:noFill/>
          <a:ln/>
        </p:spPr>
        <p:txBody>
          <a:bodyPr wrap="square" lIns="0" tIns="0" rIns="0" bIns="0" rtlCol="0" anchor="ctr"/>
          <a:lstStyle/>
          <a:p>
            <a:pPr algn="ctr" indent="0" marL="0">
              <a:buNone/>
            </a:pPr>
            <a:r>
              <a:rPr lang="en-US" sz="1100" b="1" spc="50" kern="0" dirty="0">
                <a:solidFill>
                  <a:schemeClr val="bg1"/>
                </a:solidFill>
              </a:rPr>
              <a:t>UJI KETAHANAN</a:t>
            </a:r>
            <a:endParaRPr lang="en-US" sz="1100" dirty="0"/>
          </a:p>
        </p:txBody>
      </p:sp>
      <p:sp>
        <p:nvSpPr>
          <p:cNvPr id="14" name="Text 10"/>
          <p:cNvSpPr txBox="1"/>
          <p:nvPr/>
        </p:nvSpPr>
        <p:spPr>
          <a:xfrm>
            <a:off x="6949440" y="5394960"/>
            <a:ext cx="4556455" cy="676656"/>
          </a:xfrm>
          <a:prstGeom prst="rect">
            <a:avLst/>
          </a:prstGeom>
          <a:noFill/>
          <a:ln/>
        </p:spPr>
        <p:txBody>
          <a:bodyPr wrap="square" lIns="0" tIns="0" rIns="0" bIns="0" rtlCol="0" anchor="t"/>
          <a:lstStyle/>
          <a:p>
            <a:pPr algn="l" indent="0" marL="0">
              <a:buNone/>
            </a:pPr>
            <a:r>
              <a:rPr lang="en-US" sz="1400" dirty="0">
                <a:solidFill>
                  <a:schemeClr val="tx1"/>
                </a:solidFill>
              </a:rPr>
              <a:t>tahan derau acak per kawasan (Spearman 0,998); peka COP per iklim (Spearman 0,81) → daftar kandidat</a:t>
            </a:r>
            <a:endParaRPr lang="en-US" sz="14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IV · KEBIJAKAN PUBLIK</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1: </a:t>
            </a:r>
            <a:pPr algn="l" indent="0" marL="0">
              <a:buNone/>
            </a:pPr>
            <a:r>
              <a:rPr lang="en-US" sz="2800" b="1" i="1" dirty="0">
                <a:solidFill>
                  <a:schemeClr val="tx2"/>
                </a:solidFill>
              </a:rPr>
              <a:t>retrofit</a:t>
            </a:r>
            <a:pPr algn="l" indent="0" marL="0">
              <a:buNone/>
            </a:pPr>
            <a:r>
              <a:rPr lang="en-US" sz="2800" b="1" dirty="0">
                <a:solidFill>
                  <a:schemeClr val="tx2"/>
                </a:solidFill>
              </a:rPr>
              <a:t> selubung lebih dulu di zona Q1,</a:t>
            </a:r>
            <a:br/>
            <a:pPr algn="l" indent="0" marL="0">
              <a:buNone/>
            </a:pPr>
            <a:r>
              <a:rPr lang="en-US" sz="2800" b="1" dirty="0">
                <a:solidFill>
                  <a:schemeClr val="tx2"/>
                </a:solidFill>
              </a:rPr>
              <a:t>mulai dari audit energi</a:t>
            </a:r>
            <a:endParaRPr lang="en-US" sz="2800" dirty="0"/>
          </a:p>
        </p:txBody>
      </p:sp>
      <p:pic>
        <p:nvPicPr>
          <p:cNvPr id="4" name="Image 0" descr="Dependensi SHAP luas lantai per meter terhadap gas per m2, model penjelas">    </p:cNvPr>
          <p:cNvPicPr>
            <a:picLocks noChangeAspect="1"/>
          </p:cNvPicPr>
          <p:nvPr/>
        </p:nvPicPr>
        <p:blipFill>
          <a:blip r:embed="rId1"/>
          <a:stretch>
            <a:fillRect/>
          </a:stretch>
        </p:blipFill>
        <p:spPr>
          <a:xfrm>
            <a:off x="548640" y="1691640"/>
            <a:ext cx="5212080" cy="3063240"/>
          </a:xfrm>
          <a:prstGeom prst="rect">
            <a:avLst/>
          </a:prstGeom>
        </p:spPr>
      </p:pic>
      <p:sp>
        <p:nvSpPr>
          <p:cNvPr id="5" name="Text 2"/>
          <p:cNvSpPr txBox="1"/>
          <p:nvPr/>
        </p:nvSpPr>
        <p:spPr>
          <a:xfrm>
            <a:off x="548640" y="4864608"/>
            <a:ext cx="5212080" cy="274320"/>
          </a:xfrm>
          <a:prstGeom prst="rect">
            <a:avLst/>
          </a:prstGeom>
          <a:noFill/>
          <a:ln/>
        </p:spPr>
        <p:txBody>
          <a:bodyPr wrap="square" lIns="0" tIns="0" rIns="0" bIns="0" rtlCol="0" anchor="t"/>
          <a:lstStyle/>
          <a:p>
            <a:pPr algn="l" indent="0" marL="0">
              <a:buNone/>
            </a:pPr>
            <a:r>
              <a:rPr lang="en-US" sz="1200" b="1" dirty="0">
                <a:solidFill>
                  <a:schemeClr val="tx2"/>
                </a:solidFill>
              </a:rPr>
              <a:t>Indikator potensi </a:t>
            </a:r>
            <a:pPr algn="l" indent="0" marL="0">
              <a:buNone/>
            </a:pPr>
            <a:r>
              <a:rPr lang="en-US" sz="1200" b="1" i="1" dirty="0">
                <a:solidFill>
                  <a:schemeClr val="tx2"/>
                </a:solidFill>
              </a:rPr>
              <a:t>retrofit</a:t>
            </a:r>
            <a:pPr algn="l" indent="0" marL="0">
              <a:buNone/>
            </a:pPr>
            <a:r>
              <a:rPr lang="en-US" sz="1200" b="1" dirty="0">
                <a:solidFill>
                  <a:schemeClr val="tx2"/>
                </a:solidFill>
              </a:rPr>
              <a:t>, tiga zona kandidat</a:t>
            </a:r>
            <a:endParaRPr lang="en-US" sz="1200" dirty="0"/>
          </a:p>
        </p:txBody>
      </p:sp>
      <p:graphicFrame>
        <p:nvGraphicFramePr>
          <p:cNvPr id="6" name="grafik indikator retrofit" descr="Indikator potensi retrofit tiga zona kandidat, GWh"/>
          <p:cNvGraphicFramePr/>
          <p:nvPr/>
        </p:nvGraphicFramePr>
        <p:xfrm>
          <a:off x="548640" y="5138928"/>
          <a:ext cx="5212080" cy="1024128"/>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5209032"/>
            <a:ext cx="841248" cy="237744"/>
          </a:xfrm>
          <a:prstGeom prst="rect">
            <a:avLst/>
          </a:prstGeom>
          <a:noFill/>
          <a:ln/>
        </p:spPr>
        <p:txBody>
          <a:bodyPr wrap="square" lIns="0" tIns="0" rIns="0" bIns="0" rtlCol="0" anchor="ctr"/>
          <a:lstStyle/>
          <a:p>
            <a:pPr algn="r" indent="0" marL="0">
              <a:buNone/>
            </a:pPr>
            <a:r>
              <a:rPr lang="en-US" sz="1200" dirty="0">
                <a:solidFill>
                  <a:schemeClr val="tx1"/>
                </a:solidFill>
              </a:rPr>
              <a:t>REG_273</a:t>
            </a:r>
            <a:endParaRPr lang="en-US" sz="1200" dirty="0"/>
          </a:p>
        </p:txBody>
      </p:sp>
      <p:sp>
        <p:nvSpPr>
          <p:cNvPr id="8" name="Text 4"/>
          <p:cNvSpPr txBox="1"/>
          <p:nvPr/>
        </p:nvSpPr>
        <p:spPr>
          <a:xfrm>
            <a:off x="3998900" y="5209032"/>
            <a:ext cx="1828800" cy="237744"/>
          </a:xfrm>
          <a:prstGeom prst="rect">
            <a:avLst/>
          </a:prstGeom>
          <a:noFill/>
          <a:ln/>
        </p:spPr>
        <p:txBody>
          <a:bodyPr wrap="square" lIns="0" tIns="0" rIns="0" bIns="0" rtlCol="0" anchor="ctr"/>
          <a:lstStyle/>
          <a:p>
            <a:pPr algn="l" indent="0" marL="0">
              <a:buNone/>
            </a:pPr>
            <a:r>
              <a:rPr lang="en-US" sz="1200" dirty="0">
                <a:solidFill>
                  <a:schemeClr val="accent5"/>
                </a:solidFill>
              </a:rPr>
              <a:t>≈170 GWh · 7,36% gas zona</a:t>
            </a:r>
            <a:endParaRPr lang="en-US" sz="1200" dirty="0"/>
          </a:p>
        </p:txBody>
      </p:sp>
      <p:sp>
        <p:nvSpPr>
          <p:cNvPr id="9" name="Text 5"/>
          <p:cNvSpPr txBox="1"/>
          <p:nvPr/>
        </p:nvSpPr>
        <p:spPr>
          <a:xfrm>
            <a:off x="548640" y="5532120"/>
            <a:ext cx="841248" cy="237744"/>
          </a:xfrm>
          <a:prstGeom prst="rect">
            <a:avLst/>
          </a:prstGeom>
          <a:noFill/>
          <a:ln/>
        </p:spPr>
        <p:txBody>
          <a:bodyPr wrap="square" lIns="0" tIns="0" rIns="0" bIns="0" rtlCol="0" anchor="ctr"/>
          <a:lstStyle/>
          <a:p>
            <a:pPr algn="r" indent="0" marL="0">
              <a:buNone/>
            </a:pPr>
            <a:r>
              <a:rPr lang="en-US" sz="1200" dirty="0">
                <a:solidFill>
                  <a:schemeClr val="tx1"/>
                </a:solidFill>
              </a:rPr>
              <a:t>REG_270</a:t>
            </a:r>
            <a:endParaRPr lang="en-US" sz="1200" dirty="0"/>
          </a:p>
        </p:txBody>
      </p:sp>
      <p:sp>
        <p:nvSpPr>
          <p:cNvPr id="10" name="Text 6"/>
          <p:cNvSpPr txBox="1"/>
          <p:nvPr/>
        </p:nvSpPr>
        <p:spPr>
          <a:xfrm>
            <a:off x="3561664" y="5532120"/>
            <a:ext cx="1828800" cy="237744"/>
          </a:xfrm>
          <a:prstGeom prst="rect">
            <a:avLst/>
          </a:prstGeom>
          <a:noFill/>
          <a:ln/>
        </p:spPr>
        <p:txBody>
          <a:bodyPr wrap="square" lIns="0" tIns="0" rIns="0" bIns="0" rtlCol="0" anchor="ctr"/>
          <a:lstStyle/>
          <a:p>
            <a:pPr algn="l" indent="0" marL="0">
              <a:buNone/>
            </a:pPr>
            <a:r>
              <a:rPr lang="en-US" sz="1200" dirty="0">
                <a:solidFill>
                  <a:schemeClr val="accent5"/>
                </a:solidFill>
              </a:rPr>
              <a:t>≈140 GWh · 8,60% gas zona</a:t>
            </a:r>
            <a:endParaRPr lang="en-US" sz="1200" dirty="0"/>
          </a:p>
        </p:txBody>
      </p:sp>
      <p:sp>
        <p:nvSpPr>
          <p:cNvPr id="11" name="Text 7"/>
          <p:cNvSpPr txBox="1"/>
          <p:nvPr/>
        </p:nvSpPr>
        <p:spPr>
          <a:xfrm>
            <a:off x="548640" y="5855208"/>
            <a:ext cx="841248" cy="237744"/>
          </a:xfrm>
          <a:prstGeom prst="rect">
            <a:avLst/>
          </a:prstGeom>
          <a:noFill/>
          <a:ln/>
        </p:spPr>
        <p:txBody>
          <a:bodyPr wrap="square" lIns="0" tIns="0" rIns="0" bIns="0" rtlCol="0" anchor="ctr"/>
          <a:lstStyle/>
          <a:p>
            <a:pPr algn="r" indent="0" marL="0">
              <a:buNone/>
            </a:pPr>
            <a:r>
              <a:rPr lang="en-US" sz="1200" dirty="0">
                <a:solidFill>
                  <a:schemeClr val="tx1"/>
                </a:solidFill>
              </a:rPr>
              <a:t>REG_045</a:t>
            </a:r>
            <a:endParaRPr lang="en-US" sz="1200" dirty="0"/>
          </a:p>
        </p:txBody>
      </p:sp>
      <p:sp>
        <p:nvSpPr>
          <p:cNvPr id="12" name="Text 8"/>
          <p:cNvSpPr txBox="1"/>
          <p:nvPr/>
        </p:nvSpPr>
        <p:spPr>
          <a:xfrm>
            <a:off x="3140354" y="5855208"/>
            <a:ext cx="1828800" cy="237744"/>
          </a:xfrm>
          <a:prstGeom prst="rect">
            <a:avLst/>
          </a:prstGeom>
          <a:noFill/>
          <a:ln/>
        </p:spPr>
        <p:txBody>
          <a:bodyPr wrap="square" lIns="0" tIns="0" rIns="0" bIns="0" rtlCol="0" anchor="ctr"/>
          <a:lstStyle/>
          <a:p>
            <a:pPr algn="l" indent="0" marL="0">
              <a:buNone/>
            </a:pPr>
            <a:r>
              <a:rPr lang="en-US" sz="1200" dirty="0">
                <a:solidFill>
                  <a:schemeClr val="accent5"/>
                </a:solidFill>
              </a:rPr>
              <a:t>≈111 GWh · 6,69% gas zona</a:t>
            </a:r>
            <a:endParaRPr lang="en-US" sz="1200" dirty="0"/>
          </a:p>
        </p:txBody>
      </p:sp>
      <p:sp>
        <p:nvSpPr>
          <p:cNvPr id="13" name="rantai TEMUAN"/>
          <p:cNvSpPr/>
          <p:nvPr/>
        </p:nvSpPr>
        <p:spPr>
          <a:xfrm>
            <a:off x="6035040" y="1691640"/>
            <a:ext cx="5608015" cy="932688"/>
          </a:xfrm>
          <a:prstGeom prst="roundRect">
            <a:avLst>
              <a:gd name="adj" fmla="val 7843"/>
            </a:avLst>
          </a:prstGeom>
          <a:solidFill>
            <a:schemeClr val="tx2">
              <a:alpha val="9000"/>
            </a:schemeClr>
          </a:solidFill>
          <a:ln/>
        </p:spPr>
      </p:sp>
      <p:sp>
        <p:nvSpPr>
          <p:cNvPr id="14" name="label TEMUAN"/>
          <p:cNvSpPr/>
          <p:nvPr/>
        </p:nvSpPr>
        <p:spPr>
          <a:xfrm>
            <a:off x="6172200" y="1801368"/>
            <a:ext cx="1298448" cy="274320"/>
          </a:xfrm>
          <a:prstGeom prst="roundRect">
            <a:avLst>
              <a:gd name="adj" fmla="val 20000"/>
            </a:avLst>
          </a:prstGeom>
          <a:solidFill>
            <a:schemeClr val="tx2"/>
          </a:solidFill>
          <a:ln/>
        </p:spPr>
      </p:sp>
      <p:sp>
        <p:nvSpPr>
          <p:cNvPr id="15" name="Text 11"/>
          <p:cNvSpPr txBox="1"/>
          <p:nvPr/>
        </p:nvSpPr>
        <p:spPr>
          <a:xfrm>
            <a:off x="6172200" y="1801368"/>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TEMUAN</a:t>
            </a:r>
            <a:endParaRPr lang="en-US" sz="1100" dirty="0"/>
          </a:p>
        </p:txBody>
      </p:sp>
      <p:sp>
        <p:nvSpPr>
          <p:cNvPr id="16" name="Text 12"/>
          <p:cNvSpPr txBox="1"/>
          <p:nvPr/>
        </p:nvSpPr>
        <p:spPr>
          <a:xfrm>
            <a:off x="7607808" y="1783080"/>
            <a:ext cx="3916375" cy="768096"/>
          </a:xfrm>
          <a:prstGeom prst="rect">
            <a:avLst/>
          </a:prstGeom>
          <a:noFill/>
          <a:ln/>
        </p:spPr>
        <p:txBody>
          <a:bodyPr wrap="square" lIns="0" tIns="0" rIns="0" bIns="0" rtlCol="0" anchor="t"/>
          <a:lstStyle/>
          <a:p>
            <a:pPr algn="l" indent="0" marL="0">
              <a:buNone/>
            </a:pPr>
            <a:r>
              <a:rPr lang="en-US" sz="1500" dirty="0">
                <a:solidFill>
                  <a:schemeClr val="tx1"/>
                </a:solidFill>
              </a:rPr>
              <a:t>rumah terkecil: sumbangan gas per m² +65% vs terbesar (antarkuartil +34%); periode bld_era_15: +7% EUI</a:t>
            </a:r>
            <a:endParaRPr lang="en-US" sz="1500" dirty="0"/>
          </a:p>
        </p:txBody>
      </p:sp>
      <p:sp>
        <p:nvSpPr>
          <p:cNvPr id="17" name="panah rantai"/>
          <p:cNvSpPr/>
          <p:nvPr/>
        </p:nvSpPr>
        <p:spPr>
          <a:xfrm flipV="1">
            <a:off x="6684264" y="2770632"/>
            <a:ext cx="274320" cy="109728"/>
          </a:xfrm>
          <a:prstGeom prst="triangle">
            <a:avLst/>
          </a:prstGeom>
          <a:solidFill>
            <a:schemeClr val="accent4"/>
          </a:solidFill>
          <a:ln/>
        </p:spPr>
      </p:sp>
      <p:sp>
        <p:nvSpPr>
          <p:cNvPr id="18" name="rantai INTERPRETASI"/>
          <p:cNvSpPr/>
          <p:nvPr/>
        </p:nvSpPr>
        <p:spPr>
          <a:xfrm>
            <a:off x="6035040" y="3026664"/>
            <a:ext cx="5608015" cy="704088"/>
          </a:xfrm>
          <a:prstGeom prst="roundRect">
            <a:avLst>
              <a:gd name="adj" fmla="val 10390"/>
            </a:avLst>
          </a:prstGeom>
          <a:solidFill>
            <a:schemeClr val="accent3">
              <a:alpha val="9000"/>
            </a:schemeClr>
          </a:solidFill>
          <a:ln/>
        </p:spPr>
      </p:sp>
      <p:sp>
        <p:nvSpPr>
          <p:cNvPr id="19" name="label INTERPRETASI"/>
          <p:cNvSpPr/>
          <p:nvPr/>
        </p:nvSpPr>
        <p:spPr>
          <a:xfrm>
            <a:off x="6172200" y="3136392"/>
            <a:ext cx="1298448" cy="274320"/>
          </a:xfrm>
          <a:prstGeom prst="roundRect">
            <a:avLst>
              <a:gd name="adj" fmla="val 20000"/>
            </a:avLst>
          </a:prstGeom>
          <a:solidFill>
            <a:schemeClr val="accent3"/>
          </a:solidFill>
          <a:ln/>
        </p:spPr>
      </p:sp>
      <p:sp>
        <p:nvSpPr>
          <p:cNvPr id="20" name="Text 16"/>
          <p:cNvSpPr txBox="1"/>
          <p:nvPr/>
        </p:nvSpPr>
        <p:spPr>
          <a:xfrm>
            <a:off x="6172200" y="3136392"/>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INTERPRETASI</a:t>
            </a:r>
            <a:endParaRPr lang="en-US" sz="1100" dirty="0"/>
          </a:p>
        </p:txBody>
      </p:sp>
      <p:sp>
        <p:nvSpPr>
          <p:cNvPr id="21" name="Text 17"/>
          <p:cNvSpPr txBox="1"/>
          <p:nvPr/>
        </p:nvSpPr>
        <p:spPr>
          <a:xfrm>
            <a:off x="7607808" y="3118104"/>
            <a:ext cx="3916375" cy="539496"/>
          </a:xfrm>
          <a:prstGeom prst="rect">
            <a:avLst/>
          </a:prstGeom>
          <a:noFill/>
          <a:ln/>
        </p:spPr>
        <p:txBody>
          <a:bodyPr wrap="square" lIns="0" tIns="0" rIns="0" bIns="0" rtlCol="0" anchor="t"/>
          <a:lstStyle/>
          <a:p>
            <a:pPr algn="l" indent="0" marL="0">
              <a:buNone/>
            </a:pPr>
            <a:r>
              <a:rPr lang="en-US" sz="1500" dirty="0">
                <a:solidFill>
                  <a:schemeClr val="tx1"/>
                </a:solidFill>
              </a:rPr>
              <a:t>dinding dan atap relatif luas; asosiasi, bukan sebab-akibat</a:t>
            </a:r>
            <a:endParaRPr lang="en-US" sz="1500" dirty="0"/>
          </a:p>
        </p:txBody>
      </p:sp>
      <p:sp>
        <p:nvSpPr>
          <p:cNvPr id="22" name="panah rantai"/>
          <p:cNvSpPr/>
          <p:nvPr/>
        </p:nvSpPr>
        <p:spPr>
          <a:xfrm flipV="1">
            <a:off x="6684264" y="3877056"/>
            <a:ext cx="274320" cy="109728"/>
          </a:xfrm>
          <a:prstGeom prst="triangle">
            <a:avLst/>
          </a:prstGeom>
          <a:solidFill>
            <a:schemeClr val="accent4"/>
          </a:solidFill>
          <a:ln/>
        </p:spPr>
      </p:sp>
      <p:sp>
        <p:nvSpPr>
          <p:cNvPr id="23" name="rantai REKOMENDASI"/>
          <p:cNvSpPr/>
          <p:nvPr/>
        </p:nvSpPr>
        <p:spPr>
          <a:xfrm>
            <a:off x="6035040" y="4133088"/>
            <a:ext cx="5608015" cy="932688"/>
          </a:xfrm>
          <a:prstGeom prst="roundRect">
            <a:avLst>
              <a:gd name="adj" fmla="val 7843"/>
            </a:avLst>
          </a:prstGeom>
          <a:solidFill>
            <a:schemeClr val="accent1">
              <a:alpha val="16000"/>
            </a:schemeClr>
          </a:solidFill>
          <a:ln/>
        </p:spPr>
      </p:sp>
      <p:sp>
        <p:nvSpPr>
          <p:cNvPr id="24" name="label REKOMENDASI"/>
          <p:cNvSpPr/>
          <p:nvPr/>
        </p:nvSpPr>
        <p:spPr>
          <a:xfrm>
            <a:off x="6172200" y="4242816"/>
            <a:ext cx="1298448" cy="274320"/>
          </a:xfrm>
          <a:prstGeom prst="roundRect">
            <a:avLst>
              <a:gd name="adj" fmla="val 20000"/>
            </a:avLst>
          </a:prstGeom>
          <a:solidFill>
            <a:schemeClr val="accent1"/>
          </a:solidFill>
          <a:ln/>
        </p:spPr>
      </p:sp>
      <p:sp>
        <p:nvSpPr>
          <p:cNvPr id="25" name="Text 21"/>
          <p:cNvSpPr txBox="1"/>
          <p:nvPr/>
        </p:nvSpPr>
        <p:spPr>
          <a:xfrm>
            <a:off x="6172200" y="4242816"/>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REKOMENDASI</a:t>
            </a:r>
            <a:endParaRPr lang="en-US" sz="1100" dirty="0"/>
          </a:p>
        </p:txBody>
      </p:sp>
      <p:sp>
        <p:nvSpPr>
          <p:cNvPr id="26" name="Text 22"/>
          <p:cNvSpPr txBox="1"/>
          <p:nvPr/>
        </p:nvSpPr>
        <p:spPr>
          <a:xfrm>
            <a:off x="7607808" y="4224528"/>
            <a:ext cx="3916375" cy="768096"/>
          </a:xfrm>
          <a:prstGeom prst="rect">
            <a:avLst/>
          </a:prstGeom>
          <a:noFill/>
          <a:ln/>
        </p:spPr>
        <p:txBody>
          <a:bodyPr wrap="square" lIns="0" tIns="0" rIns="0" bIns="0" rtlCol="0" anchor="t"/>
          <a:lstStyle/>
          <a:p>
            <a:pPr algn="l" indent="0" marL="0">
              <a:buNone/>
            </a:pPr>
            <a:r>
              <a:rPr lang="en-US" sz="1500" b="1" dirty="0">
                <a:solidFill>
                  <a:schemeClr val="tx1"/>
                </a:solidFill>
              </a:rPr>
              <a:t>dinding, atap, jendela dulu, pompa panas kemudian; Q1 = 47% gas, indikator potensi 3,65 TWh</a:t>
            </a:r>
            <a:endParaRPr lang="en-US" sz="1500" dirty="0"/>
          </a:p>
        </p:txBody>
      </p:sp>
      <p:sp>
        <p:nvSpPr>
          <p:cNvPr id="27" name="panah rantai"/>
          <p:cNvSpPr/>
          <p:nvPr/>
        </p:nvSpPr>
        <p:spPr>
          <a:xfrm flipV="1">
            <a:off x="6684264" y="5212080"/>
            <a:ext cx="274320" cy="109728"/>
          </a:xfrm>
          <a:prstGeom prst="triangle">
            <a:avLst/>
          </a:prstGeom>
          <a:solidFill>
            <a:schemeClr val="accent4"/>
          </a:solidFill>
          <a:ln/>
        </p:spPr>
      </p:sp>
      <p:sp>
        <p:nvSpPr>
          <p:cNvPr id="28" name="rantai LANGKAH"/>
          <p:cNvSpPr/>
          <p:nvPr/>
        </p:nvSpPr>
        <p:spPr>
          <a:xfrm>
            <a:off x="6035040" y="5468112"/>
            <a:ext cx="5608015" cy="704088"/>
          </a:xfrm>
          <a:prstGeom prst="roundRect">
            <a:avLst>
              <a:gd name="adj" fmla="val 10390"/>
            </a:avLst>
          </a:prstGeom>
          <a:solidFill>
            <a:schemeClr val="accent2">
              <a:alpha val="9000"/>
            </a:schemeClr>
          </a:solidFill>
          <a:ln/>
        </p:spPr>
      </p:sp>
      <p:sp>
        <p:nvSpPr>
          <p:cNvPr id="29" name="label LANGKAH"/>
          <p:cNvSpPr/>
          <p:nvPr/>
        </p:nvSpPr>
        <p:spPr>
          <a:xfrm>
            <a:off x="6172200" y="5577840"/>
            <a:ext cx="1298448" cy="274320"/>
          </a:xfrm>
          <a:prstGeom prst="roundRect">
            <a:avLst>
              <a:gd name="adj" fmla="val 20000"/>
            </a:avLst>
          </a:prstGeom>
          <a:solidFill>
            <a:schemeClr val="accent2"/>
          </a:solidFill>
          <a:ln/>
        </p:spPr>
      </p:sp>
      <p:sp>
        <p:nvSpPr>
          <p:cNvPr id="30" name="Text 26"/>
          <p:cNvSpPr txBox="1"/>
          <p:nvPr/>
        </p:nvSpPr>
        <p:spPr>
          <a:xfrm>
            <a:off x="6172200" y="5577840"/>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LANGKAH</a:t>
            </a:r>
            <a:endParaRPr lang="en-US" sz="1100" dirty="0"/>
          </a:p>
        </p:txBody>
      </p:sp>
      <p:sp>
        <p:nvSpPr>
          <p:cNvPr id="31" name="Text 27"/>
          <p:cNvSpPr txBox="1"/>
          <p:nvPr/>
        </p:nvSpPr>
        <p:spPr>
          <a:xfrm>
            <a:off x="7607808" y="5559552"/>
            <a:ext cx="3916375" cy="539496"/>
          </a:xfrm>
          <a:prstGeom prst="rect">
            <a:avLst/>
          </a:prstGeom>
          <a:noFill/>
          <a:ln/>
        </p:spPr>
        <p:txBody>
          <a:bodyPr wrap="square" lIns="0" tIns="0" rIns="0" bIns="0" rtlCol="0" anchor="t"/>
          <a:lstStyle/>
          <a:p>
            <a:pPr algn="l" indent="0" marL="0">
              <a:buNone/>
            </a:pPr>
            <a:r>
              <a:rPr lang="en-US" sz="1500" dirty="0">
                <a:solidFill>
                  <a:schemeClr val="tx1"/>
                </a:solidFill>
              </a:rPr>
              <a:t>audit energi REG_273, REG_270, REG_045 → pilot dengan pembanding → ukur gas per m²</a:t>
            </a:r>
            <a:endParaRPr lang="en-US" sz="15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IV · KEBIJAKAN PUBLIK</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2: kapasitas gardu dinilai</a:t>
            </a:r>
            <a:br/>
            <a:pPr algn="l" indent="0" marL="0">
              <a:buNone/>
            </a:pPr>
            <a:r>
              <a:rPr lang="en-US" sz="2800" b="1" dirty="0">
                <a:solidFill>
                  <a:schemeClr val="tx2"/>
                </a:solidFill>
              </a:rPr>
              <a:t>sebelum subsidi pompa panas dibuka</a:t>
            </a:r>
            <a:endParaRPr lang="en-US" sz="2800" dirty="0"/>
          </a:p>
        </p:txBody>
      </p:sp>
      <p:sp>
        <p:nvSpPr>
          <p:cNvPr id="4" name="Text 2"/>
          <p:cNvSpPr txBox="1"/>
          <p:nvPr/>
        </p:nvSpPr>
        <p:spPr>
          <a:xfrm>
            <a:off x="548640" y="1691640"/>
            <a:ext cx="5212080" cy="274320"/>
          </a:xfrm>
          <a:prstGeom prst="rect">
            <a:avLst/>
          </a:prstGeom>
          <a:noFill/>
          <a:ln/>
        </p:spPr>
        <p:txBody>
          <a:bodyPr wrap="square" lIns="0" tIns="0" rIns="0" bIns="0" rtlCol="0" anchor="t"/>
          <a:lstStyle/>
          <a:p>
            <a:pPr algn="l" indent="0" marL="0">
              <a:buNone/>
            </a:pPr>
            <a:r>
              <a:rPr lang="en-US" sz="1200" b="1" dirty="0">
                <a:solidFill>
                  <a:schemeClr val="tx2"/>
                </a:solidFill>
              </a:rPr>
              <a:t>Kenaikan konsumsi listrik tahunan, lima zona tertinggi (COP 3)</a:t>
            </a:r>
            <a:endParaRPr lang="en-US" sz="1200" dirty="0"/>
          </a:p>
        </p:txBody>
      </p:sp>
      <p:sp>
        <p:nvSpPr>
          <p:cNvPr id="5" name="Text 3"/>
          <p:cNvSpPr txBox="1"/>
          <p:nvPr/>
        </p:nvSpPr>
        <p:spPr>
          <a:xfrm>
            <a:off x="4617720" y="1947672"/>
            <a:ext cx="1143000" cy="384048"/>
          </a:xfrm>
          <a:prstGeom prst="rect">
            <a:avLst/>
          </a:prstGeom>
          <a:noFill/>
          <a:ln/>
        </p:spPr>
        <p:txBody>
          <a:bodyPr wrap="square" lIns="0" tIns="0" rIns="0" bIns="0" rtlCol="0" anchor="t"/>
          <a:lstStyle/>
          <a:p>
            <a:pPr algn="ctr" indent="0" marL="0">
              <a:buNone/>
            </a:pPr>
            <a:r>
              <a:rPr lang="en-US" sz="1000" dirty="0">
                <a:solidFill>
                  <a:schemeClr val="accent5"/>
                </a:solidFill>
              </a:rPr>
              <a:t>peringkat pada COP per iklim</a:t>
            </a:r>
            <a:endParaRPr lang="en-US" sz="1000" dirty="0"/>
          </a:p>
        </p:txBody>
      </p:sp>
      <p:sp>
        <p:nvSpPr>
          <p:cNvPr id="6" name="Text 4"/>
          <p:cNvSpPr txBox="1"/>
          <p:nvPr/>
        </p:nvSpPr>
        <p:spPr>
          <a:xfrm>
            <a:off x="548640" y="1965960"/>
            <a:ext cx="3931920" cy="329184"/>
          </a:xfrm>
          <a:prstGeom prst="rect">
            <a:avLst/>
          </a:prstGeom>
          <a:noFill/>
          <a:ln/>
        </p:spPr>
        <p:txBody>
          <a:bodyPr wrap="square" lIns="0" tIns="0" rIns="0" bIns="0" rtlCol="0" anchor="t"/>
          <a:lstStyle/>
          <a:p>
            <a:pPr algn="l" indent="0" marL="0">
              <a:buNone/>
            </a:pPr>
            <a:r>
              <a:rPr lang="en-US" sz="1000" dirty="0">
                <a:solidFill>
                  <a:schemeClr val="accent5"/>
                </a:solidFill>
              </a:rPr>
              <a:t>jingga = titik awal penilaian · merah = keluar dari sepuluh besar</a:t>
            </a:r>
            <a:endParaRPr lang="en-US" sz="1000" dirty="0"/>
          </a:p>
        </p:txBody>
      </p:sp>
      <p:graphicFrame>
        <p:nvGraphicFramePr>
          <p:cNvPr id="7" name="grafik kenaikan tertinggi" descr="Kenaikan konsumsi listrik tahunan lima zona tertinggi dan median 330 zona"/>
          <p:cNvGraphicFramePr/>
          <p:nvPr/>
        </p:nvGraphicFramePr>
        <p:xfrm>
          <a:off x="548640" y="2331720"/>
          <a:ext cx="5212080" cy="1828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48640" y="2378964"/>
            <a:ext cx="1234440" cy="256032"/>
          </a:xfrm>
          <a:prstGeom prst="rect">
            <a:avLst/>
          </a:prstGeom>
          <a:noFill/>
          <a:ln/>
        </p:spPr>
        <p:txBody>
          <a:bodyPr wrap="square" lIns="0" tIns="0" rIns="0" bIns="0" rtlCol="0" anchor="ctr"/>
          <a:lstStyle/>
          <a:p>
            <a:pPr algn="r" indent="0" marL="0">
              <a:buNone/>
            </a:pPr>
            <a:r>
              <a:rPr lang="en-US" sz="1200" dirty="0">
                <a:solidFill>
                  <a:schemeClr val="tx1"/>
                </a:solidFill>
              </a:rPr>
              <a:t>REG_290</a:t>
            </a:r>
            <a:endParaRPr lang="en-US" sz="1200" dirty="0"/>
          </a:p>
        </p:txBody>
      </p:sp>
      <p:sp>
        <p:nvSpPr>
          <p:cNvPr id="9" name="Text 6"/>
          <p:cNvSpPr txBox="1"/>
          <p:nvPr/>
        </p:nvSpPr>
        <p:spPr>
          <a:xfrm>
            <a:off x="3811450" y="2378964"/>
            <a:ext cx="868680" cy="256032"/>
          </a:xfrm>
          <a:prstGeom prst="rect">
            <a:avLst/>
          </a:prstGeom>
          <a:noFill/>
          <a:ln/>
        </p:spPr>
        <p:txBody>
          <a:bodyPr wrap="square" lIns="0" tIns="0" rIns="0" bIns="0" rtlCol="0" anchor="ctr"/>
          <a:lstStyle/>
          <a:p>
            <a:pPr algn="l" indent="0" marL="0">
              <a:buNone/>
            </a:pPr>
            <a:r>
              <a:rPr lang="en-US" sz="1200" b="1" dirty="0">
                <a:solidFill>
                  <a:schemeClr val="tx1"/>
                </a:solidFill>
              </a:rPr>
              <a:t>+121,41%</a:t>
            </a:r>
            <a:endParaRPr lang="en-US" sz="1200" dirty="0"/>
          </a:p>
        </p:txBody>
      </p:sp>
      <p:sp>
        <p:nvSpPr>
          <p:cNvPr id="10" name="Text 7"/>
          <p:cNvSpPr txBox="1"/>
          <p:nvPr/>
        </p:nvSpPr>
        <p:spPr>
          <a:xfrm>
            <a:off x="4617720" y="2378964"/>
            <a:ext cx="1143000" cy="256032"/>
          </a:xfrm>
          <a:prstGeom prst="rect">
            <a:avLst/>
          </a:prstGeom>
          <a:noFill/>
          <a:ln/>
        </p:spPr>
        <p:txBody>
          <a:bodyPr wrap="square" lIns="0" tIns="0" rIns="0" bIns="0" rtlCol="0" anchor="ctr"/>
          <a:lstStyle/>
          <a:p>
            <a:pPr algn="ctr" indent="0" marL="0">
              <a:buNone/>
            </a:pPr>
            <a:r>
              <a:rPr lang="en-US" sz="1300" b="1" dirty="0">
                <a:solidFill>
                  <a:schemeClr val="accent6"/>
                </a:solidFill>
              </a:rPr>
              <a:t>47</a:t>
            </a:r>
            <a:endParaRPr lang="en-US" sz="1300" dirty="0"/>
          </a:p>
        </p:txBody>
      </p:sp>
      <p:sp>
        <p:nvSpPr>
          <p:cNvPr id="11" name="Text 8"/>
          <p:cNvSpPr txBox="1"/>
          <p:nvPr/>
        </p:nvSpPr>
        <p:spPr>
          <a:xfrm>
            <a:off x="548640" y="2674620"/>
            <a:ext cx="1234440" cy="256032"/>
          </a:xfrm>
          <a:prstGeom prst="rect">
            <a:avLst/>
          </a:prstGeom>
          <a:noFill/>
          <a:ln/>
        </p:spPr>
        <p:txBody>
          <a:bodyPr wrap="square" lIns="0" tIns="0" rIns="0" bIns="0" rtlCol="0" anchor="ctr"/>
          <a:lstStyle/>
          <a:p>
            <a:pPr algn="r" indent="0" marL="0">
              <a:buNone/>
            </a:pPr>
            <a:r>
              <a:rPr lang="en-US" sz="1200" dirty="0">
                <a:solidFill>
                  <a:schemeClr val="tx1"/>
                </a:solidFill>
              </a:rPr>
              <a:t>REG_259</a:t>
            </a:r>
            <a:endParaRPr lang="en-US" sz="1200" dirty="0"/>
          </a:p>
        </p:txBody>
      </p:sp>
      <p:sp>
        <p:nvSpPr>
          <p:cNvPr id="12" name="Text 9"/>
          <p:cNvSpPr txBox="1"/>
          <p:nvPr/>
        </p:nvSpPr>
        <p:spPr>
          <a:xfrm>
            <a:off x="3712208" y="2674620"/>
            <a:ext cx="868680" cy="256032"/>
          </a:xfrm>
          <a:prstGeom prst="rect">
            <a:avLst/>
          </a:prstGeom>
          <a:noFill/>
          <a:ln/>
        </p:spPr>
        <p:txBody>
          <a:bodyPr wrap="square" lIns="0" tIns="0" rIns="0" bIns="0" rtlCol="0" anchor="ctr"/>
          <a:lstStyle/>
          <a:p>
            <a:pPr algn="l" indent="0" marL="0">
              <a:buNone/>
            </a:pPr>
            <a:r>
              <a:rPr lang="en-US" sz="1200" b="1" dirty="0">
                <a:solidFill>
                  <a:schemeClr val="tx1"/>
                </a:solidFill>
              </a:rPr>
              <a:t>+115,10%</a:t>
            </a:r>
            <a:endParaRPr lang="en-US" sz="1200" dirty="0"/>
          </a:p>
        </p:txBody>
      </p:sp>
      <p:sp>
        <p:nvSpPr>
          <p:cNvPr id="13" name="Text 10"/>
          <p:cNvSpPr txBox="1"/>
          <p:nvPr/>
        </p:nvSpPr>
        <p:spPr>
          <a:xfrm>
            <a:off x="4617720" y="2674620"/>
            <a:ext cx="1143000" cy="256032"/>
          </a:xfrm>
          <a:prstGeom prst="rect">
            <a:avLst/>
          </a:prstGeom>
          <a:noFill/>
          <a:ln/>
        </p:spPr>
        <p:txBody>
          <a:bodyPr wrap="square" lIns="0" tIns="0" rIns="0" bIns="0" rtlCol="0" anchor="ctr"/>
          <a:lstStyle/>
          <a:p>
            <a:pPr algn="ctr" indent="0" marL="0">
              <a:buNone/>
            </a:pPr>
            <a:r>
              <a:rPr lang="en-US" sz="1300" b="1" dirty="0">
                <a:solidFill>
                  <a:schemeClr val="accent2"/>
                </a:solidFill>
              </a:rPr>
              <a:t>6</a:t>
            </a:r>
            <a:endParaRPr lang="en-US" sz="1300" dirty="0"/>
          </a:p>
        </p:txBody>
      </p:sp>
      <p:sp>
        <p:nvSpPr>
          <p:cNvPr id="14" name="Text 11"/>
          <p:cNvSpPr txBox="1"/>
          <p:nvPr/>
        </p:nvSpPr>
        <p:spPr>
          <a:xfrm>
            <a:off x="548640" y="2970276"/>
            <a:ext cx="1234440" cy="256032"/>
          </a:xfrm>
          <a:prstGeom prst="rect">
            <a:avLst/>
          </a:prstGeom>
          <a:noFill/>
          <a:ln/>
        </p:spPr>
        <p:txBody>
          <a:bodyPr wrap="square" lIns="0" tIns="0" rIns="0" bIns="0" rtlCol="0" anchor="ctr"/>
          <a:lstStyle/>
          <a:p>
            <a:pPr algn="r" indent="0" marL="0">
              <a:buNone/>
            </a:pPr>
            <a:r>
              <a:rPr lang="en-US" sz="1200" dirty="0">
                <a:solidFill>
                  <a:schemeClr val="tx1"/>
                </a:solidFill>
              </a:rPr>
              <a:t>REG_275</a:t>
            </a:r>
            <a:endParaRPr lang="en-US" sz="1200" dirty="0"/>
          </a:p>
        </p:txBody>
      </p:sp>
      <p:sp>
        <p:nvSpPr>
          <p:cNvPr id="15" name="Text 12"/>
          <p:cNvSpPr txBox="1"/>
          <p:nvPr/>
        </p:nvSpPr>
        <p:spPr>
          <a:xfrm>
            <a:off x="3699469" y="2970276"/>
            <a:ext cx="868680" cy="256032"/>
          </a:xfrm>
          <a:prstGeom prst="rect">
            <a:avLst/>
          </a:prstGeom>
          <a:noFill/>
          <a:ln/>
        </p:spPr>
        <p:txBody>
          <a:bodyPr wrap="square" lIns="0" tIns="0" rIns="0" bIns="0" rtlCol="0" anchor="ctr"/>
          <a:lstStyle/>
          <a:p>
            <a:pPr algn="l" indent="0" marL="0">
              <a:buNone/>
            </a:pPr>
            <a:r>
              <a:rPr lang="en-US" sz="1200" b="1" dirty="0">
                <a:solidFill>
                  <a:schemeClr val="tx1"/>
                </a:solidFill>
              </a:rPr>
              <a:t>+114,29%</a:t>
            </a:r>
            <a:endParaRPr lang="en-US" sz="1200" dirty="0"/>
          </a:p>
        </p:txBody>
      </p:sp>
      <p:sp>
        <p:nvSpPr>
          <p:cNvPr id="16" name="Text 13"/>
          <p:cNvSpPr txBox="1"/>
          <p:nvPr/>
        </p:nvSpPr>
        <p:spPr>
          <a:xfrm>
            <a:off x="4617720" y="2970276"/>
            <a:ext cx="1143000" cy="256032"/>
          </a:xfrm>
          <a:prstGeom prst="rect">
            <a:avLst/>
          </a:prstGeom>
          <a:noFill/>
          <a:ln/>
        </p:spPr>
        <p:txBody>
          <a:bodyPr wrap="square" lIns="0" tIns="0" rIns="0" bIns="0" rtlCol="0" anchor="ctr"/>
          <a:lstStyle/>
          <a:p>
            <a:pPr algn="ctr" indent="0" marL="0">
              <a:buNone/>
            </a:pPr>
            <a:r>
              <a:rPr lang="en-US" sz="1300" b="1" dirty="0">
                <a:solidFill>
                  <a:schemeClr val="accent2"/>
                </a:solidFill>
              </a:rPr>
              <a:t>7</a:t>
            </a:r>
            <a:endParaRPr lang="en-US" sz="1300" dirty="0"/>
          </a:p>
        </p:txBody>
      </p:sp>
      <p:sp>
        <p:nvSpPr>
          <p:cNvPr id="17" name="Text 14"/>
          <p:cNvSpPr txBox="1"/>
          <p:nvPr/>
        </p:nvSpPr>
        <p:spPr>
          <a:xfrm>
            <a:off x="548640" y="3265932"/>
            <a:ext cx="1234440" cy="256032"/>
          </a:xfrm>
          <a:prstGeom prst="rect">
            <a:avLst/>
          </a:prstGeom>
          <a:noFill/>
          <a:ln/>
        </p:spPr>
        <p:txBody>
          <a:bodyPr wrap="square" lIns="0" tIns="0" rIns="0" bIns="0" rtlCol="0" anchor="ctr"/>
          <a:lstStyle/>
          <a:p>
            <a:pPr algn="r" indent="0" marL="0">
              <a:buNone/>
            </a:pPr>
            <a:r>
              <a:rPr lang="en-US" sz="1200" dirty="0">
                <a:solidFill>
                  <a:schemeClr val="tx1"/>
                </a:solidFill>
              </a:rPr>
              <a:t>REG_260</a:t>
            </a:r>
            <a:endParaRPr lang="en-US" sz="1200" dirty="0"/>
          </a:p>
        </p:txBody>
      </p:sp>
      <p:sp>
        <p:nvSpPr>
          <p:cNvPr id="18" name="Text 15"/>
          <p:cNvSpPr txBox="1"/>
          <p:nvPr/>
        </p:nvSpPr>
        <p:spPr>
          <a:xfrm>
            <a:off x="3693492" y="3265932"/>
            <a:ext cx="868680" cy="256032"/>
          </a:xfrm>
          <a:prstGeom prst="rect">
            <a:avLst/>
          </a:prstGeom>
          <a:noFill/>
          <a:ln/>
        </p:spPr>
        <p:txBody>
          <a:bodyPr wrap="square" lIns="0" tIns="0" rIns="0" bIns="0" rtlCol="0" anchor="ctr"/>
          <a:lstStyle/>
          <a:p>
            <a:pPr algn="l" indent="0" marL="0">
              <a:buNone/>
            </a:pPr>
            <a:r>
              <a:rPr lang="en-US" sz="1200" b="1" dirty="0">
                <a:solidFill>
                  <a:schemeClr val="tx1"/>
                </a:solidFill>
              </a:rPr>
              <a:t>+113,91%</a:t>
            </a:r>
            <a:endParaRPr lang="en-US" sz="1200" dirty="0"/>
          </a:p>
        </p:txBody>
      </p:sp>
      <p:sp>
        <p:nvSpPr>
          <p:cNvPr id="19" name="Text 16"/>
          <p:cNvSpPr txBox="1"/>
          <p:nvPr/>
        </p:nvSpPr>
        <p:spPr>
          <a:xfrm>
            <a:off x="4617720" y="3265932"/>
            <a:ext cx="1143000" cy="256032"/>
          </a:xfrm>
          <a:prstGeom prst="rect">
            <a:avLst/>
          </a:prstGeom>
          <a:noFill/>
          <a:ln/>
        </p:spPr>
        <p:txBody>
          <a:bodyPr wrap="square" lIns="0" tIns="0" rIns="0" bIns="0" rtlCol="0" anchor="ctr"/>
          <a:lstStyle/>
          <a:p>
            <a:pPr algn="ctr" indent="0" marL="0">
              <a:buNone/>
            </a:pPr>
            <a:r>
              <a:rPr lang="en-US" sz="1300" b="1" dirty="0">
                <a:solidFill>
                  <a:schemeClr val="accent2"/>
                </a:solidFill>
              </a:rPr>
              <a:t>8</a:t>
            </a:r>
            <a:endParaRPr lang="en-US" sz="1300" dirty="0"/>
          </a:p>
        </p:txBody>
      </p:sp>
      <p:sp>
        <p:nvSpPr>
          <p:cNvPr id="20" name="Text 17"/>
          <p:cNvSpPr txBox="1"/>
          <p:nvPr/>
        </p:nvSpPr>
        <p:spPr>
          <a:xfrm>
            <a:off x="548640" y="3561588"/>
            <a:ext cx="1234440" cy="256032"/>
          </a:xfrm>
          <a:prstGeom prst="rect">
            <a:avLst/>
          </a:prstGeom>
          <a:noFill/>
          <a:ln/>
        </p:spPr>
        <p:txBody>
          <a:bodyPr wrap="square" lIns="0" tIns="0" rIns="0" bIns="0" rtlCol="0" anchor="ctr"/>
          <a:lstStyle/>
          <a:p>
            <a:pPr algn="r" indent="0" marL="0">
              <a:buNone/>
            </a:pPr>
            <a:r>
              <a:rPr lang="en-US" sz="1200" b="1" dirty="0">
                <a:solidFill>
                  <a:schemeClr val="tx1"/>
                </a:solidFill>
              </a:rPr>
              <a:t>REG_270</a:t>
            </a:r>
            <a:endParaRPr lang="en-US" sz="1200" dirty="0"/>
          </a:p>
        </p:txBody>
      </p:sp>
      <p:sp>
        <p:nvSpPr>
          <p:cNvPr id="21" name="Text 18"/>
          <p:cNvSpPr txBox="1"/>
          <p:nvPr/>
        </p:nvSpPr>
        <p:spPr>
          <a:xfrm>
            <a:off x="3686415" y="3561588"/>
            <a:ext cx="868680" cy="256032"/>
          </a:xfrm>
          <a:prstGeom prst="rect">
            <a:avLst/>
          </a:prstGeom>
          <a:noFill/>
          <a:ln/>
        </p:spPr>
        <p:txBody>
          <a:bodyPr wrap="square" lIns="0" tIns="0" rIns="0" bIns="0" rtlCol="0" anchor="ctr"/>
          <a:lstStyle/>
          <a:p>
            <a:pPr algn="l" indent="0" marL="0">
              <a:buNone/>
            </a:pPr>
            <a:r>
              <a:rPr lang="en-US" sz="1200" b="1" dirty="0">
                <a:solidFill>
                  <a:schemeClr val="tx1"/>
                </a:solidFill>
              </a:rPr>
              <a:t>+113,46%</a:t>
            </a:r>
            <a:endParaRPr lang="en-US" sz="1200" dirty="0"/>
          </a:p>
        </p:txBody>
      </p:sp>
      <p:sp>
        <p:nvSpPr>
          <p:cNvPr id="22" name="Text 19"/>
          <p:cNvSpPr txBox="1"/>
          <p:nvPr/>
        </p:nvSpPr>
        <p:spPr>
          <a:xfrm>
            <a:off x="4617720" y="3561588"/>
            <a:ext cx="1143000" cy="256032"/>
          </a:xfrm>
          <a:prstGeom prst="rect">
            <a:avLst/>
          </a:prstGeom>
          <a:noFill/>
          <a:ln/>
        </p:spPr>
        <p:txBody>
          <a:bodyPr wrap="square" lIns="0" tIns="0" rIns="0" bIns="0" rtlCol="0" anchor="ctr"/>
          <a:lstStyle/>
          <a:p>
            <a:pPr algn="ctr" indent="0" marL="0">
              <a:buNone/>
            </a:pPr>
            <a:r>
              <a:rPr lang="en-US" sz="1300" b="1" dirty="0">
                <a:solidFill>
                  <a:schemeClr val="accent2"/>
                </a:solidFill>
              </a:rPr>
              <a:t>1</a:t>
            </a:r>
            <a:endParaRPr lang="en-US" sz="1300" dirty="0"/>
          </a:p>
        </p:txBody>
      </p:sp>
      <p:sp>
        <p:nvSpPr>
          <p:cNvPr id="23" name="Text 20"/>
          <p:cNvSpPr txBox="1"/>
          <p:nvPr/>
        </p:nvSpPr>
        <p:spPr>
          <a:xfrm>
            <a:off x="548640" y="3857244"/>
            <a:ext cx="1234440" cy="256032"/>
          </a:xfrm>
          <a:prstGeom prst="rect">
            <a:avLst/>
          </a:prstGeom>
          <a:noFill/>
          <a:ln/>
        </p:spPr>
        <p:txBody>
          <a:bodyPr wrap="square" lIns="0" tIns="0" rIns="0" bIns="0" rtlCol="0" anchor="ctr"/>
          <a:lstStyle/>
          <a:p>
            <a:pPr algn="r" indent="0" marL="0">
              <a:buNone/>
            </a:pPr>
            <a:r>
              <a:rPr lang="en-US" sz="1200" dirty="0">
                <a:solidFill>
                  <a:schemeClr val="accent5"/>
                </a:solidFill>
              </a:rPr>
              <a:t>median 330 zona</a:t>
            </a:r>
            <a:endParaRPr lang="en-US" sz="1200" dirty="0"/>
          </a:p>
        </p:txBody>
      </p:sp>
      <p:sp>
        <p:nvSpPr>
          <p:cNvPr id="24" name="Text 21"/>
          <p:cNvSpPr txBox="1"/>
          <p:nvPr/>
        </p:nvSpPr>
        <p:spPr>
          <a:xfrm>
            <a:off x="3393722" y="3857244"/>
            <a:ext cx="868680" cy="256032"/>
          </a:xfrm>
          <a:prstGeom prst="rect">
            <a:avLst/>
          </a:prstGeom>
          <a:noFill/>
          <a:ln/>
        </p:spPr>
        <p:txBody>
          <a:bodyPr wrap="square" lIns="0" tIns="0" rIns="0" bIns="0" rtlCol="0" anchor="ctr"/>
          <a:lstStyle/>
          <a:p>
            <a:pPr algn="l" indent="0" marL="0">
              <a:buNone/>
            </a:pPr>
            <a:r>
              <a:rPr lang="en-US" sz="1200" dirty="0">
                <a:solidFill>
                  <a:schemeClr val="accent5"/>
                </a:solidFill>
              </a:rPr>
              <a:t>+94,85%</a:t>
            </a:r>
            <a:endParaRPr lang="en-US" sz="1200" dirty="0"/>
          </a:p>
        </p:txBody>
      </p:sp>
      <p:sp>
        <p:nvSpPr>
          <p:cNvPr id="25" name="Text 22"/>
          <p:cNvSpPr txBox="1"/>
          <p:nvPr/>
        </p:nvSpPr>
        <p:spPr>
          <a:xfrm>
            <a:off x="548640" y="4206240"/>
            <a:ext cx="5212080" cy="402336"/>
          </a:xfrm>
          <a:prstGeom prst="rect">
            <a:avLst/>
          </a:prstGeom>
          <a:noFill/>
          <a:ln/>
        </p:spPr>
        <p:txBody>
          <a:bodyPr wrap="square" lIns="0" tIns="0" rIns="0" bIns="0" rtlCol="0" anchor="t"/>
          <a:lstStyle/>
          <a:p>
            <a:pPr algn="l" indent="0" marL="0">
              <a:buNone/>
            </a:pPr>
            <a:r>
              <a:rPr lang="en-US" sz="1200" dirty="0">
                <a:solidFill>
                  <a:schemeClr val="accent5"/>
                </a:solidFill>
              </a:rPr>
              <a:t>Tambahan absolut terbesar: </a:t>
            </a:r>
            <a:pPr algn="l" indent="0" marL="0">
              <a:buNone/>
            </a:pPr>
            <a:r>
              <a:rPr lang="en-US" sz="1200" b="1" dirty="0">
                <a:solidFill>
                  <a:schemeClr val="accent1"/>
                </a:solidFill>
              </a:rPr>
              <a:t>REG_263, 0,76 TWh</a:t>
            </a:r>
            <a:endParaRPr lang="en-US" sz="1200" dirty="0"/>
          </a:p>
          <a:p>
            <a:pPr algn="l" indent="0" marL="0">
              <a:buNone/>
            </a:pPr>
            <a:r>
              <a:rPr lang="en-US" sz="1200" dirty="0">
                <a:solidFill>
                  <a:schemeClr val="accent5"/>
                </a:solidFill>
              </a:rPr>
              <a:t>peringkat 1 pada kedua skenario COP</a:t>
            </a:r>
            <a:endParaRPr lang="en-US" sz="1200" dirty="0"/>
          </a:p>
        </p:txBody>
      </p:sp>
      <p:sp>
        <p:nvSpPr>
          <p:cNvPr id="26" name="matriks DIHITUNG DARI SKENARIO"/>
          <p:cNvSpPr/>
          <p:nvPr/>
        </p:nvSpPr>
        <p:spPr>
          <a:xfrm>
            <a:off x="548640" y="4690872"/>
            <a:ext cx="2542032" cy="950976"/>
          </a:xfrm>
          <a:prstGeom prst="roundRect">
            <a:avLst>
              <a:gd name="adj" fmla="val 7692"/>
            </a:avLst>
          </a:prstGeom>
          <a:solidFill>
            <a:schemeClr val="accent2">
              <a:alpha val="10000"/>
            </a:schemeClr>
          </a:solidFill>
          <a:ln/>
        </p:spPr>
      </p:sp>
      <p:sp>
        <p:nvSpPr>
          <p:cNvPr id="27" name="Text 24"/>
          <p:cNvSpPr txBox="1"/>
          <p:nvPr/>
        </p:nvSpPr>
        <p:spPr>
          <a:xfrm>
            <a:off x="658368" y="4745736"/>
            <a:ext cx="2359152" cy="237744"/>
          </a:xfrm>
          <a:prstGeom prst="rect">
            <a:avLst/>
          </a:prstGeom>
          <a:noFill/>
          <a:ln/>
        </p:spPr>
        <p:txBody>
          <a:bodyPr wrap="square" lIns="0" tIns="0" rIns="0" bIns="0" rtlCol="0" anchor="t"/>
          <a:lstStyle/>
          <a:p>
            <a:pPr algn="l" indent="0" marL="0">
              <a:buNone/>
            </a:pPr>
            <a:r>
              <a:rPr lang="en-US" sz="1100" b="1" dirty="0">
                <a:solidFill>
                  <a:schemeClr val="accent2"/>
                </a:solidFill>
              </a:rPr>
              <a:t>DIHITUNG DARI SKENARIO</a:t>
            </a:r>
            <a:endParaRPr lang="en-US" sz="1100" dirty="0"/>
          </a:p>
        </p:txBody>
      </p:sp>
      <p:sp>
        <p:nvSpPr>
          <p:cNvPr id="28" name="Text 25"/>
          <p:cNvSpPr txBox="1"/>
          <p:nvPr/>
        </p:nvSpPr>
        <p:spPr>
          <a:xfrm>
            <a:off x="658368" y="4992624"/>
            <a:ext cx="2359152" cy="621792"/>
          </a:xfrm>
          <a:prstGeom prst="rect">
            <a:avLst/>
          </a:prstGeom>
          <a:noFill/>
          <a:ln/>
        </p:spPr>
        <p:txBody>
          <a:bodyPr wrap="square" lIns="0" tIns="0" rIns="0" bIns="0" rtlCol="0" anchor="t"/>
          <a:lstStyle/>
          <a:p>
            <a:pPr algn="l" indent="0" marL="0">
              <a:buNone/>
            </a:pPr>
            <a:r>
              <a:rPr lang="en-US" sz="1300" dirty="0">
                <a:solidFill>
                  <a:schemeClr val="tx1"/>
                </a:solidFill>
              </a:rPr>
              <a:t>data dan prediksi; 80% gas untuk pemanasan, COP 3</a:t>
            </a:r>
            <a:endParaRPr lang="en-US" sz="1300" dirty="0"/>
          </a:p>
        </p:txBody>
      </p:sp>
      <p:sp>
        <p:nvSpPr>
          <p:cNvPr id="29" name="matriks BELUM DIKETAHUI"/>
          <p:cNvSpPr/>
          <p:nvPr/>
        </p:nvSpPr>
        <p:spPr>
          <a:xfrm>
            <a:off x="3218688" y="4690872"/>
            <a:ext cx="2542032" cy="950976"/>
          </a:xfrm>
          <a:prstGeom prst="roundRect">
            <a:avLst>
              <a:gd name="adj" fmla="val 7692"/>
            </a:avLst>
          </a:prstGeom>
          <a:solidFill>
            <a:schemeClr val="accent5">
              <a:alpha val="10000"/>
            </a:schemeClr>
          </a:solidFill>
          <a:ln/>
        </p:spPr>
      </p:sp>
      <p:sp>
        <p:nvSpPr>
          <p:cNvPr id="30" name="Text 27"/>
          <p:cNvSpPr txBox="1"/>
          <p:nvPr/>
        </p:nvSpPr>
        <p:spPr>
          <a:xfrm>
            <a:off x="3328416" y="4745736"/>
            <a:ext cx="2359152" cy="237744"/>
          </a:xfrm>
          <a:prstGeom prst="rect">
            <a:avLst/>
          </a:prstGeom>
          <a:noFill/>
          <a:ln/>
        </p:spPr>
        <p:txBody>
          <a:bodyPr wrap="square" lIns="0" tIns="0" rIns="0" bIns="0" rtlCol="0" anchor="t"/>
          <a:lstStyle/>
          <a:p>
            <a:pPr algn="l" indent="0" marL="0">
              <a:buNone/>
            </a:pPr>
            <a:r>
              <a:rPr lang="en-US" sz="1100" b="1" dirty="0">
                <a:solidFill>
                  <a:schemeClr val="accent5"/>
                </a:solidFill>
              </a:rPr>
              <a:t>BELUM DIKETAHUI</a:t>
            </a:r>
            <a:endParaRPr lang="en-US" sz="1100" dirty="0"/>
          </a:p>
        </p:txBody>
      </p:sp>
      <p:sp>
        <p:nvSpPr>
          <p:cNvPr id="31" name="Text 28"/>
          <p:cNvSpPr txBox="1"/>
          <p:nvPr/>
        </p:nvSpPr>
        <p:spPr>
          <a:xfrm>
            <a:off x="3328416" y="4992624"/>
            <a:ext cx="2359152" cy="621792"/>
          </a:xfrm>
          <a:prstGeom prst="rect">
            <a:avLst/>
          </a:prstGeom>
          <a:noFill/>
          <a:ln/>
        </p:spPr>
        <p:txBody>
          <a:bodyPr wrap="square" lIns="0" tIns="0" rIns="0" bIns="0" rtlCol="0" anchor="t"/>
          <a:lstStyle/>
          <a:p>
            <a:pPr algn="l" indent="0" marL="0">
              <a:buNone/>
            </a:pPr>
            <a:r>
              <a:rPr lang="en-US" sz="1300" dirty="0">
                <a:solidFill>
                  <a:schemeClr val="tx1"/>
                </a:solidFill>
              </a:rPr>
              <a:t>kapasitas gardu terukur, beban puncak dalam kW, COP lokal</a:t>
            </a:r>
            <a:endParaRPr lang="en-US" sz="1300" dirty="0"/>
          </a:p>
        </p:txBody>
      </p:sp>
      <p:sp>
        <p:nvSpPr>
          <p:cNvPr id="32" name="skrining"/>
          <p:cNvSpPr/>
          <p:nvPr/>
        </p:nvSpPr>
        <p:spPr>
          <a:xfrm>
            <a:off x="548640" y="5760720"/>
            <a:ext cx="5212080" cy="384048"/>
          </a:xfrm>
          <a:prstGeom prst="roundRect">
            <a:avLst>
              <a:gd name="adj" fmla="val 19048"/>
            </a:avLst>
          </a:prstGeom>
          <a:solidFill>
            <a:schemeClr val="tx2"/>
          </a:solidFill>
          <a:ln/>
        </p:spPr>
      </p:sp>
      <p:sp>
        <p:nvSpPr>
          <p:cNvPr id="33" name="Text 30"/>
          <p:cNvSpPr txBox="1"/>
          <p:nvPr/>
        </p:nvSpPr>
        <p:spPr>
          <a:xfrm>
            <a:off x="548640" y="5760720"/>
            <a:ext cx="5212080" cy="384048"/>
          </a:xfrm>
          <a:prstGeom prst="rect">
            <a:avLst/>
          </a:prstGeom>
          <a:noFill/>
          <a:ln/>
        </p:spPr>
        <p:txBody>
          <a:bodyPr wrap="square" lIns="0" tIns="0" rIns="0" bIns="0" rtlCol="0" anchor="ctr"/>
          <a:lstStyle/>
          <a:p>
            <a:pPr algn="ctr" indent="0" marL="0">
              <a:buNone/>
            </a:pPr>
            <a:r>
              <a:rPr lang="en-US" sz="1400" b="1" dirty="0">
                <a:solidFill>
                  <a:schemeClr val="bg1"/>
                </a:solidFill>
              </a:rPr>
              <a:t>Skrining awal → penilaian teknis operator</a:t>
            </a:r>
            <a:endParaRPr lang="en-US" sz="1400" dirty="0"/>
          </a:p>
        </p:txBody>
      </p:sp>
      <p:sp>
        <p:nvSpPr>
          <p:cNvPr id="34" name="rantai TEMUAN"/>
          <p:cNvSpPr/>
          <p:nvPr/>
        </p:nvSpPr>
        <p:spPr>
          <a:xfrm>
            <a:off x="6035040" y="1691640"/>
            <a:ext cx="5608015" cy="1399032"/>
          </a:xfrm>
          <a:prstGeom prst="roundRect">
            <a:avLst>
              <a:gd name="adj" fmla="val 5229"/>
            </a:avLst>
          </a:prstGeom>
          <a:solidFill>
            <a:schemeClr val="tx2">
              <a:alpha val="9000"/>
            </a:schemeClr>
          </a:solidFill>
          <a:ln/>
        </p:spPr>
      </p:sp>
      <p:sp>
        <p:nvSpPr>
          <p:cNvPr id="35" name="label TEMUAN"/>
          <p:cNvSpPr/>
          <p:nvPr/>
        </p:nvSpPr>
        <p:spPr>
          <a:xfrm>
            <a:off x="6172200" y="1801368"/>
            <a:ext cx="1298448" cy="274320"/>
          </a:xfrm>
          <a:prstGeom prst="roundRect">
            <a:avLst>
              <a:gd name="adj" fmla="val 20000"/>
            </a:avLst>
          </a:prstGeom>
          <a:solidFill>
            <a:schemeClr val="tx2"/>
          </a:solidFill>
          <a:ln/>
        </p:spPr>
      </p:sp>
      <p:sp>
        <p:nvSpPr>
          <p:cNvPr id="36" name="Text 33"/>
          <p:cNvSpPr txBox="1"/>
          <p:nvPr/>
        </p:nvSpPr>
        <p:spPr>
          <a:xfrm>
            <a:off x="6172200" y="1801368"/>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TEMUAN</a:t>
            </a:r>
            <a:endParaRPr lang="en-US" sz="1100" dirty="0"/>
          </a:p>
        </p:txBody>
      </p:sp>
      <p:sp>
        <p:nvSpPr>
          <p:cNvPr id="37" name="Text 34"/>
          <p:cNvSpPr txBox="1"/>
          <p:nvPr/>
        </p:nvSpPr>
        <p:spPr>
          <a:xfrm>
            <a:off x="7607808" y="1783080"/>
            <a:ext cx="3916375" cy="1234440"/>
          </a:xfrm>
          <a:prstGeom prst="rect">
            <a:avLst/>
          </a:prstGeom>
          <a:noFill/>
          <a:ln/>
        </p:spPr>
        <p:txBody>
          <a:bodyPr wrap="square" lIns="0" tIns="0" rIns="0" bIns="0" rtlCol="0" anchor="t"/>
          <a:lstStyle/>
          <a:p>
            <a:pPr algn="l" indent="0" marL="0">
              <a:buNone/>
            </a:pPr>
            <a:r>
              <a:rPr lang="en-US" sz="1500" dirty="0">
                <a:solidFill>
                  <a:schemeClr val="tx1"/>
                </a:solidFill>
              </a:rPr>
              <a:t>lima zona tertinggi +113% sampai +121% (median +94,85%); sepuluh besar dalam persen dan tambahan absolut pada kedua skenario COP: REG_270, REG_045; tambahan absolut terbesar: REG_263</a:t>
            </a:r>
            <a:endParaRPr lang="en-US" sz="1500" dirty="0"/>
          </a:p>
        </p:txBody>
      </p:sp>
      <p:sp>
        <p:nvSpPr>
          <p:cNvPr id="38" name="panah rantai"/>
          <p:cNvSpPr/>
          <p:nvPr/>
        </p:nvSpPr>
        <p:spPr>
          <a:xfrm flipV="1">
            <a:off x="6684264" y="3159252"/>
            <a:ext cx="274320" cy="109728"/>
          </a:xfrm>
          <a:prstGeom prst="triangle">
            <a:avLst/>
          </a:prstGeom>
          <a:solidFill>
            <a:schemeClr val="accent4"/>
          </a:solidFill>
          <a:ln/>
        </p:spPr>
      </p:sp>
      <p:sp>
        <p:nvSpPr>
          <p:cNvPr id="39" name="rantai INTERPRETASI"/>
          <p:cNvSpPr/>
          <p:nvPr/>
        </p:nvSpPr>
        <p:spPr>
          <a:xfrm>
            <a:off x="6035040" y="3337560"/>
            <a:ext cx="5608015" cy="704088"/>
          </a:xfrm>
          <a:prstGeom prst="roundRect">
            <a:avLst>
              <a:gd name="adj" fmla="val 10390"/>
            </a:avLst>
          </a:prstGeom>
          <a:solidFill>
            <a:schemeClr val="accent3">
              <a:alpha val="9000"/>
            </a:schemeClr>
          </a:solidFill>
          <a:ln/>
        </p:spPr>
      </p:sp>
      <p:sp>
        <p:nvSpPr>
          <p:cNvPr id="40" name="label INTERPRETASI"/>
          <p:cNvSpPr/>
          <p:nvPr/>
        </p:nvSpPr>
        <p:spPr>
          <a:xfrm>
            <a:off x="6172200" y="3447288"/>
            <a:ext cx="1298448" cy="274320"/>
          </a:xfrm>
          <a:prstGeom prst="roundRect">
            <a:avLst>
              <a:gd name="adj" fmla="val 20000"/>
            </a:avLst>
          </a:prstGeom>
          <a:solidFill>
            <a:schemeClr val="accent3"/>
          </a:solidFill>
          <a:ln/>
        </p:spPr>
      </p:sp>
      <p:sp>
        <p:nvSpPr>
          <p:cNvPr id="41" name="Text 38"/>
          <p:cNvSpPr txBox="1"/>
          <p:nvPr/>
        </p:nvSpPr>
        <p:spPr>
          <a:xfrm>
            <a:off x="6172200" y="3447288"/>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INTERPRETASI</a:t>
            </a:r>
            <a:endParaRPr lang="en-US" sz="1100" dirty="0"/>
          </a:p>
        </p:txBody>
      </p:sp>
      <p:sp>
        <p:nvSpPr>
          <p:cNvPr id="42" name="Text 39"/>
          <p:cNvSpPr txBox="1"/>
          <p:nvPr/>
        </p:nvSpPr>
        <p:spPr>
          <a:xfrm>
            <a:off x="7607808" y="3429000"/>
            <a:ext cx="3916375" cy="539496"/>
          </a:xfrm>
          <a:prstGeom prst="rect">
            <a:avLst/>
          </a:prstGeom>
          <a:noFill/>
          <a:ln/>
        </p:spPr>
        <p:txBody>
          <a:bodyPr wrap="square" lIns="0" tIns="0" rIns="0" bIns="0" rtlCol="0" anchor="t"/>
          <a:lstStyle/>
          <a:p>
            <a:pPr algn="l" indent="0" marL="0">
              <a:buNone/>
            </a:pPr>
            <a:r>
              <a:rPr lang="en-US" sz="1500" dirty="0">
                <a:solidFill>
                  <a:schemeClr val="tx1"/>
                </a:solidFill>
              </a:rPr>
              <a:t>energi tahunan, bukan kapasitas gardu atau beban puncak</a:t>
            </a:r>
            <a:endParaRPr lang="en-US" sz="1500" dirty="0"/>
          </a:p>
        </p:txBody>
      </p:sp>
      <p:sp>
        <p:nvSpPr>
          <p:cNvPr id="43" name="panah rantai"/>
          <p:cNvSpPr/>
          <p:nvPr/>
        </p:nvSpPr>
        <p:spPr>
          <a:xfrm flipV="1">
            <a:off x="6684264" y="4110228"/>
            <a:ext cx="274320" cy="109728"/>
          </a:xfrm>
          <a:prstGeom prst="triangle">
            <a:avLst/>
          </a:prstGeom>
          <a:solidFill>
            <a:schemeClr val="accent4"/>
          </a:solidFill>
          <a:ln/>
        </p:spPr>
      </p:sp>
      <p:sp>
        <p:nvSpPr>
          <p:cNvPr id="44" name="rantai REKOMENDASI"/>
          <p:cNvSpPr/>
          <p:nvPr/>
        </p:nvSpPr>
        <p:spPr>
          <a:xfrm>
            <a:off x="6035040" y="4288536"/>
            <a:ext cx="5608015" cy="704088"/>
          </a:xfrm>
          <a:prstGeom prst="roundRect">
            <a:avLst>
              <a:gd name="adj" fmla="val 10390"/>
            </a:avLst>
          </a:prstGeom>
          <a:solidFill>
            <a:schemeClr val="accent1">
              <a:alpha val="16000"/>
            </a:schemeClr>
          </a:solidFill>
          <a:ln/>
        </p:spPr>
      </p:sp>
      <p:sp>
        <p:nvSpPr>
          <p:cNvPr id="45" name="label REKOMENDASI"/>
          <p:cNvSpPr/>
          <p:nvPr/>
        </p:nvSpPr>
        <p:spPr>
          <a:xfrm>
            <a:off x="6172200" y="4398264"/>
            <a:ext cx="1298448" cy="274320"/>
          </a:xfrm>
          <a:prstGeom prst="roundRect">
            <a:avLst>
              <a:gd name="adj" fmla="val 20000"/>
            </a:avLst>
          </a:prstGeom>
          <a:solidFill>
            <a:schemeClr val="accent1"/>
          </a:solidFill>
          <a:ln/>
        </p:spPr>
      </p:sp>
      <p:sp>
        <p:nvSpPr>
          <p:cNvPr id="46" name="Text 43"/>
          <p:cNvSpPr txBox="1"/>
          <p:nvPr/>
        </p:nvSpPr>
        <p:spPr>
          <a:xfrm>
            <a:off x="6172200" y="4398264"/>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REKOMENDASI</a:t>
            </a:r>
            <a:endParaRPr lang="en-US" sz="1100" dirty="0"/>
          </a:p>
        </p:txBody>
      </p:sp>
      <p:sp>
        <p:nvSpPr>
          <p:cNvPr id="47" name="Text 44"/>
          <p:cNvSpPr txBox="1"/>
          <p:nvPr/>
        </p:nvSpPr>
        <p:spPr>
          <a:xfrm>
            <a:off x="7607808" y="4379976"/>
            <a:ext cx="3916375" cy="539496"/>
          </a:xfrm>
          <a:prstGeom prst="rect">
            <a:avLst/>
          </a:prstGeom>
          <a:noFill/>
          <a:ln/>
        </p:spPr>
        <p:txBody>
          <a:bodyPr wrap="square" lIns="0" tIns="0" rIns="0" bIns="0" rtlCol="0" anchor="t"/>
          <a:lstStyle/>
          <a:p>
            <a:pPr algn="l" indent="0" marL="0">
              <a:buNone/>
            </a:pPr>
            <a:r>
              <a:rPr lang="en-US" sz="1500" b="1" dirty="0">
                <a:solidFill>
                  <a:schemeClr val="tx1"/>
                </a:solidFill>
              </a:rPr>
              <a:t>daftar ini untuk skrining gardu, bukan bukti kapasitas</a:t>
            </a:r>
            <a:endParaRPr lang="en-US" sz="1500" dirty="0"/>
          </a:p>
        </p:txBody>
      </p:sp>
      <p:sp>
        <p:nvSpPr>
          <p:cNvPr id="48" name="panah rantai"/>
          <p:cNvSpPr/>
          <p:nvPr/>
        </p:nvSpPr>
        <p:spPr>
          <a:xfrm flipV="1">
            <a:off x="6684264" y="5061204"/>
            <a:ext cx="274320" cy="109728"/>
          </a:xfrm>
          <a:prstGeom prst="triangle">
            <a:avLst/>
          </a:prstGeom>
          <a:solidFill>
            <a:schemeClr val="accent4"/>
          </a:solidFill>
          <a:ln/>
        </p:spPr>
      </p:sp>
      <p:sp>
        <p:nvSpPr>
          <p:cNvPr id="49" name="rantai LANGKAH"/>
          <p:cNvSpPr/>
          <p:nvPr/>
        </p:nvSpPr>
        <p:spPr>
          <a:xfrm>
            <a:off x="6035040" y="5239512"/>
            <a:ext cx="5608015" cy="932688"/>
          </a:xfrm>
          <a:prstGeom prst="roundRect">
            <a:avLst>
              <a:gd name="adj" fmla="val 7843"/>
            </a:avLst>
          </a:prstGeom>
          <a:solidFill>
            <a:schemeClr val="accent2">
              <a:alpha val="9000"/>
            </a:schemeClr>
          </a:solidFill>
          <a:ln/>
        </p:spPr>
      </p:sp>
      <p:sp>
        <p:nvSpPr>
          <p:cNvPr id="50" name="label LANGKAH"/>
          <p:cNvSpPr/>
          <p:nvPr/>
        </p:nvSpPr>
        <p:spPr>
          <a:xfrm>
            <a:off x="6172200" y="5349240"/>
            <a:ext cx="1298448" cy="274320"/>
          </a:xfrm>
          <a:prstGeom prst="roundRect">
            <a:avLst>
              <a:gd name="adj" fmla="val 20000"/>
            </a:avLst>
          </a:prstGeom>
          <a:solidFill>
            <a:schemeClr val="accent2"/>
          </a:solidFill>
          <a:ln/>
        </p:spPr>
      </p:sp>
      <p:sp>
        <p:nvSpPr>
          <p:cNvPr id="51" name="Text 48"/>
          <p:cNvSpPr txBox="1"/>
          <p:nvPr/>
        </p:nvSpPr>
        <p:spPr>
          <a:xfrm>
            <a:off x="6172200" y="5349240"/>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LANGKAH</a:t>
            </a:r>
            <a:endParaRPr lang="en-US" sz="1100" dirty="0"/>
          </a:p>
        </p:txBody>
      </p:sp>
      <p:sp>
        <p:nvSpPr>
          <p:cNvPr id="52" name="Text 49"/>
          <p:cNvSpPr txBox="1"/>
          <p:nvPr/>
        </p:nvSpPr>
        <p:spPr>
          <a:xfrm>
            <a:off x="7607808" y="5330952"/>
            <a:ext cx="3916375" cy="768096"/>
          </a:xfrm>
          <a:prstGeom prst="rect">
            <a:avLst/>
          </a:prstGeom>
          <a:noFill/>
          <a:ln/>
        </p:spPr>
        <p:txBody>
          <a:bodyPr wrap="square" lIns="0" tIns="0" rIns="0" bIns="0" rtlCol="0" anchor="t"/>
          <a:lstStyle/>
          <a:p>
            <a:pPr algn="l" indent="0" marL="0">
              <a:buNone/>
            </a:pPr>
            <a:r>
              <a:rPr lang="en-US" sz="1500" dirty="0">
                <a:solidFill>
                  <a:schemeClr val="tx1"/>
                </a:solidFill>
              </a:rPr>
              <a:t>operator menilai mulai REG_263, REG_270, REG_045 → penguatan bila perlu → subsidi bertahap</a:t>
            </a:r>
            <a:endParaRPr lang="en-US" sz="15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IV · KEBIJAKAN PUBLIK</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3: elektrifikasi kawasan bergas</a:t>
            </a:r>
            <a:br/>
            <a:pPr algn="l" indent="0" marL="0">
              <a:buNone/>
            </a:pPr>
            <a:r>
              <a:rPr lang="en-US" sz="2800" b="1" dirty="0">
                <a:solidFill>
                  <a:schemeClr val="tx2"/>
                </a:solidFill>
              </a:rPr>
              <a:t>dimulai sebagai pilot pompa panas di zona Q2</a:t>
            </a:r>
            <a:endParaRPr lang="en-US" sz="2800" dirty="0"/>
          </a:p>
        </p:txBody>
      </p:sp>
      <p:sp>
        <p:nvSpPr>
          <p:cNvPr id="4" name="Text 2"/>
          <p:cNvSpPr txBox="1"/>
          <p:nvPr/>
        </p:nvSpPr>
        <p:spPr>
          <a:xfrm>
            <a:off x="548640" y="1691640"/>
            <a:ext cx="5212080" cy="274320"/>
          </a:xfrm>
          <a:prstGeom prst="rect">
            <a:avLst/>
          </a:prstGeom>
          <a:noFill/>
          <a:ln/>
        </p:spPr>
        <p:txBody>
          <a:bodyPr wrap="square" lIns="0" tIns="0" rIns="0" bIns="0" rtlCol="0" anchor="t"/>
          <a:lstStyle/>
          <a:p>
            <a:pPr algn="l" indent="0" marL="0">
              <a:buNone/>
            </a:pPr>
            <a:r>
              <a:rPr lang="en-US" sz="1200" b="1" dirty="0">
                <a:solidFill>
                  <a:schemeClr val="tx2"/>
                </a:solidFill>
              </a:rPr>
              <a:t>Tingkat adopsi pemanas listrik menurut porsi gas jaringan kawasan</a:t>
            </a:r>
            <a:endParaRPr lang="en-US" sz="1200" dirty="0"/>
          </a:p>
        </p:txBody>
      </p:sp>
      <p:graphicFrame>
        <p:nvGraphicFramePr>
          <p:cNvPr id="5" name="grafik adopsi per porsi gas" descr="Tingkat adopsi pemanas listrik per pita porsi gas jaringan"/>
          <p:cNvGraphicFramePr/>
          <p:nvPr/>
        </p:nvGraphicFramePr>
        <p:xfrm>
          <a:off x="548640" y="2011680"/>
          <a:ext cx="5212080" cy="2148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88670" y="2108084"/>
            <a:ext cx="1097280" cy="274320"/>
          </a:xfrm>
          <a:prstGeom prst="rect">
            <a:avLst/>
          </a:prstGeom>
          <a:noFill/>
          <a:ln/>
        </p:spPr>
        <p:txBody>
          <a:bodyPr wrap="square" lIns="0" tIns="0" rIns="0" bIns="0" rtlCol="0" anchor="b"/>
          <a:lstStyle/>
          <a:p>
            <a:pPr algn="ctr" indent="0" marL="0">
              <a:buNone/>
            </a:pPr>
            <a:r>
              <a:rPr lang="en-US" sz="1400" b="1" dirty="0">
                <a:solidFill>
                  <a:schemeClr val="tx1"/>
                </a:solidFill>
              </a:rPr>
              <a:t>40,24%</a:t>
            </a:r>
            <a:endParaRPr lang="en-US" sz="1400" dirty="0"/>
          </a:p>
        </p:txBody>
      </p:sp>
      <p:sp>
        <p:nvSpPr>
          <p:cNvPr id="7" name="Text 4"/>
          <p:cNvSpPr txBox="1"/>
          <p:nvPr/>
        </p:nvSpPr>
        <p:spPr>
          <a:xfrm>
            <a:off x="742950" y="4014216"/>
            <a:ext cx="1188720" cy="256032"/>
          </a:xfrm>
          <a:prstGeom prst="rect">
            <a:avLst/>
          </a:prstGeom>
          <a:noFill/>
          <a:ln/>
        </p:spPr>
        <p:txBody>
          <a:bodyPr wrap="square" lIns="0" tIns="0" rIns="0" bIns="0" rtlCol="0" anchor="t"/>
          <a:lstStyle/>
          <a:p>
            <a:pPr algn="ctr" indent="0" marL="0">
              <a:buNone/>
            </a:pPr>
            <a:r>
              <a:rPr lang="en-US" sz="1300" b="1" dirty="0">
                <a:solidFill>
                  <a:schemeClr val="tx1"/>
                </a:solidFill>
              </a:rPr>
              <a:t>≤40%</a:t>
            </a:r>
            <a:endParaRPr lang="en-US" sz="1300" dirty="0"/>
          </a:p>
        </p:txBody>
      </p:sp>
      <p:sp>
        <p:nvSpPr>
          <p:cNvPr id="8" name="Text 5"/>
          <p:cNvSpPr txBox="1"/>
          <p:nvPr/>
        </p:nvSpPr>
        <p:spPr>
          <a:xfrm>
            <a:off x="715518" y="4251960"/>
            <a:ext cx="1243584" cy="237744"/>
          </a:xfrm>
          <a:prstGeom prst="rect">
            <a:avLst/>
          </a:prstGeom>
          <a:noFill/>
          <a:ln/>
        </p:spPr>
        <p:txBody>
          <a:bodyPr wrap="square" lIns="0" tIns="0" rIns="0" bIns="0" rtlCol="0" anchor="t"/>
          <a:lstStyle/>
          <a:p>
            <a:pPr algn="ctr" indent="0" marL="0">
              <a:buNone/>
            </a:pPr>
            <a:r>
              <a:rPr lang="en-US" sz="1100" dirty="0">
                <a:solidFill>
                  <a:schemeClr val="accent5"/>
                </a:solidFill>
              </a:rPr>
              <a:t>0,55% kawasan</a:t>
            </a:r>
            <a:endParaRPr lang="en-US" sz="1100" dirty="0"/>
          </a:p>
        </p:txBody>
      </p:sp>
      <p:sp>
        <p:nvSpPr>
          <p:cNvPr id="9" name="Text 6"/>
          <p:cNvSpPr txBox="1"/>
          <p:nvPr/>
        </p:nvSpPr>
        <p:spPr>
          <a:xfrm>
            <a:off x="2000250" y="2630076"/>
            <a:ext cx="1097280" cy="274320"/>
          </a:xfrm>
          <a:prstGeom prst="rect">
            <a:avLst/>
          </a:prstGeom>
          <a:noFill/>
          <a:ln/>
        </p:spPr>
        <p:txBody>
          <a:bodyPr wrap="square" lIns="0" tIns="0" rIns="0" bIns="0" rtlCol="0" anchor="b"/>
          <a:lstStyle/>
          <a:p>
            <a:pPr algn="ctr" indent="0" marL="0">
              <a:buNone/>
            </a:pPr>
            <a:r>
              <a:rPr lang="en-US" sz="1400" b="1" dirty="0">
                <a:solidFill>
                  <a:schemeClr val="tx1"/>
                </a:solidFill>
              </a:rPr>
              <a:t>26,92%</a:t>
            </a:r>
            <a:endParaRPr lang="en-US" sz="1400" dirty="0"/>
          </a:p>
        </p:txBody>
      </p:sp>
      <p:sp>
        <p:nvSpPr>
          <p:cNvPr id="10" name="Text 7"/>
          <p:cNvSpPr txBox="1"/>
          <p:nvPr/>
        </p:nvSpPr>
        <p:spPr>
          <a:xfrm>
            <a:off x="1954530" y="4014216"/>
            <a:ext cx="1188720" cy="256032"/>
          </a:xfrm>
          <a:prstGeom prst="rect">
            <a:avLst/>
          </a:prstGeom>
          <a:noFill/>
          <a:ln/>
        </p:spPr>
        <p:txBody>
          <a:bodyPr wrap="square" lIns="0" tIns="0" rIns="0" bIns="0" rtlCol="0" anchor="t"/>
          <a:lstStyle/>
          <a:p>
            <a:pPr algn="ctr" indent="0" marL="0">
              <a:buNone/>
            </a:pPr>
            <a:r>
              <a:rPr lang="en-US" sz="1300" b="1" dirty="0">
                <a:solidFill>
                  <a:schemeClr val="tx1"/>
                </a:solidFill>
              </a:rPr>
              <a:t>40–60%</a:t>
            </a:r>
            <a:endParaRPr lang="en-US" sz="1300" dirty="0"/>
          </a:p>
        </p:txBody>
      </p:sp>
      <p:sp>
        <p:nvSpPr>
          <p:cNvPr id="11" name="Text 8"/>
          <p:cNvSpPr txBox="1"/>
          <p:nvPr/>
        </p:nvSpPr>
        <p:spPr>
          <a:xfrm>
            <a:off x="1927098" y="4251960"/>
            <a:ext cx="1243584" cy="237744"/>
          </a:xfrm>
          <a:prstGeom prst="rect">
            <a:avLst/>
          </a:prstGeom>
          <a:noFill/>
          <a:ln/>
        </p:spPr>
        <p:txBody>
          <a:bodyPr wrap="square" lIns="0" tIns="0" rIns="0" bIns="0" rtlCol="0" anchor="t"/>
          <a:lstStyle/>
          <a:p>
            <a:pPr algn="ctr" indent="0" marL="0">
              <a:buNone/>
            </a:pPr>
            <a:r>
              <a:rPr lang="en-US" sz="1100" dirty="0">
                <a:solidFill>
                  <a:schemeClr val="accent5"/>
                </a:solidFill>
              </a:rPr>
              <a:t>3,04% kawasan</a:t>
            </a:r>
            <a:endParaRPr lang="en-US" sz="1100" dirty="0"/>
          </a:p>
        </p:txBody>
      </p:sp>
      <p:sp>
        <p:nvSpPr>
          <p:cNvPr id="12" name="Text 9"/>
          <p:cNvSpPr txBox="1"/>
          <p:nvPr/>
        </p:nvSpPr>
        <p:spPr>
          <a:xfrm>
            <a:off x="3211830" y="3314308"/>
            <a:ext cx="1097280" cy="274320"/>
          </a:xfrm>
          <a:prstGeom prst="rect">
            <a:avLst/>
          </a:prstGeom>
          <a:noFill/>
          <a:ln/>
        </p:spPr>
        <p:txBody>
          <a:bodyPr wrap="square" lIns="0" tIns="0" rIns="0" bIns="0" rtlCol="0" anchor="b"/>
          <a:lstStyle/>
          <a:p>
            <a:pPr algn="ctr" indent="0" marL="0">
              <a:buNone/>
            </a:pPr>
            <a:r>
              <a:rPr lang="en-US" sz="1400" b="1" dirty="0">
                <a:solidFill>
                  <a:schemeClr val="tx1"/>
                </a:solidFill>
              </a:rPr>
              <a:t>9,46%</a:t>
            </a:r>
            <a:endParaRPr lang="en-US" sz="1400" dirty="0"/>
          </a:p>
        </p:txBody>
      </p:sp>
      <p:sp>
        <p:nvSpPr>
          <p:cNvPr id="13" name="Text 10"/>
          <p:cNvSpPr txBox="1"/>
          <p:nvPr/>
        </p:nvSpPr>
        <p:spPr>
          <a:xfrm>
            <a:off x="3166110" y="4014216"/>
            <a:ext cx="1188720" cy="256032"/>
          </a:xfrm>
          <a:prstGeom prst="rect">
            <a:avLst/>
          </a:prstGeom>
          <a:noFill/>
          <a:ln/>
        </p:spPr>
        <p:txBody>
          <a:bodyPr wrap="square" lIns="0" tIns="0" rIns="0" bIns="0" rtlCol="0" anchor="t"/>
          <a:lstStyle/>
          <a:p>
            <a:pPr algn="ctr" indent="0" marL="0">
              <a:buNone/>
            </a:pPr>
            <a:r>
              <a:rPr lang="en-US" sz="1300" b="1" dirty="0">
                <a:solidFill>
                  <a:schemeClr val="tx1"/>
                </a:solidFill>
              </a:rPr>
              <a:t>60–80%</a:t>
            </a:r>
            <a:endParaRPr lang="en-US" sz="1300" dirty="0"/>
          </a:p>
        </p:txBody>
      </p:sp>
      <p:sp>
        <p:nvSpPr>
          <p:cNvPr id="14" name="Text 11"/>
          <p:cNvSpPr txBox="1"/>
          <p:nvPr/>
        </p:nvSpPr>
        <p:spPr>
          <a:xfrm>
            <a:off x="3138678" y="4251960"/>
            <a:ext cx="1243584" cy="237744"/>
          </a:xfrm>
          <a:prstGeom prst="rect">
            <a:avLst/>
          </a:prstGeom>
          <a:noFill/>
          <a:ln/>
        </p:spPr>
        <p:txBody>
          <a:bodyPr wrap="square" lIns="0" tIns="0" rIns="0" bIns="0" rtlCol="0" anchor="t"/>
          <a:lstStyle/>
          <a:p>
            <a:pPr algn="ctr" indent="0" marL="0">
              <a:buNone/>
            </a:pPr>
            <a:r>
              <a:rPr lang="en-US" sz="1100" dirty="0">
                <a:solidFill>
                  <a:schemeClr val="accent5"/>
                </a:solidFill>
              </a:rPr>
              <a:t>26,32% kawasan</a:t>
            </a:r>
            <a:endParaRPr lang="en-US" sz="1100" dirty="0"/>
          </a:p>
        </p:txBody>
      </p:sp>
      <p:sp>
        <p:nvSpPr>
          <p:cNvPr id="15" name="Text 12"/>
          <p:cNvSpPr txBox="1"/>
          <p:nvPr/>
        </p:nvSpPr>
        <p:spPr>
          <a:xfrm>
            <a:off x="4423410" y="3578047"/>
            <a:ext cx="1097280" cy="274320"/>
          </a:xfrm>
          <a:prstGeom prst="rect">
            <a:avLst/>
          </a:prstGeom>
          <a:noFill/>
          <a:ln/>
        </p:spPr>
        <p:txBody>
          <a:bodyPr wrap="square" lIns="0" tIns="0" rIns="0" bIns="0" rtlCol="0" anchor="b"/>
          <a:lstStyle/>
          <a:p>
            <a:pPr algn="ctr" indent="0" marL="0">
              <a:buNone/>
            </a:pPr>
            <a:r>
              <a:rPr lang="en-US" sz="1400" b="1" dirty="0">
                <a:solidFill>
                  <a:schemeClr val="accent1"/>
                </a:solidFill>
              </a:rPr>
              <a:t>2,73%</a:t>
            </a:r>
            <a:endParaRPr lang="en-US" sz="1400" dirty="0"/>
          </a:p>
        </p:txBody>
      </p:sp>
      <p:sp>
        <p:nvSpPr>
          <p:cNvPr id="16" name="Text 13"/>
          <p:cNvSpPr txBox="1"/>
          <p:nvPr/>
        </p:nvSpPr>
        <p:spPr>
          <a:xfrm>
            <a:off x="4377690" y="4014216"/>
            <a:ext cx="1188720" cy="256032"/>
          </a:xfrm>
          <a:prstGeom prst="rect">
            <a:avLst/>
          </a:prstGeom>
          <a:noFill/>
          <a:ln/>
        </p:spPr>
        <p:txBody>
          <a:bodyPr wrap="square" lIns="0" tIns="0" rIns="0" bIns="0" rtlCol="0" anchor="t"/>
          <a:lstStyle/>
          <a:p>
            <a:pPr algn="ctr" indent="0" marL="0">
              <a:buNone/>
            </a:pPr>
            <a:r>
              <a:rPr lang="en-US" sz="1300" b="1" dirty="0">
                <a:solidFill>
                  <a:schemeClr val="tx1"/>
                </a:solidFill>
              </a:rPr>
              <a:t>&gt;80%</a:t>
            </a:r>
            <a:endParaRPr lang="en-US" sz="1300" dirty="0"/>
          </a:p>
        </p:txBody>
      </p:sp>
      <p:sp>
        <p:nvSpPr>
          <p:cNvPr id="17" name="Text 14"/>
          <p:cNvSpPr txBox="1"/>
          <p:nvPr/>
        </p:nvSpPr>
        <p:spPr>
          <a:xfrm>
            <a:off x="4350258" y="4251960"/>
            <a:ext cx="1243584" cy="237744"/>
          </a:xfrm>
          <a:prstGeom prst="rect">
            <a:avLst/>
          </a:prstGeom>
          <a:noFill/>
          <a:ln/>
        </p:spPr>
        <p:txBody>
          <a:bodyPr wrap="square" lIns="0" tIns="0" rIns="0" bIns="0" rtlCol="0" anchor="t"/>
          <a:lstStyle/>
          <a:p>
            <a:pPr algn="ctr" indent="0" marL="0">
              <a:buNone/>
            </a:pPr>
            <a:r>
              <a:rPr lang="en-US" sz="1100" dirty="0">
                <a:solidFill>
                  <a:schemeClr val="accent5"/>
                </a:solidFill>
              </a:rPr>
              <a:t>70,08% kawasan</a:t>
            </a:r>
            <a:endParaRPr lang="en-US" sz="1100" dirty="0"/>
          </a:p>
        </p:txBody>
      </p:sp>
      <p:sp>
        <p:nvSpPr>
          <p:cNvPr id="18" name="Text 15"/>
          <p:cNvSpPr txBox="1"/>
          <p:nvPr/>
        </p:nvSpPr>
        <p:spPr>
          <a:xfrm>
            <a:off x="548640" y="4507992"/>
            <a:ext cx="5212080" cy="219456"/>
          </a:xfrm>
          <a:prstGeom prst="rect">
            <a:avLst/>
          </a:prstGeom>
          <a:noFill/>
          <a:ln/>
        </p:spPr>
        <p:txBody>
          <a:bodyPr wrap="square" lIns="0" tIns="0" rIns="0" bIns="0" rtlCol="0" anchor="t"/>
          <a:lstStyle/>
          <a:p>
            <a:pPr algn="ctr" indent="0" marL="0">
              <a:buNone/>
            </a:pPr>
            <a:r>
              <a:rPr lang="en-US" sz="1100" dirty="0">
                <a:solidFill>
                  <a:schemeClr val="accent5"/>
                </a:solidFill>
              </a:rPr>
              <a:t>porsi gas jaringan kawasan</a:t>
            </a:r>
            <a:endParaRPr lang="en-US" sz="1100" dirty="0"/>
          </a:p>
        </p:txBody>
      </p:sp>
      <p:pic>
        <p:nvPicPr>
          <p:cNvPr id="19" name="Image 0" descr="Dependensi SHAP adopsi terhadap porsi gas jaringan, model penjelas">    </p:cNvPr>
          <p:cNvPicPr>
            <a:picLocks noChangeAspect="1"/>
          </p:cNvPicPr>
          <p:nvPr/>
        </p:nvPicPr>
        <p:blipFill>
          <a:blip r:embed="rId2"/>
          <a:stretch>
            <a:fillRect/>
          </a:stretch>
        </p:blipFill>
        <p:spPr>
          <a:xfrm>
            <a:off x="548640" y="4754880"/>
            <a:ext cx="2743200" cy="1463040"/>
          </a:xfrm>
          <a:prstGeom prst="rect">
            <a:avLst/>
          </a:prstGeom>
        </p:spPr>
      </p:pic>
      <p:sp>
        <p:nvSpPr>
          <p:cNvPr id="20" name="Text 16"/>
          <p:cNvSpPr txBox="1"/>
          <p:nvPr/>
        </p:nvSpPr>
        <p:spPr>
          <a:xfrm>
            <a:off x="3429000" y="4800600"/>
            <a:ext cx="2331720" cy="1371600"/>
          </a:xfrm>
          <a:prstGeom prst="rect">
            <a:avLst/>
          </a:prstGeom>
          <a:noFill/>
          <a:ln/>
        </p:spPr>
        <p:txBody>
          <a:bodyPr wrap="square" lIns="0" tIns="0" rIns="0" bIns="0" rtlCol="0" anchor="ctr"/>
          <a:lstStyle/>
          <a:p>
            <a:pPr algn="l" indent="0" marL="0">
              <a:buNone/>
            </a:pPr>
            <a:r>
              <a:rPr lang="en-US" sz="1300" dirty="0">
                <a:solidFill>
                  <a:schemeClr val="accent5"/>
                </a:solidFill>
              </a:rPr>
              <a:t>Model penjelas menunjukkan pola yang sama: sumbangan SHAP adopsi turun saat porsi gas jaringan naik</a:t>
            </a:r>
            <a:endParaRPr lang="en-US" sz="1300" dirty="0"/>
          </a:p>
        </p:txBody>
      </p:sp>
      <p:sp>
        <p:nvSpPr>
          <p:cNvPr id="21" name="rantai TEMUAN"/>
          <p:cNvSpPr/>
          <p:nvPr/>
        </p:nvSpPr>
        <p:spPr>
          <a:xfrm>
            <a:off x="6035040" y="1691640"/>
            <a:ext cx="5608015" cy="704088"/>
          </a:xfrm>
          <a:prstGeom prst="roundRect">
            <a:avLst>
              <a:gd name="adj" fmla="val 10390"/>
            </a:avLst>
          </a:prstGeom>
          <a:solidFill>
            <a:schemeClr val="tx2">
              <a:alpha val="9000"/>
            </a:schemeClr>
          </a:solidFill>
          <a:ln/>
        </p:spPr>
      </p:sp>
      <p:sp>
        <p:nvSpPr>
          <p:cNvPr id="22" name="label TEMUAN"/>
          <p:cNvSpPr/>
          <p:nvPr/>
        </p:nvSpPr>
        <p:spPr>
          <a:xfrm>
            <a:off x="6172200" y="1801368"/>
            <a:ext cx="1298448" cy="274320"/>
          </a:xfrm>
          <a:prstGeom prst="roundRect">
            <a:avLst>
              <a:gd name="adj" fmla="val 20000"/>
            </a:avLst>
          </a:prstGeom>
          <a:solidFill>
            <a:schemeClr val="tx2"/>
          </a:solidFill>
          <a:ln/>
        </p:spPr>
      </p:sp>
      <p:sp>
        <p:nvSpPr>
          <p:cNvPr id="23" name="Text 19"/>
          <p:cNvSpPr txBox="1"/>
          <p:nvPr/>
        </p:nvSpPr>
        <p:spPr>
          <a:xfrm>
            <a:off x="6172200" y="1801368"/>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TEMUAN</a:t>
            </a:r>
            <a:endParaRPr lang="en-US" sz="1100" dirty="0"/>
          </a:p>
        </p:txBody>
      </p:sp>
      <p:sp>
        <p:nvSpPr>
          <p:cNvPr id="24" name="Text 20"/>
          <p:cNvSpPr txBox="1"/>
          <p:nvPr/>
        </p:nvSpPr>
        <p:spPr>
          <a:xfrm>
            <a:off x="7607808" y="1783080"/>
            <a:ext cx="3916375" cy="539496"/>
          </a:xfrm>
          <a:prstGeom prst="rect">
            <a:avLst/>
          </a:prstGeom>
          <a:noFill/>
          <a:ln/>
        </p:spPr>
        <p:txBody>
          <a:bodyPr wrap="square" lIns="0" tIns="0" rIns="0" bIns="0" rtlCol="0" anchor="t"/>
          <a:lstStyle/>
          <a:p>
            <a:pPr algn="l" indent="0" marL="0">
              <a:buNone/>
            </a:pPr>
            <a:r>
              <a:rPr lang="en-US" sz="1500" dirty="0">
                <a:solidFill>
                  <a:schemeClr val="tx1"/>
                </a:solidFill>
              </a:rPr>
              <a:t>adopsi 40,24% di kawasan dengan gas jaringan ≤40% vs 2,73% di kawasan &gt;80% (70% kawasan)</a:t>
            </a:r>
            <a:endParaRPr lang="en-US" sz="1500" dirty="0"/>
          </a:p>
        </p:txBody>
      </p:sp>
      <p:sp>
        <p:nvSpPr>
          <p:cNvPr id="25" name="panah rantai"/>
          <p:cNvSpPr/>
          <p:nvPr/>
        </p:nvSpPr>
        <p:spPr>
          <a:xfrm flipV="1">
            <a:off x="6684264" y="2567940"/>
            <a:ext cx="274320" cy="109728"/>
          </a:xfrm>
          <a:prstGeom prst="triangle">
            <a:avLst/>
          </a:prstGeom>
          <a:solidFill>
            <a:schemeClr val="accent4"/>
          </a:solidFill>
          <a:ln/>
        </p:spPr>
      </p:sp>
      <p:sp>
        <p:nvSpPr>
          <p:cNvPr id="26" name="rantai INTERPRETASI"/>
          <p:cNvSpPr/>
          <p:nvPr/>
        </p:nvSpPr>
        <p:spPr>
          <a:xfrm>
            <a:off x="6035040" y="2849880"/>
            <a:ext cx="5608015" cy="704088"/>
          </a:xfrm>
          <a:prstGeom prst="roundRect">
            <a:avLst>
              <a:gd name="adj" fmla="val 10390"/>
            </a:avLst>
          </a:prstGeom>
          <a:solidFill>
            <a:schemeClr val="accent3">
              <a:alpha val="9000"/>
            </a:schemeClr>
          </a:solidFill>
          <a:ln/>
        </p:spPr>
      </p:sp>
      <p:sp>
        <p:nvSpPr>
          <p:cNvPr id="27" name="label INTERPRETASI"/>
          <p:cNvSpPr/>
          <p:nvPr/>
        </p:nvSpPr>
        <p:spPr>
          <a:xfrm>
            <a:off x="6172200" y="2959608"/>
            <a:ext cx="1298448" cy="274320"/>
          </a:xfrm>
          <a:prstGeom prst="roundRect">
            <a:avLst>
              <a:gd name="adj" fmla="val 20000"/>
            </a:avLst>
          </a:prstGeom>
          <a:solidFill>
            <a:schemeClr val="accent3"/>
          </a:solidFill>
          <a:ln/>
        </p:spPr>
      </p:sp>
      <p:sp>
        <p:nvSpPr>
          <p:cNvPr id="28" name="Text 24"/>
          <p:cNvSpPr txBox="1"/>
          <p:nvPr/>
        </p:nvSpPr>
        <p:spPr>
          <a:xfrm>
            <a:off x="6172200" y="2959608"/>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INTERPRETASI</a:t>
            </a:r>
            <a:endParaRPr lang="en-US" sz="1100" dirty="0"/>
          </a:p>
        </p:txBody>
      </p:sp>
      <p:sp>
        <p:nvSpPr>
          <p:cNvPr id="29" name="Text 25"/>
          <p:cNvSpPr txBox="1"/>
          <p:nvPr/>
        </p:nvSpPr>
        <p:spPr>
          <a:xfrm>
            <a:off x="7607808" y="2941320"/>
            <a:ext cx="3916375" cy="539496"/>
          </a:xfrm>
          <a:prstGeom prst="rect">
            <a:avLst/>
          </a:prstGeom>
          <a:noFill/>
          <a:ln/>
        </p:spPr>
        <p:txBody>
          <a:bodyPr wrap="square" lIns="0" tIns="0" rIns="0" bIns="0" rtlCol="0" anchor="t"/>
          <a:lstStyle/>
          <a:p>
            <a:pPr algn="l" indent="0" marL="0">
              <a:buNone/>
            </a:pPr>
            <a:r>
              <a:rPr lang="en-US" sz="1500" dirty="0">
                <a:solidFill>
                  <a:schemeClr val="tx1"/>
                </a:solidFill>
              </a:rPr>
              <a:t>elektrifikasi kawasan bergas tertinggal; pola komposisi, bukan sebab-akibat</a:t>
            </a:r>
            <a:endParaRPr lang="en-US" sz="1500" dirty="0"/>
          </a:p>
        </p:txBody>
      </p:sp>
      <p:sp>
        <p:nvSpPr>
          <p:cNvPr id="30" name="panah rantai"/>
          <p:cNvSpPr/>
          <p:nvPr/>
        </p:nvSpPr>
        <p:spPr>
          <a:xfrm flipV="1">
            <a:off x="6684264" y="3726180"/>
            <a:ext cx="274320" cy="109728"/>
          </a:xfrm>
          <a:prstGeom prst="triangle">
            <a:avLst/>
          </a:prstGeom>
          <a:solidFill>
            <a:schemeClr val="accent4"/>
          </a:solidFill>
          <a:ln/>
        </p:spPr>
      </p:sp>
      <p:sp>
        <p:nvSpPr>
          <p:cNvPr id="31" name="rantai REKOMENDASI"/>
          <p:cNvSpPr/>
          <p:nvPr/>
        </p:nvSpPr>
        <p:spPr>
          <a:xfrm>
            <a:off x="6035040" y="4008120"/>
            <a:ext cx="5608015" cy="1005840"/>
          </a:xfrm>
          <a:prstGeom prst="roundRect">
            <a:avLst>
              <a:gd name="adj" fmla="val 7273"/>
            </a:avLst>
          </a:prstGeom>
          <a:solidFill>
            <a:schemeClr val="accent1">
              <a:alpha val="16000"/>
            </a:schemeClr>
          </a:solidFill>
          <a:ln/>
        </p:spPr>
      </p:sp>
      <p:sp>
        <p:nvSpPr>
          <p:cNvPr id="32" name="label REKOMENDASI"/>
          <p:cNvSpPr/>
          <p:nvPr/>
        </p:nvSpPr>
        <p:spPr>
          <a:xfrm>
            <a:off x="6172200" y="4117848"/>
            <a:ext cx="1298448" cy="274320"/>
          </a:xfrm>
          <a:prstGeom prst="roundRect">
            <a:avLst>
              <a:gd name="adj" fmla="val 20000"/>
            </a:avLst>
          </a:prstGeom>
          <a:solidFill>
            <a:schemeClr val="accent1"/>
          </a:solidFill>
          <a:ln/>
        </p:spPr>
      </p:sp>
      <p:sp>
        <p:nvSpPr>
          <p:cNvPr id="33" name="Text 29"/>
          <p:cNvSpPr txBox="1"/>
          <p:nvPr/>
        </p:nvSpPr>
        <p:spPr>
          <a:xfrm>
            <a:off x="6172200" y="4117848"/>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REKOMENDASI</a:t>
            </a:r>
            <a:endParaRPr lang="en-US" sz="1100" dirty="0"/>
          </a:p>
        </p:txBody>
      </p:sp>
      <p:sp>
        <p:nvSpPr>
          <p:cNvPr id="34" name="Text 30"/>
          <p:cNvSpPr txBox="1"/>
          <p:nvPr/>
        </p:nvSpPr>
        <p:spPr>
          <a:xfrm>
            <a:off x="7607808" y="4099560"/>
            <a:ext cx="3916375" cy="548640"/>
          </a:xfrm>
          <a:prstGeom prst="rect">
            <a:avLst/>
          </a:prstGeom>
          <a:noFill/>
          <a:ln/>
        </p:spPr>
        <p:txBody>
          <a:bodyPr wrap="square" lIns="0" tIns="0" rIns="0" bIns="0" rtlCol="0" anchor="t"/>
          <a:lstStyle/>
          <a:p>
            <a:pPr algn="l" indent="0" marL="0">
              <a:buNone/>
            </a:pPr>
            <a:r>
              <a:rPr lang="en-US" sz="1500" b="1" dirty="0">
                <a:solidFill>
                  <a:schemeClr val="tx1"/>
                </a:solidFill>
              </a:rPr>
              <a:t>pilot pompa panas + bantuan bongkar ketel lama di zona Q2, misalnya REG_033</a:t>
            </a:r>
            <a:endParaRPr lang="en-US" sz="1500" dirty="0"/>
          </a:p>
        </p:txBody>
      </p:sp>
      <p:sp>
        <p:nvSpPr>
          <p:cNvPr id="35" name="Text 31"/>
          <p:cNvSpPr txBox="1"/>
          <p:nvPr/>
        </p:nvSpPr>
        <p:spPr>
          <a:xfrm>
            <a:off x="7607808" y="4629912"/>
            <a:ext cx="3916375" cy="292608"/>
          </a:xfrm>
          <a:prstGeom prst="rect">
            <a:avLst/>
          </a:prstGeom>
          <a:noFill/>
          <a:ln/>
        </p:spPr>
        <p:txBody>
          <a:bodyPr wrap="square" lIns="0" tIns="0" rIns="0" bIns="0" rtlCol="0" anchor="ctr"/>
          <a:lstStyle/>
          <a:p>
            <a:pPr algn="l" indent="0" marL="0">
              <a:buNone/>
            </a:pPr>
            <a:r>
              <a:rPr lang="en-US" sz="1200" dirty="0">
                <a:solidFill>
                  <a:schemeClr val="accent5"/>
                </a:solidFill>
              </a:rPr>
              <a:t>REG_033: gas jaringan 83,21%, adopsi 4,99%</a:t>
            </a:r>
            <a:endParaRPr lang="en-US" sz="1200" dirty="0"/>
          </a:p>
        </p:txBody>
      </p:sp>
      <p:sp>
        <p:nvSpPr>
          <p:cNvPr id="36" name="panah rantai"/>
          <p:cNvSpPr/>
          <p:nvPr/>
        </p:nvSpPr>
        <p:spPr>
          <a:xfrm flipV="1">
            <a:off x="6684264" y="5186172"/>
            <a:ext cx="274320" cy="109728"/>
          </a:xfrm>
          <a:prstGeom prst="triangle">
            <a:avLst/>
          </a:prstGeom>
          <a:solidFill>
            <a:schemeClr val="accent4"/>
          </a:solidFill>
          <a:ln/>
        </p:spPr>
      </p:sp>
      <p:sp>
        <p:nvSpPr>
          <p:cNvPr id="37" name="rantai LANGKAH"/>
          <p:cNvSpPr/>
          <p:nvPr/>
        </p:nvSpPr>
        <p:spPr>
          <a:xfrm>
            <a:off x="6035040" y="5468112"/>
            <a:ext cx="5608015" cy="704088"/>
          </a:xfrm>
          <a:prstGeom prst="roundRect">
            <a:avLst>
              <a:gd name="adj" fmla="val 10390"/>
            </a:avLst>
          </a:prstGeom>
          <a:solidFill>
            <a:schemeClr val="accent2">
              <a:alpha val="9000"/>
            </a:schemeClr>
          </a:solidFill>
          <a:ln/>
        </p:spPr>
      </p:sp>
      <p:sp>
        <p:nvSpPr>
          <p:cNvPr id="38" name="label LANGKAH"/>
          <p:cNvSpPr/>
          <p:nvPr/>
        </p:nvSpPr>
        <p:spPr>
          <a:xfrm>
            <a:off x="6172200" y="5577840"/>
            <a:ext cx="1298448" cy="274320"/>
          </a:xfrm>
          <a:prstGeom prst="roundRect">
            <a:avLst>
              <a:gd name="adj" fmla="val 20000"/>
            </a:avLst>
          </a:prstGeom>
          <a:solidFill>
            <a:schemeClr val="accent2"/>
          </a:solidFill>
          <a:ln/>
        </p:spPr>
      </p:sp>
      <p:sp>
        <p:nvSpPr>
          <p:cNvPr id="39" name="Text 35"/>
          <p:cNvSpPr txBox="1"/>
          <p:nvPr/>
        </p:nvSpPr>
        <p:spPr>
          <a:xfrm>
            <a:off x="6172200" y="5577840"/>
            <a:ext cx="1298448"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LANGKAH</a:t>
            </a:r>
            <a:endParaRPr lang="en-US" sz="1100" dirty="0"/>
          </a:p>
        </p:txBody>
      </p:sp>
      <p:sp>
        <p:nvSpPr>
          <p:cNvPr id="40" name="Text 36"/>
          <p:cNvSpPr txBox="1"/>
          <p:nvPr/>
        </p:nvSpPr>
        <p:spPr>
          <a:xfrm>
            <a:off x="7607808" y="5559552"/>
            <a:ext cx="3916375" cy="539496"/>
          </a:xfrm>
          <a:prstGeom prst="rect">
            <a:avLst/>
          </a:prstGeom>
          <a:noFill/>
          <a:ln/>
        </p:spPr>
        <p:txBody>
          <a:bodyPr wrap="square" lIns="0" tIns="0" rIns="0" bIns="0" rtlCol="0" anchor="t"/>
          <a:lstStyle/>
          <a:p>
            <a:pPr algn="l" indent="0" marL="0">
              <a:buNone/>
            </a:pPr>
            <a:r>
              <a:rPr lang="en-US" sz="1500" dirty="0">
                <a:solidFill>
                  <a:schemeClr val="tx1"/>
                </a:solidFill>
              </a:rPr>
              <a:t>cek gardu lokal → pilot dan audit energi dengan pembanding → ukur adopsi → perluas bila terukur</a:t>
            </a:r>
            <a:endParaRPr lang="en-US" sz="15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V · KETERBATASAN DAN PENUTUP</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ini dasar prioritas,</a:t>
            </a:r>
            <a:br/>
            <a:pPr algn="l" indent="0" marL="0">
              <a:buNone/>
            </a:pPr>
            <a:r>
              <a:rPr lang="en-US" sz="2800" b="1" dirty="0">
                <a:solidFill>
                  <a:schemeClr val="tx2"/>
                </a:solidFill>
              </a:rPr>
              <a:t>bukan pengganti audit teknis atau validasi lapangan</a:t>
            </a:r>
            <a:endParaRPr lang="en-US" sz="2800" dirty="0"/>
          </a:p>
        </p:txBody>
      </p:sp>
      <p:sp>
        <p:nvSpPr>
          <p:cNvPr id="4" name="belum diketahui 1"/>
          <p:cNvSpPr/>
          <p:nvPr/>
        </p:nvSpPr>
        <p:spPr>
          <a:xfrm>
            <a:off x="548640" y="1828800"/>
            <a:ext cx="3502152" cy="2103120"/>
          </a:xfrm>
          <a:prstGeom prst="roundRect">
            <a:avLst>
              <a:gd name="adj" fmla="val 4348"/>
            </a:avLst>
          </a:prstGeom>
          <a:solidFill>
            <a:schemeClr val="bg2"/>
          </a:solidFill>
          <a:ln/>
        </p:spPr>
      </p:sp>
      <p:sp>
        <p:nvSpPr>
          <p:cNvPr id="5" name="ikon FaGaugeHigh"/>
          <p:cNvSpPr/>
          <p:nvPr/>
        </p:nvSpPr>
        <p:spPr>
          <a:xfrm>
            <a:off x="768096" y="2048256"/>
            <a:ext cx="566928" cy="566928"/>
          </a:xfrm>
          <a:prstGeom prst="ellipse">
            <a:avLst/>
          </a:prstGeom>
          <a:solidFill>
            <a:schemeClr val="accent5"/>
          </a:solidFill>
          <a:ln/>
        </p:spPr>
      </p:sp>
      <p:pic>
        <p:nvPicPr>
          <p:cNvPr id="6" name="Image 0" descr="FaGaugeHigh">    </p:cNvPr>
          <p:cNvPicPr>
            <a:picLocks noChangeAspect="1"/>
          </p:cNvPicPr>
          <p:nvPr/>
        </p:nvPicPr>
        <p:blipFill>
          <a:blip r:embed="rId1"/>
          <a:stretch>
            <a:fillRect/>
          </a:stretch>
        </p:blipFill>
        <p:spPr>
          <a:xfrm>
            <a:off x="909828" y="2189988"/>
            <a:ext cx="283464" cy="283464"/>
          </a:xfrm>
          <a:prstGeom prst="rect">
            <a:avLst/>
          </a:prstGeom>
        </p:spPr>
      </p:pic>
      <p:sp>
        <p:nvSpPr>
          <p:cNvPr id="7" name="label BELUM DIKETAHUI"/>
          <p:cNvSpPr/>
          <p:nvPr/>
        </p:nvSpPr>
        <p:spPr>
          <a:xfrm>
            <a:off x="1463040" y="2194560"/>
            <a:ext cx="1534363" cy="274320"/>
          </a:xfrm>
          <a:prstGeom prst="roundRect">
            <a:avLst>
              <a:gd name="adj" fmla="val 20000"/>
            </a:avLst>
          </a:prstGeom>
          <a:solidFill>
            <a:schemeClr val="accent5"/>
          </a:solidFill>
          <a:ln/>
        </p:spPr>
      </p:sp>
      <p:sp>
        <p:nvSpPr>
          <p:cNvPr id="8" name="Text 5"/>
          <p:cNvSpPr txBox="1"/>
          <p:nvPr/>
        </p:nvSpPr>
        <p:spPr>
          <a:xfrm>
            <a:off x="1463040" y="2194560"/>
            <a:ext cx="1534363"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BELUM DIKETAHUI</a:t>
            </a:r>
            <a:endParaRPr lang="en-US" sz="1100" dirty="0"/>
          </a:p>
        </p:txBody>
      </p:sp>
      <p:sp>
        <p:nvSpPr>
          <p:cNvPr id="9" name="Text 6"/>
          <p:cNvSpPr txBox="1"/>
          <p:nvPr/>
        </p:nvSpPr>
        <p:spPr>
          <a:xfrm>
            <a:off x="822960" y="2788920"/>
            <a:ext cx="2953512" cy="1051560"/>
          </a:xfrm>
          <a:prstGeom prst="rect">
            <a:avLst/>
          </a:prstGeom>
          <a:noFill/>
          <a:ln/>
        </p:spPr>
        <p:txBody>
          <a:bodyPr wrap="square" lIns="0" tIns="0" rIns="0" bIns="0" rtlCol="0" anchor="t"/>
          <a:lstStyle/>
          <a:p>
            <a:pPr algn="l" indent="0" marL="0">
              <a:buNone/>
            </a:pPr>
            <a:r>
              <a:rPr lang="en-US" sz="1700" dirty="0">
                <a:solidFill>
                  <a:schemeClr val="tx1"/>
                </a:solidFill>
              </a:rPr>
              <a:t>Beban puncak dan kapasitas gardu terukur: tidak ada di data</a:t>
            </a:r>
            <a:endParaRPr lang="en-US" sz="1700" dirty="0"/>
          </a:p>
        </p:txBody>
      </p:sp>
      <p:sp>
        <p:nvSpPr>
          <p:cNvPr id="10" name="panah penanganan"/>
          <p:cNvSpPr/>
          <p:nvPr/>
        </p:nvSpPr>
        <p:spPr>
          <a:xfrm>
            <a:off x="2098548" y="4023360"/>
            <a:ext cx="402336" cy="411480"/>
          </a:xfrm>
          <a:prstGeom prst="downArrow">
            <a:avLst/>
          </a:prstGeom>
          <a:solidFill>
            <a:schemeClr val="accent4"/>
          </a:solidFill>
          <a:ln/>
        </p:spPr>
      </p:sp>
      <p:sp>
        <p:nvSpPr>
          <p:cNvPr id="11" name="penanganan 1"/>
          <p:cNvSpPr/>
          <p:nvPr/>
        </p:nvSpPr>
        <p:spPr>
          <a:xfrm>
            <a:off x="548640" y="4526280"/>
            <a:ext cx="3502152" cy="1463040"/>
          </a:xfrm>
          <a:prstGeom prst="roundRect">
            <a:avLst>
              <a:gd name="adj" fmla="val 6250"/>
            </a:avLst>
          </a:prstGeom>
          <a:solidFill>
            <a:schemeClr val="accent2">
              <a:alpha val="12000"/>
            </a:schemeClr>
          </a:solidFill>
          <a:ln/>
        </p:spPr>
      </p:sp>
      <p:sp>
        <p:nvSpPr>
          <p:cNvPr id="12" name="label PENANGANAN"/>
          <p:cNvSpPr/>
          <p:nvPr/>
        </p:nvSpPr>
        <p:spPr>
          <a:xfrm>
            <a:off x="822960" y="4709160"/>
            <a:ext cx="1071677" cy="274320"/>
          </a:xfrm>
          <a:prstGeom prst="roundRect">
            <a:avLst>
              <a:gd name="adj" fmla="val 20000"/>
            </a:avLst>
          </a:prstGeom>
          <a:solidFill>
            <a:schemeClr val="accent2"/>
          </a:solidFill>
          <a:ln/>
        </p:spPr>
      </p:sp>
      <p:sp>
        <p:nvSpPr>
          <p:cNvPr id="13" name="Text 10"/>
          <p:cNvSpPr txBox="1"/>
          <p:nvPr/>
        </p:nvSpPr>
        <p:spPr>
          <a:xfrm>
            <a:off x="822960" y="4709160"/>
            <a:ext cx="1071677"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PENANGANAN</a:t>
            </a:r>
            <a:endParaRPr lang="en-US" sz="1100" dirty="0"/>
          </a:p>
        </p:txBody>
      </p:sp>
      <p:sp>
        <p:nvSpPr>
          <p:cNvPr id="14" name="Text 11"/>
          <p:cNvSpPr txBox="1"/>
          <p:nvPr/>
        </p:nvSpPr>
        <p:spPr>
          <a:xfrm>
            <a:off x="822960" y="5074920"/>
            <a:ext cx="2953512" cy="822960"/>
          </a:xfrm>
          <a:prstGeom prst="rect">
            <a:avLst/>
          </a:prstGeom>
          <a:noFill/>
          <a:ln/>
        </p:spPr>
        <p:txBody>
          <a:bodyPr wrap="square" lIns="0" tIns="0" rIns="0" bIns="0" rtlCol="0" anchor="t"/>
          <a:lstStyle/>
          <a:p>
            <a:pPr algn="l" indent="0" marL="0">
              <a:buNone/>
            </a:pPr>
            <a:r>
              <a:rPr lang="en-US" sz="1800" b="1" dirty="0">
                <a:solidFill>
                  <a:schemeClr val="tx2"/>
                </a:solidFill>
              </a:rPr>
              <a:t>penilaian operator jaringan</a:t>
            </a:r>
            <a:endParaRPr lang="en-US" sz="1800" dirty="0"/>
          </a:p>
        </p:txBody>
      </p:sp>
      <p:sp>
        <p:nvSpPr>
          <p:cNvPr id="15" name="belum diketahui 2"/>
          <p:cNvSpPr/>
          <p:nvPr/>
        </p:nvSpPr>
        <p:spPr>
          <a:xfrm>
            <a:off x="4344772" y="1828800"/>
            <a:ext cx="3502152" cy="2103120"/>
          </a:xfrm>
          <a:prstGeom prst="roundRect">
            <a:avLst>
              <a:gd name="adj" fmla="val 4348"/>
            </a:avLst>
          </a:prstGeom>
          <a:solidFill>
            <a:schemeClr val="bg2"/>
          </a:solidFill>
          <a:ln/>
        </p:spPr>
      </p:sp>
      <p:sp>
        <p:nvSpPr>
          <p:cNvPr id="16" name="ikon FaCircleQuestion"/>
          <p:cNvSpPr/>
          <p:nvPr/>
        </p:nvSpPr>
        <p:spPr>
          <a:xfrm>
            <a:off x="4564228" y="2048256"/>
            <a:ext cx="566928" cy="566928"/>
          </a:xfrm>
          <a:prstGeom prst="ellipse">
            <a:avLst/>
          </a:prstGeom>
          <a:solidFill>
            <a:schemeClr val="accent5"/>
          </a:solidFill>
          <a:ln/>
        </p:spPr>
      </p:sp>
      <p:pic>
        <p:nvPicPr>
          <p:cNvPr id="17" name="Image 1" descr="FaCircleQuestion">    </p:cNvPr>
          <p:cNvPicPr>
            <a:picLocks noChangeAspect="1"/>
          </p:cNvPicPr>
          <p:nvPr/>
        </p:nvPicPr>
        <p:blipFill>
          <a:blip r:embed="rId2"/>
          <a:stretch>
            <a:fillRect/>
          </a:stretch>
        </p:blipFill>
        <p:spPr>
          <a:xfrm>
            <a:off x="4705960" y="2189988"/>
            <a:ext cx="283464" cy="283464"/>
          </a:xfrm>
          <a:prstGeom prst="rect">
            <a:avLst/>
          </a:prstGeom>
        </p:spPr>
      </p:pic>
      <p:sp>
        <p:nvSpPr>
          <p:cNvPr id="18" name="label BELUM DIKETAHUI"/>
          <p:cNvSpPr/>
          <p:nvPr/>
        </p:nvSpPr>
        <p:spPr>
          <a:xfrm>
            <a:off x="5259172" y="2194560"/>
            <a:ext cx="1534363" cy="274320"/>
          </a:xfrm>
          <a:prstGeom prst="roundRect">
            <a:avLst>
              <a:gd name="adj" fmla="val 20000"/>
            </a:avLst>
          </a:prstGeom>
          <a:solidFill>
            <a:schemeClr val="accent5"/>
          </a:solidFill>
          <a:ln/>
        </p:spPr>
      </p:sp>
      <p:sp>
        <p:nvSpPr>
          <p:cNvPr id="19" name="Text 15"/>
          <p:cNvSpPr txBox="1"/>
          <p:nvPr/>
        </p:nvSpPr>
        <p:spPr>
          <a:xfrm>
            <a:off x="5259172" y="2194560"/>
            <a:ext cx="1534363"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BELUM DIKETAHUI</a:t>
            </a:r>
            <a:endParaRPr lang="en-US" sz="1100" dirty="0"/>
          </a:p>
        </p:txBody>
      </p:sp>
      <p:sp>
        <p:nvSpPr>
          <p:cNvPr id="20" name="Text 16"/>
          <p:cNvSpPr txBox="1"/>
          <p:nvPr/>
        </p:nvSpPr>
        <p:spPr>
          <a:xfrm>
            <a:off x="4619092" y="2788920"/>
            <a:ext cx="2953512" cy="1051560"/>
          </a:xfrm>
          <a:prstGeom prst="rect">
            <a:avLst/>
          </a:prstGeom>
          <a:noFill/>
          <a:ln/>
        </p:spPr>
        <p:txBody>
          <a:bodyPr wrap="square" lIns="0" tIns="0" rIns="0" bIns="0" rtlCol="0" anchor="t"/>
          <a:lstStyle/>
          <a:p>
            <a:pPr algn="l" indent="0" marL="0">
              <a:buNone/>
            </a:pPr>
            <a:r>
              <a:rPr lang="en-US" sz="1700" dirty="0">
                <a:solidFill>
                  <a:schemeClr val="tx1"/>
                </a:solidFill>
              </a:rPr>
              <a:t>COP lokal, ambang median, dan makna kolom: belum pasti</a:t>
            </a:r>
            <a:endParaRPr lang="en-US" sz="1700" dirty="0"/>
          </a:p>
        </p:txBody>
      </p:sp>
      <p:sp>
        <p:nvSpPr>
          <p:cNvPr id="21" name="panah penanganan"/>
          <p:cNvSpPr/>
          <p:nvPr/>
        </p:nvSpPr>
        <p:spPr>
          <a:xfrm>
            <a:off x="5894680" y="4023360"/>
            <a:ext cx="402336" cy="411480"/>
          </a:xfrm>
          <a:prstGeom prst="downArrow">
            <a:avLst/>
          </a:prstGeom>
          <a:solidFill>
            <a:schemeClr val="accent4"/>
          </a:solidFill>
          <a:ln/>
        </p:spPr>
      </p:sp>
      <p:sp>
        <p:nvSpPr>
          <p:cNvPr id="22" name="penanganan 2"/>
          <p:cNvSpPr/>
          <p:nvPr/>
        </p:nvSpPr>
        <p:spPr>
          <a:xfrm>
            <a:off x="4344772" y="4526280"/>
            <a:ext cx="3502152" cy="1463040"/>
          </a:xfrm>
          <a:prstGeom prst="roundRect">
            <a:avLst>
              <a:gd name="adj" fmla="val 6250"/>
            </a:avLst>
          </a:prstGeom>
          <a:solidFill>
            <a:schemeClr val="accent2">
              <a:alpha val="12000"/>
            </a:schemeClr>
          </a:solidFill>
          <a:ln/>
        </p:spPr>
      </p:sp>
      <p:sp>
        <p:nvSpPr>
          <p:cNvPr id="23" name="label PENANGANAN"/>
          <p:cNvSpPr/>
          <p:nvPr/>
        </p:nvSpPr>
        <p:spPr>
          <a:xfrm>
            <a:off x="4619092" y="4709160"/>
            <a:ext cx="1071677" cy="274320"/>
          </a:xfrm>
          <a:prstGeom prst="roundRect">
            <a:avLst>
              <a:gd name="adj" fmla="val 20000"/>
            </a:avLst>
          </a:prstGeom>
          <a:solidFill>
            <a:schemeClr val="accent2"/>
          </a:solidFill>
          <a:ln/>
        </p:spPr>
      </p:sp>
      <p:sp>
        <p:nvSpPr>
          <p:cNvPr id="24" name="Text 20"/>
          <p:cNvSpPr txBox="1"/>
          <p:nvPr/>
        </p:nvSpPr>
        <p:spPr>
          <a:xfrm>
            <a:off x="4619092" y="4709160"/>
            <a:ext cx="1071677"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PENANGANAN</a:t>
            </a:r>
            <a:endParaRPr lang="en-US" sz="1100" dirty="0"/>
          </a:p>
        </p:txBody>
      </p:sp>
      <p:sp>
        <p:nvSpPr>
          <p:cNvPr id="25" name="Text 21"/>
          <p:cNvSpPr txBox="1"/>
          <p:nvPr/>
        </p:nvSpPr>
        <p:spPr>
          <a:xfrm>
            <a:off x="4619092" y="5074920"/>
            <a:ext cx="2953512" cy="822960"/>
          </a:xfrm>
          <a:prstGeom prst="rect">
            <a:avLst/>
          </a:prstGeom>
          <a:noFill/>
          <a:ln/>
        </p:spPr>
        <p:txBody>
          <a:bodyPr wrap="square" lIns="0" tIns="0" rIns="0" bIns="0" rtlCol="0" anchor="t"/>
          <a:lstStyle/>
          <a:p>
            <a:pPr algn="l" indent="0" marL="0">
              <a:buNone/>
            </a:pPr>
            <a:r>
              <a:rPr lang="en-US" sz="1800" b="1" dirty="0">
                <a:solidFill>
                  <a:schemeClr val="tx2"/>
                </a:solidFill>
              </a:rPr>
              <a:t>daftar zona = kandidat</a:t>
            </a:r>
            <a:endParaRPr lang="en-US" sz="1800" dirty="0"/>
          </a:p>
        </p:txBody>
      </p:sp>
      <p:sp>
        <p:nvSpPr>
          <p:cNvPr id="26" name="belum diketahui 3"/>
          <p:cNvSpPr/>
          <p:nvPr/>
        </p:nvSpPr>
        <p:spPr>
          <a:xfrm>
            <a:off x="8140903" y="1828800"/>
            <a:ext cx="3502152" cy="2103120"/>
          </a:xfrm>
          <a:prstGeom prst="roundRect">
            <a:avLst>
              <a:gd name="adj" fmla="val 4348"/>
            </a:avLst>
          </a:prstGeom>
          <a:solidFill>
            <a:schemeClr val="bg2"/>
          </a:solidFill>
          <a:ln/>
        </p:spPr>
      </p:sp>
      <p:sp>
        <p:nvSpPr>
          <p:cNvPr id="27" name="ikon FaFlask"/>
          <p:cNvSpPr/>
          <p:nvPr/>
        </p:nvSpPr>
        <p:spPr>
          <a:xfrm>
            <a:off x="8360359" y="2048256"/>
            <a:ext cx="566928" cy="566928"/>
          </a:xfrm>
          <a:prstGeom prst="ellipse">
            <a:avLst/>
          </a:prstGeom>
          <a:solidFill>
            <a:schemeClr val="accent5"/>
          </a:solidFill>
          <a:ln/>
        </p:spPr>
      </p:sp>
      <p:pic>
        <p:nvPicPr>
          <p:cNvPr id="28" name="Image 2" descr="FaFlask">    </p:cNvPr>
          <p:cNvPicPr>
            <a:picLocks noChangeAspect="1"/>
          </p:cNvPicPr>
          <p:nvPr/>
        </p:nvPicPr>
        <p:blipFill>
          <a:blip r:embed="rId3"/>
          <a:stretch>
            <a:fillRect/>
          </a:stretch>
        </p:blipFill>
        <p:spPr>
          <a:xfrm>
            <a:off x="8502091" y="2189988"/>
            <a:ext cx="283464" cy="283464"/>
          </a:xfrm>
          <a:prstGeom prst="rect">
            <a:avLst/>
          </a:prstGeom>
        </p:spPr>
      </p:pic>
      <p:sp>
        <p:nvSpPr>
          <p:cNvPr id="29" name="label BELUM DIKETAHUI"/>
          <p:cNvSpPr/>
          <p:nvPr/>
        </p:nvSpPr>
        <p:spPr>
          <a:xfrm>
            <a:off x="9055303" y="2194560"/>
            <a:ext cx="1534363" cy="274320"/>
          </a:xfrm>
          <a:prstGeom prst="roundRect">
            <a:avLst>
              <a:gd name="adj" fmla="val 20000"/>
            </a:avLst>
          </a:prstGeom>
          <a:solidFill>
            <a:schemeClr val="accent5"/>
          </a:solidFill>
          <a:ln/>
        </p:spPr>
      </p:sp>
      <p:sp>
        <p:nvSpPr>
          <p:cNvPr id="30" name="Text 25"/>
          <p:cNvSpPr txBox="1"/>
          <p:nvPr/>
        </p:nvSpPr>
        <p:spPr>
          <a:xfrm>
            <a:off x="9055303" y="2194560"/>
            <a:ext cx="1534363"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BELUM DIKETAHUI</a:t>
            </a:r>
            <a:endParaRPr lang="en-US" sz="1100" dirty="0"/>
          </a:p>
        </p:txBody>
      </p:sp>
      <p:sp>
        <p:nvSpPr>
          <p:cNvPr id="31" name="Text 26"/>
          <p:cNvSpPr txBox="1"/>
          <p:nvPr/>
        </p:nvSpPr>
        <p:spPr>
          <a:xfrm>
            <a:off x="8415223" y="2788920"/>
            <a:ext cx="2953512" cy="1051560"/>
          </a:xfrm>
          <a:prstGeom prst="rect">
            <a:avLst/>
          </a:prstGeom>
          <a:noFill/>
          <a:ln/>
        </p:spPr>
        <p:txBody>
          <a:bodyPr wrap="square" lIns="0" tIns="0" rIns="0" bIns="0" rtlCol="0" anchor="t"/>
          <a:lstStyle/>
          <a:p>
            <a:pPr algn="l" indent="0" marL="0">
              <a:buNone/>
            </a:pPr>
            <a:r>
              <a:rPr lang="en-US" sz="1700" dirty="0">
                <a:solidFill>
                  <a:schemeClr val="tx1"/>
                </a:solidFill>
              </a:rPr>
              <a:t>SHAP asosiatif; potensi </a:t>
            </a:r>
            <a:pPr algn="l" indent="0" marL="0">
              <a:buNone/>
            </a:pPr>
            <a:r>
              <a:rPr lang="en-US" sz="1700" i="1" dirty="0">
                <a:solidFill>
                  <a:schemeClr val="tx1"/>
                </a:solidFill>
              </a:rPr>
              <a:t>retrofit</a:t>
            </a:r>
            <a:pPr algn="l" indent="0" marL="0">
              <a:buNone/>
            </a:pPr>
            <a:r>
              <a:rPr lang="en-US" sz="1700" dirty="0">
                <a:solidFill>
                  <a:schemeClr val="tx1"/>
                </a:solidFill>
              </a:rPr>
              <a:t> = indikator</a:t>
            </a:r>
            <a:endParaRPr lang="en-US" sz="1700" dirty="0"/>
          </a:p>
        </p:txBody>
      </p:sp>
      <p:sp>
        <p:nvSpPr>
          <p:cNvPr id="32" name="panah penanganan"/>
          <p:cNvSpPr/>
          <p:nvPr/>
        </p:nvSpPr>
        <p:spPr>
          <a:xfrm>
            <a:off x="9690811" y="4023360"/>
            <a:ext cx="402336" cy="411480"/>
          </a:xfrm>
          <a:prstGeom prst="downArrow">
            <a:avLst/>
          </a:prstGeom>
          <a:solidFill>
            <a:schemeClr val="accent4"/>
          </a:solidFill>
          <a:ln/>
        </p:spPr>
      </p:sp>
      <p:sp>
        <p:nvSpPr>
          <p:cNvPr id="33" name="penanganan 3"/>
          <p:cNvSpPr/>
          <p:nvPr/>
        </p:nvSpPr>
        <p:spPr>
          <a:xfrm>
            <a:off x="8140903" y="4526280"/>
            <a:ext cx="3502152" cy="1463040"/>
          </a:xfrm>
          <a:prstGeom prst="roundRect">
            <a:avLst>
              <a:gd name="adj" fmla="val 6250"/>
            </a:avLst>
          </a:prstGeom>
          <a:solidFill>
            <a:schemeClr val="accent2">
              <a:alpha val="12000"/>
            </a:schemeClr>
          </a:solidFill>
          <a:ln/>
        </p:spPr>
      </p:sp>
      <p:sp>
        <p:nvSpPr>
          <p:cNvPr id="34" name="label PENANGANAN"/>
          <p:cNvSpPr/>
          <p:nvPr/>
        </p:nvSpPr>
        <p:spPr>
          <a:xfrm>
            <a:off x="8415223" y="4709160"/>
            <a:ext cx="1071677" cy="274320"/>
          </a:xfrm>
          <a:prstGeom prst="roundRect">
            <a:avLst>
              <a:gd name="adj" fmla="val 20000"/>
            </a:avLst>
          </a:prstGeom>
          <a:solidFill>
            <a:schemeClr val="accent2"/>
          </a:solidFill>
          <a:ln/>
        </p:spPr>
      </p:sp>
      <p:sp>
        <p:nvSpPr>
          <p:cNvPr id="35" name="Text 30"/>
          <p:cNvSpPr txBox="1"/>
          <p:nvPr/>
        </p:nvSpPr>
        <p:spPr>
          <a:xfrm>
            <a:off x="8415223" y="4709160"/>
            <a:ext cx="1071677" cy="274320"/>
          </a:xfrm>
          <a:prstGeom prst="rect">
            <a:avLst/>
          </a:prstGeom>
          <a:noFill/>
          <a:ln/>
        </p:spPr>
        <p:txBody>
          <a:bodyPr wrap="square" lIns="0" tIns="0" rIns="0" bIns="0" rtlCol="0" anchor="ctr"/>
          <a:lstStyle/>
          <a:p>
            <a:pPr algn="ctr" indent="0" marL="0">
              <a:buNone/>
            </a:pPr>
            <a:r>
              <a:rPr lang="en-US" sz="1100" b="1" spc="50" kern="0" dirty="0">
                <a:solidFill>
                  <a:schemeClr val="bg1"/>
                </a:solidFill>
              </a:rPr>
              <a:t>PENANGANAN</a:t>
            </a:r>
            <a:endParaRPr lang="en-US" sz="1100" dirty="0"/>
          </a:p>
        </p:txBody>
      </p:sp>
      <p:sp>
        <p:nvSpPr>
          <p:cNvPr id="36" name="Text 31"/>
          <p:cNvSpPr txBox="1"/>
          <p:nvPr/>
        </p:nvSpPr>
        <p:spPr>
          <a:xfrm>
            <a:off x="8415223" y="5074920"/>
            <a:ext cx="2953512" cy="822960"/>
          </a:xfrm>
          <a:prstGeom prst="rect">
            <a:avLst/>
          </a:prstGeom>
          <a:noFill/>
          <a:ln/>
        </p:spPr>
        <p:txBody>
          <a:bodyPr wrap="square" lIns="0" tIns="0" rIns="0" bIns="0" rtlCol="0" anchor="t"/>
          <a:lstStyle/>
          <a:p>
            <a:pPr algn="l" indent="0" marL="0">
              <a:buNone/>
            </a:pPr>
            <a:r>
              <a:rPr lang="en-US" sz="1800" b="1" dirty="0">
                <a:solidFill>
                  <a:schemeClr val="tx2"/>
                </a:solidFill>
              </a:rPr>
              <a:t>audit energi dan pilot dengan zona pembanding</a:t>
            </a:r>
            <a:endParaRPr lang="en-US" sz="18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lIns="0" tIns="0" rIns="0" bIns="0" rtlCol="0" anchor="t"/>
          <a:lstStyle/>
          <a:p>
            <a:pPr algn="l" indent="0" marL="0">
              <a:buNone/>
            </a:pPr>
            <a:r>
              <a:rPr lang="en-US" sz="1300" b="1" dirty="0">
                <a:solidFill>
                  <a:schemeClr val="accent1"/>
                </a:solidFill>
              </a:rPr>
              <a:t>PENUTUP</a:t>
            </a:r>
            <a:endParaRPr lang="en-US" sz="1300" dirty="0"/>
          </a:p>
        </p:txBody>
      </p:sp>
      <p:sp>
        <p:nvSpPr>
          <p:cNvPr id="3" name="Text 0"/>
          <p:cNvSpPr/>
          <p:nvPr>
            <p:ph idx="101" type="title" hasCustomPrompt="1"/>
          </p:nvPr>
        </p:nvSpPr>
        <p:spPr>
          <a:xfrm>
            <a:off x="548640" y="804672"/>
            <a:ext cx="11094415" cy="1645920"/>
          </a:xfrm>
          <a:prstGeom prst="rect">
            <a:avLst/>
          </a:prstGeom>
          <a:noFill/>
          <a:ln/>
        </p:spPr>
        <p:txBody>
          <a:bodyPr wrap="square" lIns="0" tIns="0" rIns="0" bIns="0" rtlCol="0" anchor="t"/>
          <a:lstStyle/>
          <a:p>
            <a:pPr algn="l" indent="0" marL="0">
              <a:buNone/>
            </a:pPr>
            <a:r>
              <a:rPr lang="en-US" sz="3200" b="1" dirty="0">
                <a:solidFill>
                  <a:schemeClr val="bg1"/>
                </a:solidFill>
              </a:rPr>
              <a:t>Diurutkan per kuadran: </a:t>
            </a:r>
            <a:pPr algn="l" indent="0" marL="0">
              <a:buNone/>
            </a:pPr>
            <a:r>
              <a:rPr lang="en-US" sz="3200" b="1" i="1" dirty="0">
                <a:solidFill>
                  <a:schemeClr val="bg1"/>
                </a:solidFill>
              </a:rPr>
              <a:t>retrofit</a:t>
            </a:r>
            <a:pPr algn="l" indent="0" marL="0">
              <a:buNone/>
            </a:pPr>
            <a:r>
              <a:rPr lang="en-US" sz="3200" b="1" dirty="0">
                <a:solidFill>
                  <a:schemeClr val="bg1"/>
                </a:solidFill>
              </a:rPr>
              <a:t> dulu di Q1,</a:t>
            </a:r>
            <a:br/>
            <a:pPr algn="l" indent="0" marL="0">
              <a:buNone/>
            </a:pPr>
            <a:r>
              <a:rPr lang="en-US" sz="3200" b="1" dirty="0">
                <a:solidFill>
                  <a:schemeClr val="bg1"/>
                </a:solidFill>
              </a:rPr>
              <a:t>gardu dinilai sebelum subsidi,</a:t>
            </a:r>
            <a:br/>
            <a:pPr algn="l" indent="0" marL="0">
              <a:buNone/>
            </a:pPr>
            <a:r>
              <a:rPr lang="en-US" sz="3200" b="1" dirty="0">
                <a:solidFill>
                  <a:schemeClr val="bg1"/>
                </a:solidFill>
              </a:rPr>
              <a:t>pilot pompa panas di Q2</a:t>
            </a:r>
            <a:endParaRPr lang="en-US" sz="3200" dirty="0"/>
          </a:p>
        </p:txBody>
      </p:sp>
      <p:sp>
        <p:nvSpPr>
          <p:cNvPr id="4" name="kartu penutup 1"/>
          <p:cNvSpPr/>
          <p:nvPr/>
        </p:nvSpPr>
        <p:spPr>
          <a:xfrm>
            <a:off x="548640" y="2578608"/>
            <a:ext cx="3502152" cy="1417320"/>
          </a:xfrm>
          <a:prstGeom prst="roundRect">
            <a:avLst>
              <a:gd name="adj" fmla="val 7742"/>
            </a:avLst>
          </a:prstGeom>
          <a:solidFill>
            <a:schemeClr val="bg1">
              <a:alpha val="10000"/>
            </a:schemeClr>
          </a:solidFill>
          <a:ln/>
        </p:spPr>
      </p:sp>
      <p:sp>
        <p:nvSpPr>
          <p:cNvPr id="5" name="nomor 1"/>
          <p:cNvSpPr/>
          <p:nvPr/>
        </p:nvSpPr>
        <p:spPr>
          <a:xfrm>
            <a:off x="749808" y="2779776"/>
            <a:ext cx="512064" cy="512064"/>
          </a:xfrm>
          <a:prstGeom prst="ellipse">
            <a:avLst/>
          </a:prstGeom>
          <a:solidFill>
            <a:schemeClr val="accent1"/>
          </a:solidFill>
          <a:ln/>
        </p:spPr>
      </p:sp>
      <p:sp>
        <p:nvSpPr>
          <p:cNvPr id="6" name="Text 4"/>
          <p:cNvSpPr txBox="1"/>
          <p:nvPr/>
        </p:nvSpPr>
        <p:spPr>
          <a:xfrm>
            <a:off x="749808" y="2779776"/>
            <a:ext cx="512064" cy="512064"/>
          </a:xfrm>
          <a:prstGeom prst="rect">
            <a:avLst/>
          </a:prstGeom>
          <a:noFill/>
          <a:ln/>
        </p:spPr>
        <p:txBody>
          <a:bodyPr wrap="square" lIns="0" tIns="0" rIns="0" bIns="0" rtlCol="0" anchor="ctr"/>
          <a:lstStyle/>
          <a:p>
            <a:pPr algn="ctr" indent="0" marL="0">
              <a:buNone/>
            </a:pPr>
            <a:r>
              <a:rPr lang="en-US" sz="1900" b="1" dirty="0">
                <a:solidFill>
                  <a:schemeClr val="bg1"/>
                </a:solidFill>
              </a:rPr>
              <a:t>1</a:t>
            </a:r>
            <a:endParaRPr lang="en-US" sz="1900" dirty="0"/>
          </a:p>
        </p:txBody>
      </p:sp>
      <p:sp>
        <p:nvSpPr>
          <p:cNvPr id="7" name="Text 5"/>
          <p:cNvSpPr txBox="1"/>
          <p:nvPr/>
        </p:nvSpPr>
        <p:spPr>
          <a:xfrm>
            <a:off x="1417320" y="2779776"/>
            <a:ext cx="2496312" cy="548640"/>
          </a:xfrm>
          <a:prstGeom prst="rect">
            <a:avLst/>
          </a:prstGeom>
          <a:noFill/>
          <a:ln/>
        </p:spPr>
        <p:txBody>
          <a:bodyPr wrap="square" lIns="0" tIns="0" rIns="0" bIns="0" rtlCol="0" anchor="ctr"/>
          <a:lstStyle/>
          <a:p>
            <a:pPr algn="l" indent="0" marL="0">
              <a:buNone/>
            </a:pPr>
            <a:r>
              <a:rPr lang="en-US" sz="2200" b="1" i="1" dirty="0">
                <a:solidFill>
                  <a:schemeClr val="bg1"/>
                </a:solidFill>
              </a:rPr>
              <a:t>Retrofit</a:t>
            </a:r>
            <a:pPr algn="l" indent="0" marL="0">
              <a:buNone/>
            </a:pPr>
            <a:r>
              <a:rPr lang="en-US" sz="2200" b="1" dirty="0">
                <a:solidFill>
                  <a:schemeClr val="bg1"/>
                </a:solidFill>
              </a:rPr>
              <a:t> di Q1</a:t>
            </a:r>
            <a:endParaRPr lang="en-US" sz="2200" dirty="0"/>
          </a:p>
        </p:txBody>
      </p:sp>
      <p:sp>
        <p:nvSpPr>
          <p:cNvPr id="8" name="titik trilema"/>
          <p:cNvSpPr/>
          <p:nvPr/>
        </p:nvSpPr>
        <p:spPr>
          <a:xfrm>
            <a:off x="868680" y="3557016"/>
            <a:ext cx="182880" cy="182880"/>
          </a:xfrm>
          <a:prstGeom prst="ellipse">
            <a:avLst/>
          </a:prstGeom>
          <a:solidFill>
            <a:schemeClr val="accent1"/>
          </a:solidFill>
          <a:ln w="12700">
            <a:solidFill>
              <a:schemeClr val="bg1"/>
            </a:solidFill>
            <a:prstDash val="solid"/>
          </a:ln>
        </p:spPr>
      </p:sp>
      <p:sp>
        <p:nvSpPr>
          <p:cNvPr id="9" name="titik trilema"/>
          <p:cNvSpPr/>
          <p:nvPr/>
        </p:nvSpPr>
        <p:spPr>
          <a:xfrm>
            <a:off x="1106424" y="3557016"/>
            <a:ext cx="182880" cy="182880"/>
          </a:xfrm>
          <a:prstGeom prst="ellipse">
            <a:avLst/>
          </a:prstGeom>
          <a:solidFill>
            <a:schemeClr val="accent3"/>
          </a:solidFill>
          <a:ln w="12700">
            <a:solidFill>
              <a:schemeClr val="bg1"/>
            </a:solidFill>
            <a:prstDash val="solid"/>
          </a:ln>
        </p:spPr>
      </p:sp>
      <p:sp>
        <p:nvSpPr>
          <p:cNvPr id="10" name="Text 8"/>
          <p:cNvSpPr txBox="1"/>
          <p:nvPr/>
        </p:nvSpPr>
        <p:spPr>
          <a:xfrm>
            <a:off x="1389888" y="3447288"/>
            <a:ext cx="2560320" cy="402336"/>
          </a:xfrm>
          <a:prstGeom prst="rect">
            <a:avLst/>
          </a:prstGeom>
          <a:noFill/>
          <a:ln/>
        </p:spPr>
        <p:txBody>
          <a:bodyPr wrap="square" lIns="0" tIns="0" rIns="0" bIns="0" rtlCol="0" anchor="ctr"/>
          <a:lstStyle/>
          <a:p>
            <a:pPr algn="l" indent="0" marL="0">
              <a:buNone/>
            </a:pPr>
            <a:r>
              <a:rPr lang="en-US" sz="1600" dirty="0">
                <a:solidFill>
                  <a:schemeClr val="accent4"/>
                </a:solidFill>
              </a:rPr>
              <a:t>biaya dan emisi</a:t>
            </a:r>
            <a:endParaRPr lang="en-US" sz="1600" dirty="0"/>
          </a:p>
        </p:txBody>
      </p:sp>
      <p:sp>
        <p:nvSpPr>
          <p:cNvPr id="11" name="kartu penutup 2"/>
          <p:cNvSpPr/>
          <p:nvPr/>
        </p:nvSpPr>
        <p:spPr>
          <a:xfrm>
            <a:off x="4344772" y="2578608"/>
            <a:ext cx="3502152" cy="1417320"/>
          </a:xfrm>
          <a:prstGeom prst="roundRect">
            <a:avLst>
              <a:gd name="adj" fmla="val 7742"/>
            </a:avLst>
          </a:prstGeom>
          <a:solidFill>
            <a:schemeClr val="bg1">
              <a:alpha val="10000"/>
            </a:schemeClr>
          </a:solidFill>
          <a:ln/>
        </p:spPr>
      </p:sp>
      <p:sp>
        <p:nvSpPr>
          <p:cNvPr id="12" name="nomor 2"/>
          <p:cNvSpPr/>
          <p:nvPr/>
        </p:nvSpPr>
        <p:spPr>
          <a:xfrm>
            <a:off x="4545940" y="2779776"/>
            <a:ext cx="512064" cy="512064"/>
          </a:xfrm>
          <a:prstGeom prst="ellipse">
            <a:avLst/>
          </a:prstGeom>
          <a:solidFill>
            <a:schemeClr val="bg1"/>
          </a:solidFill>
          <a:ln/>
        </p:spPr>
      </p:sp>
      <p:sp>
        <p:nvSpPr>
          <p:cNvPr id="13" name="Text 11"/>
          <p:cNvSpPr txBox="1"/>
          <p:nvPr/>
        </p:nvSpPr>
        <p:spPr>
          <a:xfrm>
            <a:off x="4545940" y="2779776"/>
            <a:ext cx="512064" cy="512064"/>
          </a:xfrm>
          <a:prstGeom prst="rect">
            <a:avLst/>
          </a:prstGeom>
          <a:noFill/>
          <a:ln/>
        </p:spPr>
        <p:txBody>
          <a:bodyPr wrap="square" lIns="0" tIns="0" rIns="0" bIns="0" rtlCol="0" anchor="ctr"/>
          <a:lstStyle/>
          <a:p>
            <a:pPr algn="ctr" indent="0" marL="0">
              <a:buNone/>
            </a:pPr>
            <a:r>
              <a:rPr lang="en-US" sz="1900" b="1" dirty="0">
                <a:solidFill>
                  <a:schemeClr val="tx2"/>
                </a:solidFill>
              </a:rPr>
              <a:t>2</a:t>
            </a:r>
            <a:endParaRPr lang="en-US" sz="1900" dirty="0"/>
          </a:p>
        </p:txBody>
      </p:sp>
      <p:sp>
        <p:nvSpPr>
          <p:cNvPr id="14" name="Text 12"/>
          <p:cNvSpPr txBox="1"/>
          <p:nvPr/>
        </p:nvSpPr>
        <p:spPr>
          <a:xfrm>
            <a:off x="5213452" y="2779776"/>
            <a:ext cx="2496312" cy="548640"/>
          </a:xfrm>
          <a:prstGeom prst="rect">
            <a:avLst/>
          </a:prstGeom>
          <a:noFill/>
          <a:ln/>
        </p:spPr>
        <p:txBody>
          <a:bodyPr wrap="square" lIns="0" tIns="0" rIns="0" bIns="0" rtlCol="0" anchor="ctr"/>
          <a:lstStyle/>
          <a:p>
            <a:pPr algn="l" indent="0" marL="0">
              <a:buNone/>
            </a:pPr>
            <a:r>
              <a:rPr lang="en-US" sz="2200" b="1" dirty="0">
                <a:solidFill>
                  <a:schemeClr val="bg1"/>
                </a:solidFill>
              </a:rPr>
              <a:t>Gardu dinilai</a:t>
            </a:r>
            <a:endParaRPr lang="en-US" sz="2200" dirty="0"/>
          </a:p>
        </p:txBody>
      </p:sp>
      <p:sp>
        <p:nvSpPr>
          <p:cNvPr id="15" name="titik trilema"/>
          <p:cNvSpPr/>
          <p:nvPr/>
        </p:nvSpPr>
        <p:spPr>
          <a:xfrm>
            <a:off x="4664812" y="3557016"/>
            <a:ext cx="182880" cy="182880"/>
          </a:xfrm>
          <a:prstGeom prst="ellipse">
            <a:avLst/>
          </a:prstGeom>
          <a:solidFill>
            <a:schemeClr val="accent2"/>
          </a:solidFill>
          <a:ln w="12700">
            <a:solidFill>
              <a:schemeClr val="bg1"/>
            </a:solidFill>
            <a:prstDash val="solid"/>
          </a:ln>
        </p:spPr>
      </p:sp>
      <p:sp>
        <p:nvSpPr>
          <p:cNvPr id="16" name="Text 14"/>
          <p:cNvSpPr txBox="1"/>
          <p:nvPr/>
        </p:nvSpPr>
        <p:spPr>
          <a:xfrm>
            <a:off x="4948276" y="3447288"/>
            <a:ext cx="2560320" cy="402336"/>
          </a:xfrm>
          <a:prstGeom prst="rect">
            <a:avLst/>
          </a:prstGeom>
          <a:noFill/>
          <a:ln/>
        </p:spPr>
        <p:txBody>
          <a:bodyPr wrap="square" lIns="0" tIns="0" rIns="0" bIns="0" rtlCol="0" anchor="ctr"/>
          <a:lstStyle/>
          <a:p>
            <a:pPr algn="l" indent="0" marL="0">
              <a:buNone/>
            </a:pPr>
            <a:r>
              <a:rPr lang="en-US" sz="1600" dirty="0">
                <a:solidFill>
                  <a:schemeClr val="accent4"/>
                </a:solidFill>
              </a:rPr>
              <a:t>keandalan</a:t>
            </a:r>
            <a:endParaRPr lang="en-US" sz="1600" dirty="0"/>
          </a:p>
        </p:txBody>
      </p:sp>
      <p:sp>
        <p:nvSpPr>
          <p:cNvPr id="17" name="kartu penutup 3"/>
          <p:cNvSpPr/>
          <p:nvPr/>
        </p:nvSpPr>
        <p:spPr>
          <a:xfrm>
            <a:off x="8140903" y="2578608"/>
            <a:ext cx="3502152" cy="1417320"/>
          </a:xfrm>
          <a:prstGeom prst="roundRect">
            <a:avLst>
              <a:gd name="adj" fmla="val 7742"/>
            </a:avLst>
          </a:prstGeom>
          <a:solidFill>
            <a:schemeClr val="bg1">
              <a:alpha val="10000"/>
            </a:schemeClr>
          </a:solidFill>
          <a:ln/>
        </p:spPr>
      </p:sp>
      <p:sp>
        <p:nvSpPr>
          <p:cNvPr id="18" name="nomor 3"/>
          <p:cNvSpPr/>
          <p:nvPr/>
        </p:nvSpPr>
        <p:spPr>
          <a:xfrm>
            <a:off x="8342071" y="2779776"/>
            <a:ext cx="512064" cy="512064"/>
          </a:xfrm>
          <a:prstGeom prst="ellipse">
            <a:avLst/>
          </a:prstGeom>
          <a:solidFill>
            <a:schemeClr val="accent2"/>
          </a:solidFill>
          <a:ln/>
        </p:spPr>
      </p:sp>
      <p:sp>
        <p:nvSpPr>
          <p:cNvPr id="19" name="Text 17"/>
          <p:cNvSpPr txBox="1"/>
          <p:nvPr/>
        </p:nvSpPr>
        <p:spPr>
          <a:xfrm>
            <a:off x="8342071" y="2779776"/>
            <a:ext cx="512064" cy="512064"/>
          </a:xfrm>
          <a:prstGeom prst="rect">
            <a:avLst/>
          </a:prstGeom>
          <a:noFill/>
          <a:ln/>
        </p:spPr>
        <p:txBody>
          <a:bodyPr wrap="square" lIns="0" tIns="0" rIns="0" bIns="0" rtlCol="0" anchor="ctr"/>
          <a:lstStyle/>
          <a:p>
            <a:pPr algn="ctr" indent="0" marL="0">
              <a:buNone/>
            </a:pPr>
            <a:r>
              <a:rPr lang="en-US" sz="1900" b="1" dirty="0">
                <a:solidFill>
                  <a:schemeClr val="bg1"/>
                </a:solidFill>
              </a:rPr>
              <a:t>3</a:t>
            </a:r>
            <a:endParaRPr lang="en-US" sz="1900" dirty="0"/>
          </a:p>
        </p:txBody>
      </p:sp>
      <p:sp>
        <p:nvSpPr>
          <p:cNvPr id="20" name="Text 18"/>
          <p:cNvSpPr txBox="1"/>
          <p:nvPr/>
        </p:nvSpPr>
        <p:spPr>
          <a:xfrm>
            <a:off x="9009583" y="2779776"/>
            <a:ext cx="2496312" cy="548640"/>
          </a:xfrm>
          <a:prstGeom prst="rect">
            <a:avLst/>
          </a:prstGeom>
          <a:noFill/>
          <a:ln/>
        </p:spPr>
        <p:txBody>
          <a:bodyPr wrap="square" lIns="0" tIns="0" rIns="0" bIns="0" rtlCol="0" anchor="ctr"/>
          <a:lstStyle/>
          <a:p>
            <a:pPr algn="l" indent="0" marL="0">
              <a:buNone/>
            </a:pPr>
            <a:r>
              <a:rPr lang="en-US" sz="2200" b="1" dirty="0">
                <a:solidFill>
                  <a:schemeClr val="bg1"/>
                </a:solidFill>
              </a:rPr>
              <a:t>Pilot di Q2</a:t>
            </a:r>
            <a:endParaRPr lang="en-US" sz="2200" dirty="0"/>
          </a:p>
        </p:txBody>
      </p:sp>
      <p:sp>
        <p:nvSpPr>
          <p:cNvPr id="21" name="titik trilema"/>
          <p:cNvSpPr/>
          <p:nvPr/>
        </p:nvSpPr>
        <p:spPr>
          <a:xfrm>
            <a:off x="8460943" y="3557016"/>
            <a:ext cx="182880" cy="182880"/>
          </a:xfrm>
          <a:prstGeom prst="ellipse">
            <a:avLst/>
          </a:prstGeom>
          <a:solidFill>
            <a:schemeClr val="accent1"/>
          </a:solidFill>
          <a:ln w="12700">
            <a:solidFill>
              <a:schemeClr val="bg1"/>
            </a:solidFill>
            <a:prstDash val="solid"/>
          </a:ln>
        </p:spPr>
      </p:sp>
      <p:sp>
        <p:nvSpPr>
          <p:cNvPr id="22" name="titik trilema"/>
          <p:cNvSpPr/>
          <p:nvPr/>
        </p:nvSpPr>
        <p:spPr>
          <a:xfrm>
            <a:off x="8698687" y="3557016"/>
            <a:ext cx="182880" cy="182880"/>
          </a:xfrm>
          <a:prstGeom prst="ellipse">
            <a:avLst/>
          </a:prstGeom>
          <a:solidFill>
            <a:schemeClr val="accent2"/>
          </a:solidFill>
          <a:ln w="12700">
            <a:solidFill>
              <a:schemeClr val="bg1"/>
            </a:solidFill>
            <a:prstDash val="solid"/>
          </a:ln>
        </p:spPr>
      </p:sp>
      <p:sp>
        <p:nvSpPr>
          <p:cNvPr id="23" name="Text 21"/>
          <p:cNvSpPr txBox="1"/>
          <p:nvPr/>
        </p:nvSpPr>
        <p:spPr>
          <a:xfrm>
            <a:off x="8982151" y="3447288"/>
            <a:ext cx="2560320" cy="402336"/>
          </a:xfrm>
          <a:prstGeom prst="rect">
            <a:avLst/>
          </a:prstGeom>
          <a:noFill/>
          <a:ln/>
        </p:spPr>
        <p:txBody>
          <a:bodyPr wrap="square" lIns="0" tIns="0" rIns="0" bIns="0" rtlCol="0" anchor="ctr"/>
          <a:lstStyle/>
          <a:p>
            <a:pPr algn="l" indent="0" marL="0">
              <a:buNone/>
            </a:pPr>
            <a:r>
              <a:rPr lang="en-US" sz="1600" dirty="0">
                <a:solidFill>
                  <a:schemeClr val="accent4"/>
                </a:solidFill>
              </a:rPr>
              <a:t>transisi terukur</a:t>
            </a:r>
            <a:endParaRPr lang="en-US" sz="1600" dirty="0"/>
          </a:p>
        </p:txBody>
      </p:sp>
      <p:sp>
        <p:nvSpPr>
          <p:cNvPr id="24" name="Text 22"/>
          <p:cNvSpPr txBox="1"/>
          <p:nvPr/>
        </p:nvSpPr>
        <p:spPr>
          <a:xfrm>
            <a:off x="548640" y="4251960"/>
            <a:ext cx="3657600" cy="365760"/>
          </a:xfrm>
          <a:prstGeom prst="rect">
            <a:avLst/>
          </a:prstGeom>
          <a:noFill/>
          <a:ln/>
        </p:spPr>
        <p:txBody>
          <a:bodyPr wrap="square" lIns="0" tIns="0" rIns="0" bIns="0" rtlCol="0" anchor="t"/>
          <a:lstStyle/>
          <a:p>
            <a:pPr algn="l" indent="0" marL="0">
              <a:buNone/>
            </a:pPr>
            <a:r>
              <a:rPr lang="en-US" sz="1600" b="1" dirty="0">
                <a:solidFill>
                  <a:schemeClr val="accent1"/>
                </a:solidFill>
              </a:rPr>
              <a:t>Langkah berikutnya</a:t>
            </a:r>
            <a:endParaRPr lang="en-US" sz="1600" dirty="0"/>
          </a:p>
        </p:txBody>
      </p:sp>
      <p:sp>
        <p:nvSpPr>
          <p:cNvPr id="25" name="langkah berikutnya 1"/>
          <p:cNvSpPr/>
          <p:nvPr/>
        </p:nvSpPr>
        <p:spPr>
          <a:xfrm>
            <a:off x="548640" y="4663440"/>
            <a:ext cx="3502152" cy="731520"/>
          </a:xfrm>
          <a:prstGeom prst="roundRect">
            <a:avLst>
              <a:gd name="adj" fmla="val 12500"/>
            </a:avLst>
          </a:prstGeom>
          <a:ln w="12700">
            <a:solidFill>
              <a:schemeClr val="accent4"/>
            </a:solidFill>
            <a:prstDash val="solid"/>
          </a:ln>
        </p:spPr>
      </p:sp>
      <p:sp>
        <p:nvSpPr>
          <p:cNvPr id="26" name="Text 24"/>
          <p:cNvSpPr txBox="1"/>
          <p:nvPr/>
        </p:nvSpPr>
        <p:spPr>
          <a:xfrm>
            <a:off x="731520" y="4663440"/>
            <a:ext cx="3136392" cy="731520"/>
          </a:xfrm>
          <a:prstGeom prst="rect">
            <a:avLst/>
          </a:prstGeom>
          <a:noFill/>
          <a:ln/>
        </p:spPr>
        <p:txBody>
          <a:bodyPr wrap="square" lIns="0" tIns="0" rIns="0" bIns="0" rtlCol="0" anchor="ctr"/>
          <a:lstStyle/>
          <a:p>
            <a:pPr algn="l" indent="0" marL="0">
              <a:buNone/>
            </a:pPr>
            <a:r>
              <a:rPr lang="en-US" sz="1600" dirty="0">
                <a:solidFill>
                  <a:schemeClr val="bg1"/>
                </a:solidFill>
              </a:rPr>
              <a:t>data beban dan gardu dari operator</a:t>
            </a:r>
            <a:endParaRPr lang="en-US" sz="1600" dirty="0"/>
          </a:p>
        </p:txBody>
      </p:sp>
      <p:sp>
        <p:nvSpPr>
          <p:cNvPr id="27" name="langkah berikutnya 2"/>
          <p:cNvSpPr/>
          <p:nvPr/>
        </p:nvSpPr>
        <p:spPr>
          <a:xfrm>
            <a:off x="4344772" y="4663440"/>
            <a:ext cx="3502152" cy="731520"/>
          </a:xfrm>
          <a:prstGeom prst="roundRect">
            <a:avLst>
              <a:gd name="adj" fmla="val 12500"/>
            </a:avLst>
          </a:prstGeom>
          <a:ln w="12700">
            <a:solidFill>
              <a:schemeClr val="accent4"/>
            </a:solidFill>
            <a:prstDash val="solid"/>
          </a:ln>
        </p:spPr>
      </p:sp>
      <p:sp>
        <p:nvSpPr>
          <p:cNvPr id="28" name="Text 26"/>
          <p:cNvSpPr txBox="1"/>
          <p:nvPr/>
        </p:nvSpPr>
        <p:spPr>
          <a:xfrm>
            <a:off x="4527652" y="4663440"/>
            <a:ext cx="3136392" cy="731520"/>
          </a:xfrm>
          <a:prstGeom prst="rect">
            <a:avLst/>
          </a:prstGeom>
          <a:noFill/>
          <a:ln/>
        </p:spPr>
        <p:txBody>
          <a:bodyPr wrap="square" lIns="0" tIns="0" rIns="0" bIns="0" rtlCol="0" anchor="ctr"/>
          <a:lstStyle/>
          <a:p>
            <a:pPr algn="l" indent="0" marL="0">
              <a:buNone/>
            </a:pPr>
            <a:r>
              <a:rPr lang="en-US" sz="1600" dirty="0">
                <a:solidFill>
                  <a:schemeClr val="bg1"/>
                </a:solidFill>
              </a:rPr>
              <a:t>audit energi di zona kandidat</a:t>
            </a:r>
            <a:endParaRPr lang="en-US" sz="1600" dirty="0"/>
          </a:p>
        </p:txBody>
      </p:sp>
      <p:sp>
        <p:nvSpPr>
          <p:cNvPr id="29" name="langkah berikutnya 3"/>
          <p:cNvSpPr/>
          <p:nvPr/>
        </p:nvSpPr>
        <p:spPr>
          <a:xfrm>
            <a:off x="8140903" y="4663440"/>
            <a:ext cx="3502152" cy="731520"/>
          </a:xfrm>
          <a:prstGeom prst="roundRect">
            <a:avLst>
              <a:gd name="adj" fmla="val 12500"/>
            </a:avLst>
          </a:prstGeom>
          <a:ln w="12700">
            <a:solidFill>
              <a:schemeClr val="accent4"/>
            </a:solidFill>
            <a:prstDash val="solid"/>
          </a:ln>
        </p:spPr>
      </p:sp>
      <p:sp>
        <p:nvSpPr>
          <p:cNvPr id="30" name="Text 28"/>
          <p:cNvSpPr txBox="1"/>
          <p:nvPr/>
        </p:nvSpPr>
        <p:spPr>
          <a:xfrm>
            <a:off x="8323783" y="4663440"/>
            <a:ext cx="3136392" cy="731520"/>
          </a:xfrm>
          <a:prstGeom prst="rect">
            <a:avLst/>
          </a:prstGeom>
          <a:noFill/>
          <a:ln/>
        </p:spPr>
        <p:txBody>
          <a:bodyPr wrap="square" lIns="0" tIns="0" rIns="0" bIns="0" rtlCol="0" anchor="ctr"/>
          <a:lstStyle/>
          <a:p>
            <a:pPr algn="l" indent="0" marL="0">
              <a:buNone/>
            </a:pPr>
            <a:r>
              <a:rPr lang="en-US" sz="1600" dirty="0">
                <a:solidFill>
                  <a:schemeClr val="bg1"/>
                </a:solidFill>
              </a:rPr>
              <a:t>satu pilot dengan zona pembanding</a:t>
            </a:r>
            <a:endParaRPr lang="en-US" sz="1600" dirty="0"/>
          </a:p>
        </p:txBody>
      </p:sp>
      <p:sp>
        <p:nvSpPr>
          <p:cNvPr id="31" name="Text 29"/>
          <p:cNvSpPr txBox="1"/>
          <p:nvPr/>
        </p:nvSpPr>
        <p:spPr>
          <a:xfrm>
            <a:off x="548640" y="5669280"/>
            <a:ext cx="5486400" cy="548640"/>
          </a:xfrm>
          <a:prstGeom prst="rect">
            <a:avLst/>
          </a:prstGeom>
          <a:noFill/>
          <a:ln/>
        </p:spPr>
        <p:txBody>
          <a:bodyPr wrap="square" lIns="0" tIns="0" rIns="0" bIns="0" rtlCol="0" anchor="ctr"/>
          <a:lstStyle/>
          <a:p>
            <a:pPr algn="l" indent="0" marL="0">
              <a:buNone/>
            </a:pPr>
            <a:r>
              <a:rPr lang="en-US" sz="2800" b="1" dirty="0">
                <a:solidFill>
                  <a:schemeClr val="bg1"/>
                </a:solidFill>
              </a:rPr>
              <a:t>Terima kasih</a:t>
            </a:r>
            <a:endParaRPr lang="en-US" sz="28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C1</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Bobot adaptif A2xM2xp2 tidak memburukkan</a:t>
            </a:r>
            <a:br/>
            <a:pPr algn="l" indent="0" marL="0">
              <a:buNone/>
            </a:pPr>
            <a:r>
              <a:rPr lang="en-US" sz="2600" b="1" dirty="0">
                <a:solidFill>
                  <a:schemeClr val="tx2"/>
                </a:solidFill>
              </a:rPr>
              <a:t>kolom mana pun pada skor jujur</a:t>
            </a:r>
            <a:endParaRPr lang="en-US" sz="2600" dirty="0"/>
          </a:p>
        </p:txBody>
      </p:sp>
      <p:sp>
        <p:nvSpPr>
          <p:cNvPr id="5" name="Text 2"/>
          <p:cNvSpPr txBox="1"/>
          <p:nvPr/>
        </p:nvSpPr>
        <p:spPr>
          <a:xfrm>
            <a:off x="548640" y="1691640"/>
            <a:ext cx="5577840" cy="201168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Bobot setiap model berubah halus menurut peringkat luas (A), jumlah meter (M), dan prediksi gabungan global (p) di data latih</a:t>
            </a:r>
            <a:endParaRPr lang="en-US" sz="1400" dirty="0"/>
          </a:p>
          <a:p>
            <a:pPr algn="l" marL="177800" indent="-177800">
              <a:spcAft>
                <a:spcPts val="600"/>
              </a:spcAft>
              <a:buSzPct val="100000"/>
              <a:buChar char="•"/>
            </a:pPr>
            <a:r>
              <a:rPr lang="en-US" sz="1400" dirty="0">
                <a:solidFill>
                  <a:schemeClr val="tx1"/>
                </a:solidFill>
              </a:rPr>
              <a:t>2 × 2 × 2 = 8 bobot pojok per model, digabung dengan NNLS (</a:t>
            </a:r>
            <a:pPr algn="l" indent="0" marL="0">
              <a:buNone/>
            </a:pPr>
            <a:r>
              <a:rPr lang="en-US" sz="1400" i="1" dirty="0">
                <a:solidFill>
                  <a:schemeClr val="tx1"/>
                </a:solidFill>
              </a:rPr>
              <a:t>non-negative least squares</a:t>
            </a:r>
            <a:pPr algn="l" indent="0" marL="0">
              <a:buNone/>
            </a:pPr>
            <a:r>
              <a:rPr lang="en-US" sz="1400" dirty="0">
                <a:solidFill>
                  <a:schemeClr val="tx1"/>
                </a:solidFill>
              </a:rPr>
              <a:t>, bobot tak negatif)</a:t>
            </a:r>
            <a:endParaRPr lang="en-US" sz="1400" dirty="0"/>
          </a:p>
          <a:p>
            <a:pPr algn="l" marL="177800" indent="-177800">
              <a:spcAft>
                <a:spcPts val="600"/>
              </a:spcAft>
              <a:buSzPct val="100000"/>
              <a:buChar char="•"/>
            </a:pPr>
            <a:r>
              <a:rPr lang="en-US" sz="1400" dirty="0">
                <a:solidFill>
                  <a:schemeClr val="tx1"/>
                </a:solidFill>
              </a:rPr>
              <a:t>224 bobot gas, 224 bobot EUI, dan 104 bobot listrik untuk 429.303 baris</a:t>
            </a:r>
            <a:endParaRPr lang="en-US" sz="1400" dirty="0"/>
          </a:p>
        </p:txBody>
      </p:sp>
      <p:sp>
        <p:nvSpPr>
          <p:cNvPr id="6" name="Text 3"/>
          <p:cNvSpPr txBox="1"/>
          <p:nvPr/>
        </p:nvSpPr>
        <p:spPr>
          <a:xfrm>
            <a:off x="548640" y="3749040"/>
            <a:ext cx="5577840" cy="274320"/>
          </a:xfrm>
          <a:prstGeom prst="rect">
            <a:avLst/>
          </a:prstGeom>
          <a:noFill/>
          <a:ln/>
        </p:spPr>
        <p:txBody>
          <a:bodyPr wrap="square" lIns="0" tIns="0" rIns="0" bIns="0" rtlCol="0" anchor="t"/>
          <a:lstStyle/>
          <a:p>
            <a:pPr algn="l" indent="0" marL="0">
              <a:buNone/>
            </a:pPr>
            <a:r>
              <a:rPr lang="en-US" sz="1200" b="1" dirty="0">
                <a:solidFill>
                  <a:schemeClr val="tx2"/>
                </a:solidFill>
              </a:rPr>
              <a:t>Skor jujur: bobot di-</a:t>
            </a:r>
            <a:pPr algn="l" indent="0" marL="0">
              <a:buNone/>
            </a:pPr>
            <a:r>
              <a:rPr lang="en-US" sz="1200" b="1" i="1" dirty="0">
                <a:solidFill>
                  <a:schemeClr val="tx2"/>
                </a:solidFill>
              </a:rPr>
              <a:t>fit</a:t>
            </a:r>
            <a:pPr algn="l" indent="0" marL="0">
              <a:buNone/>
            </a:pPr>
            <a:r>
              <a:rPr lang="en-US" sz="1200" b="1" dirty="0">
                <a:solidFill>
                  <a:schemeClr val="tx2"/>
                </a:solidFill>
              </a:rPr>
              <a:t> ulang di setiap </a:t>
            </a:r>
            <a:pPr algn="l" indent="0" marL="0">
              <a:buNone/>
            </a:pPr>
            <a:r>
              <a:rPr lang="en-US" sz="1200" b="1" i="1" dirty="0">
                <a:solidFill>
                  <a:schemeClr val="tx2"/>
                </a:solidFill>
              </a:rPr>
              <a:t>fold</a:t>
            </a:r>
            <a:pPr algn="l" indent="0" marL="0">
              <a:buNone/>
            </a:pPr>
            <a:r>
              <a:rPr lang="en-US" sz="1200" b="1" dirty="0">
                <a:solidFill>
                  <a:schemeClr val="tx2"/>
                </a:solidFill>
              </a:rPr>
              <a:t> luar (RMSE/σ)</a:t>
            </a:r>
            <a:endParaRPr lang="en-US" sz="1200" dirty="0"/>
          </a:p>
        </p:txBody>
      </p:sp>
      <p:graphicFrame>
        <p:nvGraphicFramePr>
          <p:cNvPr id="15" name="tabel skor jujur"/>
          <p:cNvGraphicFramePr>
            <a:graphicFrameLocks noGrp="1"/>
          </p:cNvGraphicFramePr>
          <p:nvPr>
            <p:extLst>
              <p:ext uri="{D42A27DB-BD31-4B8C-83A1-F6EECF244321}">
                <p14:modId xmlns:p14="http://schemas.microsoft.com/office/powerpoint/2010/main" val="1579011935"/>
              </p:ext>
            </p:extLst>
          </p:nvPr>
        </p:nvGraphicFramePr>
        <p:xfrm>
          <a:off x="548640" y="4041648"/>
          <a:ext cx="5577840" cy="914400"/>
        </p:xfrm>
        <a:graphic>
          <a:graphicData uri="http://schemas.openxmlformats.org/drawingml/2006/table">
            <a:tbl>
              <a:tblPr/>
              <a:tblGrid>
                <a:gridCol w="1463040"/>
                <a:gridCol w="1371600"/>
                <a:gridCol w="1371600"/>
                <a:gridCol w="1371600"/>
              </a:tblGrid>
              <a:tr h="310896">
                <a:tc>
                  <a:txBody>
                    <a:bodyPr/>
                    <a:lstStyle/>
                    <a:p>
                      <a:pPr algn="l" indent="0" marL="0">
                        <a:buNone/>
                      </a:pPr>
                      <a:r>
                        <a:rPr lang="en-US" sz="1300" b="1" dirty="0">
                          <a:solidFill>
                            <a:srgbClr val="FFFFFF"/>
                          </a:solidFill>
                        </a:rPr>
                        <a:t>Kolom</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300" b="1" dirty="0">
                          <a:solidFill>
                            <a:srgbClr val="FFFFFF"/>
                          </a:solidFill>
                        </a:rPr>
                        <a:t>Global</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300" b="1" dirty="0">
                          <a:solidFill>
                            <a:srgbClr val="FFFFFF"/>
                          </a:solidFill>
                        </a:rPr>
                        <a:t>Adaptif</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300" b="1" dirty="0">
                          <a:solidFill>
                            <a:srgbClr val="FFFFFF"/>
                          </a:solidFill>
                        </a:rPr>
                        <a:t>Selisih</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10896">
                <a:tc>
                  <a:txBody>
                    <a:bodyPr/>
                    <a:lstStyle/>
                    <a:p>
                      <a:pPr algn="l" indent="0" marL="0">
                        <a:buNone/>
                      </a:pPr>
                      <a:r>
                        <a:rPr lang="en-US" sz="1400" dirty="0">
                          <a:solidFill>
                            <a:srgbClr val="1F2933"/>
                          </a:solidFill>
                        </a:rPr>
                        <a:t>Gas</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0,24494</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0,24480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−0,000146</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10896">
                <a:tc>
                  <a:txBody>
                    <a:bodyPr/>
                    <a:lstStyle/>
                    <a:p>
                      <a:pPr algn="l" indent="0" marL="0">
                        <a:buNone/>
                      </a:pPr>
                      <a:r>
                        <a:rPr lang="en-US" sz="1400" b="1" dirty="0">
                          <a:solidFill>
                            <a:srgbClr val="1F2933"/>
                          </a:solidFill>
                        </a:rPr>
                        <a:t>EUI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1F2933"/>
                          </a:solidFill>
                        </a:rPr>
                        <a:t>0,65023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1F2933"/>
                          </a:solidFill>
                        </a:rPr>
                        <a:t>0,64978</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1F2933"/>
                          </a:solidFill>
                        </a:rPr>
                        <a:t>−0,000453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10896">
                <a:tc>
                  <a:txBody>
                    <a:bodyPr/>
                    <a:lstStyle/>
                    <a:p>
                      <a:pPr algn="l" indent="0" marL="0">
                        <a:buNone/>
                      </a:pPr>
                      <a:r>
                        <a:rPr lang="en-US" sz="1400" dirty="0">
                          <a:solidFill>
                            <a:srgbClr val="1F2933"/>
                          </a:solidFill>
                        </a:rPr>
                        <a:t>Listrik</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0,31587</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0,31585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−0,000027</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pic>
        <p:nvPicPr>
          <p:cNvPr id="8" name="Image 0" descr="Basis dua simpul bobot adaptif">    </p:cNvPr>
          <p:cNvPicPr>
            <a:picLocks noChangeAspect="1"/>
          </p:cNvPicPr>
          <p:nvPr/>
        </p:nvPicPr>
        <p:blipFill>
          <a:blip r:embed="rId1"/>
          <a:stretch>
            <a:fillRect/>
          </a:stretch>
        </p:blipFill>
        <p:spPr>
          <a:xfrm>
            <a:off x="6400800" y="1691640"/>
            <a:ext cx="5239512" cy="2788920"/>
          </a:xfrm>
          <a:prstGeom prst="rect">
            <a:avLst/>
          </a:prstGeom>
        </p:spPr>
      </p:pic>
      <p:sp>
        <p:nvSpPr>
          <p:cNvPr id="9" name="Text 4"/>
          <p:cNvSpPr txBox="1"/>
          <p:nvPr/>
        </p:nvSpPr>
        <p:spPr>
          <a:xfrm>
            <a:off x="6400800" y="4617720"/>
            <a:ext cx="5239512" cy="100584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Rata-rata lima target −0,000125; tidak ada kolom yang memburuk</a:t>
            </a:r>
            <a:endParaRPr lang="en-US" sz="1400" dirty="0"/>
          </a:p>
          <a:p>
            <a:pPr algn="l" marL="177800" indent="-177800">
              <a:spcAft>
                <a:spcPts val="600"/>
              </a:spcAft>
              <a:buSzPct val="100000"/>
              <a:buChar char="•"/>
            </a:pPr>
            <a:r>
              <a:rPr lang="en-US" sz="1400" i="1" dirty="0">
                <a:solidFill>
                  <a:schemeClr val="tx1"/>
                </a:solidFill>
              </a:rPr>
              <a:t>Leaderboard</a:t>
            </a:r>
            <a:pPr algn="l" indent="0" marL="0">
              <a:buNone/>
            </a:pPr>
            <a:r>
              <a:rPr lang="en-US" sz="1400" dirty="0">
                <a:solidFill>
                  <a:schemeClr val="tx1"/>
                </a:solidFill>
              </a:rPr>
              <a:t> publik 0,24934 menjadi 0,24925; tiga simpul tidak lebih baik daripada dua</a:t>
            </a:r>
            <a:endParaRPr lang="en-US" sz="1400" dirty="0"/>
          </a:p>
        </p:txBody>
      </p:sp>
      <p:sp>
        <p:nvSpPr>
          <p:cNvPr id="10" name="Text 5"/>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"Apa yang dimaksud bobot adaptif?" · "Apakah bobot sebanyak itu tidak overfit?" · "Berapa sumbangannya terhadap skor?"</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C2</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Koreksi galat tetangga menggeser prediksi</a:t>
            </a:r>
            <a:br/>
            <a:pPr algn="l" indent="0" marL="0">
              <a:buNone/>
            </a:pPr>
            <a:r>
              <a:rPr lang="en-US" sz="2600" b="1" dirty="0">
                <a:solidFill>
                  <a:schemeClr val="tx2"/>
                </a:solidFill>
              </a:rPr>
              <a:t>sebagian kecil mengikuti galat tetangga</a:t>
            </a:r>
            <a:endParaRPr lang="en-US" sz="2600" dirty="0"/>
          </a:p>
        </p:txBody>
      </p:sp>
      <p:sp>
        <p:nvSpPr>
          <p:cNvPr id="5" name="langkah koreksi 1"/>
          <p:cNvSpPr/>
          <p:nvPr/>
        </p:nvSpPr>
        <p:spPr>
          <a:xfrm>
            <a:off x="548640" y="1691640"/>
            <a:ext cx="5486400" cy="676656"/>
          </a:xfrm>
          <a:prstGeom prst="roundRect">
            <a:avLst>
              <a:gd name="adj" fmla="val 10811"/>
            </a:avLst>
          </a:prstGeom>
          <a:solidFill>
            <a:schemeClr val="bg2"/>
          </a:solidFill>
          <a:ln/>
        </p:spPr>
      </p:sp>
      <p:sp>
        <p:nvSpPr>
          <p:cNvPr id="6" name="nomor 1"/>
          <p:cNvSpPr/>
          <p:nvPr/>
        </p:nvSpPr>
        <p:spPr>
          <a:xfrm>
            <a:off x="694944" y="1828800"/>
            <a:ext cx="402336" cy="402336"/>
          </a:xfrm>
          <a:prstGeom prst="ellipse">
            <a:avLst/>
          </a:prstGeom>
          <a:solidFill>
            <a:schemeClr val="accent2"/>
          </a:solidFill>
          <a:ln/>
        </p:spPr>
      </p:sp>
      <p:sp>
        <p:nvSpPr>
          <p:cNvPr id="7" name="Text 4"/>
          <p:cNvSpPr txBox="1"/>
          <p:nvPr/>
        </p:nvSpPr>
        <p:spPr>
          <a:xfrm>
            <a:off x="694944" y="182880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5"/>
          <p:cNvSpPr txBox="1"/>
          <p:nvPr/>
        </p:nvSpPr>
        <p:spPr>
          <a:xfrm>
            <a:off x="1234440" y="1719072"/>
            <a:ext cx="4663440" cy="621792"/>
          </a:xfrm>
          <a:prstGeom prst="rect">
            <a:avLst/>
          </a:prstGeom>
          <a:noFill/>
          <a:ln/>
        </p:spPr>
        <p:txBody>
          <a:bodyPr wrap="square" lIns="0" tIns="0" rIns="0" bIns="0" rtlCol="0" anchor="ctr"/>
          <a:lstStyle/>
          <a:p>
            <a:pPr algn="l" indent="0" marL="0">
              <a:buNone/>
            </a:pPr>
            <a:r>
              <a:rPr lang="en-US" sz="1400" dirty="0">
                <a:solidFill>
                  <a:schemeClr val="tx1"/>
                </a:solidFill>
              </a:rPr>
              <a:t>Galat </a:t>
            </a:r>
            <a:pPr algn="l" indent="0" marL="0">
              <a:buNone/>
            </a:pPr>
            <a:r>
              <a:rPr lang="en-US" sz="1400" i="1" dirty="0">
                <a:solidFill>
                  <a:schemeClr val="tx1"/>
                </a:solidFill>
              </a:rPr>
              <a:t>out-of-fold</a:t>
            </a:r>
            <a:pPr algn="l" indent="0" marL="0">
              <a:buNone/>
            </a:pPr>
            <a:r>
              <a:rPr lang="en-US" sz="1400" dirty="0">
                <a:solidFill>
                  <a:schemeClr val="tx1"/>
                </a:solidFill>
              </a:rPr>
              <a:t> gabungan (di </a:t>
            </a:r>
            <a:pPr algn="l" indent="0" marL="0">
              <a:buNone/>
            </a:pPr>
            <a:r>
              <a:rPr lang="en-US" sz="1400" i="1" dirty="0">
                <a:solidFill>
                  <a:schemeClr val="tx1"/>
                </a:solidFill>
              </a:rPr>
              <a:t>notebook</a:t>
            </a:r>
            <a:pPr algn="l" indent="0" marL="0">
              <a:buNone/>
            </a:pPr>
            <a:r>
              <a:rPr lang="en-US" sz="1400" dirty="0">
                <a:solidFill>
                  <a:schemeClr val="tx1"/>
                </a:solidFill>
              </a:rPr>
              <a:t>: koreksi galat wilayah)</a:t>
            </a:r>
            <a:endParaRPr lang="en-US" sz="1400" dirty="0"/>
          </a:p>
        </p:txBody>
      </p:sp>
      <p:sp>
        <p:nvSpPr>
          <p:cNvPr id="9" name="panah"/>
          <p:cNvSpPr/>
          <p:nvPr/>
        </p:nvSpPr>
        <p:spPr>
          <a:xfrm flipV="1">
            <a:off x="777240" y="2395728"/>
            <a:ext cx="237744" cy="91440"/>
          </a:xfrm>
          <a:prstGeom prst="triangle">
            <a:avLst/>
          </a:prstGeom>
          <a:solidFill>
            <a:schemeClr val="accent4"/>
          </a:solidFill>
          <a:ln/>
        </p:spPr>
      </p:sp>
      <p:sp>
        <p:nvSpPr>
          <p:cNvPr id="10" name="langkah koreksi 2"/>
          <p:cNvSpPr/>
          <p:nvPr/>
        </p:nvSpPr>
        <p:spPr>
          <a:xfrm>
            <a:off x="548640" y="2514600"/>
            <a:ext cx="5486400" cy="676656"/>
          </a:xfrm>
          <a:prstGeom prst="roundRect">
            <a:avLst>
              <a:gd name="adj" fmla="val 10811"/>
            </a:avLst>
          </a:prstGeom>
          <a:solidFill>
            <a:schemeClr val="bg2"/>
          </a:solidFill>
          <a:ln/>
        </p:spPr>
      </p:sp>
      <p:sp>
        <p:nvSpPr>
          <p:cNvPr id="11" name="nomor 2"/>
          <p:cNvSpPr/>
          <p:nvPr/>
        </p:nvSpPr>
        <p:spPr>
          <a:xfrm>
            <a:off x="694944" y="2651760"/>
            <a:ext cx="402336" cy="402336"/>
          </a:xfrm>
          <a:prstGeom prst="ellipse">
            <a:avLst/>
          </a:prstGeom>
          <a:solidFill>
            <a:schemeClr val="accent2"/>
          </a:solidFill>
          <a:ln/>
        </p:spPr>
      </p:sp>
      <p:sp>
        <p:nvSpPr>
          <p:cNvPr id="12" name="Text 9"/>
          <p:cNvSpPr txBox="1"/>
          <p:nvPr/>
        </p:nvSpPr>
        <p:spPr>
          <a:xfrm>
            <a:off x="694944" y="265176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0"/>
          <p:cNvSpPr txBox="1"/>
          <p:nvPr/>
        </p:nvSpPr>
        <p:spPr>
          <a:xfrm>
            <a:off x="1234440" y="2542032"/>
            <a:ext cx="4663440" cy="621792"/>
          </a:xfrm>
          <a:prstGeom prst="rect">
            <a:avLst/>
          </a:prstGeom>
          <a:noFill/>
          <a:ln/>
        </p:spPr>
        <p:txBody>
          <a:bodyPr wrap="square" lIns="0" tIns="0" rIns="0" bIns="0" rtlCol="0" anchor="ctr"/>
          <a:lstStyle/>
          <a:p>
            <a:pPr algn="l" indent="0" marL="0">
              <a:buNone/>
            </a:pPr>
            <a:r>
              <a:rPr lang="en-US" sz="1400" dirty="0">
                <a:solidFill>
                  <a:schemeClr val="tx1"/>
                </a:solidFill>
              </a:rPr>
              <a:t>Rata-rata galat per zona, petak iklim, ±30 nomor subzona, dan k kawasan termirip</a:t>
            </a:r>
            <a:endParaRPr lang="en-US" sz="1400" dirty="0"/>
          </a:p>
        </p:txBody>
      </p:sp>
      <p:sp>
        <p:nvSpPr>
          <p:cNvPr id="14" name="panah"/>
          <p:cNvSpPr/>
          <p:nvPr/>
        </p:nvSpPr>
        <p:spPr>
          <a:xfrm flipV="1">
            <a:off x="777240" y="3218688"/>
            <a:ext cx="237744" cy="91440"/>
          </a:xfrm>
          <a:prstGeom prst="triangle">
            <a:avLst/>
          </a:prstGeom>
          <a:solidFill>
            <a:schemeClr val="accent4"/>
          </a:solidFill>
          <a:ln/>
        </p:spPr>
      </p:sp>
      <p:sp>
        <p:nvSpPr>
          <p:cNvPr id="15" name="langkah koreksi 3"/>
          <p:cNvSpPr/>
          <p:nvPr/>
        </p:nvSpPr>
        <p:spPr>
          <a:xfrm>
            <a:off x="548640" y="3337560"/>
            <a:ext cx="5486400" cy="676656"/>
          </a:xfrm>
          <a:prstGeom prst="roundRect">
            <a:avLst>
              <a:gd name="adj" fmla="val 10811"/>
            </a:avLst>
          </a:prstGeom>
          <a:solidFill>
            <a:schemeClr val="bg2"/>
          </a:solidFill>
          <a:ln/>
        </p:spPr>
      </p:sp>
      <p:sp>
        <p:nvSpPr>
          <p:cNvPr id="16" name="nomor 3"/>
          <p:cNvSpPr/>
          <p:nvPr/>
        </p:nvSpPr>
        <p:spPr>
          <a:xfrm>
            <a:off x="694944" y="3474720"/>
            <a:ext cx="402336" cy="402336"/>
          </a:xfrm>
          <a:prstGeom prst="ellipse">
            <a:avLst/>
          </a:prstGeom>
          <a:solidFill>
            <a:schemeClr val="accent2"/>
          </a:solidFill>
          <a:ln/>
        </p:spPr>
      </p:sp>
      <p:sp>
        <p:nvSpPr>
          <p:cNvPr id="17" name="Text 14"/>
          <p:cNvSpPr txBox="1"/>
          <p:nvPr/>
        </p:nvSpPr>
        <p:spPr>
          <a:xfrm>
            <a:off x="694944" y="347472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234440" y="3364992"/>
            <a:ext cx="4663440" cy="621792"/>
          </a:xfrm>
          <a:prstGeom prst="rect">
            <a:avLst/>
          </a:prstGeom>
          <a:noFill/>
          <a:ln/>
        </p:spPr>
        <p:txBody>
          <a:bodyPr wrap="square" lIns="0" tIns="0" rIns="0" bIns="0" rtlCol="0" anchor="ctr"/>
          <a:lstStyle/>
          <a:p>
            <a:pPr algn="l" indent="0" marL="0">
              <a:buNone/>
            </a:pPr>
            <a:r>
              <a:rPr lang="en-US" sz="1400" dirty="0">
                <a:solidFill>
                  <a:schemeClr val="tx1"/>
                </a:solidFill>
              </a:rPr>
              <a:t>Dikecilkan n/(n + 30), atau n/(n + 5) bila tetangganya sedikit</a:t>
            </a:r>
            <a:endParaRPr lang="en-US" sz="1400" dirty="0"/>
          </a:p>
        </p:txBody>
      </p:sp>
      <p:sp>
        <p:nvSpPr>
          <p:cNvPr id="19" name="panah"/>
          <p:cNvSpPr/>
          <p:nvPr/>
        </p:nvSpPr>
        <p:spPr>
          <a:xfrm flipV="1">
            <a:off x="777240" y="4041648"/>
            <a:ext cx="237744" cy="91440"/>
          </a:xfrm>
          <a:prstGeom prst="triangle">
            <a:avLst/>
          </a:prstGeom>
          <a:solidFill>
            <a:schemeClr val="accent4"/>
          </a:solidFill>
          <a:ln/>
        </p:spPr>
      </p:sp>
      <p:sp>
        <p:nvSpPr>
          <p:cNvPr id="20" name="langkah koreksi 4"/>
          <p:cNvSpPr/>
          <p:nvPr/>
        </p:nvSpPr>
        <p:spPr>
          <a:xfrm>
            <a:off x="548640" y="4160520"/>
            <a:ext cx="5486400" cy="676656"/>
          </a:xfrm>
          <a:prstGeom prst="roundRect">
            <a:avLst>
              <a:gd name="adj" fmla="val 10811"/>
            </a:avLst>
          </a:prstGeom>
          <a:solidFill>
            <a:schemeClr val="tx2"/>
          </a:solidFill>
          <a:ln/>
        </p:spPr>
      </p:sp>
      <p:sp>
        <p:nvSpPr>
          <p:cNvPr id="21" name="nomor 4"/>
          <p:cNvSpPr/>
          <p:nvPr/>
        </p:nvSpPr>
        <p:spPr>
          <a:xfrm>
            <a:off x="694944" y="4297680"/>
            <a:ext cx="402336" cy="402336"/>
          </a:xfrm>
          <a:prstGeom prst="ellipse">
            <a:avLst/>
          </a:prstGeom>
          <a:solidFill>
            <a:schemeClr val="bg1"/>
          </a:solidFill>
          <a:ln/>
        </p:spPr>
      </p:sp>
      <p:sp>
        <p:nvSpPr>
          <p:cNvPr id="22" name="Text 19"/>
          <p:cNvSpPr txBox="1"/>
          <p:nvPr/>
        </p:nvSpPr>
        <p:spPr>
          <a:xfrm>
            <a:off x="694944" y="429768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23" name="Text 20"/>
          <p:cNvSpPr txBox="1"/>
          <p:nvPr/>
        </p:nvSpPr>
        <p:spPr>
          <a:xfrm>
            <a:off x="1234440" y="4187952"/>
            <a:ext cx="4663440" cy="621792"/>
          </a:xfrm>
          <a:prstGeom prst="rect">
            <a:avLst/>
          </a:prstGeom>
          <a:noFill/>
          <a:ln/>
        </p:spPr>
        <p:txBody>
          <a:bodyPr wrap="square" lIns="0" tIns="0" rIns="0" bIns="0" rtlCol="0" anchor="ctr"/>
          <a:lstStyle/>
          <a:p>
            <a:pPr algn="l" indent="0" marL="0">
              <a:buNone/>
            </a:pPr>
            <a:r>
              <a:rPr lang="en-US" sz="1400" dirty="0">
                <a:solidFill>
                  <a:schemeClr val="bg1"/>
                </a:solidFill>
              </a:rPr>
              <a:t>Dikali bobot λ yang dipilih di </a:t>
            </a:r>
            <a:pPr algn="l" indent="0" marL="0">
              <a:buNone/>
            </a:pPr>
            <a:r>
              <a:rPr lang="en-US" sz="1400" i="1" dirty="0">
                <a:solidFill>
                  <a:schemeClr val="bg1"/>
                </a:solidFill>
              </a:rPr>
              <a:t>holdout set</a:t>
            </a:r>
            <a:pPr algn="l" indent="0" marL="0">
              <a:buNone/>
            </a:pPr>
            <a:r>
              <a:rPr lang="en-US" sz="1400" dirty="0">
                <a:solidFill>
                  <a:schemeClr val="bg1"/>
                </a:solidFill>
              </a:rPr>
              <a:t> (30% data latih), lalu dibekukan di configs/resid_knn.json</a:t>
            </a:r>
            <a:endParaRPr lang="en-US" sz="1400" dirty="0"/>
          </a:p>
        </p:txBody>
      </p:sp>
      <p:sp>
        <p:nvSpPr>
          <p:cNvPr id="24" name="Text 21"/>
          <p:cNvSpPr txBox="1"/>
          <p:nvPr/>
        </p:nvSpPr>
        <p:spPr>
          <a:xfrm>
            <a:off x="6355080" y="1691640"/>
            <a:ext cx="2743200" cy="274320"/>
          </a:xfrm>
          <a:prstGeom prst="rect">
            <a:avLst/>
          </a:prstGeom>
          <a:noFill/>
          <a:ln/>
        </p:spPr>
        <p:txBody>
          <a:bodyPr wrap="square" lIns="0" tIns="0" rIns="0" bIns="0" rtlCol="0" anchor="t"/>
          <a:lstStyle/>
          <a:p>
            <a:pPr algn="l" indent="0" marL="0">
              <a:buNone/>
            </a:pPr>
            <a:r>
              <a:rPr lang="en-US" sz="1200" b="1" dirty="0">
                <a:solidFill>
                  <a:schemeClr val="tx2"/>
                </a:solidFill>
              </a:rPr>
              <a:t>λ untuk gas</a:t>
            </a:r>
            <a:endParaRPr lang="en-US" sz="1200" dirty="0"/>
          </a:p>
        </p:txBody>
      </p:sp>
      <p:graphicFrame>
        <p:nvGraphicFramePr>
          <p:cNvPr id="16" name="tabel lambda"/>
          <p:cNvGraphicFramePr>
            <a:graphicFrameLocks noGrp="1"/>
          </p:cNvGraphicFramePr>
          <p:nvPr>
            <p:extLst>
              <p:ext uri="{D42A27DB-BD31-4B8C-83A1-F6EECF244321}">
                <p14:modId xmlns:p14="http://schemas.microsoft.com/office/powerpoint/2010/main" val="1579011935"/>
              </p:ext>
            </p:extLst>
          </p:nvPr>
        </p:nvGraphicFramePr>
        <p:xfrm>
          <a:off x="6355080" y="1984248"/>
          <a:ext cx="5285232" cy="914400"/>
        </p:xfrm>
        <a:graphic>
          <a:graphicData uri="http://schemas.openxmlformats.org/drawingml/2006/table">
            <a:tbl>
              <a:tblPr/>
              <a:tblGrid>
                <a:gridCol w="4206240"/>
                <a:gridCol w="1078992"/>
              </a:tblGrid>
              <a:tr h="274320">
                <a:tc>
                  <a:txBody>
                    <a:bodyPr/>
                    <a:lstStyle/>
                    <a:p>
                      <a:pPr algn="l" indent="0" marL="0">
                        <a:buNone/>
                      </a:pPr>
                      <a:r>
                        <a:rPr lang="en-US" sz="1200" b="1" dirty="0">
                          <a:solidFill>
                            <a:srgbClr val="FFFFFF"/>
                          </a:solidFill>
                        </a:rPr>
                        <a:t>Fitur koreksi (gas)</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200" b="1" dirty="0">
                          <a:solidFill>
                            <a:srgbClr val="FFFFFF"/>
                          </a:solidFill>
                        </a:rPr>
                        <a:t>λ</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274320">
                <a:tc>
                  <a:txBody>
                    <a:bodyPr/>
                    <a:lstStyle/>
                    <a:p>
                      <a:pPr algn="l" indent="0" marL="0">
                        <a:buNone/>
                      </a:pPr>
                      <a:r>
                        <a:rPr lang="en-US" sz="1300" dirty="0">
                          <a:solidFill>
                            <a:srgbClr val="1F2933"/>
                          </a:solidFill>
                        </a:rPr>
                        <a:t>rata-rata galat zona</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0,453</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74320">
                <a:tc>
                  <a:txBody>
                    <a:bodyPr/>
                    <a:lstStyle/>
                    <a:p>
                      <a:pPr algn="l" indent="0" marL="0">
                        <a:buNone/>
                      </a:pPr>
                      <a:r>
                        <a:rPr lang="en-US" sz="1300" dirty="0">
                          <a:solidFill>
                            <a:srgbClr val="1F2933"/>
                          </a:solidFill>
                        </a:rPr>
                        <a:t>rata-rata galat petak iklim</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300" dirty="0">
                          <a:solidFill>
                            <a:srgbClr val="1F2933"/>
                          </a:solidFill>
                        </a:rPr>
                        <a:t>0,346</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274320">
                <a:tc>
                  <a:txBody>
                    <a:bodyPr/>
                    <a:lstStyle/>
                    <a:p>
                      <a:pPr algn="l" indent="0" marL="0">
                        <a:buNone/>
                      </a:pPr>
                      <a:r>
                        <a:rPr lang="en-US" sz="1300" dirty="0">
                          <a:solidFill>
                            <a:srgbClr val="1F2933"/>
                          </a:solidFill>
                        </a:rPr>
                        <a:t>rata-rata galat ±30 nomor subzona</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−0,020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74320">
                <a:tc>
                  <a:txBody>
                    <a:bodyPr/>
                    <a:lstStyle/>
                    <a:p>
                      <a:pPr algn="l" indent="0" marL="0">
                        <a:buNone/>
                      </a:pPr>
                      <a:r>
                        <a:rPr lang="en-US" sz="1300" dirty="0">
                          <a:solidFill>
                            <a:srgbClr val="1F2933"/>
                          </a:solidFill>
                        </a:rPr>
                        <a:t>kNN full, W 100, k 20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300" dirty="0">
                          <a:solidFill>
                            <a:srgbClr val="1F2933"/>
                          </a:solidFill>
                        </a:rPr>
                        <a:t>0,037</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274320">
                <a:tc>
                  <a:txBody>
                    <a:bodyPr/>
                    <a:lstStyle/>
                    <a:p>
                      <a:pPr algn="l" indent="0" marL="0">
                        <a:buNone/>
                      </a:pPr>
                      <a:r>
                        <a:rPr lang="en-US" sz="1300" dirty="0">
                          <a:solidFill>
                            <a:srgbClr val="1F2933"/>
                          </a:solidFill>
                        </a:rPr>
                        <a:t>kNN era, W 30, k 20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0,126</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74320">
                <a:tc>
                  <a:txBody>
                    <a:bodyPr/>
                    <a:lstStyle/>
                    <a:p>
                      <a:pPr algn="l" indent="0" marL="0">
                        <a:buNone/>
                      </a:pPr>
                      <a:r>
                        <a:rPr lang="en-US" sz="1300" dirty="0">
                          <a:solidFill>
                            <a:srgbClr val="1F2933"/>
                          </a:solidFill>
                        </a:rPr>
                        <a:t>kNN fc, W 300, k 50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300" dirty="0">
                          <a:solidFill>
                            <a:srgbClr val="1F2933"/>
                          </a:solidFill>
                        </a:rPr>
                        <a:t>0,079</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274320">
                <a:tc>
                  <a:txBody>
                    <a:bodyPr/>
                    <a:lstStyle/>
                    <a:p>
                      <a:pPr algn="l" indent="0" marL="0">
                        <a:buNone/>
                      </a:pPr>
                      <a:r>
                        <a:rPr lang="en-US" sz="1300" dirty="0">
                          <a:solidFill>
                            <a:srgbClr val="1F2933"/>
                          </a:solidFill>
                        </a:rPr>
                        <a:t>kNN full, W 10, k 10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0,072</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74320">
                <a:tc>
                  <a:txBody>
                    <a:bodyPr/>
                    <a:lstStyle/>
                    <a:p>
                      <a:pPr algn="l" indent="0" marL="0">
                        <a:buNone/>
                      </a:pPr>
                      <a:r>
                        <a:rPr lang="en-US" sz="1300" dirty="0">
                          <a:solidFill>
                            <a:srgbClr val="1F2933"/>
                          </a:solidFill>
                        </a:rPr>
                        <a:t>kNN era, W 300, k 50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300" dirty="0">
                          <a:solidFill>
                            <a:srgbClr val="1F2933"/>
                          </a:solidFill>
                        </a:rPr>
                        <a:t>0,124</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274320">
                <a:tc>
                  <a:txBody>
                    <a:bodyPr/>
                    <a:lstStyle/>
                    <a:p>
                      <a:pPr algn="l" indent="0" marL="0">
                        <a:buNone/>
                      </a:pPr>
                      <a:r>
                        <a:rPr lang="en-US" sz="1300" dirty="0">
                          <a:solidFill>
                            <a:srgbClr val="1F2933"/>
                          </a:solidFill>
                        </a:rPr>
                        <a:t>kNN full, W 3000, k 200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0,156</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6" name="Text 22"/>
          <p:cNvSpPr txBox="1"/>
          <p:nvPr/>
        </p:nvSpPr>
        <p:spPr>
          <a:xfrm>
            <a:off x="548640" y="5029200"/>
            <a:ext cx="5486400" cy="731520"/>
          </a:xfrm>
          <a:prstGeom prst="rect">
            <a:avLst/>
          </a:prstGeom>
          <a:noFill/>
          <a:ln/>
        </p:spPr>
        <p:txBody>
          <a:bodyPr wrap="square" lIns="0" tIns="0" rIns="0" bIns="0" rtlCol="0" anchor="t"/>
          <a:lstStyle/>
          <a:p>
            <a:pPr algn="l" marL="177800" indent="-177800">
              <a:spcAft>
                <a:spcPts val="200"/>
              </a:spcAft>
              <a:buSzPct val="100000"/>
              <a:buChar char="•"/>
            </a:pPr>
            <a:r>
              <a:rPr lang="en-US" sz="1400" dirty="0">
                <a:solidFill>
                  <a:schemeClr val="tx1"/>
                </a:solidFill>
              </a:rPr>
              <a:t>Besar koreksi rms/σ: gas 0,02047; EUI 0,04344; listrik 0,01195</a:t>
            </a:r>
            <a:endParaRPr lang="en-US" sz="1400" dirty="0"/>
          </a:p>
          <a:p>
            <a:pPr algn="l" marL="177800" indent="-177800">
              <a:spcAft>
                <a:spcPts val="200"/>
              </a:spcAft>
              <a:buSzPct val="100000"/>
              <a:buChar char="•"/>
            </a:pPr>
            <a:r>
              <a:rPr lang="en-US" sz="1400" dirty="0">
                <a:solidFill>
                  <a:schemeClr val="tx1"/>
                </a:solidFill>
              </a:rPr>
              <a:t>Bagian kNN menurunkan </a:t>
            </a:r>
            <a:pPr algn="l" indent="0" marL="0">
              <a:spcAft>
                <a:spcPts val="200"/>
              </a:spcAft>
              <a:buNone/>
            </a:pPr>
            <a:r>
              <a:rPr lang="en-US" sz="1400" i="1" dirty="0">
                <a:solidFill>
                  <a:schemeClr val="tx1"/>
                </a:solidFill>
              </a:rPr>
              <a:t>leaderboard</a:t>
            </a:r>
            <a:pPr algn="l" indent="0" marL="0">
              <a:spcAft>
                <a:spcPts val="200"/>
              </a:spcAft>
              <a:buNone/>
            </a:pPr>
            <a:r>
              <a:rPr lang="en-US" sz="1400" dirty="0">
                <a:solidFill>
                  <a:schemeClr val="tx1"/>
                </a:solidFill>
              </a:rPr>
              <a:t> publik sekitar 0,0004 (0,2499 menjadi 0,24954)</a:t>
            </a:r>
            <a:endParaRPr lang="en-US" sz="1400" dirty="0"/>
          </a:p>
        </p:txBody>
      </p:sp>
      <p:sp>
        <p:nvSpPr>
          <p:cNvPr id="27" name="Text 23"/>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"Apakah koreksi ini memakai target data uji?" · "Bagaimana λ dipilih, dan mengapa ada yang negatif?" · "Berapa besar pengaruhnya?"</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C3</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Dua blok fitur bertarget utama diuji dengan label acak pada satu </a:t>
            </a:r>
            <a:pPr algn="l" indent="0" marL="0">
              <a:buNone/>
            </a:pPr>
            <a:r>
              <a:rPr lang="en-US" sz="2600" b="1" i="1" dirty="0">
                <a:solidFill>
                  <a:schemeClr val="tx2"/>
                </a:solidFill>
              </a:rPr>
              <a:t>fold</a:t>
            </a:r>
            <a:endParaRPr lang="en-US" sz="2600" dirty="0"/>
          </a:p>
        </p:txBody>
      </p:sp>
      <p:sp>
        <p:nvSpPr>
          <p:cNvPr id="5" name="Text 2"/>
          <p:cNvSpPr txBox="1"/>
          <p:nvPr/>
        </p:nvSpPr>
        <p:spPr>
          <a:xfrm>
            <a:off x="548640" y="1691640"/>
            <a:ext cx="11094415" cy="292608"/>
          </a:xfrm>
          <a:prstGeom prst="rect">
            <a:avLst/>
          </a:prstGeom>
          <a:noFill/>
          <a:ln/>
        </p:spPr>
        <p:txBody>
          <a:bodyPr wrap="square" lIns="0" tIns="0" rIns="0" bIns="0" rtlCol="0" anchor="t"/>
          <a:lstStyle/>
          <a:p>
            <a:pPr algn="l" indent="0" marL="0">
              <a:buNone/>
            </a:pPr>
            <a:r>
              <a:rPr lang="en-US" sz="1400" dirty="0">
                <a:solidFill>
                  <a:schemeClr val="accent5"/>
                </a:solidFill>
              </a:rPr>
              <a:t>Yang diacak: kolom turunan tiga target konsumsi (gas, listrik, EUI) · modul </a:t>
            </a:r>
            <a:pPr algn="l" indent="0" marL="0">
              <a:buNone/>
            </a:pPr>
            <a:r>
              <a:rPr lang="en-US" sz="1400" i="1" dirty="0">
                <a:solidFill>
                  <a:schemeClr val="accent5"/>
                </a:solidFill>
              </a:rPr>
              <a:t>notebook</a:t>
            </a:r>
            <a:pPr algn="l" indent="0" marL="0">
              <a:buNone/>
            </a:pPr>
            <a:r>
              <a:rPr lang="en-US" sz="1400" dirty="0">
                <a:solidFill>
                  <a:schemeClr val="accent5"/>
                </a:solidFill>
              </a:rPr>
              <a:t> yang sama, </a:t>
            </a:r>
            <a:pPr algn="l" indent="0" marL="0">
              <a:buNone/>
            </a:pPr>
            <a:r>
              <a:rPr lang="en-US" sz="1400" i="1" dirty="0">
                <a:solidFill>
                  <a:schemeClr val="accent5"/>
                </a:solidFill>
              </a:rPr>
              <a:t>fold</a:t>
            </a:r>
            <a:pPr algn="l" indent="0" marL="0">
              <a:buNone/>
            </a:pPr>
            <a:r>
              <a:rPr lang="en-US" sz="1400" dirty="0">
                <a:solidFill>
                  <a:schemeClr val="accent5"/>
                </a:solidFill>
              </a:rPr>
              <a:t> 0 dari 10</a:t>
            </a:r>
            <a:endParaRPr lang="en-US" sz="1400" dirty="0"/>
          </a:p>
        </p:txBody>
      </p:sp>
      <p:graphicFrame>
        <p:nvGraphicFramePr>
          <p:cNvPr id="17" name="tabel uji label acak"/>
          <p:cNvGraphicFramePr>
            <a:graphicFrameLocks noGrp="1"/>
          </p:cNvGraphicFramePr>
          <p:nvPr>
            <p:extLst>
              <p:ext uri="{D42A27DB-BD31-4B8C-83A1-F6EECF244321}">
                <p14:modId xmlns:p14="http://schemas.microsoft.com/office/powerpoint/2010/main" val="1579011935"/>
              </p:ext>
            </p:extLst>
          </p:nvPr>
        </p:nvGraphicFramePr>
        <p:xfrm>
          <a:off x="548640" y="2057400"/>
          <a:ext cx="6949440" cy="914400"/>
        </p:xfrm>
        <a:graphic>
          <a:graphicData uri="http://schemas.openxmlformats.org/drawingml/2006/table">
            <a:tbl>
              <a:tblPr/>
              <a:tblGrid>
                <a:gridCol w="3200400"/>
                <a:gridCol w="685800"/>
                <a:gridCol w="1188720"/>
                <a:gridCol w="1874520"/>
              </a:tblGrid>
              <a:tr h="329184">
                <a:tc>
                  <a:txBody>
                    <a:bodyPr/>
                    <a:lstStyle/>
                    <a:p>
                      <a:pPr algn="l" indent="0" marL="0">
                        <a:buNone/>
                      </a:pPr>
                      <a:r>
                        <a:rPr lang="en-US" sz="1200" b="1" dirty="0">
                          <a:solidFill>
                            <a:srgbClr val="FFFFFF"/>
                          </a:solidFill>
                        </a:rPr>
                        <a:t>Blok fitur</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200" b="1" dirty="0">
                          <a:solidFill>
                            <a:srgbClr val="FFFFFF"/>
                          </a:solidFill>
                        </a:rPr>
                        <a:t>Kolom</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200" b="1" dirty="0">
                          <a:solidFill>
                            <a:srgbClr val="FFFFFF"/>
                          </a:solidFill>
                        </a:rPr>
                        <a:t>Baris yang diuji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200" b="1" dirty="0">
                          <a:solidFill>
                            <a:srgbClr val="FFFFFF"/>
                          </a:solidFill>
                        </a:rPr>
                        <a:t>Berubah</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29184">
                <a:tc>
                  <a:txBody>
                    <a:bodyPr/>
                    <a:lstStyle/>
                    <a:p>
                      <a:pPr algn="l" indent="0" marL="0">
                        <a:buNone/>
                      </a:pPr>
                      <a:r>
                        <a:rPr lang="en-US" sz="1300" dirty="0">
                          <a:solidFill>
                            <a:srgbClr val="1F2933"/>
                          </a:solidFill>
                        </a:rPr>
                        <a:t>kNN-target, baris validasi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39</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42.931</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F2933"/>
                          </a:solidFill>
                        </a:rPr>
                        <a:t>kNN-target, data uji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300" dirty="0">
                          <a:solidFill>
                            <a:srgbClr val="1F2933"/>
                          </a:solidFill>
                        </a:rPr>
                        <a:t>39</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300" dirty="0">
                          <a:solidFill>
                            <a:srgbClr val="1F2933"/>
                          </a:solidFill>
                        </a:rPr>
                        <a:t>183.987</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300" dirty="0">
                          <a:solidFill>
                            <a:srgbClr val="1F2933"/>
                          </a:solidFill>
                        </a:rPr>
                        <a:t>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300" dirty="0">
                          <a:solidFill>
                            <a:srgbClr val="1F2933"/>
                          </a:solidFill>
                        </a:rPr>
                        <a:t>rata-rata wilayah, baris validasi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42</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42.931</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F2933"/>
                          </a:solidFill>
                        </a:rPr>
                        <a:t>rata-rata wilayah, data uji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300" dirty="0">
                          <a:solidFill>
                            <a:srgbClr val="1F2933"/>
                          </a:solidFill>
                        </a:rPr>
                        <a:t>42</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300" dirty="0">
                          <a:solidFill>
                            <a:srgbClr val="1F2933"/>
                          </a:solidFill>
                        </a:rPr>
                        <a:t>183.987</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300" dirty="0">
                          <a:solidFill>
                            <a:srgbClr val="1F2933"/>
                          </a:solidFill>
                        </a:rPr>
                        <a:t>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640080">
                <a:tc>
                  <a:txBody>
                    <a:bodyPr/>
                    <a:lstStyle/>
                    <a:p>
                      <a:pPr algn="l" indent="0" marL="0">
                        <a:buNone/>
                      </a:pPr>
                      <a:r>
                        <a:rPr lang="en-US" sz="1300" dirty="0">
                          <a:solidFill>
                            <a:srgbClr val="1F2933"/>
                          </a:solidFill>
                        </a:rPr>
                        <a:t>kNN-target, baris latih bagian dalam 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39</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3"/>
                          </a:solidFill>
                        </a:rPr>
                        <a:t>77.275</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0 (309.097 baris bagian lain berubah, sesuai rancangan)</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1F2933"/>
                          </a:solidFill>
                        </a:rPr>
                        <a:t>rata-rata wilayah, baris latih bagian dalam 0</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300" dirty="0">
                          <a:solidFill>
                            <a:srgbClr val="1F2933"/>
                          </a:solidFill>
                        </a:rPr>
                        <a:t>42</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300" dirty="0">
                          <a:solidFill>
                            <a:srgbClr val="1F2933"/>
                          </a:solidFill>
                        </a:rPr>
                        <a:t>77.275</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300" dirty="0">
                          <a:solidFill>
                            <a:srgbClr val="1F2933"/>
                          </a:solidFill>
                        </a:rPr>
                        <a:t>0 (309.097 baris bagian lain berubah)</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300" b="1" dirty="0">
                          <a:solidFill>
                            <a:srgbClr val="1F2933"/>
                          </a:solidFill>
                        </a:rPr>
                        <a:t>KONTROL: tetangga termasuk baris validasi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c>
                  <a:txBody>
                    <a:bodyPr/>
                    <a:lstStyle/>
                    <a:p>
                      <a:pPr algn="r" indent="0" marL="0">
                        <a:buNone/>
                      </a:pPr>
                      <a:r>
                        <a:rPr lang="en-US" sz="1300" b="1" dirty="0">
                          <a:solidFill>
                            <a:srgbClr val="1F2933"/>
                          </a:solidFill>
                        </a:rPr>
                        <a:t>15</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c>
                  <a:txBody>
                    <a:bodyPr/>
                    <a:lstStyle/>
                    <a:p>
                      <a:pPr algn="r" indent="0" marL="0">
                        <a:buNone/>
                      </a:pPr>
                      <a:r>
                        <a:rPr lang="en-US" sz="1300" b="1" dirty="0">
                          <a:solidFill>
                            <a:srgbClr val="1F2933"/>
                          </a:solidFill>
                        </a:rPr>
                        <a:t>42.931</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c>
                  <a:txBody>
                    <a:bodyPr/>
                    <a:lstStyle/>
                    <a:p>
                      <a:pPr algn="l" indent="0" marL="0">
                        <a:buNone/>
                      </a:pPr>
                      <a:r>
                        <a:rPr lang="en-US" sz="1300" b="1" dirty="0">
                          <a:solidFill>
                            <a:srgbClr val="1F2933"/>
                          </a:solidFill>
                        </a:rPr>
                        <a:t>42.931</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r>
            </a:tbl>
          </a:graphicData>
        </a:graphic>
      </p:graphicFrame>
      <p:sp>
        <p:nvSpPr>
          <p:cNvPr id="7" name="Text 3"/>
          <p:cNvSpPr txBox="1"/>
          <p:nvPr/>
        </p:nvSpPr>
        <p:spPr>
          <a:xfrm>
            <a:off x="7726680" y="2057400"/>
            <a:ext cx="3913632" cy="3566160"/>
          </a:xfrm>
          <a:prstGeom prst="rect">
            <a:avLst/>
          </a:prstGeom>
          <a:noFill/>
          <a:ln/>
        </p:spPr>
        <p:txBody>
          <a:bodyPr wrap="square" lIns="0" tIns="0" rIns="0" bIns="0" rtlCol="0" anchor="t"/>
          <a:lstStyle/>
          <a:p>
            <a:pPr algn="l" marL="177800" indent="-177800">
              <a:spcAft>
                <a:spcPts val="600"/>
              </a:spcAft>
              <a:buSzPct val="100000"/>
              <a:buChar char="•"/>
            </a:pPr>
            <a:r>
              <a:rPr lang="en-US" sz="1300" dirty="0">
                <a:solidFill>
                  <a:schemeClr val="tx1"/>
                </a:solidFill>
              </a:rPr>
              <a:t>Rasio fisik seperti </a:t>
            </a:r>
            <a:pPr algn="l" indent="0" marL="0">
              <a:buNone/>
            </a:pPr>
            <a:r>
              <a:rPr lang="en-US" sz="1300" dirty="0">
                <a:solidFill>
                  <a:schemeClr val="tx1"/>
                </a:solidFill>
              </a:rPr>
              <a:t>area_per_meter</a:t>
            </a:r>
            <a:pPr algn="l" indent="0" marL="0">
              <a:buNone/>
            </a:pPr>
            <a:r>
              <a:rPr lang="en-US" sz="1300" dirty="0">
                <a:solidFill>
                  <a:schemeClr val="tx1"/>
                </a:solidFill>
              </a:rPr>
              <a:t>: per baris, tanpa target</a:t>
            </a:r>
            <a:endParaRPr lang="en-US" sz="1300" dirty="0"/>
          </a:p>
          <a:p>
            <a:pPr algn="l" marL="177800" indent="-177800">
              <a:spcAft>
                <a:spcPts val="600"/>
              </a:spcAft>
              <a:buSzPct val="100000"/>
              <a:buChar char="•"/>
            </a:pPr>
            <a:r>
              <a:rPr lang="en-US" sz="1300" dirty="0">
                <a:solidFill>
                  <a:schemeClr val="tx1"/>
                </a:solidFill>
              </a:rPr>
              <a:t>Agregat kawasan (jumlah kawasan, total luas, jumlah meter): dari fitur data latih dan uji, tanpa target</a:t>
            </a:r>
            <a:endParaRPr lang="en-US" sz="1300" dirty="0"/>
          </a:p>
          <a:p>
            <a:pPr algn="l" marL="177800" indent="-177800">
              <a:spcAft>
                <a:spcPts val="600"/>
              </a:spcAft>
              <a:buSzPct val="100000"/>
              <a:buChar char="•"/>
            </a:pPr>
            <a:r>
              <a:rPr lang="en-US" sz="1300" dirty="0">
                <a:solidFill>
                  <a:schemeClr val="tx1"/>
                </a:solidFill>
              </a:rPr>
              <a:t>Rata-rata target wilayah dan kawasan termirip:</a:t>
            </a:r>
            <a:br/>
            <a:pPr algn="l" indent="0" marL="0">
              <a:buNone/>
            </a:pPr>
            <a:pPr algn="l" indent="0" marL="0">
              <a:buNone/>
            </a:pPr>
            <a:r>
              <a:rPr lang="en-US" sz="1300" i="1" dirty="0">
                <a:solidFill>
                  <a:schemeClr val="tx1"/>
                </a:solidFill>
              </a:rPr>
              <a:t>out-of-fold</a:t>
            </a:r>
            <a:pPr algn="l" indent="0" marL="0">
              <a:buNone/>
            </a:pPr>
            <a:r>
              <a:rPr lang="en-US" sz="1300" dirty="0">
                <a:solidFill>
                  <a:schemeClr val="tx1"/>
                </a:solidFill>
              </a:rPr>
              <a:t> dua lapis</a:t>
            </a:r>
            <a:endParaRPr lang="en-US" sz="1300" dirty="0"/>
          </a:p>
          <a:p>
            <a:pPr algn="l" marL="177800" indent="-177800">
              <a:spcAft>
                <a:spcPts val="600"/>
              </a:spcAft>
              <a:buSzPct val="100000"/>
              <a:buChar char="•"/>
            </a:pPr>
            <a:r>
              <a:rPr lang="en-US" sz="1300" dirty="0">
                <a:solidFill>
                  <a:schemeClr val="tx1"/>
                </a:solidFill>
              </a:rPr>
              <a:t>Di luar cakupan uji: fitur tetangga model adopsi, koreksi galat tetangga, bobot gabungan, faktor penyesuaian akhir (dirancang dengan prediksi </a:t>
            </a:r>
            <a:pPr algn="l" indent="0" marL="0">
              <a:buNone/>
            </a:pPr>
            <a:r>
              <a:rPr lang="en-US" sz="1300" i="1" dirty="0">
                <a:solidFill>
                  <a:schemeClr val="tx1"/>
                </a:solidFill>
              </a:rPr>
              <a:t>out-of-fold</a:t>
            </a:r>
            <a:pPr algn="l" indent="0" marL="0">
              <a:buNone/>
            </a:pPr>
            <a:r>
              <a:rPr lang="en-US" sz="1300" dirty="0">
                <a:solidFill>
                  <a:schemeClr val="tx1"/>
                </a:solidFill>
              </a:rPr>
              <a:t> atau </a:t>
            </a:r>
            <a:pPr algn="l" indent="0" marL="0">
              <a:buNone/>
            </a:pPr>
            <a:r>
              <a:rPr lang="en-US" sz="1300" i="1" dirty="0">
                <a:solidFill>
                  <a:schemeClr val="tx1"/>
                </a:solidFill>
              </a:rPr>
              <a:t>holdout set</a:t>
            </a:r>
            <a:pPr algn="l" indent="0" marL="0">
              <a:buNone/>
            </a:pPr>
            <a:r>
              <a:rPr lang="en-US" sz="1300" dirty="0">
                <a:solidFill>
                  <a:schemeClr val="tx1"/>
                </a:solidFill>
              </a:rPr>
              <a:t>)</a:t>
            </a:r>
            <a:endParaRPr lang="en-US" sz="1300" dirty="0"/>
          </a:p>
        </p:txBody>
      </p:sp>
      <p:sp>
        <p:nvSpPr>
          <p:cNvPr id="8" name="Text 4"/>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"Bagaimana Anda tahu tidak ada kebocoran?" · "Mengapa baris latih bagian lain berubah?" · "Apakah agregat yang memakai data uji termasuk kebocoran?" · "Apakah early stopping membuat galat out-of-fold bias?"</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C4</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Rincian 43 model: 28 jalur gas/EUI, 13 jalur listrik, dan 2 LightGBM adopsi</a:t>
            </a:r>
            <a:endParaRPr lang="en-US" sz="2600" dirty="0"/>
          </a:p>
        </p:txBody>
      </p:sp>
      <p:graphicFrame>
        <p:nvGraphicFramePr>
          <p:cNvPr id="18" name="tabel keluarga model"/>
          <p:cNvGraphicFramePr>
            <a:graphicFrameLocks noGrp="1"/>
          </p:cNvGraphicFramePr>
          <p:nvPr>
            <p:extLst>
              <p:ext uri="{D42A27DB-BD31-4B8C-83A1-F6EECF244321}">
                <p14:modId xmlns:p14="http://schemas.microsoft.com/office/powerpoint/2010/main" val="1579011935"/>
              </p:ext>
            </p:extLst>
          </p:nvPr>
        </p:nvGraphicFramePr>
        <p:xfrm>
          <a:off x="548640" y="1691640"/>
          <a:ext cx="5852160" cy="914400"/>
        </p:xfrm>
        <a:graphic>
          <a:graphicData uri="http://schemas.openxmlformats.org/drawingml/2006/table">
            <a:tbl>
              <a:tblPr/>
              <a:tblGrid>
                <a:gridCol w="3474720"/>
                <a:gridCol w="1188720"/>
                <a:gridCol w="1188720"/>
              </a:tblGrid>
              <a:tr h="384048">
                <a:tc>
                  <a:txBody>
                    <a:bodyPr/>
                    <a:lstStyle/>
                    <a:p>
                      <a:pPr algn="l" indent="0" marL="0">
                        <a:buNone/>
                      </a:pPr>
                      <a:r>
                        <a:rPr lang="en-US" sz="1300" b="1" dirty="0">
                          <a:solidFill>
                            <a:srgbClr val="FFFFFF"/>
                          </a:solidFill>
                        </a:rPr>
                        <a:t>Keluarga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300" b="1" dirty="0">
                          <a:solidFill>
                            <a:srgbClr val="FFFFFF"/>
                          </a:solidFill>
                        </a:rPr>
                        <a:t>Gas/EUI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300" b="1" dirty="0">
                          <a:solidFill>
                            <a:srgbClr val="FFFFFF"/>
                          </a:solidFill>
                        </a:rPr>
                        <a:t>Listrik</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400" dirty="0">
                          <a:solidFill>
                            <a:srgbClr val="1F2933"/>
                          </a:solidFill>
                        </a:rPr>
                        <a:t>XGBoost, termasuk varian Poisson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16</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F2933"/>
                          </a:solidFill>
                        </a:rPr>
                        <a:t>LightGBM, termasuk varian Poisson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4</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400" dirty="0">
                          <a:solidFill>
                            <a:srgbClr val="1F2933"/>
                          </a:solidFill>
                        </a:rPr>
                        <a:t>MLP standar</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F2933"/>
                          </a:solidFill>
                        </a:rPr>
                        <a:t>MLP PLR dan TabM-mini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400" dirty="0">
                          <a:solidFill>
                            <a:srgbClr val="1F2933"/>
                          </a:solidFill>
                        </a:rPr>
                        <a:t>MLP gas + listrik</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F2933"/>
                          </a:solidFill>
                        </a:rPr>
                        <a:t>NCA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400" b="1" dirty="0">
                          <a:solidFill>
                            <a:srgbClr val="1F2933"/>
                          </a:solidFill>
                        </a:rPr>
                        <a:t>Jumlah</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2"/>
                    </a:solidFill>
                  </a:tcPr>
                </a:tc>
                <a:tc>
                  <a:txBody>
                    <a:bodyPr/>
                    <a:lstStyle/>
                    <a:p>
                      <a:pPr algn="r" indent="0" marL="0">
                        <a:buNone/>
                      </a:pPr>
                      <a:r>
                        <a:rPr lang="en-US" sz="1400" b="1" dirty="0">
                          <a:solidFill>
                            <a:srgbClr val="1F2933"/>
                          </a:solidFill>
                        </a:rPr>
                        <a:t>28</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2"/>
                    </a:solidFill>
                  </a:tcPr>
                </a:tc>
                <a:tc>
                  <a:txBody>
                    <a:bodyPr/>
                    <a:lstStyle/>
                    <a:p>
                      <a:pPr algn="r" indent="0" marL="0">
                        <a:buNone/>
                      </a:pPr>
                      <a:r>
                        <a:rPr lang="en-US" sz="1400" b="1" dirty="0">
                          <a:solidFill>
                            <a:srgbClr val="1F2933"/>
                          </a:solidFill>
                        </a:rPr>
                        <a:t>13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2"/>
                    </a:solidFill>
                  </a:tcPr>
                </a:tc>
              </a:tr>
            </a:tbl>
          </a:graphicData>
        </a:graphic>
      </p:graphicFrame>
      <p:sp>
        <p:nvSpPr>
          <p:cNvPr id="6" name="Text 2"/>
          <p:cNvSpPr txBox="1"/>
          <p:nvPr/>
        </p:nvSpPr>
        <p:spPr>
          <a:xfrm>
            <a:off x="6720840" y="1691640"/>
            <a:ext cx="4919472" cy="31089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Jalur 3: 2 LightGBM adopsi (q_xent dan r_reg) dirata-rata, hanya untuk 8,14% kawasan uji; tidak ikut </a:t>
            </a:r>
            <a:pPr algn="l" indent="0" marL="0">
              <a:buNone/>
            </a:pPr>
            <a:r>
              <a:rPr lang="en-US" sz="1400" i="1" dirty="0">
                <a:solidFill>
                  <a:schemeClr val="tx1"/>
                </a:solidFill>
              </a:rPr>
              <a:t>blending</a:t>
            </a:r>
            <a:endParaRPr lang="en-US" sz="1400" dirty="0"/>
          </a:p>
          <a:p>
            <a:pPr algn="l" marL="177800" indent="-177800">
              <a:spcAft>
                <a:spcPts val="600"/>
              </a:spcAft>
              <a:buSzPct val="100000"/>
              <a:buChar char="•"/>
            </a:pPr>
            <a:r>
              <a:rPr lang="en-US" sz="1400" i="1" dirty="0">
                <a:solidFill>
                  <a:schemeClr val="tx1"/>
                </a:solidFill>
              </a:rPr>
              <a:t>Notebook</a:t>
            </a:r>
            <a:pPr algn="l" indent="0" marL="0">
              <a:buNone/>
            </a:pPr>
            <a:r>
              <a:rPr lang="en-US" sz="1400" dirty="0">
                <a:solidFill>
                  <a:schemeClr val="tx1"/>
                </a:solidFill>
              </a:rPr>
              <a:t> melatih 42 model di jalur 1 dan 2; satu keluaran (mk1_gpm) tidak terpilih</a:t>
            </a:r>
            <a:endParaRPr lang="en-US" sz="1400" dirty="0"/>
          </a:p>
          <a:p>
            <a:pPr algn="l" marL="177800" indent="-177800">
              <a:spcAft>
                <a:spcPts val="600"/>
              </a:spcAft>
              <a:buSzPct val="100000"/>
              <a:buChar char="•"/>
            </a:pPr>
            <a:r>
              <a:rPr lang="en-US" sz="1400" dirty="0">
                <a:solidFill>
                  <a:schemeClr val="tx1"/>
                </a:solidFill>
              </a:rPr>
              <a:t>41 dihitung per keluaran: MLP dua keluaran mk2 menyumbang ke kedua jalur</a:t>
            </a:r>
            <a:endParaRPr lang="en-US" sz="1400" dirty="0"/>
          </a:p>
          <a:p>
            <a:pPr algn="l" marL="177800" indent="-177800">
              <a:spcAft>
                <a:spcPts val="600"/>
              </a:spcAft>
              <a:buSzPct val="100000"/>
              <a:buChar char="•"/>
            </a:pPr>
            <a:r>
              <a:rPr lang="en-US" sz="1400" dirty="0">
                <a:solidFill>
                  <a:schemeClr val="tx1"/>
                </a:solidFill>
              </a:rPr>
              <a:t>Di balik 41 anggota ada 550 model terlatih (per </a:t>
            </a:r>
            <a:pPr algn="l" indent="0" marL="0">
              <a:buNone/>
            </a:pPr>
            <a:r>
              <a:rPr lang="en-US" sz="1400" i="1" dirty="0">
                <a:solidFill>
                  <a:schemeClr val="tx1"/>
                </a:solidFill>
              </a:rPr>
              <a:t>fold</a:t>
            </a:r>
            <a:pPr algn="l" indent="0" marL="0">
              <a:buNone/>
            </a:pPr>
            <a:r>
              <a:rPr lang="en-US" sz="1400" dirty="0">
                <a:solidFill>
                  <a:schemeClr val="tx1"/>
                </a:solidFill>
              </a:rPr>
              <a:t>, sebagian tiga </a:t>
            </a:r>
            <a:pPr algn="l" indent="0" marL="0">
              <a:buNone/>
            </a:pPr>
            <a:r>
              <a:rPr lang="en-US" sz="1400" i="1" dirty="0">
                <a:solidFill>
                  <a:schemeClr val="tx1"/>
                </a:solidFill>
              </a:rPr>
              <a:t>seed</a:t>
            </a:r>
            <a:pPr algn="l" indent="0" marL="0">
              <a:buNone/>
            </a:pPr>
            <a:r>
              <a:rPr lang="en-US" sz="1400" dirty="0">
                <a:solidFill>
                  <a:schemeClr val="tx1"/>
                </a:solidFill>
              </a:rPr>
              <a:t>)</a:t>
            </a:r>
            <a:endParaRPr lang="en-US" sz="1400" dirty="0"/>
          </a:p>
        </p:txBody>
      </p:sp>
      <p:sp>
        <p:nvSpPr>
          <p:cNvPr id="7" name="pita 43"/>
          <p:cNvSpPr/>
          <p:nvPr/>
        </p:nvSpPr>
        <p:spPr>
          <a:xfrm>
            <a:off x="6720840" y="4892040"/>
            <a:ext cx="4919472" cy="685800"/>
          </a:xfrm>
          <a:prstGeom prst="roundRect">
            <a:avLst>
              <a:gd name="adj" fmla="val 13333"/>
            </a:avLst>
          </a:prstGeom>
          <a:solidFill>
            <a:schemeClr val="bg2"/>
          </a:solidFill>
          <a:ln/>
        </p:spPr>
      </p:sp>
      <p:sp>
        <p:nvSpPr>
          <p:cNvPr id="8" name="Text 4"/>
          <p:cNvSpPr txBox="1"/>
          <p:nvPr/>
        </p:nvSpPr>
        <p:spPr>
          <a:xfrm>
            <a:off x="6720840" y="4892040"/>
            <a:ext cx="4919472" cy="685800"/>
          </a:xfrm>
          <a:prstGeom prst="rect">
            <a:avLst/>
          </a:prstGeom>
          <a:noFill/>
          <a:ln/>
        </p:spPr>
        <p:txBody>
          <a:bodyPr wrap="square" lIns="0" tIns="0" rIns="0" bIns="0" rtlCol="0" anchor="ctr"/>
          <a:lstStyle/>
          <a:p>
            <a:pPr algn="ctr" indent="0" marL="0">
              <a:buNone/>
            </a:pPr>
            <a:r>
              <a:rPr lang="en-US" sz="2600" b="1" dirty="0">
                <a:solidFill>
                  <a:schemeClr val="tx2"/>
                </a:solidFill>
              </a:rPr>
              <a:t>43</a:t>
            </a:r>
            <a:pPr algn="ctr" indent="0" marL="0">
              <a:buNone/>
            </a:pPr>
            <a:r>
              <a:rPr lang="en-US" sz="2600" dirty="0">
                <a:solidFill>
                  <a:schemeClr val="accent5"/>
                </a:solidFill>
              </a:rPr>
              <a:t> = </a:t>
            </a:r>
            <a:pPr algn="ctr" indent="0" marL="0">
              <a:buNone/>
            </a:pPr>
            <a:r>
              <a:rPr lang="en-US" sz="2600" b="1" dirty="0">
                <a:solidFill>
                  <a:schemeClr val="accent1"/>
                </a:solidFill>
              </a:rPr>
              <a:t>41</a:t>
            </a:r>
            <a:pPr algn="ctr" indent="0" marL="0">
              <a:buNone/>
            </a:pPr>
            <a:r>
              <a:rPr lang="en-US" sz="2600" dirty="0">
                <a:solidFill>
                  <a:schemeClr val="accent5"/>
                </a:solidFill>
              </a:rPr>
              <a:t> + </a:t>
            </a:r>
            <a:pPr algn="ctr" indent="0" marL="0">
              <a:buNone/>
            </a:pPr>
            <a:r>
              <a:rPr lang="en-US" sz="2600" b="1" dirty="0">
                <a:solidFill>
                  <a:schemeClr val="accent5"/>
                </a:solidFill>
              </a:rPr>
              <a:t>2</a:t>
            </a:r>
            <a:endParaRPr lang="en-US" sz="2600" dirty="0"/>
          </a:p>
        </p:txBody>
      </p:sp>
      <p:sp>
        <p:nvSpPr>
          <p:cNvPr id="9" name="Text 5"/>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"Mengapa 41 model, bukan satu model terbaik?" · "Notebook menulis 42 model; mana yang benar?" · "Apakah dua LightGBM adopsi ikut digabung?" · "Berapa model yang sebenarnya dilatih?"</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C5</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SHAP dibaca dari model penjelas terpisah</a:t>
            </a:r>
            <a:br/>
            <a:pPr algn="l" indent="0" marL="0">
              <a:buNone/>
            </a:pPr>
            <a:r>
              <a:rPr lang="en-US" sz="2600" b="1" dirty="0">
                <a:solidFill>
                  <a:schemeClr val="tx2"/>
                </a:solidFill>
              </a:rPr>
              <a:t>dan hanya menunjukkan sumbangan pada prediksi</a:t>
            </a:r>
            <a:endParaRPr lang="en-US" sz="2600" dirty="0"/>
          </a:p>
        </p:txBody>
      </p:sp>
      <p:sp>
        <p:nvSpPr>
          <p:cNvPr id="5" name="Text 2"/>
          <p:cNvSpPr txBox="1"/>
          <p:nvPr/>
        </p:nvSpPr>
        <p:spPr>
          <a:xfrm>
            <a:off x="548640" y="1691640"/>
            <a:ext cx="4023360" cy="457200"/>
          </a:xfrm>
          <a:prstGeom prst="rect">
            <a:avLst/>
          </a:prstGeom>
          <a:noFill/>
          <a:ln/>
        </p:spPr>
        <p:txBody>
          <a:bodyPr wrap="square" lIns="0" tIns="0" rIns="0" bIns="0" rtlCol="0" anchor="t"/>
          <a:lstStyle/>
          <a:p>
            <a:pPr algn="l" indent="0" marL="0">
              <a:buNone/>
            </a:pPr>
            <a:r>
              <a:rPr lang="en-US" sz="1200" b="1" dirty="0">
                <a:solidFill>
                  <a:schemeClr val="tx2"/>
                </a:solidFill>
              </a:rPr>
              <a:t>Kecocokan model penjelas (R² di data yang tidak dipakai melatih)</a:t>
            </a:r>
            <a:endParaRPr lang="en-US" sz="1200" dirty="0"/>
          </a:p>
        </p:txBody>
      </p:sp>
      <p:graphicFrame>
        <p:nvGraphicFramePr>
          <p:cNvPr id="19" name="tabel R2"/>
          <p:cNvGraphicFramePr>
            <a:graphicFrameLocks noGrp="1"/>
          </p:cNvGraphicFramePr>
          <p:nvPr>
            <p:extLst>
              <p:ext uri="{D42A27DB-BD31-4B8C-83A1-F6EECF244321}">
                <p14:modId xmlns:p14="http://schemas.microsoft.com/office/powerpoint/2010/main" val="1579011935"/>
              </p:ext>
            </p:extLst>
          </p:nvPr>
        </p:nvGraphicFramePr>
        <p:xfrm>
          <a:off x="548640" y="2176272"/>
          <a:ext cx="4023360" cy="914400"/>
        </p:xfrm>
        <a:graphic>
          <a:graphicData uri="http://schemas.openxmlformats.org/drawingml/2006/table">
            <a:tbl>
              <a:tblPr/>
              <a:tblGrid>
                <a:gridCol w="2926080"/>
                <a:gridCol w="1097280"/>
              </a:tblGrid>
              <a:tr h="292608">
                <a:tc>
                  <a:txBody>
                    <a:bodyPr/>
                    <a:lstStyle/>
                    <a:p>
                      <a:pPr algn="l" indent="0" marL="0">
                        <a:buNone/>
                      </a:pPr>
                      <a:r>
                        <a:rPr lang="en-US" sz="1100" b="1" dirty="0">
                          <a:solidFill>
                            <a:srgbClr val="FFFFFF"/>
                          </a:solidFill>
                        </a:rPr>
                        <a:t>Model penjelas</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100" b="1" dirty="0">
                          <a:solidFill>
                            <a:srgbClr val="FFFFFF"/>
                          </a:solidFill>
                        </a:rPr>
                        <a:t>R²</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292608">
                <a:tc>
                  <a:txBody>
                    <a:bodyPr/>
                    <a:lstStyle/>
                    <a:p>
                      <a:pPr algn="l" indent="0" marL="0">
                        <a:buNone/>
                      </a:pPr>
                      <a:r>
                        <a:rPr lang="en-US" sz="1200" dirty="0">
                          <a:solidFill>
                            <a:srgbClr val="1F2933"/>
                          </a:solidFill>
                        </a:rPr>
                        <a:t>log EUI</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0,563</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92608">
                <a:tc>
                  <a:txBody>
                    <a:bodyPr/>
                    <a:lstStyle/>
                    <a:p>
                      <a:pPr algn="l" indent="0" marL="0">
                        <a:buNone/>
                      </a:pPr>
                      <a:r>
                        <a:rPr lang="en-US" sz="1200" dirty="0">
                          <a:solidFill>
                            <a:srgbClr val="1F2933"/>
                          </a:solidFill>
                        </a:rPr>
                        <a:t>log gas per meter</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dirty="0">
                          <a:solidFill>
                            <a:srgbClr val="1F2933"/>
                          </a:solidFill>
                        </a:rPr>
                        <a:t>0,747</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292608">
                <a:tc>
                  <a:txBody>
                    <a:bodyPr/>
                    <a:lstStyle/>
                    <a:p>
                      <a:pPr algn="l" indent="0" marL="0">
                        <a:buNone/>
                      </a:pPr>
                      <a:r>
                        <a:rPr lang="en-US" sz="1200" dirty="0">
                          <a:solidFill>
                            <a:srgbClr val="1F2933"/>
                          </a:solidFill>
                        </a:rPr>
                        <a:t>log listrik per meter</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0,491</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92608">
                <a:tc>
                  <a:txBody>
                    <a:bodyPr/>
                    <a:lstStyle/>
                    <a:p>
                      <a:pPr algn="l" indent="0" marL="0">
                        <a:buNone/>
                      </a:pPr>
                      <a:r>
                        <a:rPr lang="en-US" sz="1200" dirty="0">
                          <a:solidFill>
                            <a:srgbClr val="1F2933"/>
                          </a:solidFill>
                        </a:rPr>
                        <a:t>adopsi</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dirty="0">
                          <a:solidFill>
                            <a:srgbClr val="1F2933"/>
                          </a:solidFill>
                        </a:rPr>
                        <a:t>0,991</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7" name="Text 3"/>
          <p:cNvSpPr txBox="1"/>
          <p:nvPr/>
        </p:nvSpPr>
        <p:spPr>
          <a:xfrm>
            <a:off x="4846320" y="1691640"/>
            <a:ext cx="6793992" cy="457200"/>
          </a:xfrm>
          <a:prstGeom prst="rect">
            <a:avLst/>
          </a:prstGeom>
          <a:noFill/>
          <a:ln/>
        </p:spPr>
        <p:txBody>
          <a:bodyPr wrap="square" lIns="0" tIns="0" rIns="0" bIns="0" rtlCol="0" anchor="t"/>
          <a:lstStyle/>
          <a:p>
            <a:pPr algn="l" indent="0" marL="0">
              <a:buNone/>
            </a:pPr>
            <a:r>
              <a:rPr lang="en-US" sz="1200" b="1" dirty="0">
                <a:solidFill>
                  <a:schemeClr val="tx2"/>
                </a:solidFill>
              </a:rPr>
              <a:t>Porsi kontribusi per kelompok fitur (</a:t>
            </a:r>
            <a:pPr algn="l" indent="0" marL="0">
              <a:buNone/>
            </a:pPr>
            <a:r>
              <a:rPr lang="en-US" sz="1200" b="1" i="1" dirty="0">
                <a:solidFill>
                  <a:schemeClr val="tx2"/>
                </a:solidFill>
              </a:rPr>
              <a:t>writeup</a:t>
            </a:r>
            <a:pPr algn="l" indent="0" marL="0">
              <a:buNone/>
            </a:pPr>
            <a:r>
              <a:rPr lang="en-US" sz="1200" b="1" dirty="0">
                <a:solidFill>
                  <a:schemeClr val="tx2"/>
                </a:solidFill>
              </a:rPr>
              <a:t> B Tabel 3)</a:t>
            </a:r>
            <a:endParaRPr lang="en-US" sz="1200" dirty="0"/>
          </a:p>
        </p:txBody>
      </p:sp>
      <p:graphicFrame>
        <p:nvGraphicFramePr>
          <p:cNvPr id="37" name="tabel porsi kelompok"/>
          <p:cNvGraphicFramePr>
            <a:graphicFrameLocks noGrp="1"/>
          </p:cNvGraphicFramePr>
          <p:nvPr>
            <p:extLst>
              <p:ext uri="{D42A27DB-BD31-4B8C-83A1-F6EECF244321}">
                <p14:modId xmlns:p14="http://schemas.microsoft.com/office/powerpoint/2010/main" val="1579011935"/>
              </p:ext>
            </p:extLst>
          </p:nvPr>
        </p:nvGraphicFramePr>
        <p:xfrm>
          <a:off x="4846320" y="2176272"/>
          <a:ext cx="6793992" cy="914400"/>
        </p:xfrm>
        <a:graphic>
          <a:graphicData uri="http://schemas.openxmlformats.org/drawingml/2006/table">
            <a:tbl>
              <a:tblPr/>
              <a:tblGrid>
                <a:gridCol w="1307592"/>
                <a:gridCol w="1188720"/>
                <a:gridCol w="868680"/>
                <a:gridCol w="914400"/>
                <a:gridCol w="914400"/>
                <a:gridCol w="594360"/>
                <a:gridCol w="1005840"/>
              </a:tblGrid>
              <a:tr h="420624">
                <a:tc>
                  <a:txBody>
                    <a:bodyPr/>
                    <a:lstStyle/>
                    <a:p>
                      <a:pPr algn="l" indent="0" marL="0">
                        <a:buNone/>
                      </a:pPr>
                      <a:r>
                        <a:rPr lang="en-US" sz="1100" b="1" dirty="0">
                          <a:solidFill>
                            <a:srgbClr val="FFFFFF"/>
                          </a:solidFill>
                        </a:rPr>
                        <a:t>Target</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100" b="1" dirty="0">
                          <a:solidFill>
                            <a:srgbClr val="FFFFFF"/>
                          </a:solidFill>
                        </a:rPr>
                        <a:t>Sosiodemografi</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100" b="1" dirty="0">
                          <a:solidFill>
                            <a:srgbClr val="FFFFFF"/>
                          </a:solidFill>
                        </a:rPr>
                        <a:t>Rasio fisik</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100" b="1" dirty="0">
                          <a:solidFill>
                            <a:srgbClr val="FFFFFF"/>
                          </a:solidFill>
                        </a:rPr>
                        <a:t>Periode bangunan</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100" b="1" dirty="0">
                          <a:solidFill>
                            <a:srgbClr val="FFFFFF"/>
                          </a:solidFill>
                        </a:rPr>
                        <a:t>Dimensi bangunan</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100" b="1" dirty="0">
                          <a:solidFill>
                            <a:srgbClr val="FFFFFF"/>
                          </a:solidFill>
                        </a:rPr>
                        <a:t>Iklim</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100" b="1" dirty="0">
                          <a:solidFill>
                            <a:srgbClr val="FFFFFF"/>
                          </a:solidFill>
                        </a:rPr>
                        <a:t>Komposisi pemanas</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292608">
                <a:tc>
                  <a:txBody>
                    <a:bodyPr/>
                    <a:lstStyle/>
                    <a:p>
                      <a:pPr algn="l" indent="0" marL="0">
                        <a:buNone/>
                      </a:pPr>
                      <a:r>
                        <a:rPr lang="en-US" sz="1200" dirty="0">
                          <a:solidFill>
                            <a:srgbClr val="1F2933"/>
                          </a:solidFill>
                        </a:rPr>
                        <a:t>EUI</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30%</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25%</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11%</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11%</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9%</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3%</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92608">
                <a:tc>
                  <a:txBody>
                    <a:bodyPr/>
                    <a:lstStyle/>
                    <a:p>
                      <a:pPr algn="l" indent="0" marL="0">
                        <a:buNone/>
                      </a:pPr>
                      <a:r>
                        <a:rPr lang="en-US" sz="1200" dirty="0">
                          <a:solidFill>
                            <a:srgbClr val="1F2933"/>
                          </a:solidFill>
                        </a:rPr>
                        <a:t>Gas per meter</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dirty="0">
                          <a:solidFill>
                            <a:srgbClr val="1F2933"/>
                          </a:solidFill>
                        </a:rPr>
                        <a:t>28%</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dirty="0">
                          <a:solidFill>
                            <a:srgbClr val="1F2933"/>
                          </a:solidFill>
                        </a:rPr>
                        <a:t>30%</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dirty="0">
                          <a:solidFill>
                            <a:srgbClr val="1F2933"/>
                          </a:solidFill>
                        </a:rPr>
                        <a:t>11%</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dirty="0">
                          <a:solidFill>
                            <a:srgbClr val="1F2933"/>
                          </a:solidFill>
                        </a:rPr>
                        <a:t>11%</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dirty="0">
                          <a:solidFill>
                            <a:srgbClr val="1F2933"/>
                          </a:solidFill>
                        </a:rPr>
                        <a:t>8%</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dirty="0">
                          <a:solidFill>
                            <a:srgbClr val="1F2933"/>
                          </a:solidFill>
                        </a:rPr>
                        <a:t>3%</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292608">
                <a:tc>
                  <a:txBody>
                    <a:bodyPr/>
                    <a:lstStyle/>
                    <a:p>
                      <a:pPr algn="l" indent="0" marL="0">
                        <a:buNone/>
                      </a:pPr>
                      <a:r>
                        <a:rPr lang="en-US" sz="1200" dirty="0">
                          <a:solidFill>
                            <a:srgbClr val="1F2933"/>
                          </a:solidFill>
                        </a:rPr>
                        <a:t>Listrik per meter</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40%</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26%</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5%</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11%</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4%</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5%</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92608">
                <a:tc>
                  <a:txBody>
                    <a:bodyPr/>
                    <a:lstStyle/>
                    <a:p>
                      <a:pPr algn="l" indent="0" marL="0">
                        <a:buNone/>
                      </a:pPr>
                      <a:r>
                        <a:rPr lang="en-US" sz="1200" b="1" dirty="0">
                          <a:solidFill>
                            <a:srgbClr val="5B4A86"/>
                          </a:solidFill>
                        </a:rPr>
                        <a:t>Adopsi</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b="1" dirty="0">
                          <a:solidFill>
                            <a:srgbClr val="5B4A86"/>
                          </a:solidFill>
                        </a:rPr>
                        <a:t>15%</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b="1" dirty="0">
                          <a:solidFill>
                            <a:srgbClr val="5B4A86"/>
                          </a:solidFill>
                        </a:rPr>
                        <a:t>0%</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b="1" dirty="0">
                          <a:solidFill>
                            <a:srgbClr val="5B4A86"/>
                          </a:solidFill>
                        </a:rPr>
                        <a:t>0%</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b="1" dirty="0">
                          <a:solidFill>
                            <a:srgbClr val="5B4A86"/>
                          </a:solidFill>
                        </a:rPr>
                        <a:t>0%</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b="1" dirty="0">
                          <a:solidFill>
                            <a:srgbClr val="5B4A86"/>
                          </a:solidFill>
                        </a:rPr>
                        <a:t>1%</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200" b="1" dirty="0">
                          <a:solidFill>
                            <a:srgbClr val="5B4A86"/>
                          </a:solidFill>
                        </a:rPr>
                        <a:t>81%</a:t>
                      </a:r>
                      <a:endParaRPr lang="en-US" sz="12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9" name="Text 4"/>
          <p:cNvSpPr txBox="1"/>
          <p:nvPr/>
        </p:nvSpPr>
        <p:spPr>
          <a:xfrm>
            <a:off x="548640" y="4041648"/>
            <a:ext cx="3657600" cy="274320"/>
          </a:xfrm>
          <a:prstGeom prst="rect">
            <a:avLst/>
          </a:prstGeom>
          <a:noFill/>
          <a:ln/>
        </p:spPr>
        <p:txBody>
          <a:bodyPr wrap="square" lIns="0" tIns="0" rIns="0" bIns="0" rtlCol="0" anchor="t"/>
          <a:lstStyle/>
          <a:p>
            <a:pPr algn="l" indent="0" marL="0">
              <a:buNone/>
            </a:pPr>
            <a:r>
              <a:rPr lang="en-US" sz="1200" b="1" dirty="0">
                <a:solidFill>
                  <a:schemeClr val="tx2"/>
                </a:solidFill>
              </a:rPr>
              <a:t>Kalimat aman</a:t>
            </a:r>
            <a:endParaRPr lang="en-US" sz="1200" dirty="0"/>
          </a:p>
        </p:txBody>
      </p:sp>
      <p:graphicFrame>
        <p:nvGraphicFramePr>
          <p:cNvPr id="55" name="tabel kalimat aman"/>
          <p:cNvGraphicFramePr>
            <a:graphicFrameLocks noGrp="1"/>
          </p:cNvGraphicFramePr>
          <p:nvPr>
            <p:extLst>
              <p:ext uri="{D42A27DB-BD31-4B8C-83A1-F6EECF244321}">
                <p14:modId xmlns:p14="http://schemas.microsoft.com/office/powerpoint/2010/main" val="1579011935"/>
              </p:ext>
            </p:extLst>
          </p:nvPr>
        </p:nvGraphicFramePr>
        <p:xfrm>
          <a:off x="548640" y="4334256"/>
          <a:ext cx="11094415" cy="914400"/>
        </p:xfrm>
        <a:graphic>
          <a:graphicData uri="http://schemas.openxmlformats.org/drawingml/2006/table">
            <a:tbl>
              <a:tblPr/>
              <a:tblGrid>
                <a:gridCol w="4206240"/>
                <a:gridCol w="6888175"/>
              </a:tblGrid>
              <a:tr h="310896">
                <a:tc>
                  <a:txBody>
                    <a:bodyPr/>
                    <a:lstStyle/>
                    <a:p>
                      <a:pPr algn="l" indent="0" marL="0">
                        <a:buNone/>
                      </a:pPr>
                      <a:r>
                        <a:rPr lang="en-US" sz="1200" b="1" dirty="0">
                          <a:solidFill>
                            <a:srgbClr val="FFFFFF"/>
                          </a:solidFill>
                        </a:rPr>
                        <a:t>Hindari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5B4A86"/>
                    </a:solidFill>
                  </a:tcPr>
                </a:tc>
                <a:tc>
                  <a:txBody>
                    <a:bodyPr/>
                    <a:lstStyle/>
                    <a:p>
                      <a:pPr algn="l" indent="0" marL="0">
                        <a:buNone/>
                      </a:pPr>
                      <a:r>
                        <a:rPr lang="en-US" sz="1200" b="1" dirty="0">
                          <a:solidFill>
                            <a:srgbClr val="FFFFFF"/>
                          </a:solidFill>
                        </a:rPr>
                        <a:t>Gunakan</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5B4A86"/>
                    </a:solidFill>
                  </a:tcPr>
                </a:tc>
              </a:tr>
              <a:tr h="310896">
                <a:tc>
                  <a:txBody>
                    <a:bodyPr/>
                    <a:lstStyle/>
                    <a:p>
                      <a:pPr algn="l" indent="0" marL="0">
                        <a:buNone/>
                      </a:pPr>
                      <a:r>
                        <a:rPr lang="en-US" sz="1300" dirty="0">
                          <a:solidFill>
                            <a:srgbClr val="1F2933"/>
                          </a:solidFill>
                        </a:rPr>
                        <a:t>"Rumah kecil menyebabkan konsumsi gas tinggi."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"Ukuran rumah yang kecil berkontribusi menaikkan prediksi gas per m² pada model penjelas."</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10896">
                <a:tc>
                  <a:txBody>
                    <a:bodyPr/>
                    <a:lstStyle/>
                    <a:p>
                      <a:pPr algn="l" indent="0" marL="0">
                        <a:buNone/>
                      </a:pPr>
                      <a:r>
                        <a:rPr lang="en-US" sz="1300" dirty="0">
                          <a:solidFill>
                            <a:srgbClr val="1F2933"/>
                          </a:solidFill>
                        </a:rPr>
                        <a:t>"Sambungan gas menghambat adopsi."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300" dirty="0">
                          <a:solidFill>
                            <a:srgbClr val="1F2933"/>
                          </a:solidFill>
                        </a:rPr>
                        <a:t>"Porsi gas jaringan yang tinggi berasosiasi dengan adopsi rendah; pola ini bersifat komposisi."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10896">
                <a:tc>
                  <a:txBody>
                    <a:bodyPr/>
                    <a:lstStyle/>
                    <a:p>
                      <a:pPr algn="l" indent="0" marL="0">
                        <a:buNone/>
                      </a:pPr>
                      <a:r>
                        <a:rPr lang="en-US" sz="1300" dirty="0">
                          <a:solidFill>
                            <a:srgbClr val="1F2933"/>
                          </a:solidFill>
                        </a:rPr>
                        <a:t>"</a:t>
                      </a:r>
                      <a:pPr algn="l" indent="0" marL="0">
                        <a:buNone/>
                      </a:pPr>
                      <a:r>
                        <a:rPr lang="en-US" sz="1300" i="1" dirty="0">
                          <a:solidFill>
                            <a:srgbClr val="1F2933"/>
                          </a:solidFill>
                        </a:rPr>
                        <a:t>Retrofit</a:t>
                      </a:r>
                      <a:pPr algn="l" indent="0" marL="0">
                        <a:buNone/>
                      </a:pPr>
                      <a:r>
                        <a:rPr lang="en-US" sz="1300" dirty="0">
                          <a:solidFill>
                            <a:srgbClr val="1F2933"/>
                          </a:solidFill>
                        </a:rPr>
                        <a:t> di Q1 menghemat 3,65 TWh."</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"Indikator potensi </a:t>
                      </a:r>
                      <a:pPr algn="l" indent="0" marL="0">
                        <a:buNone/>
                      </a:pPr>
                      <a:r>
                        <a:rPr lang="en-US" sz="1300" i="1" dirty="0">
                          <a:solidFill>
                            <a:srgbClr val="1F2933"/>
                          </a:solidFill>
                        </a:rPr>
                        <a:t>retrofit</a:t>
                      </a:r>
                      <a:pPr algn="l" indent="0" marL="0">
                        <a:buNone/>
                      </a:pPr>
                      <a:r>
                        <a:rPr lang="en-US" sz="1300" dirty="0">
                          <a:solidFill>
                            <a:srgbClr val="1F2933"/>
                          </a:solidFill>
                        </a:rPr>
                        <a:t> Q1 sebesar 3,65 TWh perlu diverifikasi dengan audit energi."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1" name="Text 5"/>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"Apakah SHAP membuktikan sebab-akibat?" · "Mengapa tidak membaca SHAP dari gabungan 41 model?" · "Mengapa R² adopsi 0,991?" · "Mengapa nilai 0,0895 muncul dua kali di sel 45?"</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C6</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Celah data dan rencana validasi lapangan</a:t>
            </a:r>
            <a:endParaRPr lang="en-US" sz="2600" dirty="0"/>
          </a:p>
        </p:txBody>
      </p:sp>
      <p:sp>
        <p:nvSpPr>
          <p:cNvPr id="5" name="Text 2"/>
          <p:cNvSpPr txBox="1"/>
          <p:nvPr/>
        </p:nvSpPr>
        <p:spPr>
          <a:xfrm>
            <a:off x="548640" y="1691640"/>
            <a:ext cx="2743200" cy="274320"/>
          </a:xfrm>
          <a:prstGeom prst="rect">
            <a:avLst/>
          </a:prstGeom>
          <a:noFill/>
          <a:ln/>
        </p:spPr>
        <p:txBody>
          <a:bodyPr wrap="square" lIns="0" tIns="0" rIns="0" bIns="0" rtlCol="0" anchor="t"/>
          <a:lstStyle/>
          <a:p>
            <a:pPr algn="l" indent="0" marL="0">
              <a:buNone/>
            </a:pPr>
            <a:r>
              <a:rPr lang="en-US" sz="1200" b="1" dirty="0">
                <a:solidFill>
                  <a:schemeClr val="tx2"/>
                </a:solidFill>
              </a:rPr>
              <a:t>Celah data</a:t>
            </a:r>
            <a:endParaRPr lang="en-US" sz="1200" dirty="0"/>
          </a:p>
        </p:txBody>
      </p:sp>
      <p:sp>
        <p:nvSpPr>
          <p:cNvPr id="6" name="celah beban puncak (kW)"/>
          <p:cNvSpPr/>
          <p:nvPr/>
        </p:nvSpPr>
        <p:spPr>
          <a:xfrm>
            <a:off x="548640" y="2020824"/>
            <a:ext cx="1587398" cy="347472"/>
          </a:xfrm>
          <a:prstGeom prst="roundRect">
            <a:avLst>
              <a:gd name="adj" fmla="val 50000"/>
            </a:avLst>
          </a:prstGeom>
          <a:solidFill>
            <a:schemeClr val="bg2"/>
          </a:solidFill>
          <a:ln w="9525">
            <a:solidFill>
              <a:schemeClr val="accent4"/>
            </a:solidFill>
            <a:prstDash val="solid"/>
          </a:ln>
        </p:spPr>
      </p:sp>
      <p:sp>
        <p:nvSpPr>
          <p:cNvPr id="7" name="Text 4"/>
          <p:cNvSpPr txBox="1"/>
          <p:nvPr/>
        </p:nvSpPr>
        <p:spPr>
          <a:xfrm>
            <a:off x="548640" y="2020824"/>
            <a:ext cx="1587398" cy="347472"/>
          </a:xfrm>
          <a:prstGeom prst="rect">
            <a:avLst/>
          </a:prstGeom>
          <a:noFill/>
          <a:ln/>
        </p:spPr>
        <p:txBody>
          <a:bodyPr wrap="square" lIns="0" tIns="0" rIns="0" bIns="0" rtlCol="0" anchor="ctr"/>
          <a:lstStyle/>
          <a:p>
            <a:pPr algn="ctr" indent="0" marL="0">
              <a:buNone/>
            </a:pPr>
            <a:r>
              <a:rPr lang="en-US" sz="1300" dirty="0">
                <a:solidFill>
                  <a:schemeClr val="tx1"/>
                </a:solidFill>
              </a:rPr>
              <a:t>beban puncak (kW)</a:t>
            </a:r>
            <a:endParaRPr lang="en-US" sz="1300" dirty="0"/>
          </a:p>
        </p:txBody>
      </p:sp>
      <p:sp>
        <p:nvSpPr>
          <p:cNvPr id="8" name="celah kapasitas gardu"/>
          <p:cNvSpPr/>
          <p:nvPr/>
        </p:nvSpPr>
        <p:spPr>
          <a:xfrm>
            <a:off x="2245766" y="2020824"/>
            <a:ext cx="1426464" cy="347472"/>
          </a:xfrm>
          <a:prstGeom prst="roundRect">
            <a:avLst>
              <a:gd name="adj" fmla="val 50000"/>
            </a:avLst>
          </a:prstGeom>
          <a:solidFill>
            <a:schemeClr val="bg2"/>
          </a:solidFill>
          <a:ln w="9525">
            <a:solidFill>
              <a:schemeClr val="accent4"/>
            </a:solidFill>
            <a:prstDash val="solid"/>
          </a:ln>
        </p:spPr>
      </p:sp>
      <p:sp>
        <p:nvSpPr>
          <p:cNvPr id="9" name="Text 6"/>
          <p:cNvSpPr txBox="1"/>
          <p:nvPr/>
        </p:nvSpPr>
        <p:spPr>
          <a:xfrm>
            <a:off x="2245766" y="2020824"/>
            <a:ext cx="1426464" cy="347472"/>
          </a:xfrm>
          <a:prstGeom prst="rect">
            <a:avLst/>
          </a:prstGeom>
          <a:noFill/>
          <a:ln/>
        </p:spPr>
        <p:txBody>
          <a:bodyPr wrap="square" lIns="0" tIns="0" rIns="0" bIns="0" rtlCol="0" anchor="ctr"/>
          <a:lstStyle/>
          <a:p>
            <a:pPr algn="ctr" indent="0" marL="0">
              <a:buNone/>
            </a:pPr>
            <a:r>
              <a:rPr lang="en-US" sz="1300" dirty="0">
                <a:solidFill>
                  <a:schemeClr val="tx1"/>
                </a:solidFill>
              </a:rPr>
              <a:t>kapasitas gardu</a:t>
            </a:r>
            <a:endParaRPr lang="en-US" sz="1300" dirty="0"/>
          </a:p>
        </p:txBody>
      </p:sp>
      <p:sp>
        <p:nvSpPr>
          <p:cNvPr id="10" name="celah COP lokal"/>
          <p:cNvSpPr/>
          <p:nvPr/>
        </p:nvSpPr>
        <p:spPr>
          <a:xfrm>
            <a:off x="3781958" y="2020824"/>
            <a:ext cx="943661" cy="347472"/>
          </a:xfrm>
          <a:prstGeom prst="roundRect">
            <a:avLst>
              <a:gd name="adj" fmla="val 50000"/>
            </a:avLst>
          </a:prstGeom>
          <a:solidFill>
            <a:schemeClr val="bg2"/>
          </a:solidFill>
          <a:ln w="9525">
            <a:solidFill>
              <a:schemeClr val="accent4"/>
            </a:solidFill>
            <a:prstDash val="solid"/>
          </a:ln>
        </p:spPr>
      </p:sp>
      <p:sp>
        <p:nvSpPr>
          <p:cNvPr id="11" name="Text 8"/>
          <p:cNvSpPr txBox="1"/>
          <p:nvPr/>
        </p:nvSpPr>
        <p:spPr>
          <a:xfrm>
            <a:off x="3781958" y="2020824"/>
            <a:ext cx="943661" cy="347472"/>
          </a:xfrm>
          <a:prstGeom prst="rect">
            <a:avLst/>
          </a:prstGeom>
          <a:noFill/>
          <a:ln/>
        </p:spPr>
        <p:txBody>
          <a:bodyPr wrap="square" lIns="0" tIns="0" rIns="0" bIns="0" rtlCol="0" anchor="ctr"/>
          <a:lstStyle/>
          <a:p>
            <a:pPr algn="ctr" indent="0" marL="0">
              <a:buNone/>
            </a:pPr>
            <a:r>
              <a:rPr lang="en-US" sz="1300" dirty="0">
                <a:solidFill>
                  <a:schemeClr val="tx1"/>
                </a:solidFill>
              </a:rPr>
              <a:t>COP lokal</a:t>
            </a:r>
            <a:endParaRPr lang="en-US" sz="1300" dirty="0"/>
          </a:p>
        </p:txBody>
      </p:sp>
      <p:sp>
        <p:nvSpPr>
          <p:cNvPr id="12" name="celah koordinat geografis"/>
          <p:cNvSpPr/>
          <p:nvPr/>
        </p:nvSpPr>
        <p:spPr>
          <a:xfrm>
            <a:off x="4835347" y="2020824"/>
            <a:ext cx="1748333" cy="347472"/>
          </a:xfrm>
          <a:prstGeom prst="roundRect">
            <a:avLst>
              <a:gd name="adj" fmla="val 50000"/>
            </a:avLst>
          </a:prstGeom>
          <a:solidFill>
            <a:schemeClr val="bg2"/>
          </a:solidFill>
          <a:ln w="9525">
            <a:solidFill>
              <a:schemeClr val="accent4"/>
            </a:solidFill>
            <a:prstDash val="solid"/>
          </a:ln>
        </p:spPr>
      </p:sp>
      <p:sp>
        <p:nvSpPr>
          <p:cNvPr id="13" name="Text 10"/>
          <p:cNvSpPr txBox="1"/>
          <p:nvPr/>
        </p:nvSpPr>
        <p:spPr>
          <a:xfrm>
            <a:off x="4835347" y="2020824"/>
            <a:ext cx="1748333" cy="347472"/>
          </a:xfrm>
          <a:prstGeom prst="rect">
            <a:avLst/>
          </a:prstGeom>
          <a:noFill/>
          <a:ln/>
        </p:spPr>
        <p:txBody>
          <a:bodyPr wrap="square" lIns="0" tIns="0" rIns="0" bIns="0" rtlCol="0" anchor="ctr"/>
          <a:lstStyle/>
          <a:p>
            <a:pPr algn="ctr" indent="0" marL="0">
              <a:buNone/>
            </a:pPr>
            <a:r>
              <a:rPr lang="en-US" sz="1300" dirty="0">
                <a:solidFill>
                  <a:schemeClr val="tx1"/>
                </a:solidFill>
              </a:rPr>
              <a:t>koordinat geografis</a:t>
            </a:r>
            <a:endParaRPr lang="en-US" sz="1300" dirty="0"/>
          </a:p>
        </p:txBody>
      </p:sp>
      <p:sp>
        <p:nvSpPr>
          <p:cNvPr id="14" name="celah biaya retrofit"/>
          <p:cNvSpPr/>
          <p:nvPr/>
        </p:nvSpPr>
        <p:spPr>
          <a:xfrm>
            <a:off x="6693408" y="2020824"/>
            <a:ext cx="1345997" cy="347472"/>
          </a:xfrm>
          <a:prstGeom prst="roundRect">
            <a:avLst>
              <a:gd name="adj" fmla="val 50000"/>
            </a:avLst>
          </a:prstGeom>
          <a:solidFill>
            <a:schemeClr val="bg2"/>
          </a:solidFill>
          <a:ln w="9525">
            <a:solidFill>
              <a:schemeClr val="accent4"/>
            </a:solidFill>
            <a:prstDash val="solid"/>
          </a:ln>
        </p:spPr>
      </p:sp>
      <p:sp>
        <p:nvSpPr>
          <p:cNvPr id="15" name="Text 12"/>
          <p:cNvSpPr txBox="1"/>
          <p:nvPr/>
        </p:nvSpPr>
        <p:spPr>
          <a:xfrm>
            <a:off x="6693408" y="2020824"/>
            <a:ext cx="1345997" cy="347472"/>
          </a:xfrm>
          <a:prstGeom prst="rect">
            <a:avLst/>
          </a:prstGeom>
          <a:noFill/>
          <a:ln/>
        </p:spPr>
        <p:txBody>
          <a:bodyPr wrap="square" lIns="0" tIns="0" rIns="0" bIns="0" rtlCol="0" anchor="ctr"/>
          <a:lstStyle/>
          <a:p>
            <a:pPr algn="ctr" indent="0" marL="0">
              <a:buNone/>
            </a:pPr>
            <a:r>
              <a:rPr lang="en-US" sz="1300" dirty="0">
                <a:solidFill>
                  <a:schemeClr val="tx1"/>
                </a:solidFill>
              </a:rPr>
              <a:t>biaya </a:t>
            </a:r>
            <a:pPr algn="ctr" indent="0" marL="0">
              <a:buNone/>
            </a:pPr>
            <a:r>
              <a:rPr lang="en-US" sz="1300" i="1" dirty="0">
                <a:solidFill>
                  <a:schemeClr val="tx1"/>
                </a:solidFill>
              </a:rPr>
              <a:t>retrofit</a:t>
            </a:r>
            <a:endParaRPr lang="en-US" sz="1300" dirty="0"/>
          </a:p>
        </p:txBody>
      </p:sp>
      <p:sp>
        <p:nvSpPr>
          <p:cNvPr id="16" name="celah tarif"/>
          <p:cNvSpPr/>
          <p:nvPr/>
        </p:nvSpPr>
        <p:spPr>
          <a:xfrm>
            <a:off x="8149133" y="2020824"/>
            <a:ext cx="621792" cy="347472"/>
          </a:xfrm>
          <a:prstGeom prst="roundRect">
            <a:avLst>
              <a:gd name="adj" fmla="val 50000"/>
            </a:avLst>
          </a:prstGeom>
          <a:solidFill>
            <a:schemeClr val="bg2"/>
          </a:solidFill>
          <a:ln w="9525">
            <a:solidFill>
              <a:schemeClr val="accent4"/>
            </a:solidFill>
            <a:prstDash val="solid"/>
          </a:ln>
        </p:spPr>
      </p:sp>
      <p:sp>
        <p:nvSpPr>
          <p:cNvPr id="17" name="Text 14"/>
          <p:cNvSpPr txBox="1"/>
          <p:nvPr/>
        </p:nvSpPr>
        <p:spPr>
          <a:xfrm>
            <a:off x="8149133" y="2020824"/>
            <a:ext cx="621792" cy="347472"/>
          </a:xfrm>
          <a:prstGeom prst="rect">
            <a:avLst/>
          </a:prstGeom>
          <a:noFill/>
          <a:ln/>
        </p:spPr>
        <p:txBody>
          <a:bodyPr wrap="square" lIns="0" tIns="0" rIns="0" bIns="0" rtlCol="0" anchor="ctr"/>
          <a:lstStyle/>
          <a:p>
            <a:pPr algn="ctr" indent="0" marL="0">
              <a:buNone/>
            </a:pPr>
            <a:r>
              <a:rPr lang="en-US" sz="1300" dirty="0">
                <a:solidFill>
                  <a:schemeClr val="tx1"/>
                </a:solidFill>
              </a:rPr>
              <a:t>tarif</a:t>
            </a:r>
            <a:endParaRPr lang="en-US" sz="1300" dirty="0"/>
          </a:p>
        </p:txBody>
      </p:sp>
      <p:sp>
        <p:nvSpPr>
          <p:cNvPr id="18" name="celah intensitas karbon listrik"/>
          <p:cNvSpPr/>
          <p:nvPr/>
        </p:nvSpPr>
        <p:spPr>
          <a:xfrm>
            <a:off x="8880653" y="2020824"/>
            <a:ext cx="2231136" cy="347472"/>
          </a:xfrm>
          <a:prstGeom prst="roundRect">
            <a:avLst>
              <a:gd name="adj" fmla="val 50000"/>
            </a:avLst>
          </a:prstGeom>
          <a:solidFill>
            <a:schemeClr val="bg2"/>
          </a:solidFill>
          <a:ln w="9525">
            <a:solidFill>
              <a:schemeClr val="accent4"/>
            </a:solidFill>
            <a:prstDash val="solid"/>
          </a:ln>
        </p:spPr>
      </p:sp>
      <p:sp>
        <p:nvSpPr>
          <p:cNvPr id="19" name="Text 16"/>
          <p:cNvSpPr txBox="1"/>
          <p:nvPr/>
        </p:nvSpPr>
        <p:spPr>
          <a:xfrm>
            <a:off x="8880653" y="2020824"/>
            <a:ext cx="2231136" cy="347472"/>
          </a:xfrm>
          <a:prstGeom prst="rect">
            <a:avLst/>
          </a:prstGeom>
          <a:noFill/>
          <a:ln/>
        </p:spPr>
        <p:txBody>
          <a:bodyPr wrap="square" lIns="0" tIns="0" rIns="0" bIns="0" rtlCol="0" anchor="ctr"/>
          <a:lstStyle/>
          <a:p>
            <a:pPr algn="ctr" indent="0" marL="0">
              <a:buNone/>
            </a:pPr>
            <a:r>
              <a:rPr lang="en-US" sz="1300" dirty="0">
                <a:solidFill>
                  <a:schemeClr val="tx1"/>
                </a:solidFill>
              </a:rPr>
              <a:t>intensitas karbon listrik</a:t>
            </a:r>
            <a:endParaRPr lang="en-US" sz="1300" dirty="0"/>
          </a:p>
        </p:txBody>
      </p:sp>
      <p:sp>
        <p:nvSpPr>
          <p:cNvPr id="20" name="Text 17"/>
          <p:cNvSpPr txBox="1"/>
          <p:nvPr/>
        </p:nvSpPr>
        <p:spPr>
          <a:xfrm>
            <a:off x="548640" y="2441448"/>
            <a:ext cx="11094415" cy="274320"/>
          </a:xfrm>
          <a:prstGeom prst="rect">
            <a:avLst/>
          </a:prstGeom>
          <a:noFill/>
          <a:ln/>
        </p:spPr>
        <p:txBody>
          <a:bodyPr wrap="square" lIns="0" tIns="0" rIns="0" bIns="0" rtlCol="0" anchor="t"/>
          <a:lstStyle/>
          <a:p>
            <a:pPr algn="l" indent="0" marL="0">
              <a:buNone/>
            </a:pPr>
            <a:r>
              <a:rPr lang="en-US" sz="1300" dirty="0">
                <a:solidFill>
                  <a:schemeClr val="accent5"/>
                </a:solidFill>
              </a:rPr>
              <a:t>Makna kolom yang disamarkan berupa dugaan; ambang kuadran berupa median.</a:t>
            </a:r>
            <a:endParaRPr lang="en-US" sz="1300" dirty="0"/>
          </a:p>
        </p:txBody>
      </p:sp>
      <p:sp>
        <p:nvSpPr>
          <p:cNvPr id="21" name="Text 18"/>
          <p:cNvSpPr txBox="1"/>
          <p:nvPr/>
        </p:nvSpPr>
        <p:spPr>
          <a:xfrm>
            <a:off x="548640" y="2852928"/>
            <a:ext cx="2743200" cy="274320"/>
          </a:xfrm>
          <a:prstGeom prst="rect">
            <a:avLst/>
          </a:prstGeom>
          <a:noFill/>
          <a:ln/>
        </p:spPr>
        <p:txBody>
          <a:bodyPr wrap="square" lIns="0" tIns="0" rIns="0" bIns="0" rtlCol="0" anchor="t"/>
          <a:lstStyle/>
          <a:p>
            <a:pPr algn="l" indent="0" marL="0">
              <a:buNone/>
            </a:pPr>
            <a:r>
              <a:rPr lang="en-US" sz="1200" b="1" dirty="0">
                <a:solidFill>
                  <a:schemeClr val="tx2"/>
                </a:solidFill>
              </a:rPr>
              <a:t>Rencana validasi</a:t>
            </a:r>
            <a:endParaRPr lang="en-US" sz="1200" dirty="0"/>
          </a:p>
        </p:txBody>
      </p:sp>
      <p:graphicFrame>
        <p:nvGraphicFramePr>
          <p:cNvPr id="20" name="tabel rencana validasi"/>
          <p:cNvGraphicFramePr>
            <a:graphicFrameLocks noGrp="1"/>
          </p:cNvGraphicFramePr>
          <p:nvPr>
            <p:extLst>
              <p:ext uri="{D42A27DB-BD31-4B8C-83A1-F6EECF244321}">
                <p14:modId xmlns:p14="http://schemas.microsoft.com/office/powerpoint/2010/main" val="1579011935"/>
              </p:ext>
            </p:extLst>
          </p:nvPr>
        </p:nvGraphicFramePr>
        <p:xfrm>
          <a:off x="548640" y="3145536"/>
          <a:ext cx="11094415" cy="914400"/>
        </p:xfrm>
        <a:graphic>
          <a:graphicData uri="http://schemas.openxmlformats.org/drawingml/2006/table">
            <a:tbl>
              <a:tblPr/>
              <a:tblGrid>
                <a:gridCol w="1600200"/>
                <a:gridCol w="2240280"/>
                <a:gridCol w="3749040"/>
                <a:gridCol w="3504895"/>
              </a:tblGrid>
              <a:tr h="329184">
                <a:tc>
                  <a:txBody>
                    <a:bodyPr/>
                    <a:lstStyle/>
                    <a:p>
                      <a:pPr algn="l" indent="0" marL="0">
                        <a:buNone/>
                      </a:pPr>
                      <a:r>
                        <a:rPr lang="en-US" sz="1200" b="1" dirty="0">
                          <a:solidFill>
                            <a:srgbClr val="FFFFFF"/>
                          </a:solidFill>
                        </a:rPr>
                        <a:t>Rekomendasi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200" b="1" dirty="0">
                          <a:solidFill>
                            <a:srgbClr val="FFFFFF"/>
                          </a:solidFill>
                        </a:rPr>
                        <a:t>Pelaksana</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200" b="1" dirty="0">
                          <a:solidFill>
                            <a:srgbClr val="FFFFFF"/>
                          </a:solidFill>
                        </a:rPr>
                        <a:t>Validasi sebelum perluasan</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200" b="1" dirty="0">
                          <a:solidFill>
                            <a:srgbClr val="FFFFFF"/>
                          </a:solidFill>
                        </a:rPr>
                        <a:t>Ukuran keberhasilan</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512064">
                <a:tc>
                  <a:txBody>
                    <a:bodyPr/>
                    <a:lstStyle/>
                    <a:p>
                      <a:pPr algn="l" indent="0" marL="0">
                        <a:buNone/>
                      </a:pPr>
                      <a:r>
                        <a:rPr lang="en-US" sz="1300" dirty="0">
                          <a:solidFill>
                            <a:srgbClr val="1F2933"/>
                          </a:solidFill>
                        </a:rPr>
                        <a:t>R1 </a:t>
                      </a:r>
                      <a:pPr algn="l" indent="0" marL="0">
                        <a:buNone/>
                      </a:pPr>
                      <a:r>
                        <a:rPr lang="en-US" sz="1300" i="1" dirty="0">
                          <a:solidFill>
                            <a:srgbClr val="1F2933"/>
                          </a:solidFill>
                        </a:rPr>
                        <a:t>retrofit</a:t>
                      </a:r>
                      <a:pPr algn="l" indent="0" marL="0">
                        <a:buNone/>
                      </a:pPr>
                      <a:r>
                        <a:rPr lang="en-US" sz="1300" dirty="0">
                          <a:solidFill>
                            <a:srgbClr val="1F2933"/>
                          </a:solidFill>
                        </a:rPr>
                        <a:t> Q1</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pemerintah kota dan penyedia jasa </a:t>
                      </a:r>
                      <a:pPr algn="l" indent="0" marL="0">
                        <a:buNone/>
                      </a:pPr>
                      <a:r>
                        <a:rPr lang="en-US" sz="1300" i="1" dirty="0">
                          <a:solidFill>
                            <a:srgbClr val="1F2933"/>
                          </a:solidFill>
                        </a:rPr>
                        <a:t>retrofit</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audit energi di REG_273, REG_270, REG_045</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gas per m² peserta turun dibandingkan dengan zona pembanding</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713232">
                <a:tc>
                  <a:txBody>
                    <a:bodyPr/>
                    <a:lstStyle/>
                    <a:p>
                      <a:pPr algn="l" indent="0" marL="0">
                        <a:buNone/>
                      </a:pPr>
                      <a:r>
                        <a:rPr lang="en-US" sz="1300" dirty="0">
                          <a:solidFill>
                            <a:srgbClr val="1F2933"/>
                          </a:solidFill>
                        </a:rPr>
                        <a:t>R2 penilaian gardu</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300" dirty="0">
                          <a:solidFill>
                            <a:srgbClr val="1F2933"/>
                          </a:solidFill>
                        </a:rPr>
                        <a:t>operator jaringan distribusi</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300" dirty="0">
                          <a:solidFill>
                            <a:srgbClr val="1F2933"/>
                          </a:solidFill>
                        </a:rPr>
                        <a:t>beban puncak dan kapasitas gardu di REG_263, REG_270, REG_045, lalu zona lain di daftar skrining</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300" dirty="0">
                          <a:solidFill>
                            <a:srgbClr val="1F2933"/>
                          </a:solidFill>
                        </a:rPr>
                        <a:t>tidak ada gardu melampaui kapasitas setelah setiap tahap subsidi, yang dibuka bertahap dengan tarif berbasis waktu pemakaian</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12064">
                <a:tc>
                  <a:txBody>
                    <a:bodyPr/>
                    <a:lstStyle/>
                    <a:p>
                      <a:pPr algn="l" indent="0" marL="0">
                        <a:buNone/>
                      </a:pPr>
                      <a:r>
                        <a:rPr lang="en-US" sz="1300" dirty="0">
                          <a:solidFill>
                            <a:srgbClr val="1F2933"/>
                          </a:solidFill>
                        </a:rPr>
                        <a:t>R3 pilot pompa panas</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pemerintah kota dan penyedia pompa panas</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cek gardu lokal; pilot bergiliran dan audit energi di zona yang tetap Q2 (contoh REG_033)</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rPr>
                        <a:t>adopsi zona peserta naik dibandingkan dengan zona pembanding</a:t>
                      </a:r>
                      <a:endParaRPr lang="en-US" sz="13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3" name="Text 19"/>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"Data apa yang masih dibutuhkan sebelum eksekusi?" · "Siapa yang menjalankan setiap rekomendasi?" · "Bagaimana memvalidasinya di lapangan?"</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C7</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Validasi acak per baris meniru data uji,</a:t>
            </a:r>
            <a:br/>
            <a:pPr algn="l" indent="0" marL="0">
              <a:buNone/>
            </a:pPr>
            <a:r>
              <a:rPr lang="en-US" sz="2600" b="1" dirty="0">
                <a:solidFill>
                  <a:schemeClr val="tx2"/>
                </a:solidFill>
              </a:rPr>
              <a:t>sedangkan validasi per zona akan membuang fitur yang berguna</a:t>
            </a:r>
            <a:endParaRPr lang="en-US" sz="2600" dirty="0"/>
          </a:p>
        </p:txBody>
      </p:sp>
      <p:sp>
        <p:nvSpPr>
          <p:cNvPr id="5" name="Text 2"/>
          <p:cNvSpPr txBox="1"/>
          <p:nvPr/>
        </p:nvSpPr>
        <p:spPr>
          <a:xfrm>
            <a:off x="548640" y="1691640"/>
            <a:ext cx="6400800" cy="274320"/>
          </a:xfrm>
          <a:prstGeom prst="rect">
            <a:avLst/>
          </a:prstGeom>
          <a:noFill/>
          <a:ln/>
        </p:spPr>
        <p:txBody>
          <a:bodyPr wrap="square" lIns="0" tIns="0" rIns="0" bIns="0" rtlCol="0" anchor="t"/>
          <a:lstStyle/>
          <a:p>
            <a:pPr algn="l" indent="0" marL="0">
              <a:buNone/>
            </a:pPr>
            <a:r>
              <a:rPr lang="en-US" sz="1200" b="1" i="1" dirty="0">
                <a:solidFill>
                  <a:schemeClr val="tx2"/>
                </a:solidFill>
              </a:rPr>
              <a:t>Writeup</a:t>
            </a:r>
            <a:pPr algn="l" indent="0" marL="0">
              <a:buNone/>
            </a:pPr>
            <a:r>
              <a:rPr lang="en-US" sz="1200" b="1" dirty="0">
                <a:solidFill>
                  <a:schemeClr val="tx2"/>
                </a:solidFill>
              </a:rPr>
              <a:t> B Tabel 1: LightGBM, RMSE/σ</a:t>
            </a:r>
            <a:endParaRPr lang="en-US" sz="1200" dirty="0"/>
          </a:p>
        </p:txBody>
      </p:sp>
      <p:graphicFrame>
        <p:nvGraphicFramePr>
          <p:cNvPr id="21" name="tabel skema validasi"/>
          <p:cNvGraphicFramePr>
            <a:graphicFrameLocks noGrp="1"/>
          </p:cNvGraphicFramePr>
          <p:nvPr>
            <p:extLst>
              <p:ext uri="{D42A27DB-BD31-4B8C-83A1-F6EECF244321}">
                <p14:modId xmlns:p14="http://schemas.microsoft.com/office/powerpoint/2010/main" val="1579011935"/>
              </p:ext>
            </p:extLst>
          </p:nvPr>
        </p:nvGraphicFramePr>
        <p:xfrm>
          <a:off x="548640" y="1993392"/>
          <a:ext cx="6583680" cy="914400"/>
        </p:xfrm>
        <a:graphic>
          <a:graphicData uri="http://schemas.openxmlformats.org/drawingml/2006/table">
            <a:tbl>
              <a:tblPr/>
              <a:tblGrid>
                <a:gridCol w="1554480"/>
                <a:gridCol w="1600200"/>
                <a:gridCol w="1143000"/>
                <a:gridCol w="1143000"/>
                <a:gridCol w="1143000"/>
              </a:tblGrid>
              <a:tr h="502920">
                <a:tc>
                  <a:txBody>
                    <a:bodyPr/>
                    <a:lstStyle/>
                    <a:p>
                      <a:pPr algn="l" indent="0" marL="0">
                        <a:buNone/>
                      </a:pPr>
                      <a:r>
                        <a:rPr lang="en-US" sz="1500" b="1" dirty="0">
                          <a:solidFill>
                            <a:srgbClr val="FFFFFF"/>
                          </a:solidFill>
                        </a:rPr>
                        <a:t>Skema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500" b="1" dirty="0">
                          <a:solidFill>
                            <a:srgbClr val="FFFFFF"/>
                          </a:solidFill>
                        </a:rPr>
                        <a:t>Rata-rata wilayah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Gas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EUI</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Listrik</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502920">
                <a:tc>
                  <a:txBody>
                    <a:bodyPr/>
                    <a:lstStyle/>
                    <a:p>
                      <a:pPr algn="l" indent="0" marL="0">
                        <a:buNone/>
                      </a:pPr>
                      <a:r>
                        <a:rPr lang="en-US" sz="1600" dirty="0">
                          <a:solidFill>
                            <a:srgbClr val="1F2933"/>
                          </a:solidFill>
                        </a:rPr>
                        <a:t>acak per baris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3"/>
                          </a:solidFill>
                        </a:rPr>
                        <a:t>tanpa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0,2573</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0,6721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0,3262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algn="l" indent="0" marL="0">
                        <a:buNone/>
                      </a:pPr>
                      <a:r>
                        <a:rPr lang="en-US" sz="1600" dirty="0">
                          <a:solidFill>
                            <a:srgbClr val="1F2933"/>
                          </a:solidFill>
                        </a:rPr>
                        <a:t>acak per baris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600" dirty="0">
                          <a:solidFill>
                            <a:srgbClr val="1F2933"/>
                          </a:solidFill>
                        </a:rPr>
                        <a:t>dengan</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0,2562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0,6699</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0,3255</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02920">
                <a:tc>
                  <a:txBody>
                    <a:bodyPr/>
                    <a:lstStyle/>
                    <a:p>
                      <a:pPr algn="l" indent="0" marL="0">
                        <a:buNone/>
                      </a:pPr>
                      <a:r>
                        <a:rPr lang="en-US" sz="1600" dirty="0">
                          <a:solidFill>
                            <a:srgbClr val="1F2933"/>
                          </a:solidFill>
                        </a:rPr>
                        <a:t>per zona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3"/>
                          </a:solidFill>
                        </a:rPr>
                        <a:t>tanpa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0,2708</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0,6923</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0,3302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algn="l" indent="0" marL="0">
                        <a:buNone/>
                      </a:pPr>
                      <a:r>
                        <a:rPr lang="en-US" sz="1600" b="1" dirty="0">
                          <a:solidFill>
                            <a:srgbClr val="B83A3A"/>
                          </a:solidFill>
                        </a:rPr>
                        <a:t>per zona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600" b="1" dirty="0">
                          <a:solidFill>
                            <a:srgbClr val="B83A3A"/>
                          </a:solidFill>
                        </a:rPr>
                        <a:t>dengan</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b="1" dirty="0">
                          <a:solidFill>
                            <a:srgbClr val="B83A3A"/>
                          </a:solidFill>
                        </a:rPr>
                        <a:t>0,3637</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b="1" dirty="0">
                          <a:solidFill>
                            <a:srgbClr val="B83A3A"/>
                          </a:solidFill>
                        </a:rPr>
                        <a:t>0,8331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b="1" dirty="0">
                          <a:solidFill>
                            <a:srgbClr val="B83A3A"/>
                          </a:solidFill>
                        </a:rPr>
                        <a:t>0,3474</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7" name="Text 3"/>
          <p:cNvSpPr txBox="1"/>
          <p:nvPr/>
        </p:nvSpPr>
        <p:spPr>
          <a:xfrm>
            <a:off x="7498080" y="1691640"/>
            <a:ext cx="4142232" cy="393192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Pemisahan data: AUC adversarial 0,4997; kawasan uji di subzona baru 8,14% vs harapan 8,17%</a:t>
            </a:r>
            <a:endParaRPr lang="en-US" sz="1600" dirty="0"/>
          </a:p>
          <a:p>
            <a:pPr algn="l" marL="177800" indent="-177800">
              <a:spcAft>
                <a:spcPts val="1200"/>
              </a:spcAft>
              <a:buSzPct val="100000"/>
              <a:buChar char="•"/>
            </a:pPr>
            <a:r>
              <a:rPr lang="en-US" sz="1600" dirty="0">
                <a:solidFill>
                  <a:schemeClr val="tx1"/>
                </a:solidFill>
              </a:rPr>
              <a:t>Tidak </a:t>
            </a:r>
            <a:pPr algn="l" indent="0" marL="0">
              <a:spcAft>
                <a:spcPts val="1200"/>
              </a:spcAft>
              <a:buNone/>
            </a:pPr>
            <a:r>
              <a:rPr lang="en-US" sz="1600" i="1" dirty="0">
                <a:solidFill>
                  <a:schemeClr val="tx1"/>
                </a:solidFill>
              </a:rPr>
              <a:t>overfit</a:t>
            </a:r>
            <a:pPr algn="l" indent="0" marL="0">
              <a:spcAft>
                <a:spcPts val="1200"/>
              </a:spcAft>
              <a:buNone/>
            </a:pPr>
            <a:r>
              <a:rPr lang="en-US" sz="1600" dirty="0">
                <a:solidFill>
                  <a:schemeClr val="tx1"/>
                </a:solidFill>
              </a:rPr>
              <a:t> ke </a:t>
            </a:r>
            <a:pPr algn="l" indent="0" marL="0">
              <a:spcAft>
                <a:spcPts val="1200"/>
              </a:spcAft>
              <a:buNone/>
            </a:pPr>
            <a:r>
              <a:rPr lang="en-US" sz="1600" i="1" dirty="0">
                <a:solidFill>
                  <a:schemeClr val="tx1"/>
                </a:solidFill>
              </a:rPr>
              <a:t>leaderboard</a:t>
            </a:r>
            <a:pPr algn="l" indent="0" marL="0">
              <a:spcAft>
                <a:spcPts val="1200"/>
              </a:spcAft>
              <a:buNone/>
            </a:pPr>
            <a:r>
              <a:rPr lang="en-US" sz="1600" dirty="0">
                <a:solidFill>
                  <a:schemeClr val="tx1"/>
                </a:solidFill>
              </a:rPr>
              <a:t>: privat 0,24844 vs publik 0,24913</a:t>
            </a:r>
            <a:endParaRPr lang="en-US" sz="1600" dirty="0"/>
          </a:p>
          <a:p>
            <a:pPr algn="l" marL="177800" indent="-177800">
              <a:spcAft>
                <a:spcPts val="1200"/>
              </a:spcAft>
              <a:buSzPct val="100000"/>
              <a:buChar char="•"/>
            </a:pPr>
            <a:r>
              <a:rPr lang="en-US" sz="1600" dirty="0">
                <a:solidFill>
                  <a:schemeClr val="tx1"/>
                </a:solidFill>
              </a:rPr>
              <a:t>Satu perubahan ditolak karena tidak dikonfirmasi </a:t>
            </a:r>
            <a:pPr algn="l" indent="0" marL="0">
              <a:spcAft>
                <a:spcPts val="1200"/>
              </a:spcAft>
              <a:buNone/>
            </a:pPr>
            <a:r>
              <a:rPr lang="en-US" sz="1600" i="1" dirty="0">
                <a:solidFill>
                  <a:schemeClr val="tx1"/>
                </a:solidFill>
              </a:rPr>
              <a:t>leaderboard</a:t>
            </a:r>
            <a:pPr algn="l" indent="0" marL="0">
              <a:spcAft>
                <a:spcPts val="1200"/>
              </a:spcAft>
              <a:buNone/>
            </a:pPr>
            <a:r>
              <a:rPr lang="en-US" sz="1600" dirty="0">
                <a:solidFill>
                  <a:schemeClr val="tx1"/>
                </a:solidFill>
              </a:rPr>
              <a:t> (0,24938 vs 0,24934)</a:t>
            </a:r>
            <a:endParaRPr lang="en-US" sz="1600" dirty="0"/>
          </a:p>
        </p:txBody>
      </p:sp>
      <p:sp>
        <p:nvSpPr>
          <p:cNvPr id="8" name="Text 4"/>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"Mengapa tidak memakai validasi per wilayah (GroupKFold)?" · "Apakah model overfit ke leaderboard publik?"</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C8</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Penyesuaian akhir menangani dua batas data,</a:t>
            </a:r>
            <a:br/>
            <a:pPr algn="l" indent="0" marL="0">
              <a:buNone/>
            </a:pPr>
            <a:r>
              <a:rPr lang="en-US" sz="2600" b="1" dirty="0">
                <a:solidFill>
                  <a:schemeClr val="tx2"/>
                </a:solidFill>
              </a:rPr>
              <a:t>dan hasilnya identik setiap diulang di perangkat yang sama</a:t>
            </a:r>
            <a:endParaRPr lang="en-US" sz="2600" dirty="0"/>
          </a:p>
        </p:txBody>
      </p:sp>
      <p:graphicFrame>
        <p:nvGraphicFramePr>
          <p:cNvPr id="22" name="tabel penyesuaian akhir"/>
          <p:cNvGraphicFramePr>
            <a:graphicFrameLocks noGrp="1"/>
          </p:cNvGraphicFramePr>
          <p:nvPr>
            <p:extLst>
              <p:ext uri="{D42A27DB-BD31-4B8C-83A1-F6EECF244321}">
                <p14:modId xmlns:p14="http://schemas.microsoft.com/office/powerpoint/2010/main" val="1579011935"/>
              </p:ext>
            </p:extLst>
          </p:nvPr>
        </p:nvGraphicFramePr>
        <p:xfrm>
          <a:off x="548640" y="1691640"/>
          <a:ext cx="6400800" cy="914400"/>
        </p:xfrm>
        <a:graphic>
          <a:graphicData uri="http://schemas.openxmlformats.org/drawingml/2006/table">
            <a:tbl>
              <a:tblPr/>
              <a:tblGrid>
                <a:gridCol w="2697480"/>
                <a:gridCol w="1234440"/>
                <a:gridCol w="1234440"/>
                <a:gridCol w="1234440"/>
              </a:tblGrid>
              <a:tr h="548640">
                <a:tc>
                  <a:txBody>
                    <a:bodyPr/>
                    <a:lstStyle/>
                    <a:p>
                      <a:pPr algn="l" indent="0" marL="0">
                        <a:buNone/>
                      </a:pPr>
                      <a:r>
                        <a:rPr lang="en-US" sz="1500" b="1" dirty="0">
                          <a:solidFill>
                            <a:srgbClr val="FFFFFF"/>
                          </a:solidFill>
                        </a:rPr>
                        <a:t>Langkah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Gas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EUI</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Listrik</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548640">
                <a:tc>
                  <a:txBody>
                    <a:bodyPr/>
                    <a:lstStyle/>
                    <a:p>
                      <a:pPr algn="l" indent="0" marL="0">
                        <a:buNone/>
                      </a:pPr>
                      <a:r>
                        <a:rPr lang="en-US" sz="1600" dirty="0">
                          <a:solidFill>
                            <a:srgbClr val="1F2933"/>
                          </a:solidFill>
                        </a:rPr>
                        <a:t>S1: kawasan 2 sampai 3 meter</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+20,1%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+18,4%</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+18,7%</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1F2933"/>
                          </a:solidFill>
                        </a:rPr>
                        <a:t>S1: kawasan 4 meter</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+6,4%</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+3,2%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+7,1%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48640">
                <a:tc>
                  <a:txBody>
                    <a:bodyPr/>
                    <a:lstStyle/>
                    <a:p>
                      <a:pPr algn="l" indent="0" marL="0">
                        <a:buNone/>
                      </a:pPr>
                      <a:r>
                        <a:rPr lang="en-US" sz="1600" dirty="0">
                          <a:solidFill>
                            <a:srgbClr val="1F2933"/>
                          </a:solidFill>
                        </a:rPr>
                        <a:t>S3: faktor k</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0,505</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0,657</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tidak dipakai</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1F2933"/>
                          </a:solidFill>
                        </a:rPr>
                        <a:t>S4: batas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batas latih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batas latih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batas latih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6" name="Text 2"/>
          <p:cNvSpPr txBox="1"/>
          <p:nvPr/>
        </p:nvSpPr>
        <p:spPr>
          <a:xfrm>
            <a:off x="7269480" y="1691640"/>
            <a:ext cx="4370832" cy="402336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S3 menarik turun tebakan gas di dekat batas 999.765 kWh; S4 memotong prediksi ke batas data latih</a:t>
            </a:r>
            <a:endParaRPr lang="en-US" sz="1600" dirty="0"/>
          </a:p>
          <a:p>
            <a:pPr algn="l" marL="177800" indent="-177800">
              <a:spcAft>
                <a:spcPts val="1200"/>
              </a:spcAft>
              <a:buSzPct val="100000"/>
              <a:buChar char="•"/>
            </a:pPr>
            <a:r>
              <a:rPr lang="en-US" sz="1600" dirty="0">
                <a:solidFill>
                  <a:schemeClr val="tx1"/>
                </a:solidFill>
              </a:rPr>
              <a:t>77 kawasan uji yang identik dengan kawasan latih disalin; </a:t>
            </a:r>
            <a:pPr algn="l" indent="0" marL="0">
              <a:spcAft>
                <a:spcPts val="1200"/>
              </a:spcAft>
              <a:buNone/>
            </a:pPr>
            <a:r>
              <a:rPr lang="en-US" sz="1600" i="1" dirty="0">
                <a:solidFill>
                  <a:schemeClr val="tx1"/>
                </a:solidFill>
              </a:rPr>
              <a:t>leaderboard</a:t>
            </a:r>
            <a:pPr algn="l" indent="0" marL="0">
              <a:spcAft>
                <a:spcPts val="1200"/>
              </a:spcAft>
              <a:buNone/>
            </a:pPr>
            <a:r>
              <a:rPr lang="en-US" sz="1600" dirty="0">
                <a:solidFill>
                  <a:schemeClr val="tx1"/>
                </a:solidFill>
              </a:rPr>
              <a:t> publik 0,24920 menjadi 0,24913</a:t>
            </a:r>
            <a:endParaRPr lang="en-US" sz="1600" dirty="0"/>
          </a:p>
          <a:p>
            <a:pPr algn="l" marL="177800" indent="-177800">
              <a:spcAft>
                <a:spcPts val="1200"/>
              </a:spcAft>
              <a:buSzPct val="100000"/>
              <a:buChar char="•"/>
            </a:pPr>
            <a:r>
              <a:rPr lang="en-US" sz="1600" i="1" dirty="0">
                <a:solidFill>
                  <a:schemeClr val="tx1"/>
                </a:solidFill>
              </a:rPr>
              <a:t>Seed</a:t>
            </a:r>
            <a:pPr algn="l" indent="0" marL="0">
              <a:spcAft>
                <a:spcPts val="1200"/>
              </a:spcAft>
              <a:buNone/>
            </a:pPr>
            <a:r>
              <a:rPr lang="en-US" sz="1600" dirty="0">
                <a:solidFill>
                  <a:schemeClr val="tx1"/>
                </a:solidFill>
              </a:rPr>
              <a:t> dikunci, mode deterministik, sidik sha256 aec745ab…d66e</a:t>
            </a:r>
            <a:endParaRPr lang="en-US" sz="1600" dirty="0"/>
          </a:p>
          <a:p>
            <a:pPr algn="l" marL="177800" indent="-177800">
              <a:spcAft>
                <a:spcPts val="1200"/>
              </a:spcAft>
              <a:buSzPct val="100000"/>
              <a:buChar char="•"/>
            </a:pPr>
            <a:r>
              <a:rPr lang="en-US" sz="1600" dirty="0">
                <a:solidFill>
                  <a:schemeClr val="tx1"/>
                </a:solidFill>
              </a:rPr>
              <a:t>Pelatihan penuh sekitar 20 jam; tanpa pelatihan sekitar 5 jam</a:t>
            </a:r>
            <a:endParaRPr lang="en-US" sz="1600" dirty="0"/>
          </a:p>
        </p:txBody>
      </p:sp>
      <p:sp>
        <p:nvSpPr>
          <p:cNvPr id="7" name="Text 3"/>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"Apa saja langkah setelah penggabungan?" · "Bisakah hasilnya direproduksi?"</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C9</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Adopsi di subzona baru dimodelkan sebagai</a:t>
            </a:r>
            <a:br/>
            <a:pPr algn="l" indent="0" marL="0">
              <a:buNone/>
            </a:pPr>
            <a:r>
              <a:rPr lang="en-US" sz="2600" b="1" dirty="0">
                <a:solidFill>
                  <a:schemeClr val="tx2"/>
                </a:solidFill>
              </a:rPr>
              <a:t>peluang dari jumlah rumah tangga</a:t>
            </a:r>
            <a:endParaRPr lang="en-US" sz="2600" dirty="0"/>
          </a:p>
        </p:txBody>
      </p:sp>
      <p:sp>
        <p:nvSpPr>
          <p:cNvPr id="5" name="Text 2"/>
          <p:cNvSpPr txBox="1"/>
          <p:nvPr/>
        </p:nvSpPr>
        <p:spPr>
          <a:xfrm>
            <a:off x="548640" y="1691640"/>
            <a:ext cx="6035040" cy="274320"/>
          </a:xfrm>
          <a:prstGeom prst="rect">
            <a:avLst/>
          </a:prstGeom>
          <a:noFill/>
          <a:ln/>
        </p:spPr>
        <p:txBody>
          <a:bodyPr wrap="square" lIns="0" tIns="0" rIns="0" bIns="0" rtlCol="0" anchor="t"/>
          <a:lstStyle/>
          <a:p>
            <a:pPr algn="l" indent="0" marL="0">
              <a:buNone/>
            </a:pPr>
            <a:r>
              <a:rPr lang="en-US" sz="1300" b="1" dirty="0">
                <a:solidFill>
                  <a:schemeClr val="tx2"/>
                </a:solidFill>
              </a:rPr>
              <a:t>N rumah tangga di satu kawasan</a:t>
            </a:r>
            <a:endParaRPr lang="en-US" sz="1300" dirty="0"/>
          </a:p>
        </p:txBody>
      </p:sp>
      <p:sp>
        <p:nvSpPr>
          <p:cNvPr id="6" name="kategori tercatat"/>
          <p:cNvSpPr/>
          <p:nvPr/>
        </p:nvSpPr>
        <p:spPr>
          <a:xfrm>
            <a:off x="548640" y="2103120"/>
            <a:ext cx="3741725" cy="685800"/>
          </a:xfrm>
          <a:prstGeom prst="rect">
            <a:avLst/>
          </a:prstGeom>
          <a:solidFill>
            <a:schemeClr val="accent4">
              <a:alpha val="60000"/>
            </a:schemeClr>
          </a:solidFill>
          <a:ln/>
        </p:spPr>
      </p:sp>
      <p:sp>
        <p:nvSpPr>
          <p:cNvPr id="7" name="Text 4"/>
          <p:cNvSpPr txBox="1"/>
          <p:nvPr/>
        </p:nvSpPr>
        <p:spPr>
          <a:xfrm>
            <a:off x="548640" y="2103120"/>
            <a:ext cx="3741725" cy="685800"/>
          </a:xfrm>
          <a:prstGeom prst="rect">
            <a:avLst/>
          </a:prstGeom>
          <a:noFill/>
          <a:ln/>
        </p:spPr>
        <p:txBody>
          <a:bodyPr wrap="square" lIns="0" tIns="0" rIns="0" bIns="0" rtlCol="0" anchor="ctr"/>
          <a:lstStyle/>
          <a:p>
            <a:pPr algn="ctr" indent="0" marL="0">
              <a:buNone/>
            </a:pPr>
            <a:r>
              <a:rPr lang="en-US" sz="1400" dirty="0">
                <a:solidFill>
                  <a:schemeClr val="tx1"/>
                </a:solidFill>
              </a:rPr>
              <a:t>kategori pemanas tercatat (pecahan N)</a:t>
            </a:r>
            <a:endParaRPr lang="en-US" sz="1400" dirty="0"/>
          </a:p>
        </p:txBody>
      </p:sp>
      <p:sp>
        <p:nvSpPr>
          <p:cNvPr id="8" name="K"/>
          <p:cNvSpPr/>
          <p:nvPr/>
        </p:nvSpPr>
        <p:spPr>
          <a:xfrm>
            <a:off x="4290365" y="2103120"/>
            <a:ext cx="2293315" cy="685800"/>
          </a:xfrm>
          <a:prstGeom prst="rect">
            <a:avLst/>
          </a:prstGeom>
          <a:solidFill>
            <a:schemeClr val="accent2"/>
          </a:solidFill>
          <a:ln/>
        </p:spPr>
      </p:sp>
      <p:sp>
        <p:nvSpPr>
          <p:cNvPr id="9" name="Text 6"/>
          <p:cNvSpPr txBox="1"/>
          <p:nvPr/>
        </p:nvSpPr>
        <p:spPr>
          <a:xfrm>
            <a:off x="4290365" y="2103120"/>
            <a:ext cx="2293315" cy="685800"/>
          </a:xfrm>
          <a:prstGeom prst="rect">
            <a:avLst/>
          </a:prstGeom>
          <a:noFill/>
          <a:ln/>
        </p:spPr>
        <p:txBody>
          <a:bodyPr wrap="square" lIns="0" tIns="0" rIns="0" bIns="0" rtlCol="0" anchor="ctr"/>
          <a:lstStyle/>
          <a:p>
            <a:pPr algn="ctr" indent="0" marL="0">
              <a:buNone/>
            </a:pPr>
            <a:r>
              <a:rPr lang="en-US" sz="2200" b="1" dirty="0">
                <a:solidFill>
                  <a:schemeClr val="bg1"/>
                </a:solidFill>
              </a:rPr>
              <a:t>K</a:t>
            </a:r>
            <a:endParaRPr lang="en-US" sz="2200" dirty="0"/>
          </a:p>
        </p:txBody>
      </p:sp>
      <p:sp>
        <p:nvSpPr>
          <p:cNvPr id="10" name="Shape 7"/>
          <p:cNvSpPr/>
          <p:nvPr/>
        </p:nvSpPr>
        <p:spPr>
          <a:xfrm flipH="1">
            <a:off x="3867912" y="2816352"/>
            <a:ext cx="1569110" cy="539496"/>
          </a:xfrm>
          <a:prstGeom prst="line">
            <a:avLst/>
          </a:prstGeom>
          <a:noFill/>
          <a:ln w="19050">
            <a:solidFill>
              <a:schemeClr val="accent2"/>
            </a:solidFill>
            <a:prstDash val="solid"/>
            <a:tailEnd type="triangle"/>
          </a:ln>
        </p:spPr>
      </p:sp>
      <p:sp>
        <p:nvSpPr>
          <p:cNvPr id="11" name="Shape 8"/>
          <p:cNvSpPr/>
          <p:nvPr/>
        </p:nvSpPr>
        <p:spPr>
          <a:xfrm>
            <a:off x="5437022" y="2816352"/>
            <a:ext cx="422453" cy="539496"/>
          </a:xfrm>
          <a:prstGeom prst="line">
            <a:avLst/>
          </a:prstGeom>
          <a:noFill/>
          <a:ln w="19050">
            <a:solidFill>
              <a:schemeClr val="accent2"/>
            </a:solidFill>
            <a:prstDash val="solid"/>
            <a:tailEnd type="triangle"/>
          </a:ln>
        </p:spPr>
      </p:sp>
      <p:sp>
        <p:nvSpPr>
          <p:cNvPr id="12" name="pemanas listrik"/>
          <p:cNvSpPr/>
          <p:nvPr/>
        </p:nvSpPr>
        <p:spPr>
          <a:xfrm>
            <a:off x="2721254" y="3383280"/>
            <a:ext cx="2293315" cy="685800"/>
          </a:xfrm>
          <a:prstGeom prst="rect">
            <a:avLst/>
          </a:prstGeom>
          <a:solidFill>
            <a:schemeClr val="accent2">
              <a:alpha val="25000"/>
            </a:schemeClr>
          </a:solidFill>
          <a:ln/>
        </p:spPr>
      </p:sp>
      <p:sp>
        <p:nvSpPr>
          <p:cNvPr id="13" name="Text 10"/>
          <p:cNvSpPr txBox="1"/>
          <p:nvPr/>
        </p:nvSpPr>
        <p:spPr>
          <a:xfrm>
            <a:off x="2721254" y="3383280"/>
            <a:ext cx="2293315" cy="685800"/>
          </a:xfrm>
          <a:prstGeom prst="rect">
            <a:avLst/>
          </a:prstGeom>
          <a:noFill/>
          <a:ln/>
        </p:spPr>
        <p:txBody>
          <a:bodyPr wrap="square" lIns="0" tIns="0" rIns="0" bIns="0" rtlCol="0" anchor="ctr"/>
          <a:lstStyle/>
          <a:p>
            <a:pPr algn="ctr" indent="0" marL="0">
              <a:buNone/>
            </a:pPr>
            <a:r>
              <a:rPr lang="en-US" sz="1400" b="1" dirty="0">
                <a:solidFill>
                  <a:schemeClr val="tx2"/>
                </a:solidFill>
              </a:rPr>
              <a:t>pemanas listrik (adopsi)</a:t>
            </a:r>
            <a:endParaRPr lang="en-US" sz="1400" dirty="0"/>
          </a:p>
        </p:txBody>
      </p:sp>
      <p:sp>
        <p:nvSpPr>
          <p:cNvPr id="14" name="kategori lain"/>
          <p:cNvSpPr/>
          <p:nvPr/>
        </p:nvSpPr>
        <p:spPr>
          <a:xfrm>
            <a:off x="5135270" y="3383280"/>
            <a:ext cx="1448410" cy="685800"/>
          </a:xfrm>
          <a:prstGeom prst="rect">
            <a:avLst/>
          </a:prstGeom>
          <a:solidFill>
            <a:schemeClr val="accent3">
              <a:alpha val="25000"/>
            </a:schemeClr>
          </a:solidFill>
          <a:ln/>
        </p:spPr>
      </p:sp>
      <p:sp>
        <p:nvSpPr>
          <p:cNvPr id="15" name="Text 12"/>
          <p:cNvSpPr txBox="1"/>
          <p:nvPr/>
        </p:nvSpPr>
        <p:spPr>
          <a:xfrm>
            <a:off x="5135270" y="3383280"/>
            <a:ext cx="1448410" cy="685800"/>
          </a:xfrm>
          <a:prstGeom prst="rect">
            <a:avLst/>
          </a:prstGeom>
          <a:noFill/>
          <a:ln/>
        </p:spPr>
        <p:txBody>
          <a:bodyPr wrap="square" lIns="0" tIns="0" rIns="0" bIns="0" rtlCol="0" anchor="ctr"/>
          <a:lstStyle/>
          <a:p>
            <a:pPr algn="ctr" indent="0" marL="0">
              <a:buNone/>
            </a:pPr>
            <a:r>
              <a:rPr lang="en-US" sz="1300" b="1" dirty="0">
                <a:solidFill>
                  <a:schemeClr val="accent3"/>
                </a:solidFill>
              </a:rPr>
              <a:t>kategori lain</a:t>
            </a:r>
            <a:endParaRPr lang="en-US" sz="1300" dirty="0"/>
          </a:p>
        </p:txBody>
      </p:sp>
      <p:sp>
        <p:nvSpPr>
          <p:cNvPr id="16" name="Text 13"/>
          <p:cNvSpPr txBox="1"/>
          <p:nvPr/>
        </p:nvSpPr>
        <p:spPr>
          <a:xfrm>
            <a:off x="548640" y="4297680"/>
            <a:ext cx="6035040" cy="146304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N: bilangan bulat terkecil yang membuat semua pecahan komposisi pemanas bulat</a:t>
            </a:r>
            <a:endParaRPr lang="en-US" sz="1400" dirty="0"/>
          </a:p>
          <a:p>
            <a:pPr algn="l" marL="177800" indent="-177800">
              <a:spcAft>
                <a:spcPts val="600"/>
              </a:spcAft>
              <a:buSzPct val="100000"/>
              <a:buChar char="•"/>
            </a:pPr>
            <a:r>
              <a:rPr lang="en-US" sz="1400" dirty="0">
                <a:solidFill>
                  <a:schemeClr val="tx1"/>
                </a:solidFill>
              </a:rPr>
              <a:t>K: rumah tangga di luar kategori tercatat = pengguna pemanas listrik + satu kategori lain</a:t>
            </a:r>
            <a:endParaRPr lang="en-US" sz="1400" dirty="0"/>
          </a:p>
          <a:p>
            <a:pPr algn="l" marL="177800" indent="-177800">
              <a:spcAft>
                <a:spcPts val="600"/>
              </a:spcAft>
              <a:buSzPct val="100000"/>
              <a:buChar char="•"/>
            </a:pPr>
            <a:r>
              <a:rPr lang="en-US" sz="1400" dirty="0">
                <a:solidFill>
                  <a:schemeClr val="tx1"/>
                </a:solidFill>
              </a:rPr>
              <a:t>q_xent menebak peluang K berada di kategori lain (</a:t>
            </a:r>
            <a:pPr algn="l" indent="0" marL="0">
              <a:buNone/>
            </a:pPr>
            <a:r>
              <a:rPr lang="en-US" sz="1400" i="1" dirty="0">
                <a:solidFill>
                  <a:schemeClr val="tx1"/>
                </a:solidFill>
              </a:rPr>
              <a:t>cross-entropy</a:t>
            </a:r>
            <a:pPr algn="l" indent="0" marL="0">
              <a:buNone/>
            </a:pPr>
            <a:r>
              <a:rPr lang="en-US" sz="1400" dirty="0">
                <a:solidFill>
                  <a:schemeClr val="tx1"/>
                </a:solidFill>
              </a:rPr>
              <a:t> dengan bobot K); r_reg menebak porsinya langsung; adopsi = sisa</a:t>
            </a:r>
            <a:endParaRPr lang="en-US" sz="1400" dirty="0"/>
          </a:p>
        </p:txBody>
      </p:sp>
      <p:sp>
        <p:nvSpPr>
          <p:cNvPr id="17" name="Text 14"/>
          <p:cNvSpPr txBox="1"/>
          <p:nvPr/>
        </p:nvSpPr>
        <p:spPr>
          <a:xfrm>
            <a:off x="6949440" y="1691640"/>
            <a:ext cx="4690872" cy="502920"/>
          </a:xfrm>
          <a:prstGeom prst="rect">
            <a:avLst/>
          </a:prstGeom>
          <a:noFill/>
          <a:ln/>
        </p:spPr>
        <p:txBody>
          <a:bodyPr wrap="square" lIns="0" tIns="0" rIns="0" bIns="0" rtlCol="0" anchor="t"/>
          <a:lstStyle/>
          <a:p>
            <a:pPr algn="l" indent="0" marL="0">
              <a:buNone/>
            </a:pPr>
            <a:r>
              <a:rPr lang="en-US" sz="1200" b="1" dirty="0">
                <a:solidFill>
                  <a:schemeClr val="tx2"/>
                </a:solidFill>
              </a:rPr>
              <a:t>Skor validasi lima </a:t>
            </a:r>
            <a:pPr algn="l" indent="0" marL="0">
              <a:buNone/>
            </a:pPr>
            <a:r>
              <a:rPr lang="en-US" sz="1200" b="1" i="1" dirty="0">
                <a:solidFill>
                  <a:schemeClr val="tx2"/>
                </a:solidFill>
              </a:rPr>
              <a:t>fold</a:t>
            </a:r>
            <a:pPr algn="l" indent="0" marL="0">
              <a:buNone/>
            </a:pPr>
            <a:r>
              <a:rPr lang="en-US" sz="1200" b="1" dirty="0">
                <a:solidFill>
                  <a:schemeClr val="tx2"/>
                </a:solidFill>
              </a:rPr>
              <a:t> per subzona, dibobot ulang ke komposisi subzona baru</a:t>
            </a:r>
            <a:endParaRPr lang="en-US" sz="1200" dirty="0"/>
          </a:p>
        </p:txBody>
      </p:sp>
      <p:graphicFrame>
        <p:nvGraphicFramePr>
          <p:cNvPr id="23" name="tabel skor adopsi"/>
          <p:cNvGraphicFramePr>
            <a:graphicFrameLocks noGrp="1"/>
          </p:cNvGraphicFramePr>
          <p:nvPr>
            <p:extLst>
              <p:ext uri="{D42A27DB-BD31-4B8C-83A1-F6EECF244321}">
                <p14:modId xmlns:p14="http://schemas.microsoft.com/office/powerpoint/2010/main" val="1579011935"/>
              </p:ext>
            </p:extLst>
          </p:nvPr>
        </p:nvGraphicFramePr>
        <p:xfrm>
          <a:off x="6949440" y="2240280"/>
          <a:ext cx="4690872" cy="914400"/>
        </p:xfrm>
        <a:graphic>
          <a:graphicData uri="http://schemas.openxmlformats.org/drawingml/2006/table">
            <a:tbl>
              <a:tblPr/>
              <a:tblGrid>
                <a:gridCol w="3044952"/>
                <a:gridCol w="1645920"/>
              </a:tblGrid>
              <a:tr h="384048">
                <a:tc>
                  <a:txBody>
                    <a:bodyPr/>
                    <a:lstStyle/>
                    <a:p>
                      <a:pPr algn="l" indent="0" marL="0">
                        <a:buNone/>
                      </a:pPr>
                      <a:r>
                        <a:rPr lang="en-US" sz="1400" b="1" dirty="0">
                          <a:solidFill>
                            <a:srgbClr val="FFFFFF"/>
                          </a:solidFill>
                        </a:rPr>
                        <a:t>Model</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Skor (poin)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500" dirty="0">
                          <a:solidFill>
                            <a:srgbClr val="1F2933"/>
                          </a:solidFill>
                        </a:rPr>
                        <a:t>q_xent</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1,0329</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1F2933"/>
                          </a:solidFill>
                        </a:rPr>
                        <a:t>r_reg</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1,0351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500" b="1" dirty="0">
                          <a:solidFill>
                            <a:srgbClr val="1F2933"/>
                          </a:solidFill>
                        </a:rPr>
                        <a:t>rata-rata keduanya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1F4"/>
                    </a:solidFill>
                  </a:tcPr>
                </a:tc>
                <a:tc>
                  <a:txBody>
                    <a:bodyPr/>
                    <a:lstStyle/>
                    <a:p>
                      <a:pPr algn="r" indent="0" marL="0">
                        <a:buNone/>
                      </a:pPr>
                      <a:r>
                        <a:rPr lang="en-US" sz="1500" b="1" dirty="0">
                          <a:solidFill>
                            <a:srgbClr val="1F2933"/>
                          </a:solidFill>
                        </a:rPr>
                        <a:t>1,0303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1F4"/>
                    </a:solidFill>
                  </a:tcPr>
                </a:tc>
              </a:tr>
            </a:tbl>
          </a:graphicData>
        </a:graphic>
      </p:graphicFrame>
      <p:sp>
        <p:nvSpPr>
          <p:cNvPr id="19" name="Text 15"/>
          <p:cNvSpPr txBox="1"/>
          <p:nvPr/>
        </p:nvSpPr>
        <p:spPr>
          <a:xfrm>
            <a:off x="6949440" y="3977640"/>
            <a:ext cx="4690872" cy="1280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1,0303 poin = 0,143 setelah dibagi σ adopsi</a:t>
            </a:r>
            <a:endParaRPr lang="en-US" sz="1400" dirty="0"/>
          </a:p>
          <a:p>
            <a:pPr algn="l" marL="177800" indent="-177800">
              <a:spcAft>
                <a:spcPts val="600"/>
              </a:spcAft>
              <a:buSzPct val="100000"/>
              <a:buChar char="•"/>
            </a:pPr>
            <a:r>
              <a:rPr lang="en-US" sz="1400" dirty="0">
                <a:solidFill>
                  <a:schemeClr val="tx1"/>
                </a:solidFill>
              </a:rPr>
              <a:t>8,14% adalah porsi kawasan uji (harapan 8,17%), bukan porsi subzona</a:t>
            </a:r>
            <a:endParaRPr lang="en-US" sz="1400" dirty="0"/>
          </a:p>
        </p:txBody>
      </p:sp>
      <p:sp>
        <p:nvSpPr>
          <p:cNvPr id="20" name="Text 16"/>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"Bagaimana memprediksi adopsi di subzona yang belum pernah terlihat?" · "Mengapa dua LightGBM?" · "Mengapa 8,14%?"</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C10</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Urutan zona tahan derau acak,</a:t>
            </a:r>
            <a:br/>
            <a:pPr algn="l" indent="0" marL="0">
              <a:buNone/>
            </a:pPr>
            <a:r>
              <a:rPr lang="en-US" sz="2600" b="1" dirty="0">
                <a:solidFill>
                  <a:schemeClr val="tx2"/>
                </a:solidFill>
              </a:rPr>
              <a:t>dan zona contoh dipilih yang tetap pada kedua skenario COP</a:t>
            </a:r>
            <a:endParaRPr lang="en-US" sz="2600" dirty="0"/>
          </a:p>
        </p:txBody>
      </p:sp>
      <p:sp>
        <p:nvSpPr>
          <p:cNvPr id="5" name="uji ketahanan 1"/>
          <p:cNvSpPr/>
          <p:nvPr/>
        </p:nvSpPr>
        <p:spPr>
          <a:xfrm>
            <a:off x="548640" y="1691640"/>
            <a:ext cx="3611880" cy="1005840"/>
          </a:xfrm>
          <a:prstGeom prst="roundRect">
            <a:avLst>
              <a:gd name="adj" fmla="val 7273"/>
            </a:avLst>
          </a:prstGeom>
          <a:solidFill>
            <a:schemeClr val="accent2">
              <a:alpha val="12000"/>
            </a:schemeClr>
          </a:solidFill>
          <a:ln/>
        </p:spPr>
      </p:sp>
      <p:sp>
        <p:nvSpPr>
          <p:cNvPr id="6" name="Text 3"/>
          <p:cNvSpPr txBox="1"/>
          <p:nvPr/>
        </p:nvSpPr>
        <p:spPr>
          <a:xfrm>
            <a:off x="685800" y="1764792"/>
            <a:ext cx="3337560" cy="274320"/>
          </a:xfrm>
          <a:prstGeom prst="rect">
            <a:avLst/>
          </a:prstGeom>
          <a:noFill/>
          <a:ln/>
        </p:spPr>
        <p:txBody>
          <a:bodyPr wrap="square" lIns="0" tIns="0" rIns="0" bIns="0" rtlCol="0" anchor="t"/>
          <a:lstStyle/>
          <a:p>
            <a:pPr algn="l" indent="0" marL="0">
              <a:buNone/>
            </a:pPr>
            <a:r>
              <a:rPr lang="en-US" sz="1300" b="1" dirty="0">
                <a:solidFill>
                  <a:schemeClr val="accent2"/>
                </a:solidFill>
              </a:rPr>
              <a:t>Derau acak per kawasan (200 simulasi)</a:t>
            </a:r>
            <a:endParaRPr lang="en-US" sz="1300" dirty="0"/>
          </a:p>
        </p:txBody>
      </p:sp>
      <p:sp>
        <p:nvSpPr>
          <p:cNvPr id="7" name="Text 4"/>
          <p:cNvSpPr txBox="1"/>
          <p:nvPr/>
        </p:nvSpPr>
        <p:spPr>
          <a:xfrm>
            <a:off x="685800" y="2039112"/>
            <a:ext cx="3337560" cy="621792"/>
          </a:xfrm>
          <a:prstGeom prst="rect">
            <a:avLst/>
          </a:prstGeom>
          <a:noFill/>
          <a:ln/>
        </p:spPr>
        <p:txBody>
          <a:bodyPr wrap="square" lIns="0" tIns="0" rIns="0" bIns="0" rtlCol="0" anchor="t"/>
          <a:lstStyle/>
          <a:p>
            <a:pPr algn="l" indent="0" marL="0">
              <a:buNone/>
            </a:pPr>
            <a:r>
              <a:rPr lang="en-US" sz="1400" dirty="0">
                <a:solidFill>
                  <a:schemeClr val="tx1"/>
                </a:solidFill>
              </a:rPr>
              <a:t>Spearman 0,998 · median 8 zona pindah kuadran · 5 zona teratas tetap</a:t>
            </a:r>
            <a:endParaRPr lang="en-US" sz="1400" dirty="0"/>
          </a:p>
        </p:txBody>
      </p:sp>
      <p:sp>
        <p:nvSpPr>
          <p:cNvPr id="8" name="uji ketahanan 2"/>
          <p:cNvSpPr/>
          <p:nvPr/>
        </p:nvSpPr>
        <p:spPr>
          <a:xfrm>
            <a:off x="4297680" y="1691640"/>
            <a:ext cx="3611880" cy="1005840"/>
          </a:xfrm>
          <a:prstGeom prst="roundRect">
            <a:avLst>
              <a:gd name="adj" fmla="val 7273"/>
            </a:avLst>
          </a:prstGeom>
          <a:solidFill>
            <a:schemeClr val="accent1">
              <a:alpha val="12000"/>
            </a:schemeClr>
          </a:solidFill>
          <a:ln/>
        </p:spPr>
      </p:sp>
      <p:sp>
        <p:nvSpPr>
          <p:cNvPr id="9" name="Text 6"/>
          <p:cNvSpPr txBox="1"/>
          <p:nvPr/>
        </p:nvSpPr>
        <p:spPr>
          <a:xfrm>
            <a:off x="4434840" y="1764792"/>
            <a:ext cx="3337560" cy="274320"/>
          </a:xfrm>
          <a:prstGeom prst="rect">
            <a:avLst/>
          </a:prstGeom>
          <a:noFill/>
          <a:ln/>
        </p:spPr>
        <p:txBody>
          <a:bodyPr wrap="square" lIns="0" tIns="0" rIns="0" bIns="0" rtlCol="0" anchor="t"/>
          <a:lstStyle/>
          <a:p>
            <a:pPr algn="l" indent="0" marL="0">
              <a:buNone/>
            </a:pPr>
            <a:r>
              <a:rPr lang="en-US" sz="1300" b="1" dirty="0">
                <a:solidFill>
                  <a:schemeClr val="accent1"/>
                </a:solidFill>
              </a:rPr>
              <a:t>COP 2,5 sampai 3,5 menurut iklim zona</a:t>
            </a:r>
            <a:endParaRPr lang="en-US" sz="1300" dirty="0"/>
          </a:p>
        </p:txBody>
      </p:sp>
      <p:sp>
        <p:nvSpPr>
          <p:cNvPr id="10" name="Text 7"/>
          <p:cNvSpPr txBox="1"/>
          <p:nvPr/>
        </p:nvSpPr>
        <p:spPr>
          <a:xfrm>
            <a:off x="4434840" y="2039112"/>
            <a:ext cx="3337560" cy="621792"/>
          </a:xfrm>
          <a:prstGeom prst="rect">
            <a:avLst/>
          </a:prstGeom>
          <a:noFill/>
          <a:ln/>
        </p:spPr>
        <p:txBody>
          <a:bodyPr wrap="square" lIns="0" tIns="0" rIns="0" bIns="0" rtlCol="0" anchor="t"/>
          <a:lstStyle/>
          <a:p>
            <a:pPr algn="l" indent="0" marL="0">
              <a:buNone/>
            </a:pPr>
            <a:r>
              <a:rPr lang="en-US" sz="1400" dirty="0">
                <a:solidFill>
                  <a:schemeClr val="tx1"/>
                </a:solidFill>
              </a:rPr>
              <a:t>Spearman 0,81 · 68 zona pindah kuadran · 1 dari 5 zona teratas tetap</a:t>
            </a:r>
            <a:endParaRPr lang="en-US" sz="1400" dirty="0"/>
          </a:p>
        </p:txBody>
      </p:sp>
      <p:sp>
        <p:nvSpPr>
          <p:cNvPr id="11" name="Text 8"/>
          <p:cNvSpPr txBox="1"/>
          <p:nvPr/>
        </p:nvSpPr>
        <p:spPr>
          <a:xfrm>
            <a:off x="8092440" y="1673352"/>
            <a:ext cx="3547872" cy="1188720"/>
          </a:xfrm>
          <a:prstGeom prst="rect">
            <a:avLst/>
          </a:prstGeom>
          <a:noFill/>
          <a:ln/>
        </p:spPr>
        <p:txBody>
          <a:bodyPr wrap="square" lIns="0" tIns="0" rIns="0" bIns="0" rtlCol="0" anchor="t"/>
          <a:lstStyle/>
          <a:p>
            <a:pPr algn="l" marL="177800" indent="-177800">
              <a:spcAft>
                <a:spcPts val="200"/>
              </a:spcAft>
              <a:buSzPct val="100000"/>
              <a:buChar char="•"/>
            </a:pPr>
            <a:r>
              <a:rPr lang="en-US" sz="1200" dirty="0">
                <a:solidFill>
                  <a:schemeClr val="tx1"/>
                </a:solidFill>
              </a:rPr>
              <a:t>Galat berkelompok antartetangga belum diuji</a:t>
            </a:r>
            <a:endParaRPr lang="en-US" sz="1200" dirty="0"/>
          </a:p>
          <a:p>
            <a:pPr algn="l" marL="177800" indent="-177800">
              <a:spcAft>
                <a:spcPts val="200"/>
              </a:spcAft>
              <a:buSzPct val="100000"/>
              <a:buChar char="•"/>
            </a:pPr>
            <a:r>
              <a:rPr lang="en-US" sz="1200" dirty="0">
                <a:solidFill>
                  <a:schemeClr val="tx1"/>
                </a:solidFill>
              </a:rPr>
              <a:t>Asumsi seragam hanya menskalakan angka (median +71,1% sampai +128,0%)</a:t>
            </a:r>
            <a:endParaRPr lang="en-US" sz="1200" dirty="0"/>
          </a:p>
          <a:p>
            <a:pPr algn="l" marL="177800" indent="-177800">
              <a:spcAft>
                <a:spcPts val="200"/>
              </a:spcAft>
              <a:buSzPct val="100000"/>
              <a:buChar char="•"/>
            </a:pPr>
            <a:r>
              <a:rPr lang="en-US" sz="1200" dirty="0">
                <a:solidFill>
                  <a:schemeClr val="tx1"/>
                </a:solidFill>
              </a:rPr>
              <a:t>33 dari 47 zona Q2 dan 98 dari 118 zona Q1 tetap di kuadrannya; indikator potensi </a:t>
            </a:r>
            <a:pPr algn="l" indent="0" marL="0">
              <a:spcAft>
                <a:spcPts val="200"/>
              </a:spcAft>
              <a:buNone/>
            </a:pPr>
            <a:r>
              <a:rPr lang="en-US" sz="1200" i="1" dirty="0">
                <a:solidFill>
                  <a:schemeClr val="tx1"/>
                </a:solidFill>
              </a:rPr>
              <a:t>retrofit</a:t>
            </a:r>
            <a:pPr algn="l" indent="0" marL="0">
              <a:spcAft>
                <a:spcPts val="200"/>
              </a:spcAft>
              <a:buNone/>
            </a:pPr>
            <a:r>
              <a:rPr lang="en-US" sz="1200" dirty="0">
                <a:solidFill>
                  <a:schemeClr val="tx1"/>
                </a:solidFill>
              </a:rPr>
              <a:t> relatif: Q2 6,6%, Q1 5,5%</a:t>
            </a:r>
            <a:endParaRPr lang="en-US" sz="1200" dirty="0"/>
          </a:p>
        </p:txBody>
      </p:sp>
      <p:graphicFrame>
        <p:nvGraphicFramePr>
          <p:cNvPr id="24" name="tabel zona contoh"/>
          <p:cNvGraphicFramePr>
            <a:graphicFrameLocks noGrp="1"/>
          </p:cNvGraphicFramePr>
          <p:nvPr>
            <p:extLst>
              <p:ext uri="{D42A27DB-BD31-4B8C-83A1-F6EECF244321}">
                <p14:modId xmlns:p14="http://schemas.microsoft.com/office/powerpoint/2010/main" val="1579011935"/>
              </p:ext>
            </p:extLst>
          </p:nvPr>
        </p:nvGraphicFramePr>
        <p:xfrm>
          <a:off x="548640" y="2944368"/>
          <a:ext cx="11094415" cy="914400"/>
        </p:xfrm>
        <a:graphic>
          <a:graphicData uri="http://schemas.openxmlformats.org/drawingml/2006/table">
            <a:tbl>
              <a:tblPr/>
              <a:tblGrid>
                <a:gridCol w="1463040"/>
                <a:gridCol w="2331720"/>
                <a:gridCol w="4206240"/>
                <a:gridCol w="3093415"/>
              </a:tblGrid>
              <a:tr h="246888">
                <a:tc>
                  <a:txBody>
                    <a:bodyPr/>
                    <a:lstStyle/>
                    <a:p>
                      <a:pPr algn="l" indent="0" marL="0">
                        <a:buNone/>
                      </a:pPr>
                      <a:r>
                        <a:rPr lang="en-US" sz="1100" b="1" dirty="0">
                          <a:solidFill>
                            <a:srgbClr val="FFFFFF"/>
                          </a:solidFill>
                        </a:rPr>
                        <a:t>Zona</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100" b="1" dirty="0">
                          <a:solidFill>
                            <a:srgbClr val="FFFFFF"/>
                          </a:solidFill>
                        </a:rPr>
                        <a:t>Peran di </a:t>
                      </a:r>
                      <a:pPr algn="l" indent="0" marL="0">
                        <a:buNone/>
                      </a:pPr>
                      <a:r>
                        <a:rPr lang="en-US" sz="1100" b="1" i="1" dirty="0">
                          <a:solidFill>
                            <a:srgbClr val="FFFFFF"/>
                          </a:solidFill>
                        </a:rPr>
                        <a:t>deck</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100" b="1" dirty="0">
                          <a:solidFill>
                            <a:srgbClr val="FFFFFF"/>
                          </a:solidFill>
                        </a:rPr>
                        <a:t>COP 3 seragam</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100" b="1" dirty="0">
                          <a:solidFill>
                            <a:srgbClr val="FFFFFF"/>
                          </a:solidFill>
                        </a:rPr>
                        <a:t>COP per iklim</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246888">
                <a:tc>
                  <a:txBody>
                    <a:bodyPr/>
                    <a:lstStyle/>
                    <a:p>
                      <a:pPr algn="l" indent="0" marL="0">
                        <a:buNone/>
                      </a:pPr>
                      <a:r>
                        <a:rPr lang="en-US" sz="1200" dirty="0">
                          <a:solidFill>
                            <a:srgbClr val="1F2933"/>
                          </a:solidFill>
                        </a:rPr>
                        <a:t>REG_273</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rPr>
                        <a:t>kandidat </a:t>
                      </a:r>
                      <a:pPr algn="l" indent="0" marL="0">
                        <a:buNone/>
                      </a:pPr>
                      <a:r>
                        <a:rPr lang="en-US" sz="1200" i="1" dirty="0">
                          <a:solidFill>
                            <a:srgbClr val="1F2933"/>
                          </a:solidFill>
                        </a:rPr>
                        <a:t>retrofit</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rPr>
                        <a:t>Q1; tambahan absolut peringkat 2</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rPr>
                        <a:t>Q1; peringkat 2</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46888">
                <a:tc>
                  <a:txBody>
                    <a:bodyPr/>
                    <a:lstStyle/>
                    <a:p>
                      <a:pPr algn="l" indent="0" marL="0">
                        <a:buNone/>
                      </a:pPr>
                      <a:r>
                        <a:rPr lang="en-US" sz="1200" b="1" dirty="0">
                          <a:solidFill>
                            <a:srgbClr val="1F2933"/>
                          </a:solidFill>
                        </a:rPr>
                        <a:t>REG_270</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b="1" i="1" dirty="0">
                          <a:solidFill>
                            <a:srgbClr val="1F2933"/>
                          </a:solidFill>
                        </a:rPr>
                        <a:t>retrofit</a:t>
                      </a:r>
                      <a:pPr algn="l" indent="0" marL="0">
                        <a:buNone/>
                      </a:pPr>
                      <a:r>
                        <a:rPr lang="en-US" sz="1200" b="1" dirty="0">
                          <a:solidFill>
                            <a:srgbClr val="1F2933"/>
                          </a:solidFill>
                        </a:rPr>
                        <a:t> dan gardu</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b="1" dirty="0">
                          <a:solidFill>
                            <a:srgbClr val="1F2933"/>
                          </a:solidFill>
                        </a:rPr>
                        <a:t>Q1; kenaikan relatif peringkat 5, tambahan absolut 4</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b="1" dirty="0">
                          <a:solidFill>
                            <a:srgbClr val="1F2933"/>
                          </a:solidFill>
                        </a:rPr>
                        <a:t>Q1; peringkat 1 dan 4</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246888">
                <a:tc>
                  <a:txBody>
                    <a:bodyPr/>
                    <a:lstStyle/>
                    <a:p>
                      <a:pPr algn="l" indent="0" marL="0">
                        <a:buNone/>
                      </a:pPr>
                      <a:r>
                        <a:rPr lang="en-US" sz="1200" b="1" dirty="0">
                          <a:solidFill>
                            <a:srgbClr val="1F2933"/>
                          </a:solidFill>
                        </a:rPr>
                        <a:t>REG_045</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b="1" i="1" dirty="0">
                          <a:solidFill>
                            <a:srgbClr val="1F2933"/>
                          </a:solidFill>
                        </a:rPr>
                        <a:t>retrofit</a:t>
                      </a:r>
                      <a:pPr algn="l" indent="0" marL="0">
                        <a:buNone/>
                      </a:pPr>
                      <a:r>
                        <a:rPr lang="en-US" sz="1200" b="1" dirty="0">
                          <a:solidFill>
                            <a:srgbClr val="1F2933"/>
                          </a:solidFill>
                        </a:rPr>
                        <a:t> dan gardu</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F2933"/>
                          </a:solidFill>
                        </a:rPr>
                        <a:t>Q1; kenaikan relatif peringkat 9, tambahan absolut 3</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F2933"/>
                          </a:solidFill>
                        </a:rPr>
                        <a:t>Q1; peringkat 3 dan 3</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46888">
                <a:tc>
                  <a:txBody>
                    <a:bodyPr/>
                    <a:lstStyle/>
                    <a:p>
                      <a:pPr algn="l" indent="0" marL="0">
                        <a:buNone/>
                      </a:pPr>
                      <a:r>
                        <a:rPr lang="en-US" sz="1200" b="1" dirty="0">
                          <a:solidFill>
                            <a:srgbClr val="1F2933"/>
                          </a:solidFill>
                        </a:rPr>
                        <a:t>REG_263</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b="1" dirty="0">
                          <a:solidFill>
                            <a:srgbClr val="1F2933"/>
                          </a:solidFill>
                        </a:rPr>
                        <a:t>gardu (tambahan absolut)</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b="1" dirty="0">
                          <a:solidFill>
                            <a:srgbClr val="1F2933"/>
                          </a:solidFill>
                        </a:rPr>
                        <a:t>tambahan absolut peringkat 1</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b="1" dirty="0">
                          <a:solidFill>
                            <a:srgbClr val="1F2933"/>
                          </a:solidFill>
                        </a:rPr>
                        <a:t>peringkat 1</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20624">
                <a:tc>
                  <a:txBody>
                    <a:bodyPr/>
                    <a:lstStyle/>
                    <a:p>
                      <a:pPr algn="l" indent="0" marL="0">
                        <a:buNone/>
                      </a:pPr>
                      <a:r>
                        <a:rPr lang="en-US" sz="1200" dirty="0">
                          <a:solidFill>
                            <a:srgbClr val="1F2933"/>
                          </a:solidFill>
                        </a:rPr>
                        <a:t>REG_290</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rPr>
                        <a:t>tetap di daftar skrining, bukan titik awal</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rPr>
                        <a:t>kenaikan relatif peringkat 1</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rPr>
                        <a:t>peringkat 47</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F2933"/>
                          </a:solidFill>
                        </a:rPr>
                        <a:t>REG_259, REG_275</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dirty="0">
                          <a:solidFill>
                            <a:srgbClr val="1F2933"/>
                          </a:solidFill>
                        </a:rPr>
                        <a:t>tetap di daftar skrining, bukan titik awal</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dirty="0">
                          <a:solidFill>
                            <a:srgbClr val="1F2933"/>
                          </a:solidFill>
                        </a:rPr>
                        <a:t>kenaikan relatif peringkat 2 dan 3; tambahan absolut 25 dan 53</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dirty="0">
                          <a:solidFill>
                            <a:srgbClr val="1F2933"/>
                          </a:solidFill>
                        </a:rPr>
                        <a:t>peringkat 6 dan 7; tambahan absolut 17 dan 41</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246888">
                <a:tc>
                  <a:txBody>
                    <a:bodyPr/>
                    <a:lstStyle/>
                    <a:p>
                      <a:pPr algn="l" indent="0" marL="0">
                        <a:buNone/>
                      </a:pPr>
                      <a:r>
                        <a:rPr lang="en-US" sz="1200" dirty="0">
                          <a:solidFill>
                            <a:srgbClr val="1F2933"/>
                          </a:solidFill>
                        </a:rPr>
                        <a:t>REG_249</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rPr>
                        <a:t>contoh </a:t>
                      </a:r>
                      <a:pPr algn="l" indent="0" marL="0">
                        <a:buNone/>
                      </a:pPr>
                      <a:r>
                        <a:rPr lang="en-US" sz="1200" i="1" dirty="0">
                          <a:solidFill>
                            <a:srgbClr val="1F2933"/>
                          </a:solidFill>
                        </a:rPr>
                        <a:t>deck</a:t>
                      </a:r>
                      <a:pPr algn="l" indent="0" marL="0">
                        <a:buNone/>
                      </a:pPr>
                      <a:r>
                        <a:rPr lang="en-US" sz="1200" dirty="0">
                          <a:solidFill>
                            <a:srgbClr val="1F2933"/>
                          </a:solidFill>
                        </a:rPr>
                        <a:t> v2, tidak dipakai</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rPr>
                        <a:t>Q2 (+90,07%)</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rPr>
                        <a:t>Q1 (+95,64%; median 94,60%)</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46888">
                <a:tc>
                  <a:txBody>
                    <a:bodyPr/>
                    <a:lstStyle/>
                    <a:p>
                      <a:pPr algn="l" indent="0" marL="0">
                        <a:buNone/>
                      </a:pPr>
                      <a:r>
                        <a:rPr lang="en-US" sz="1200" b="1" dirty="0">
                          <a:solidFill>
                            <a:srgbClr val="1F2933"/>
                          </a:solidFill>
                        </a:rPr>
                        <a:t>REG_033</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b="1" dirty="0">
                          <a:solidFill>
                            <a:srgbClr val="1F2933"/>
                          </a:solidFill>
                        </a:rPr>
                        <a:t>contoh pilot Q2</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b="1" dirty="0">
                          <a:solidFill>
                            <a:srgbClr val="1F2933"/>
                          </a:solidFill>
                        </a:rPr>
                        <a:t>Q2 (+84,92%)</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200" b="1" dirty="0">
                          <a:solidFill>
                            <a:srgbClr val="1F2933"/>
                          </a:solidFill>
                        </a:rPr>
                        <a:t>Q2 (+78,37%)</a:t>
                      </a:r>
                      <a:endParaRPr lang="en-US" sz="12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13" name="Text 9"/>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"Seberapa yakin dengan urutan zona?" · "Mengapa bukan REG_290, zona dengan kenaikan tertinggi, atau REG_259 dan REG_275?" · "Mengapa pompa panas dulu di Q2, padahal potensi retrofit relatifnya lebih tinggi?" · "Apakah 7,39 TWh realistis?"</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nchor="t"/>
          <a:lstStyle/>
          <a:p>
            <a:pPr algn="l" indent="0" marL="0">
              <a:buNone/>
            </a:pPr>
            <a:r>
              <a:rPr lang="en-US" sz="1200" b="1" dirty="0">
                <a:solidFill>
                  <a:schemeClr val="accent2"/>
                </a:solidFill>
              </a:rPr>
              <a:t>CADANGAN TANYA JAWAB · C11</a:t>
            </a:r>
            <a:endParaRPr lang="en-US" sz="12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Target efisiensi dan target emisi perlu dipisahkan</a:t>
            </a:r>
            <a:endParaRPr lang="en-US" sz="2600" dirty="0"/>
          </a:p>
        </p:txBody>
      </p:sp>
      <p:pic>
        <p:nvPicPr>
          <p:cNvPr id="5" name="Image 0" descr="Dependensi SHAP ukuran rumah: gas per m2 dan listrik per rumah">    </p:cNvPr>
          <p:cNvPicPr>
            <a:picLocks noChangeAspect="1"/>
          </p:cNvPicPr>
          <p:nvPr/>
        </p:nvPicPr>
        <p:blipFill>
          <a:blip r:embed="rId1"/>
          <a:stretch>
            <a:fillRect/>
          </a:stretch>
        </p:blipFill>
        <p:spPr>
          <a:xfrm>
            <a:off x="548640" y="1691640"/>
            <a:ext cx="6675120" cy="3087014"/>
          </a:xfrm>
          <a:prstGeom prst="rect">
            <a:avLst/>
          </a:prstGeom>
        </p:spPr>
      </p:pic>
      <p:sp>
        <p:nvSpPr>
          <p:cNvPr id="6" name="Text 2"/>
          <p:cNvSpPr txBox="1"/>
          <p:nvPr/>
        </p:nvSpPr>
        <p:spPr>
          <a:xfrm>
            <a:off x="548640" y="4892040"/>
            <a:ext cx="6675120" cy="822960"/>
          </a:xfrm>
          <a:prstGeom prst="rect">
            <a:avLst/>
          </a:prstGeom>
          <a:noFill/>
          <a:ln/>
        </p:spPr>
        <p:txBody>
          <a:bodyPr wrap="square" lIns="0" tIns="0" rIns="0" bIns="0" rtlCol="0" anchor="t"/>
          <a:lstStyle/>
          <a:p>
            <a:pPr algn="l" marL="177800" indent="-177800">
              <a:spcAft>
                <a:spcPts val="200"/>
              </a:spcAft>
              <a:buSzPct val="100000"/>
              <a:buChar char="•"/>
            </a:pPr>
            <a:r>
              <a:rPr lang="en-US" sz="1300" dirty="0">
                <a:solidFill>
                  <a:schemeClr val="tx1"/>
                </a:solidFill>
              </a:rPr>
              <a:t>Rumah kecil: sumbangan gas per m² sekitar +65%</a:t>
            </a:r>
            <a:endParaRPr lang="en-US" sz="1300" dirty="0"/>
          </a:p>
          <a:p>
            <a:pPr algn="l" marL="177800" indent="-177800">
              <a:spcAft>
                <a:spcPts val="200"/>
              </a:spcAft>
              <a:buSzPct val="100000"/>
              <a:buChar char="•"/>
            </a:pPr>
            <a:r>
              <a:rPr lang="en-US" sz="1300" dirty="0">
                <a:solidFill>
                  <a:schemeClr val="tx1"/>
                </a:solidFill>
              </a:rPr>
              <a:t>Rumah besar: sumbangan listrik per rumah sekitar +75%</a:t>
            </a:r>
            <a:endParaRPr lang="en-US" sz="1300" dirty="0"/>
          </a:p>
          <a:p>
            <a:pPr algn="l" marL="177800" indent="-177800">
              <a:spcAft>
                <a:spcPts val="200"/>
              </a:spcAft>
              <a:buSzPct val="100000"/>
              <a:buChar char="•"/>
            </a:pPr>
            <a:r>
              <a:rPr lang="en-US" sz="1300" dirty="0">
                <a:solidFill>
                  <a:schemeClr val="tx1"/>
                </a:solidFill>
              </a:rPr>
              <a:t>Pita 5% ekstrem; antarkuartil +34% dan +35%</a:t>
            </a:r>
            <a:endParaRPr lang="en-US" sz="1300" dirty="0"/>
          </a:p>
        </p:txBody>
      </p:sp>
      <p:sp>
        <p:nvSpPr>
          <p:cNvPr id="7" name="Text 3"/>
          <p:cNvSpPr txBox="1"/>
          <p:nvPr/>
        </p:nvSpPr>
        <p:spPr>
          <a:xfrm>
            <a:off x="7589520" y="1691640"/>
            <a:ext cx="4050792" cy="274320"/>
          </a:xfrm>
          <a:prstGeom prst="rect">
            <a:avLst/>
          </a:prstGeom>
          <a:noFill/>
          <a:ln/>
        </p:spPr>
        <p:txBody>
          <a:bodyPr wrap="square" lIns="0" tIns="0" rIns="0" bIns="0" rtlCol="0" anchor="t"/>
          <a:lstStyle/>
          <a:p>
            <a:pPr algn="l" indent="0" marL="0">
              <a:buNone/>
            </a:pPr>
            <a:r>
              <a:rPr lang="en-US" sz="1200" b="1" dirty="0">
                <a:solidFill>
                  <a:schemeClr val="tx2"/>
                </a:solidFill>
              </a:rPr>
              <a:t>Target lomba dan aspek trilema (</a:t>
            </a:r>
            <a:pPr algn="l" indent="0" marL="0">
              <a:buNone/>
            </a:pPr>
            <a:r>
              <a:rPr lang="en-US" sz="1200" b="1" i="1" dirty="0">
                <a:solidFill>
                  <a:schemeClr val="tx2"/>
                </a:solidFill>
              </a:rPr>
              <a:t>writeup</a:t>
            </a:r>
            <a:pPr algn="l" indent="0" marL="0">
              <a:buNone/>
            </a:pPr>
            <a:r>
              <a:rPr lang="en-US" sz="1200" b="1" dirty="0">
                <a:solidFill>
                  <a:schemeClr val="tx2"/>
                </a:solidFill>
              </a:rPr>
              <a:t> bab 1)</a:t>
            </a:r>
            <a:endParaRPr lang="en-US" sz="1200" dirty="0"/>
          </a:p>
        </p:txBody>
      </p:sp>
      <p:graphicFrame>
        <p:nvGraphicFramePr>
          <p:cNvPr id="25" name="tabel target dan trilema"/>
          <p:cNvGraphicFramePr>
            <a:graphicFrameLocks noGrp="1"/>
          </p:cNvGraphicFramePr>
          <p:nvPr>
            <p:extLst>
              <p:ext uri="{D42A27DB-BD31-4B8C-83A1-F6EECF244321}">
                <p14:modId xmlns:p14="http://schemas.microsoft.com/office/powerpoint/2010/main" val="1579011935"/>
              </p:ext>
            </p:extLst>
          </p:nvPr>
        </p:nvGraphicFramePr>
        <p:xfrm>
          <a:off x="7589520" y="2011680"/>
          <a:ext cx="4050792" cy="914400"/>
        </p:xfrm>
        <a:graphic>
          <a:graphicData uri="http://schemas.openxmlformats.org/drawingml/2006/table">
            <a:tbl>
              <a:tblPr/>
              <a:tblGrid>
                <a:gridCol w="2148840"/>
                <a:gridCol w="1901952"/>
              </a:tblGrid>
              <a:tr h="384048">
                <a:tc>
                  <a:txBody>
                    <a:bodyPr/>
                    <a:lstStyle/>
                    <a:p>
                      <a:pPr algn="l" indent="0" marL="0">
                        <a:buNone/>
                      </a:pPr>
                      <a:r>
                        <a:rPr lang="en-US" sz="1300" b="1" dirty="0">
                          <a:solidFill>
                            <a:srgbClr val="FFFFFF"/>
                          </a:solidFill>
                        </a:rPr>
                        <a:t>Target</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300" b="1" dirty="0">
                          <a:solidFill>
                            <a:srgbClr val="FFFFFF"/>
                          </a:solidFill>
                        </a:rPr>
                        <a:t>Aspek trilema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400" dirty="0">
                          <a:solidFill>
                            <a:srgbClr val="1F2933"/>
                          </a:solidFill>
                        </a:rPr>
                        <a:t>gas total</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emisi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F2933"/>
                          </a:solidFill>
                        </a:rPr>
                        <a:t>listrik total</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beban jaringan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400" dirty="0">
                          <a:solidFill>
                            <a:srgbClr val="1F2933"/>
                          </a:solidFill>
                        </a:rPr>
                        <a:t>EUI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emisi dan biaya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F2933"/>
                          </a:solidFill>
                        </a:rPr>
                        <a:t>porsi bangunan bersih</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emisi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400" dirty="0">
                          <a:solidFill>
                            <a:srgbClr val="1F2933"/>
                          </a:solidFill>
                        </a:rPr>
                        <a:t>adopsi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transisi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548640" y="5852160"/>
            <a:ext cx="11094415" cy="457200"/>
          </a:xfrm>
          <a:prstGeom prst="rect">
            <a:avLst/>
          </a:prstGeom>
          <a:noFill/>
          <a:ln/>
        </p:spPr>
        <p:txBody>
          <a:bodyPr wrap="square" lIns="0" tIns="0" rIns="0" bIns="0" rtlCol="0" anchor="t"/>
          <a:lstStyle/>
          <a:p>
            <a:pPr algn="l" indent="0" marL="0">
              <a:buNone/>
            </a:pPr>
            <a:r>
              <a:rPr lang="en-US" sz="1200" b="1" dirty="0">
                <a:solidFill>
                  <a:schemeClr val="accent2"/>
                </a:solidFill>
              </a:rPr>
              <a:t>Menjawab: </a:t>
            </a:r>
            <a:pPr algn="l" indent="0" marL="0">
              <a:buNone/>
            </a:pPr>
            <a:r>
              <a:rPr lang="en-US" sz="1200" i="1" dirty="0">
                <a:solidFill>
                  <a:schemeClr val="accent5"/>
                </a:solidFill>
              </a:rPr>
              <a:t>"Apakah satu program bisa sekaligus menurunkan tagihan dan emisi?" · "Bagaimana lima target lomba berhubungan dengan trilema?"</a:t>
            </a:r>
            <a:endParaRPr lang="en-US" sz="1200" dirty="0"/>
          </a:p>
        </p:txBody>
      </p:sp>
      <p:sp>
        <p:nvSpPr>
          <p:cNvPr id="25" name="Slide Number Placeholder 0"/>
          <p:cNvSpPr>
            <a:spLocks noGrp="1"/>
          </p:cNvSpPr>
          <p:nvPr>
            <p:ph type="sldNum" sz="quarter" idx="4294967295"/>
          </p:nvPr>
        </p:nvSpPr>
        <p:spPr>
          <a:xfrm>
            <a:off x="11185855" y="641908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BISMILLAH Final v3">
  <a:themeElements>
    <a:clrScheme name="BISMILLAH Final v3">
      <a:dk1>
        <a:srgbClr val="1F2933"/>
      </a:dk1>
      <a:lt1>
        <a:srgbClr val="FFFFFF"/>
      </a:lt1>
      <a:dk2>
        <a:srgbClr val="16324F"/>
      </a:dk2>
      <a:lt2>
        <a:srgbClr val="EEF2F6"/>
      </a:lt2>
      <a:accent1>
        <a:srgbClr val="D97B29"/>
      </a:accent1>
      <a:accent2>
        <a:srgbClr val="1F7A8C"/>
      </a:accent2>
      <a:accent3>
        <a:srgbClr val="5B4A86"/>
      </a:accent3>
      <a:accent4>
        <a:srgbClr val="A7B1BD"/>
      </a:accent4>
      <a:accent5>
        <a:srgbClr val="5F6B7A"/>
      </a:accent5>
      <a:accent6>
        <a:srgbClr val="B83A3A"/>
      </a:accent6>
      <a:hlink>
        <a:srgbClr val="1F7A8C"/>
      </a:hlink>
      <a:folHlink>
        <a:srgbClr val="5B4A86"/>
      </a:folHlink>
    </a:clrScheme>
    <a:fontScheme name="BISMILLAH Final v3">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Tim BISMILLAH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DICE FEST 2026 Babak Final: Tim BISMILLAH</dc:title>
  <dc:subject>Presentasi final v3 (top-down, 9 menit 30 detik)</dc:subject>
  <dc:creator>Tim BISMILLAH</dc:creator>
  <cp:lastModifiedBy>Tim BISMILLAH</cp:lastModifiedBy>
  <cp:revision>1</cp:revision>
  <dcterms:created xsi:type="dcterms:W3CDTF">2026-10-28T02:21:18Z</dcterms:created>
  <dcterms:modified xsi:type="dcterms:W3CDTF">2026-10-28T02:21:18Z</dcterms:modified>
</cp:coreProperties>
</file>