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31"/>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 Pembukaan" id="{a8787d90-6fa0-42c1-b73c-3abe932e13c8}">
          <p14:sldIdLst>
            <p14:sldId id="256"/>
            <p14:sldId id="257"/>
          </p14:sldIdLst>
        </p14:section>
        <p14:section name="II. Rekayasa fitur" id="{2de2c55b-5253-5fe8-de38-f81b2f793576}">
          <p14:sldIdLst>
            <p14:sldId id="258"/>
            <p14:sldId id="259"/>
            <p14:sldId id="260"/>
          </p14:sldIdLst>
        </p14:section>
        <p14:section name="III. Arsitektur model" id="{dcf70a82-85eb-a38d-5577-e1ebb0ce5887}">
          <p14:sldIdLst>
            <p14:sldId id="261"/>
            <p14:sldId id="262"/>
          </p14:sldIdLst>
        </p14:section>
        <p14:section name="IV. Kebijakan publik" id="{d562bcf6-577f-3534-78fa-d55bf8be107d}">
          <p14:sldIdLst>
            <p14:sldId id="263"/>
            <p14:sldId id="264"/>
            <p14:sldId id="265"/>
            <p14:sldId id="266"/>
          </p14:sldIdLst>
        </p14:section>
        <p14:section name="V. Keterbatasan dan penutup" id="{aad8b17e-2030-bc57-8221-47ea0723dc41}">
          <p14:sldIdLst>
            <p14:sldId id="267"/>
            <p14:sldId id="268"/>
          </p14:sldIdLst>
        </p14:section>
        <p14:section name="Cadangan tanya jawab" id="{1fe8add3-1caf-4a8b-5bc4-65fc6f249f27}">
          <p14:sldIdLst>
            <p14:sldId id="269"/>
            <p14:sldId id="270"/>
            <p14:sldId id="271"/>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981778023191607"/>
          <c:y val="0.01492537313432837"/>
          <c:w val="0.5061660224553652"/>
          <c:h val="0.9701492537313433"/>
        </c:manualLayout>
      </c:layout>
      <c:barChart>
        <c:barDir val="bar"/>
        <c:grouping val="clustered"/>
        <c:varyColors val="0"/>
        <c:ser>
          <c:idx val="0"/>
          <c:order val="0"/>
          <c:tx>
            <c:strRef>
              <c:f>Sheet1!$B$1</c:f>
              <c:strCache>
                <c:ptCount val="1"/>
                <c:pt idx="0">
                  <c:v>nilai</c:v>
                </c:pt>
              </c:strCache>
            </c:strRef>
          </c:tx>
          <c:spPr>
            <a:solidFill>
              <a:srgbClr val="D97B2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B29"/>
              </a:solidFill>
              <a:effectLst/>
            </c:spPr>
          </c:dPt>
          <c:dPt>
            <c:idx val="1"/>
            <c:invertIfNegative val="0"/>
            <c:bubble3D val="0"/>
            <c:spPr>
              <a:solidFill>
                <a:srgbClr val="A7B1BD"/>
              </a:solidFill>
              <a:effectLst/>
            </c:spPr>
          </c:dPt>
          <c:dPt>
            <c:idx val="2"/>
            <c:invertIfNegative val="0"/>
            <c:bubble3D val="0"/>
            <c:spPr>
              <a:solidFill>
                <a:srgbClr val="A7B1BD"/>
              </a:solidFill>
              <a:effectLst/>
            </c:spPr>
          </c:dPt>
          <c:dPt>
            <c:idx val="3"/>
            <c:invertIfNegative val="0"/>
            <c:bubble3D val="0"/>
            <c:spPr>
              <a:solidFill>
                <a:srgbClr val="16324F"/>
              </a:solidFill>
              <a:effectLst/>
            </c:spPr>
          </c:dPt>
          <c:dPt>
            <c:idx val="4"/>
            <c:invertIfNegative val="0"/>
            <c:bubble3D val="0"/>
            <c:spPr>
              <a:solidFill>
                <a:srgbClr val="16324F"/>
              </a:solidFill>
              <a:effectLst/>
            </c:spPr>
          </c:dPt>
          <c:cat>
            <c:multiLvlStrRef>
              <c:f>Sheet1!$A$2:$A$6</c:f>
              <c:multiLvlStrCache>
                <c:ptCount val="5"/>
                <c:lvl>
                  <c:pt idx="0">
                    <c:v>area_per_meter</c:v>
                  </c:pt>
                  <c:pt idx="1">
                    <c:v>env_climate_05</c:v>
                  </c:pt>
                  <c:pt idx="2">
                    <c:v>socio_demog_082</c:v>
                  </c:pt>
                  <c:pt idx="3">
                    <c:v>area_per_epc</c:v>
                  </c:pt>
                  <c:pt idx="4">
                    <c:v>s002_ratio</c:v>
                  </c:pt>
                </c:lvl>
              </c:multiLvlStrCache>
            </c:multiLvlStrRef>
          </c:cat>
          <c:val>
            <c:numRef>
              <c:f>Sheet1!$B$2:$B$6</c:f>
              <c:numCache>
                <c:formatCode>General</c:formatCode>
                <c:ptCount val="5"/>
                <c:pt idx="0">
                  <c:v>0.0895</c:v>
                </c:pt>
                <c:pt idx="1">
                  <c:v>0.0321</c:v>
                </c:pt>
                <c:pt idx="2">
                  <c:v>0.0276</c:v>
                </c:pt>
                <c:pt idx="3">
                  <c:v>0.026</c:v>
                </c:pt>
                <c:pt idx="4">
                  <c:v>0.025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8"/>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981778023191607"/>
          <c:y val="0.014925373134328039"/>
          <c:w val="0.5061660224553652"/>
          <c:h val="0.9701492537313433"/>
        </c:manualLayout>
      </c:layout>
      <c:barChart>
        <c:barDir val="bar"/>
        <c:grouping val="clustered"/>
        <c:varyColors val="0"/>
        <c:ser>
          <c:idx val="0"/>
          <c:order val="0"/>
          <c:tx>
            <c:strRef>
              <c:f>Sheet1!$B$1</c:f>
              <c:strCache>
                <c:ptCount val="1"/>
                <c:pt idx="0">
                  <c:v>nilai</c:v>
                </c:pt>
              </c:strCache>
            </c:strRef>
          </c:tx>
          <c:spPr>
            <a:solidFill>
              <a:srgbClr val="D97B2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B29"/>
              </a:solidFill>
              <a:effectLst/>
            </c:spPr>
          </c:dPt>
          <c:dPt>
            <c:idx val="1"/>
            <c:invertIfNegative val="0"/>
            <c:bubble3D val="0"/>
            <c:spPr>
              <a:solidFill>
                <a:srgbClr val="16324F"/>
              </a:solidFill>
              <a:effectLst/>
            </c:spPr>
          </c:dPt>
          <c:dPt>
            <c:idx val="2"/>
            <c:invertIfNegative val="0"/>
            <c:bubble3D val="0"/>
            <c:spPr>
              <a:solidFill>
                <a:srgbClr val="A7B1BD"/>
              </a:solidFill>
              <a:effectLst/>
            </c:spPr>
          </c:dPt>
          <c:dPt>
            <c:idx val="3"/>
            <c:invertIfNegative val="0"/>
            <c:bubble3D val="0"/>
            <c:spPr>
              <a:solidFill>
                <a:srgbClr val="A7B1BD"/>
              </a:solidFill>
              <a:effectLst/>
            </c:spPr>
          </c:dPt>
          <c:dPt>
            <c:idx val="4"/>
            <c:invertIfNegative val="0"/>
            <c:bubble3D val="0"/>
            <c:spPr>
              <a:solidFill>
                <a:srgbClr val="A7B1BD"/>
              </a:solidFill>
              <a:effectLst/>
            </c:spPr>
          </c:dPt>
          <c:cat>
            <c:multiLvlStrRef>
              <c:f>Sheet1!$A$2:$A$6</c:f>
              <c:multiLvlStrCache>
                <c:ptCount val="5"/>
                <c:lvl>
                  <c:pt idx="0">
                    <c:v>area_per_meter</c:v>
                  </c:pt>
                  <c:pt idx="1">
                    <c:v>meters_per_epc</c:v>
                  </c:pt>
                  <c:pt idx="2">
                    <c:v>socio_demog_005</c:v>
                  </c:pt>
                  <c:pt idx="3">
                    <c:v>socio_demog_038</c:v>
                  </c:pt>
                  <c:pt idx="4">
                    <c:v>socio_demog_061</c:v>
                  </c:pt>
                </c:lvl>
              </c:multiLvlStrCache>
            </c:multiLvlStrRef>
          </c:cat>
          <c:val>
            <c:numRef>
              <c:f>Sheet1!$B$2:$B$6</c:f>
              <c:numCache>
                <c:formatCode>General</c:formatCode>
                <c:ptCount val="5"/>
                <c:pt idx="0">
                  <c:v>0.0895</c:v>
                </c:pt>
                <c:pt idx="1">
                  <c:v>0.0294</c:v>
                </c:pt>
                <c:pt idx="2">
                  <c:v>0.0222</c:v>
                </c:pt>
                <c:pt idx="3">
                  <c:v>0.0196</c:v>
                </c:pt>
                <c:pt idx="4">
                  <c:v>0.0163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8"/>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062893081761006345"/>
          <c:y val="0.014285714285714362"/>
          <c:w val="0.9874213836477986"/>
          <c:h val="0.9714285714285714"/>
        </c:manualLayout>
      </c:layout>
      <c:lineChart>
        <c:varyColors val="0"/>
        <c:ser>
          <c:idx val="0"/>
          <c:order val="0"/>
          <c:tx>
            <c:strRef>
              <c:f>Sheet1!$B$1</c:f>
              <c:strCache>
                <c:ptCount val="1"/>
                <c:pt idx="0">
                  <c:v>skor</c:v>
                </c:pt>
              </c:strCache>
            </c:strRef>
          </c:tx>
          <c:spPr>
            <a:solidFill>
              <a:srgbClr val="16324F"/>
            </a:solidFill>
            <a:ln w="31750" cap="flat">
              <a:solidFill>
                <a:srgbClr val="1632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10"/>
            <c:spPr>
              <a:solidFill>
                <a:srgbClr val="16324F"/>
              </a:solidFill>
              <a:ln w="19050" cap="flat">
                <a:solidFill>
                  <a:srgbClr val="FFFFFF"/>
                </a:solidFill>
                <a:prstDash val="solid"/>
                <a:round/>
              </a:ln>
              <a:effectLst/>
            </c:spPr>
          </c:marker>
          <c:cat>
            <c:strRef>
              <c:f>Sheet1!$A$2:$A$8</c:f>
              <c:strCache>
                <c:ptCount val="7"/>
                <c:pt idx="0">
                  <c:v>gambaran kawasan</c:v>
                </c:pt>
                <c:pt idx="1">
                  <c:v>koreksi galat, adopsi, MLP, salin duplikat, tanpa CatBoost</c:v>
                </c:pt>
                <c:pt idx="2">
                  <c:v>kawasan termirip</c:v>
                </c:pt>
                <c:pt idx="3">
                  <c:v>objektif baru</c:v>
                </c:pt>
                <c:pt idx="4">
                  <c:v>bobot adaptif</c:v>
                </c:pt>
                <c:pt idx="5">
                  <c:v>model NCA</c:v>
                </c:pt>
                <c:pt idx="6">
                  <c:v>penyesuaian akhir</c:v>
                </c:pt>
              </c:strCache>
            </c:strRef>
          </c:cat>
          <c:val>
            <c:numRef>
              <c:f>Sheet1!$B$2:$B$8</c:f>
              <c:numCache>
                <c:formatCode>General</c:formatCode>
                <c:ptCount val="7"/>
                <c:pt idx="0">
                  <c:v>0.25025</c:v>
                </c:pt>
                <c:pt idx="1">
                  <c:v>0.24954</c:v>
                </c:pt>
                <c:pt idx="2">
                  <c:v>0.24943</c:v>
                </c:pt>
                <c:pt idx="3">
                  <c:v>0.24934</c:v>
                </c:pt>
                <c:pt idx="4">
                  <c:v>0.24925</c:v>
                </c:pt>
                <c:pt idx="5">
                  <c:v>0.2492</c:v>
                </c:pt>
                <c:pt idx="6">
                  <c:v>0.24913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04"/>
          <c:min val="0.248"/>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7894736842105263"/>
          <c:y val="0.02142857142857161"/>
          <c:w val="0.3859649122807018"/>
          <c:h val="0.9571428571428573"/>
        </c:manualLayout>
      </c:layout>
      <c:barChart>
        <c:barDir val="bar"/>
        <c:grouping val="clustered"/>
        <c:varyColors val="0"/>
        <c:ser>
          <c:idx val="0"/>
          <c:order val="0"/>
          <c:tx>
            <c:strRef>
              <c:f>Sheet1!$B$1</c:f>
              <c:strCache>
                <c:ptCount val="1"/>
                <c:pt idx="0">
                  <c:v>nilai</c:v>
                </c:pt>
              </c:strCache>
            </c:strRef>
          </c:tx>
          <c:spPr>
            <a:solidFill>
              <a:srgbClr val="D97B2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B29"/>
              </a:solidFill>
              <a:effectLst/>
            </c:spPr>
          </c:dPt>
          <c:dPt>
            <c:idx val="1"/>
            <c:invertIfNegative val="0"/>
            <c:bubble3D val="0"/>
            <c:spPr>
              <a:solidFill>
                <a:srgbClr val="D97B29"/>
              </a:solidFill>
              <a:effectLst/>
            </c:spPr>
          </c:dPt>
          <c:dPt>
            <c:idx val="2"/>
            <c:invertIfNegative val="0"/>
            <c:bubble3D val="0"/>
            <c:spPr>
              <a:solidFill>
                <a:srgbClr val="D97B29"/>
              </a:solidFill>
              <a:effectLst/>
            </c:spPr>
          </c:dPt>
          <c:cat>
            <c:multiLvlStrRef>
              <c:f>Sheet1!$A$2:$A$4</c:f>
              <c:multiLvlStrCache>
                <c:ptCount val="3"/>
                <c:lvl>
                  <c:pt idx="0">
                    <c:v>REG_273</c:v>
                  </c:pt>
                  <c:pt idx="1">
                    <c:v>REG_270</c:v>
                  </c:pt>
                  <c:pt idx="2">
                    <c:v>REG_045</c:v>
                  </c:pt>
                </c:lvl>
              </c:multiLvlStrCache>
            </c:multiLvlStrRef>
          </c:cat>
          <c:val>
            <c:numRef>
              <c:f>Sheet1!$B$2:$B$4</c:f>
              <c:numCache>
                <c:formatCode>General</c:formatCode>
                <c:ptCount val="3"/>
                <c:pt idx="0">
                  <c:v>170.1</c:v>
                </c:pt>
                <c:pt idx="1">
                  <c:v>139.9</c:v>
                </c:pt>
                <c:pt idx="2">
                  <c:v>110.8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631578947368421"/>
          <c:y val="0.012345679012345415"/>
          <c:w val="0.32456140350877194"/>
          <c:h val="0.9753086419753086"/>
        </c:manualLayout>
      </c:layout>
      <c:barChart>
        <c:barDir val="bar"/>
        <c:grouping val="clustered"/>
        <c:varyColors val="0"/>
        <c:ser>
          <c:idx val="0"/>
          <c:order val="0"/>
          <c:tx>
            <c:strRef>
              <c:f>Sheet1!$B$1</c:f>
              <c:strCache>
                <c:ptCount val="1"/>
                <c:pt idx="0">
                  <c:v>COP 3</c:v>
                </c:pt>
              </c:strCache>
            </c:strRef>
          </c:tx>
          <c:spPr>
            <a:solidFill>
              <a:srgbClr val="D97B2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REG_263</c:v>
                </c:pt>
                <c:pt idx="1">
                  <c:v>REG_045</c:v>
                </c:pt>
                <c:pt idx="2">
                  <c:v>REG_270</c:v>
                </c:pt>
              </c:strCache>
            </c:strRef>
          </c:cat>
          <c:val>
            <c:numRef>
              <c:f>Sheet1!$B$2:$B$4</c:f>
              <c:numCache>
                <c:formatCode>General</c:formatCode>
                <c:ptCount val="3"/>
                <c:pt idx="0">
                  <c:v>757</c:v>
                </c:pt>
                <c:pt idx="1">
                  <c:v>442</c:v>
                </c:pt>
                <c:pt idx="2">
                  <c:v>434</c:v>
                </c:pt>
              </c:numCache>
            </c:numRef>
          </c:val>
        </c:ser>
        <c:ser>
          <c:idx val="1"/>
          <c:order val="1"/>
          <c:tx>
            <c:strRef>
              <c:f>Sheet1!$C$1</c:f>
              <c:strCache>
                <c:ptCount val="1"/>
                <c:pt idx="0">
                  <c:v>COP per iklim</c:v>
                </c:pt>
              </c:strCache>
            </c:strRef>
          </c:tx>
          <c:spPr>
            <a:solidFill>
              <a:srgbClr val="A7B1B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Sheet1!$A$2:$A$4</c:f>
              <c:strCache>
                <c:ptCount val="3"/>
                <c:pt idx="0">
                  <c:v>REG_263</c:v>
                </c:pt>
                <c:pt idx="1">
                  <c:v>REG_045</c:v>
                </c:pt>
                <c:pt idx="2">
                  <c:v>REG_270</c:v>
                </c:pt>
              </c:strCache>
            </c:strRef>
          </c:cat>
          <c:val>
            <c:numRef>
              <c:f>Sheet1!$C$2:$C$4</c:f>
              <c:numCache>
                <c:formatCode>General</c:formatCode>
                <c:ptCount val="3"/>
                <c:pt idx="0">
                  <c:v>805</c:v>
                </c:pt>
                <c:pt idx="1">
                  <c:v>525</c:v>
                </c:pt>
                <c:pt idx="2">
                  <c:v>514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[00:00–00:25 · 25 detik · Orang 1 (jangkar)]</a:t>
            </a:r>
          </a:p>
          <a:p/>
          <a:p>
            <a:r>
              <a:t>Bapak dan Ibu juri, kami tim BISMILLAH. Kota yang beralih dari pemanas gas ke pemanas listrik menghadapi trilema: emisi harus turun, jaringan tetap andal, dan biaya tetap terjangkau. Bila semua pemanas gas diganti pompa panas, median kenaikan konsumsi listrik tahunan zona mencapai 94,85 persen.</a:t>
            </a:r>
          </a:p>
          <a:p/>
          <a:p>
            <a:r>
              <a:t>Sumber: writeup bab 1 (definisi trilema); sel 48 (asumsi skenario); sel 50 (median 94,85%). Baris kaki setiap slide memakai penanda yang terlihat di notebook: nomor bagian (judul markdown) dan nomor eksekusi In [n] sel kode; baris Sumber memakai indeks sel dari 0 (sel 50 = In [35]; peta lengkapnya di bagian B4 dokumen struktur)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[00:25–01:00 · 35 detik · Orang 1 (jangkar)]</a:t>
            </a:r>
          </a:p>
          <a:p/>
          <a:p>
            <a:r>
              <a:t>Tesis kami: transisi 330 zona perlu diurutkan per kuadran, bukan diseragamkan. Pertama, demi biaya dan emisi, retrofit selubung didahulukan di 118 zona Q1 yang memuat 47 persen konsumsi gas. Kedua, demi keandalan, gardu di zona Q1 dan Q3 dinilai sebelum subsidi pompa panas dibuka. Ketiga, agar transisi terukur, kawasan bergas zona Q2 mulai dengan pilot. Rekan kami akan menunjukkan dasar analisisnya.</a:t>
            </a:r>
          </a:p>
          <a:p/>
          <a:p>
            <a:r>
              <a:t>Sumber: sel 49 (118 zona, porsi gas 0,468); sel 51 (rekomendasi; butir 3: zona Q1 dan Q3 untuk gardu); writeup bab 1 (aspek trilema per target)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[01:00–01:55 · 55 detik · Orang 2 (teknis)]</a:t>
            </a:r>
          </a:p>
          <a:p/>
          <a:p>
            <a:r>
              <a:t>Dasar pertama: fitur. Fitur utamanya sederhana: luas lantai kawasan dibagi jumlah meteran. Satu meteran kira-kira satu rumah tangga, jadi ini mendekati luas satu rumah. Fitur yang diam-diam membawa jawaban membuat skor tampak bagus, tetapi gagal di data baru. Risiko itu dikendalikan sejak desain: fitur ini hanya membagi dua kolom input baris yang sama, tanpa target, dengan rumus sama di data latih dan uji. Pada model penjelas, model terpisah yang dibaca dengan SHAP, rasio fisik turunan menyumbang 25 sampai 30 persen, dan fitur ini peringkat pertama, 2,8 dan 3,0 kali fitur kedua. Inilah dasar rekomendasi retrofit.</a:t>
            </a:r>
          </a:p>
          <a:p/>
          <a:p>
            <a:r>
              <a:t>Sumber: sel 28 (rumus dan alasan bebas target); sel 40 (model penjelas); sel 43 dan writeup B Tabel 3 (porsi rasio fisik 25%, 30%, 26%); sel 45 (mean |SHAP| 0,0895; 0,0321; 0,0294; keluarga "rasio fisik turunan"); deck/ppt01/bukti/cek_kebijakan.json (±37 dan ±173 m²); skrip cek terpisah di baris kaki = deck/ppt01/bukti/cek_kebijakan.py baris 163-176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[01:55–02:45 · 50 detik · Orang 2 (teknis)]</a:t>
            </a:r>
          </a:p>
          <a:p/>
          <a:p>
            <a:r>
              <a:t>Fitur kedua bersifat spasial. Untuk setiap kawasan, kami mencari kawasan dengan stok bangunan paling mirip di sekitarnya, lalu memakai rata-rata konsumsinya. Kedekatan diukur dari nomor subzona: 96,5 persen pasangan subzona bernomor berurutan berada di zona yang sama, jadi penomoran itu menjadi pendekatan lokasi. Karena memakai target tetangga, fitur ini berisiko bocor sehingga dihitung out-of-fold dua lapis. Lapis luar: baris yang dinilai hanya melihat tetangga dari sembilan fold lain. Lapis dalam: baris latih hanya melihat tetangga dari empat bagian lain, jadi tidak ada baris memakai targetnya sendiri.</a:t>
            </a:r>
          </a:p>
          <a:p/>
          <a:p>
            <a:r>
              <a:t>Sumber: sel 28 (definisi dan skema dua lapis); train_lib.Data.KNN_CONFIGS (sel 8: jendela 30, 100, 300); deck/ppt02/bukti/cek_zona_contoh.json (96,5%); skrip cek terpisah di baris kaki = deck/ppt02/bukti/cek_zona_contoh.py baris 97-104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[02:45–03:30 · 45 detik · Orang 2 (teknis)]</a:t>
            </a:r>
          </a:p>
          <a:p/>
          <a:p>
            <a:r>
              <a:t>Desain itu kami uji, bukan kami asumsikan. Label 42.931 baris validasi kami acak, lalu fitur dihitung ulang: fitur validasi dan kawasan uji tetap identik. Pada baris latih, label bagian dalam diacak: fitur bagian itu identik, bagian lain berubah karena memakainya sebagai tetangga, sesuai rancangan. Versi yang sengaja dibuat bocor berubah, jadi uji ini mampu menangkap kebocoran. Cakupannya dua blok fitur pada satu fold. Fitur ini menurunkan galat EUI model tunggal, dan prediksi untuk 30 persen nilai peta zona memakainya.</a:t>
            </a:r>
          </a:p>
          <a:p/>
          <a:p>
            <a:r>
              <a:t>Bila ditanya (tidak diucapkan): angka kontribusi ini −0,0022 pada galat EUI model tunggal (notebook bagian 2), diukur sebagai tambahan di atas model yang sudah memuat rata-rata target wilayah dan agregat kawasan. Kata "terbesar" tidak dipakai karena dalam ablasi pengembangan, rata-rata target wilayah memberi perbaikan setara atau lebih besar.</a:t>
            </a:r>
          </a:p>
          <a:p/>
          <a:p>
            <a:r>
              <a:t>Sumber: deck/ppt01/bukti/uji_kebocoran_notebook.json dan uji_kebocoran_oof_dalam.json; sel 28 (−0,0022); sel 24 (data uji tepat 30% dari seluruh baris)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[03:30–04:30 · 60 detik · Orang 2 (teknis)]</a:t>
            </a:r>
          </a:p>
          <a:p/>
          <a:p>
            <a:r>
              <a:t>Arsitekturnya mengikuti tiga fakta data. Pertama, di data latih, gas selalu sama dengan EUI dikali luas lantai, jadi keduanya ditangani satu jalur dengan 28 model. Kedua, porsi bangunan bersih tepat sama dengan satu rumus di 100 persen baris latih, jadi tanpa model. Ketiga, adopsi seragam per subzona, jadi adopsi 91,86 persen kawasan uji disalin dan 8,14 persen sisanya ditebak 2 LightGBM. Listrik punya jalur sendiri dengan 13 model. Model tiap jalur digabung berbobot adaptif, dikoreksi galat tetangga, lalu disesuaikan dengan batas data. Galat di kanan dihitung sebelum koreksi. Totalnya 43 model: 41 di-blend dan 2 terpisah. Semua ada di notebook 56 sel dengan satu sakelar pelatihan.</a:t>
            </a:r>
          </a:p>
          <a:p/>
          <a:p>
            <a:r>
              <a:t>Sumber: sel 23 (28 dan 13); sel 24 dan 25 (identitas: galat relatif maksimum 6,7e-16, 100,00% baris latih, 100,00% subzona, 91,86%); sel 30 (tiga jalur); sel 35 (dua LightGBM adopsi, porsi 0,0814; galat jujur); sel 39 (ringkasan galat); writeup bab 1 (skala metrik); deck/ppt01/pratinjau/slide-03.png dan slide-06.png (asal pita fakta dan judul); sel 0 (cara menjalankan: tanpa pelatihan sekitar 5 jam), sel 2 (In [1]: sakelar DICEFEST_TRAIN), sel 3 (17 modul Python)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[04:30–05:00 · 30 detik · Orang 2 (teknis)]</a:t>
            </a:r>
          </a:p>
          <a:p/>
          <a:p>
            <a:r>
              <a:t>Apakah arsitektur ini bekerja di data baru? Skor publik turun di setiap langkah. Skor privat dari data tersembunyi 0,24844, peringkat 8, tidak memburuk. Validasi meniru kondisi uji karena data latih dan uji tidak dapat dibedakan: AUC 0,4997. Berkas submisinya identik setiap diulang di perangkat yang sama. Rekan kami akan melanjutkan ke kebijakan.</a:t>
            </a:r>
          </a:p>
          <a:p/>
          <a:p>
            <a:r>
              <a:t>Sumber: Kaggle LB privat (24 Okt 2026; reports/STATUS.md); sel 35 (sha256); sel 37 (LB publik per langkah: 0,25025; 0,24954; 0,24943; 0,24934; 0,24925; 0,24920; 0,24913); sel 55 (AUC); deck/ppt01/pratinjau/slide-07.png (asal grafik); reports/cv_lb_history.csv baris v12r sampai v15ncrkd (isi langkah kedua: model adopsi, MLP dua keluaran, salinan duplikat, pencabutan CatBoost, koreksi kNN)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[05:00–05:55 · 55 detik · Orang 3 (kebijakan)]</a:t>
            </a:r>
          </a:p>
          <a:p/>
          <a:p>
            <a:r>
              <a:t>Sekarang kebijakan. Nilai aktual kawasan latih dan prediksi kawasan uji kami ringkas menjadi 330 zona. Ini peta kuadran, bukan peta geografis: sumbu mendatar intensitas gas zona, sumbu tegak kenaikan konsumsi listrik tahunan bila pemanas gas diganti pompa panas. Garis median membagi empat kuadran. Kuadran satu berisi 118 zona di atas median pada kedua sumbu dan memuat 47 persen konsumsi gas. Penilaian gardu menyasar kuadran satu dan tiga, yang kenaikan listriknya di atas median. Urutan zona tahan derau prediksi acak, tetapi berubah bila COP pompa panas berbeda per iklim. Jadi, peta ini daftar kandidat.</a:t>
            </a:r>
          </a:p>
          <a:p/>
          <a:p>
            <a:r>
              <a:t>Sumber: sel 48 (definisi), 49 (tabel kuadran), 50 (141,35 TWh; 7,39 TWh), 51 butir 3 (gardu di Q1 dan Q3); deck/ppt01/bukti/cek_kebijakan.json (Spearman); explain.zone_indices (sel 19, ambang median); skrip cek terpisah di baris kaki = deck/ppt01/bukti/cek_kebijakan.py baris 84-124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[05:55–06:45 · 50 detik · Orang 3 (kebijakan)]</a:t>
            </a:r>
          </a:p>
          <a:p/>
          <a:p>
            <a:r>
              <a:t>Rekomendasi pertama menyangkut retrofit. Temuan SHAP pada model penjelas: kawasan rumah terkecil punya sumbangan gas per meter persegi sekitar 65 persen lebih tinggi daripada rumah terbesar, dan satu periode bangunan sekitar 7 persen. Ini asosiasi, bukan sebab-akibat; kemungkinan karena dinding dan atap rumah kecil relatif luas. Temuan model mendukung rekomendasi ini: retrofit selubung lebih dulu di zona kuadran satu. Karena potensinya baru indikator, langkah pertamanya audit energi di REG_273, REG_270, dan REG_045, lalu pilot dengan pembanding. Pelaksananya pemerintah kota bersama penyedia jasa retrofit.</a:t>
            </a:r>
          </a:p>
          <a:p/>
          <a:p>
            <a:r>
              <a:t>Bila ditanya (tidak diucapkan): +65% di notebook bagian 7.1 adalah pembulatan dari 66,5% (deck/ppt01/bukti/cek_kebijakan.json); notebook menamai pitanya sekitar 30 dan 300 m² per meter (titik tengah interval), sedangkan grafik memakai rata-rata pita ±37 dan ±173 m².</a:t>
            </a:r>
          </a:p>
          <a:p/>
          <a:p>
            <a:r>
              <a:t>Sumber: sel 47 dan 48 (dependensi SHAP, bld_era_15, penjelasan selubung); sel 49 dan 50 (Q1, kandidat); deck/ppt01/bukti/cek_kebijakan.json (kontras 5% dan kuartil); deck/ppt02/bukti/cek_zona_contoh.json (kandidat tetap Q1); slide cadangan C6 (pelaksana); skrip cek terpisah di baris kaki = deck/ppt01/bukti/cek_kebijakan.py baris 163-176 (antarkuartil 33,7)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[06:45–07:35 · 50 detik · Orang 3 (kebijakan)]</a:t>
            </a:r>
          </a:p>
          <a:p/>
          <a:p>
            <a:r>
              <a:t>Rekomendasi kedua menyangkut keandalan jaringan. Temuan SHAP: ukuran rumah adalah fitur teratas untuk listrik per rumah, dan sumbangannya di rumah besar sekitar 75 persen lebih tinggi. Bila COP berbeda per iklim, peringkat kenaikan persen berubah: REG_290 turun dari 1 ke 47. Peringkat tambahan absolut teratas stabil, jadi titik awal dipilih menurut nilai absolut: REG_263, REG_045, dan REG_270. Ini energi tahunan; beban puncak dan kapasitas gardu tidak ada di data. Temuan model mendukung rekomendasi ini sebagai daftar skrining: gardu dinilai per zona sebelum subsidi. Pelaksananya operator jaringan dan pemerintah kota.</a:t>
            </a:r>
          </a:p>
          <a:p/>
          <a:p>
            <a:r>
              <a:t>Sumber: sel 45 (area_per_meter peringkat 1 listrik per meter); sel 47 dan 48 butir 1 (rumah besar sekitar 75% lebih banyak listrik per rumah); sel 48 (energi tahunan, data tanpa profil beban); sel 50 (sepuluh zona kenaikan tertinggi); sel 51 butir 3 (Q1 dan Q3); deck/ppt01/bukti/cek_kebijakan.json (74,6%; tambahan absolut); deck/ppt02/bukti/cek_zona_contoh.json (peringkat pada kedua skenario); tambahan absolut COP 3 (757, 442, 434 GWh): cek_kebijakan.json tambahan_absolut = sel 50 gas × 0,8 / 3; COP per iklim (805, 525, 514 GWh) dan peringkat: deck/ppt02/bukti/cek_zona_contoh.py baris 55-65, dijalankan read-only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[07:35–08:30 · 55 detik · Orang 3 (kebijakan)]</a:t>
            </a:r>
          </a:p>
          <a:p/>
          <a:p>
            <a:r>
              <a:t>Rekomendasi ketiga menyangkut adopsi. Temuan SHAP: sumbangan porsi gas jaringan pada adopsi menjadi negatif di atas 80 persen. Tingkat adopsinya 9,46 persen pada gas jaringan 60 sampai 80 persen, tetapi 2,73 persen di atas 80 persen, padahal kelompok itu 70 persen kawasan. Porsi jenis pemanas berjumlah tetap, jadi ini pola komposisi, bukan sebab-akibat. Temuan model mendukung rekomendasi ini: pilot pompa panas di kuadran dua seperti REG_033, yang intensitas gasnya tinggi tetapi persentase kenaikan listriknya di bawah median. Pilot didahului cek gardu dan memakai pembanding. Pelaksananya pemerintah kota dan penyedia pompa panas. Rekan kami akan menutup.</a:t>
            </a:r>
          </a:p>
          <a:p/>
          <a:p>
            <a:r>
              <a:t>Sumber: deck/ppt01/bukti/cek_kebijakan.json (tingkat adopsi per porsi gas jaringan); sel 47 dan 48 butir 4 (pola SHAP, +4 sampai +12 poin di bawah 40%, negatif di atas 80%); sel 51 butir 2 dan 4; deck/ppt02/bukti/cek_zona_contoh.json (REG_033 tetap Q2); deck/ppt01/pratinjau/slide-12.png (asal grafik); sel 49 dan 50 (setiap zona Q2 di bawah median 94,85%; rata-rata Q2 +90%, Q4 +87%); skrip cek terpisah di baris kaki = deck/ppt01/bukti/cek_kebijakan.py baris 44-52 dan deck/ppt02/bukti/cek_zona_contoh.py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[08:30–09:05 · 35 detik · Orang 1 (jangkar)]</a:t>
            </a:r>
          </a:p>
          <a:p/>
          <a:p>
            <a:r>
              <a:t>Ada tiga batas yang kami akui. Pertama, data tanpa beban puncak dan kapasitas gardu, jadi penilaian gardu tetap tugas operator. Kedua, COP lokal, ambang median, dan makna kolom belum pasti, jadi daftar zona hanya kandidat. Ketiga, SHAP bukan sebab-akibat dan potensi retrofit baru indikator, jadi perlu audit dan pilot. Rekomendasi ini dasar prioritas, bukan pengganti audit teknis atau validasi lapangan.</a:t>
            </a:r>
          </a:p>
          <a:p/>
          <a:p>
            <a:r>
              <a:t>Sumber: sel 28, 40, 48, dan 51 (keterbatasan); deck/ppt01/bukti/cek_kebijakan.json (kepekaan COP, komposisi potensi)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[09:05–09:30 · 25 detik · Orang 1 (jangkar)]</a:t>
            </a:r>
          </a:p>
          <a:p/>
          <a:p>
            <a:r>
              <a:t>Trilema tidak selesai dengan program seragam. Retrofit di kuadran satu menjawab biaya dan emisi, penilaian gardu di kuadran satu dan tiga menjaga keandalan, pilot di kuadran dua menguji transisi. Langkah pertama: audit energi, data gardu dari operator, dan satu pilot dengan pembanding. Terima kasih.</a:t>
            </a:r>
          </a:p>
          <a:p/>
          <a:p>
            <a:r>
              <a:t>Sumber: rangkuman slide 1, 2, 8 sampai 12; sel 51 butir 1 (kebutuhan panas turun mengurangi tagihan dan emisi) dan butir 3 (gardu di Q1 dan Q3)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C1 · penjawab: Orang 2]
Pertanyaan juri:
- "Apa yang dimaksud bobot adaptif?"
- "Apakah bobot sebanyak itu tidak *overfit*?"
- "Berapa sumbangannya terhadap skor?"
Pedoman jawaban: Model yang paling akurat di kawasan kecil belum tentu paling akurat di kawasan besar, sehingga bobotnya dibiarkan berubah halus menurut luas, jumlah meter, dan besar prediksi. Semua bobot tidak negatif dan jumlahnya kecil dibandingkan dengan 429.303 baris. Pada skor jujur, tidak ada kolom yang memburuk; perbaikan terbesar ada di EUI dan rata-rata lima target −0,000125. Catatan jujur: bentuk ini dipilih pada data yang sama, sehingga bukti independennya adalah leaderboard publik, yaitu 0,24934 menjadi 0,24925 (−0,00009). Tiga simpul tidak lebih baik daripada dua.
Sumber: sel 23, 35, 37; deck/ppt01/bukti/skor_jujur_bobot_adaptif.json; reports/DECISIONS.md D012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C2 · penjawab: Orang 2]
Pertanyaan juri:
- "Apakah koreksi ini memakai target data uji?"
- "Bagaimana λ dipilih, dan mengapa ada yang negatif?"
- "Berapa besar pengaruhnya?"
Pedoman jawaban: Setelah digabung, galat masih berkelompok: bila tetangga yang mirip sama-sama ditebak terlalu rendah, kawasan ini kemungkinan juga terlalu rendah. Untuk baris uji, yang dirata-rata hanya galat baris latih; target data uji tidak pernah dipakai. λ dipilih di holdout set yang tidak ikut menyusun tetangga, lalu dibekukan. λ negatif kecil muncul karena fitur tetangga saling berkorelasi; yang divalidasi adalah efek totalnya. Langkah "koreksi galat, adopsi, MLP, salin duplikat, tanpa CatBoost" di grafik slide 7 (0,25025 menjadi 0,24954) memuat koreksi galat tetangga (kNN), model adopsi, MLP dua keluaran, salinan duplikat, dan pencabutan CatBoost; bagian koreksi kNN sendiri sekitar 0,0004. Galat per target setelah koreksi tidak dicetak di notebook; yang tersedia hanya skor leaderboard rata-rata lima target.
Sumber: sel 22, 35, 37, 39; reports/DECISIONS.md D015; deck/fakta_turunan.md; reports/cv_lb_history.csv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C3 · penjawab: Orang 2]
Pertanyaan juri:
- "Bagaimana Anda tahu tidak ada kebocoran?"
- "Mengapa baris latih bagian lain berubah?"
- "Apakah agregat yang memakai data uji termasuk kebocoran?"
- "Apakah *early stopping* membuat galat *out-of-fold* bias?"
Pedoman jawaban: Baris validasi dan uji tidak membaca label validasi, dan baris latih tidak membaca label bagian dalamnya sendiri. Bagian lain berubah karena memakai bagian yang diacak sebagai tetangga; itu justru syarat lulus. Kontrol bocor membuktikan uji ini peka. Klaimnya terbatas pada dua blok fitur dan satu fold. Agregat kawasan hanya memakai kolom fitur, bukan target. XGBoost dan LightGBM memakai early stopping (penghentian pelatihan lebih awal) pada fold validasinya sendiri, sehingga galat out-of-fold sedikit optimistis; karena itu keputusan diambil dari holdout set. Bobot dari prediksi out-of-fold setara dengan bobot yang di-fit di holdout set (0,25096 vs 0,25095, D002). Yang diacak adalah kolom turunan tiga target konsumsi (gas, listrik, EUI), dengan modul notebook yang sama pada fold 0 dari 10.
Sumber: deck/ppt01/bukti/uji_kebocoran_notebook.py dan .json, uji_kebocoran_oof_dalam.json; sel 28, 36; reports/DECISIONS.md D002; adopt_v2.neighbour_feats (sel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C4 · penjawab: Orang 2]
Pertanyaan juri:
- "Mengapa 41 model, bukan satu model terbaik?"
- "*Notebook* menulis 42 model; mana yang benar?"
- "Apakah dua LightGBM adopsi ikut digabung?"
- "Berapa model yang sebenarnya dilatih?"
Pedoman jawaban: Angka 43 adalah jumlah model yang keluarannya masuk berkas submisi: 41 di dua kelompok gabungan berbobot adaptif, ditambah 2 LightGBM adopsi yang berdiri sendiri. Angka 41 dihitung per keluaran: MLP dua keluaran mk2 adalah satu jaringan yang menyumbang satu anggota ke jalur gas/EUI dan satu ke jalur listrik. Notebook melatih 42 model di jalur 1 dan 2, yaitu 36 model dengan sepuluh fold dan 6 model dengan lima fold. Satu keluaran tidak terpilih, yaitu mk1_gpm (keluaran gas dari MLP dua keluaran yang keluaran listriknya terpilih). Setiap anggota dilatih per fold, sebagian dengan tiga seed, sehingga di balik 41 anggota terdapat 550 model terlatih. Gabungan memperbaiki model tunggal terbaik sebesar 0,0083 untuk EUI, 0,0036 untuk gas, dan 0,0027 untuk listrik; angka ini diukur pada holdout set versi v16, bukan pada gabungan final.
Sumber: sel 23, 31, 32, 33, 35; writeup B bab 6; reports/KAGGLE_WRITEUP_TOP20.md bagian 3.3; configs/members.yaml (sel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C5 · penjawab: Orang 3]
Pertanyaan juri:
- "Apakah SHAP membuktikan sebab-akibat?"
- "Mengapa tidak membaca SHAP dari gabungan 41 model?"
- "Mengapa R² adopsi 0,991?"
- "Mengapa nilai 0,0895 muncul dua kali di sel 45?"
Pedoman jawaban: Tidak; SHAP (SHapley Additive exPlanations) menguraikan prediksi model menjadi sumbangan aditif tiap fitur, bukan efek intervensi. Karena itu setiap program diusulkan sebagai pilot dengan zona pembanding. Gabungan 41 model memakai rata-rata target wilayah, yang bukan tuas kebijakan, sehingga dilatih satu LightGBM penjelas per target (800 putaran) yang hanya memakai karakteristik terukur. TreeSHAP eksak dihitung pada sampel 20.000 baris latih untuk tabel dan grafik, sedangkan peta zona memakai kontribusi di seluruh 613 ribu kawasan. R² adopsi tinggi karena porsi jenis pemanas berjumlah 100%, bukan karena perilaku terjelaskan. Untuk alasan yang sama, porsi sosiodemografi 15% pada adopsi diukur terhadap total yang 81%-nya identitas komposisi, sehingga tidak dipakai sebagai bukti di slide utama. Peringkat area_per_meter adalah peringkat pada model penjelas, bukan ukuran sumbangannya pada akurasi prediksi. Nilai 0,0895 pada dua target adalah kebetulan pembulatan: nilai lengkapnya 0,08953 dan 0,08948. Nama kolom disamarkan panitia, sehingga maknanya berupa dugaan, kecuali bld_dim_06 sebagai luas lantai yang terbukti dari identitas EUI × luas lantai = gas. Kalimat aman: hindari "rumah kecil menyebabkan konsumsi gas tinggi", pakai "ukuran rumah yang kecil berkontribusi menaikkan prediksi gas per m² pada model penjelas"; hindari "sambungan gas menghambat adopsi", pakai "porsi gas jaringan yang tinggi berasosiasi dengan adopsi rendah, dan pola ini bersifat komposisi"; hindari "retrofit di Q1 menghemat 3,65 TWh", pakai "indikator potensi retrofit Q1 sebesar 3,65 TWh perlu diverifikasi dengan audit energi".
Sumber: sel 40, 41, 42, 45; writeup B Tabel 3; reports/policy/shap_eui.npz, shap_epm.npz; deck/ppt01/fakta_tambahan.md bagian C dan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C6 · penjawab: Orang 3]
Pertanyaan juri:
- "Data apa yang masih dibutuhkan sebelum eksekusi?"
- "Siapa yang menjalankan setiap rekomendasi?"
- "Bagaimana memvalidasinya di lapangan?"
Pedoman jawaban: Sebelum eksekusi dibutuhkan beban puncak dan kapasitas gardu dari operator, COP lokal per zona, dan hasil audit energi. Kenaikan yang dihitung adalah energi tahunan; beban puncak dapat jauh lebih besar karena pemanasan menumpuk di bulan terdingin dan COP turun saat dingin. Setiap program dijalankan sebagai pilot dengan zona pembanding sehingga dampaknya terukur sebelum diperluas. Subsidi R2 dibuka bertahap dengan tarif berbasis waktu pemakaian. Makna kolom yang disamarkan berupa dugaan, dan ambang kuadran berupa median.
Sumber: sel 48, 51; deck/ppt01/06_qna_juri_v2.md P11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C7 · penjawab: Orang 2]
Pertanyaan juri:
- "Mengapa tidak memakai validasi per wilayah (*GroupKFold*)?"
- "Apakah model *overfit* ke *leaderboard* publik?"
Pedoman jawaban: Data uji diambil acak per baris, sehingga 92% kawasan uji berada di subzona yang juga ada di data latih. Skema per zona menguji situasi yang tidak terjadi di data uji dan membuat rata-rata wilayah tampak merusak (EUI 0,6923 menjadi 0,8331). Komponen diterima berdasarkan holdout set; leaderboard hanya mengonfirmasi arah. Selisih privat dan publik yang kecil konsisten dengan tidak overfit, tetapi bukan bukti mutlak.
Sumber: writeup B Tabel 1; sel 54, 55; Kaggle LB privat; reports/DECISIONS.md D011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C8 · penjawab: Orang 2]
Pertanyaan juri:
- "Apa saja langkah setelah penggabungan?"
- "Bisakah hasilnya direproduksi?"
Pedoman jawaban: Perakitan berjalan dengan urutan tetap: gabung, koreksi, sesuaikan batas, salin duplikat, periksa, lalu tulis. S1 berasal dari prediksi out-of-fold penuh, k pada S3 dari holdout set, dan batas S4 dari data latih; semuanya dibekukan di satu berkas konfigurasi (D015).
Sumber: sel 0, 22, 30, 35, 37; deck/fakta_turunan.md; reports/DECISIONS.md D015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C9 · penjawab: Orang 2]
Pertanyaan juri:
- "Bagaimana memprediksi adopsi di subzona yang belum pernah terlihat?"
- "Mengapa dua LightGBM?"
- "Mengapa 8,14%?"
Pedoman jawaban: Adopsi seragam dalam satu subzona, sehingga 91,86% kawasan uji cukup disalin dari subzonanya. Untuk 8,14% sisanya, q_xent menebak peluang rumah tangga K berada di kategori lain yang bukan pemanas listrik (cross-entropy dengan bobot K), sedangkan r_reg menebak porsi kategori itu secara langsung. Adopsi adalah sisa porsi dikurangi tebakan tersebut, dan rata-rata kedua model lebih baik daripada masing-masing. Angka 8,14% adalah porsi kawasan uji, bukan porsi subzona, dan sesuai harapan pengacakan per baris (8,17%).
Sumber: sel 28, 35, 39, 54; final/nbrun_final/dicefest_nb/src/adopt_v2.py (docstring dan fit_predict); writeup B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C10 · penjawab: Orang 3]
Pertanyaan juri:
- "Seberapa yakin dengan urutan zona?"
- "Mengapa bukan REG_290, zona dengan kenaikan tertinggi, atau REG_259 dan REG_275?"
- "Mengapa pompa panas dulu di Q2, padahal potensi *retrofit* relatifnya lebih tinggi?"
- "Apakah 7,39 TWh realistis?"
Pedoman jawaban: Urutan zona hampir tidak terpengaruh derau acak karena setiap zona merata-ratakan banyak kawasan, tetapi sangat terpengaruh COP yang berbeda per iklim. Karena itu titik awal dipilih dari zona yang tetap sepuluh besar dalam persen dan tambahan absolut pada kedua skenario, yaitu REG_270 dan REG_045, ditambah REG_263 sebagai tambahan absolut terbesar. Enam zona tetap sepuluh besar dalam persen, tetapi REG_259 dan REG_275 menambah konsumsi listrik yang relatif kecil; keduanya, juga REG_290, tetap dinilai sebagai bagian daftar skrining. Urutan program di Q2 mengikuti tekanan jaringan: kenaikan listriknya di bawah median, sehingga elektrifikasi di sana menambah tekanan lebih sedikit daripada di Q1 dan Q3, sedangkan audit energi tetap berjalan di zona pilot. Angka 7,39 TWh adalah indikator dengan bias dua arah: definisinya ikut memuat ukuran rumah yang tidak dapat diubah retrofit (bila hanya periode bangunan dihitung, tersisa 0,513 bagian), tetapi acuannya rata-rata nasional, sehingga acuan praktik yang lebih baik akan membuatnya lebih besar. Audit energi yang menentukan angka nyatanya. Asumsi seragam hanya menskalakan angka (median +71,1% sampai +128,0%) tanpa mengubah urutan, dan galat yang berkelompok antartetangga belum diuji. Sebanyak 33 dari 47 zona Q2 dan 98 dari 118 zona Q1 tetap di kuadrannya. REG_249, zona Q2 di tabel sel 50, pindah ke Q1 pada COP per iklim (+90,07% menjadi +95,64%, median 94,60%), sehingga tidak dipakai sebagai contoh pilot.
Sumber: deck/ppt02/bukti/cek_zona_contoh.json (kuadran dan peringkat zona contoh, 33 dari 47, 98 dari 118); deck/ppt01/bukti/cek_kebijakan.json (200 simulasi derau, Spearman, 68 zona); sel 49 sampai 51 (REG_249 di tabel sel 50); writeup 7.3 dan Tabel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C11 · penjawab: Orang 3]
Pertanyaan juri:
- "Apakah satu program bisa sekaligus menurunkan tagihan dan emisi?"
- "Bagaimana lima target lomba berhubungan dengan trilema?"
Pedoman jawaban: Ini rekomendasi kelima notebook. Rumah kecil boros gas per meter persegi, sedangkan rumah besar boros listrik per rumah, sehingga program keterjangkauan sebaiknya menyasar kawasan rumah kecil dan bangunan lama, sedangkan program pengurangan emisi menyasar zona dengan volume gas terbesar, seperti REG_263 dan REG_273. Pola ini berupa sumbangan pada prediksi model penjelas, bukan efek kausal.
Sumber: sel 47, 48, 51 butir 5; writeup bab 1 dan 7.4 butir 5; deck/ppt01/bukti/cek_kebijakan.json; deck/ppt02/bukti/cek_zona_contoh.json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C12 · penjawab: Orang 2]</a:t>
            </a:r>
          </a:p>
          <a:p/>
          <a:p>
            <a:r>
              <a:t>Penjawab: Orang 2 (teknis), [PERLU DIISI: nama Orang 2 sesuai slide 1]</a:t>
            </a:r>
          </a:p>
          <a:p/>
          <a:p>
            <a:r>
              <a:t>Pertanyaan juri:</a:t>
            </a:r>
          </a:p>
          <a:p>
            <a:r>
              <a:t>- "Bagaimana nilai hilang dan pencilan ditangani?"</a:t>
            </a:r>
          </a:p>
          <a:p>
            <a:r>
              <a:t>- "Apakah ada data yang dibuang?"</a:t>
            </a:r>
          </a:p>
          <a:p>
            <a:r>
              <a:t>- "Mengapa sebagian anggota menebak logaritma target?"</a:t>
            </a:r>
          </a:p>
          <a:p/>
          <a:p>
            <a:r>
              <a:t>Pedoman jawaban:</a:t>
            </a:r>
          </a:p>
          <a:p>
            <a:r>
              <a:t>1. Nilai hilang: XGBoost dan LightGBM menerima NaN apa adanya (In [6]). MLP dan NCA mengisi NaN dengan 0 setelah standardisasi, setara rata-rata data latih, ditambah kolom penanda (In [7]). Kolom bernilai konstan dibuang (bagian 2).</a:t>
            </a:r>
          </a:p>
          <a:p>
            <a:r>
              <a:t>2. Pencilan: tidak ada baris yang dibuang sebagai pencilan; model ketiga target konsumsi memakai semua 429.303 baris latih (In [22]) dan target tidak dipotong saat pelatihan. Hanya nilai baku fitur MLP dan NCA yang dipotong di ±6 simpangan baku (In [7]).</a:t>
            </a:r>
          </a:p>
          <a:p>
            <a:r>
              <a:t>3. Batas data, bukan pencilan: gas latih tidak pernah di atas 999.765 kWh dan kawasan 2 sampai 4 meter ditebak terlalu rendah secara sistematis (bagian 3). Setelah prediksi, S1 menaikkan tebakan kawasan 2 sampai 4 meter, S3 menarik turun tebakan gas di dekat batas, S4 memotong ke rentang data latih, dan adopsi dipotong 0 sampai 100 (In [13], In [20]; faktornya di C8); leaderboard publik 0,24920 menjadi 0,24913 (In [28]).</a:t>
            </a:r>
          </a:p>
          <a:p>
            <a:r>
              <a:t>4. Target log: 10 dari 41 anggota menebak bentuk log; prediksinya dikembalikan dengan exp lalu digabung dengan bobot NNLS di skala asli (bagian 2, In [25]). Alasan memakai log: [PERLU DIISI: alasan log target]. Notebook hanya menampilkan sebaran gas, listrik, dan EUI dalam skala log10 karena rentangnya lebar (In [23]).</a:t>
            </a:r>
          </a:p>
          <a:p/>
          <a:p>
            <a:r>
              <a:t>Sumber: sel 4 (In [2] common.base_features, common.constant_cols), sel 8 (In [6] train_lib), sel 9 (In [7] nn.preprocess), sel 15 (In [13] pipeline._assemble, S1 sampai S4), sel 22 (In [20] resid_knn.json), sel 25 (In [22]), sel 26 dan 27 (In [23]), sel 28 (bagian 2), sel 30 (bagian 3), sel 31 (In [25]), sel 37 (In [28])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LAP">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548640" y="804672"/>
            <a:ext cx="11094415" cy="11887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txBox="1"/>
          <p:nvPr/>
        </p:nvSpPr>
        <p:spPr>
          <a:xfrm>
            <a:off x="548640" y="6400800"/>
            <a:ext cx="5669280" cy="274320"/>
          </a:xfrm>
          <a:prstGeom prst="rect">
            <a:avLst/>
          </a:prstGeom>
          <a:noFill/>
          <a:ln/>
        </p:spPr>
        <p:txBody>
          <a:bodyPr wrap="square" lIns="0" tIns="0" rIns="0" bIns="0" rtlCol="0" anchor="t"/>
          <a:lstStyle/>
          <a:p>
            <a:pPr indent="0" marL="0">
              <a:buNone/>
            </a:pPr>
            <a:r>
              <a:rPr lang="en-US" sz="1200" dirty="0">
                <a:solidFill>
                  <a:schemeClr val="accent4"/>
                </a:solidFill>
              </a:rPr>
              <a:t>Tim BISMILLAH · DICE FEST 2026 · Babak final</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NUTUP">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548640" y="804672"/>
            <a:ext cx="11094415" cy="16459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txBox="1"/>
          <p:nvPr/>
        </p:nvSpPr>
        <p:spPr>
          <a:xfrm>
            <a:off x="548640" y="6400800"/>
            <a:ext cx="5669280" cy="274320"/>
          </a:xfrm>
          <a:prstGeom prst="rect">
            <a:avLst/>
          </a:prstGeom>
          <a:noFill/>
          <a:ln/>
        </p:spPr>
        <p:txBody>
          <a:bodyPr wrap="square" lIns="0" tIns="0" rIns="0" bIns="0" rtlCol="0" anchor="t"/>
          <a:lstStyle/>
          <a:p>
            <a:pPr indent="0" marL="0">
              <a:buNone/>
            </a:pPr>
            <a:r>
              <a:rPr lang="en-US" sz="1200" dirty="0">
                <a:solidFill>
                  <a:schemeClr val="accent4"/>
                </a:solidFill>
              </a:rPr>
              <a:t>Tim BISMILLAH · DICE FEST 2026 · Babak final</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rtlCol="0"/>
          <a:lstStyle>
            <a:lvl1pPr algn="l" indent="0" marL="0">
              <a:buNone/>
              <a:defRPr lang="en-US" sz="1400" b="1" dirty="0">
                <a:solidFill>
                  <a:schemeClr val="accent2"/>
                </a:solidFill>
              </a:defRPr>
            </a:lvl1pPr>
          </a:lstStyle>
          <a:p>
            <a:pPr algn="l" indent="0" marL="0">
              <a:buNone/>
            </a:pP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txBox="1"/>
          <p:nvPr/>
        </p:nvSpPr>
        <p:spPr>
          <a:xfrm>
            <a:off x="548640" y="6400800"/>
            <a:ext cx="5669280" cy="274320"/>
          </a:xfrm>
          <a:prstGeom prst="rect">
            <a:avLst/>
          </a:prstGeom>
          <a:noFill/>
          <a:ln/>
        </p:spPr>
        <p:txBody>
          <a:bodyPr wrap="square" lIns="0" tIns="0" rIns="0" bIns="0" rtlCol="0" anchor="t"/>
          <a:lstStyle/>
          <a:p>
            <a:pPr indent="0" marL="0">
              <a:buNone/>
            </a:pPr>
            <a:r>
              <a:rPr lang="en-US" sz="1200" dirty="0">
                <a:solidFill>
                  <a:schemeClr val="accent5"/>
                </a:solidFill>
              </a:rPr>
              <a:t>Tim BISMILLAH · DICE FEST 2026 · Babak final</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ADANGA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rtlCol="0"/>
          <a:lstStyle>
            <a:lvl1pPr algn="l" indent="0" marL="0">
              <a:buNone/>
              <a:defRPr lang="en-US" sz="1400" b="1" dirty="0">
                <a:solidFill>
                  <a:schemeClr val="accent2"/>
                </a:solidFill>
              </a:defRPr>
            </a:lvl1pPr>
          </a:lstStyle>
          <a:p>
            <a:pPr algn="l" indent="0" marL="0">
              <a:buNone/>
            </a:pP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4" name="Text 0"/>
          <p:cNvSpPr txBox="1"/>
          <p:nvPr/>
        </p:nvSpPr>
        <p:spPr>
          <a:xfrm>
            <a:off x="548640" y="6400800"/>
            <a:ext cx="5669280" cy="274320"/>
          </a:xfrm>
          <a:prstGeom prst="rect">
            <a:avLst/>
          </a:prstGeom>
          <a:noFill/>
          <a:ln/>
        </p:spPr>
        <p:txBody>
          <a:bodyPr wrap="square" lIns="0" tIns="0" rIns="0" bIns="0" rtlCol="0" anchor="t"/>
          <a:lstStyle/>
          <a:p>
            <a:pPr indent="0" marL="0">
              <a:buNone/>
            </a:pPr>
            <a:r>
              <a:rPr lang="en-US" sz="1200" dirty="0">
                <a:solidFill>
                  <a:schemeClr val="accent5"/>
                </a:solidFill>
              </a:rPr>
              <a:t>Cadangan tanya jawab · Tim BISMILLAH · DICE FEST 2026 · Babak final</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chart" Target="../charts/chart1.xml"/><Relationship Id="rId8" Type="http://schemas.openxmlformats.org/officeDocument/2006/relationships/chart" Target="../charts/chart2.xml"/><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chart" Target="../charts/chart4.xml"/><Relationship Id="rId3" Type="http://schemas.openxmlformats.org/officeDocument/2006/relationships/image" Target="../media/image-9-2.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chart" Target="../charts/chart5.xml"/><Relationship Id="rId3" Type="http://schemas.openxmlformats.org/officeDocument/2006/relationships/image" Target="../media/image-10-2.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lIns="0" tIns="0" rIns="0" bIns="0" rtlCol="0" anchor="t"/>
          <a:lstStyle/>
          <a:p>
            <a:pPr algn="l" indent="0" marL="0">
              <a:buNone/>
            </a:pPr>
            <a:r>
              <a:rPr lang="en-US" sz="1400" b="1" dirty="0">
                <a:solidFill>
                  <a:schemeClr val="accent1"/>
                </a:solidFill>
              </a:rPr>
              <a:t>DICE FEST 2026 · BABAK FINAL · TIM BISMILLAH</a:t>
            </a:r>
            <a:endParaRPr lang="en-US" sz="1400" dirty="0"/>
          </a:p>
        </p:txBody>
      </p:sp>
      <p:sp>
        <p:nvSpPr>
          <p:cNvPr id="3" name="Text 0"/>
          <p:cNvSpPr/>
          <p:nvPr>
            <p:ph idx="101" type="title" hasCustomPrompt="1"/>
          </p:nvPr>
        </p:nvSpPr>
        <p:spPr>
          <a:xfrm>
            <a:off x="548640" y="804672"/>
            <a:ext cx="11094415" cy="1188720"/>
          </a:xfrm>
          <a:prstGeom prst="rect">
            <a:avLst/>
          </a:prstGeom>
          <a:noFill/>
          <a:ln/>
        </p:spPr>
        <p:txBody>
          <a:bodyPr wrap="square" lIns="0" tIns="0" rIns="0" bIns="0" rtlCol="0" anchor="t"/>
          <a:lstStyle/>
          <a:p>
            <a:pPr algn="l" indent="0" marL="0">
              <a:buNone/>
            </a:pPr>
            <a:r>
              <a:rPr lang="en-US" sz="3200" b="1" dirty="0">
                <a:solidFill>
                  <a:schemeClr val="bg1"/>
                </a:solidFill>
              </a:rPr>
              <a:t>Trilema energi kota: elektrifikasi penuh</a:t>
            </a:r>
            <a:br/>
            <a:pPr algn="l" indent="0" marL="0">
              <a:buNone/>
            </a:pPr>
            <a:r>
              <a:rPr lang="en-US" sz="3200" b="1" dirty="0">
                <a:solidFill>
                  <a:schemeClr val="bg1"/>
                </a:solidFill>
              </a:rPr>
              <a:t>hampir menggandakan konsumsi listrik zona</a:t>
            </a:r>
            <a:endParaRPr lang="en-US" sz="3200" dirty="0"/>
          </a:p>
        </p:txBody>
      </p:sp>
      <p:sp>
        <p:nvSpPr>
          <p:cNvPr id="4" name="segitiga trilema"/>
          <p:cNvSpPr/>
          <p:nvPr/>
        </p:nvSpPr>
        <p:spPr>
          <a:xfrm>
            <a:off x="1645920" y="2697480"/>
            <a:ext cx="3383280" cy="2468880"/>
          </a:xfrm>
          <a:prstGeom prst="triangle">
            <a:avLst/>
          </a:prstGeom>
          <a:solidFill>
            <a:schemeClr val="bg1">
              <a:alpha val="7000"/>
            </a:schemeClr>
          </a:solidFill>
          <a:ln w="19050">
            <a:solidFill>
              <a:schemeClr val="accent4"/>
            </a:solidFill>
            <a:prstDash val="solid"/>
          </a:ln>
        </p:spPr>
      </p:sp>
      <p:sp>
        <p:nvSpPr>
          <p:cNvPr id="5" name="sudut Emisi turun"/>
          <p:cNvSpPr/>
          <p:nvPr/>
        </p:nvSpPr>
        <p:spPr>
          <a:xfrm>
            <a:off x="2926080" y="2286000"/>
            <a:ext cx="822960" cy="822960"/>
          </a:xfrm>
          <a:prstGeom prst="ellipse">
            <a:avLst/>
          </a:prstGeom>
          <a:solidFill>
            <a:schemeClr val="accent1"/>
          </a:solidFill>
          <a:ln w="25400">
            <a:solidFill>
              <a:schemeClr val="bg1"/>
            </a:solidFill>
            <a:prstDash val="solid"/>
          </a:ln>
        </p:spPr>
      </p:sp>
      <p:pic>
        <p:nvPicPr>
          <p:cNvPr id="6" name="Image 0" descr="FaLeaf">    </p:cNvPr>
          <p:cNvPicPr>
            <a:picLocks noChangeAspect="1"/>
          </p:cNvPicPr>
          <p:nvPr/>
        </p:nvPicPr>
        <p:blipFill>
          <a:blip r:embed="rId1"/>
          <a:stretch>
            <a:fillRect/>
          </a:stretch>
        </p:blipFill>
        <p:spPr>
          <a:xfrm>
            <a:off x="3131820" y="2491740"/>
            <a:ext cx="411480" cy="411480"/>
          </a:xfrm>
          <a:prstGeom prst="rect">
            <a:avLst/>
          </a:prstGeom>
        </p:spPr>
      </p:pic>
      <p:sp>
        <p:nvSpPr>
          <p:cNvPr id="7" name="Text 4"/>
          <p:cNvSpPr txBox="1"/>
          <p:nvPr/>
        </p:nvSpPr>
        <p:spPr>
          <a:xfrm>
            <a:off x="3886200" y="2496312"/>
            <a:ext cx="2194560" cy="402336"/>
          </a:xfrm>
          <a:prstGeom prst="rect">
            <a:avLst/>
          </a:prstGeom>
          <a:noFill/>
          <a:ln/>
        </p:spPr>
        <p:txBody>
          <a:bodyPr wrap="square" lIns="0" tIns="0" rIns="0" bIns="0" rtlCol="0" anchor="ctr"/>
          <a:lstStyle/>
          <a:p>
            <a:pPr algn="l" indent="0" marL="0">
              <a:buNone/>
            </a:pPr>
            <a:r>
              <a:rPr lang="en-US" sz="1800" b="1" dirty="0">
                <a:solidFill>
                  <a:schemeClr val="bg1"/>
                </a:solidFill>
              </a:rPr>
              <a:t>Emisi turun</a:t>
            </a:r>
            <a:endParaRPr lang="en-US" sz="1800" dirty="0"/>
          </a:p>
        </p:txBody>
      </p:sp>
      <p:sp>
        <p:nvSpPr>
          <p:cNvPr id="8" name="sudut Biaya terjangkau"/>
          <p:cNvSpPr/>
          <p:nvPr/>
        </p:nvSpPr>
        <p:spPr>
          <a:xfrm>
            <a:off x="1234440" y="4754880"/>
            <a:ext cx="822960" cy="822960"/>
          </a:xfrm>
          <a:prstGeom prst="ellipse">
            <a:avLst/>
          </a:prstGeom>
          <a:solidFill>
            <a:schemeClr val="accent3"/>
          </a:solidFill>
          <a:ln w="25400">
            <a:solidFill>
              <a:schemeClr val="bg1"/>
            </a:solidFill>
            <a:prstDash val="solid"/>
          </a:ln>
        </p:spPr>
      </p:sp>
      <p:pic>
        <p:nvPicPr>
          <p:cNvPr id="9" name="Image 1" descr="FaWallet">    </p:cNvPr>
          <p:cNvPicPr>
            <a:picLocks noChangeAspect="1"/>
          </p:cNvPicPr>
          <p:nvPr/>
        </p:nvPicPr>
        <p:blipFill>
          <a:blip r:embed="rId2"/>
          <a:stretch>
            <a:fillRect/>
          </a:stretch>
        </p:blipFill>
        <p:spPr>
          <a:xfrm>
            <a:off x="1440180" y="4960620"/>
            <a:ext cx="411480" cy="411480"/>
          </a:xfrm>
          <a:prstGeom prst="rect">
            <a:avLst/>
          </a:prstGeom>
        </p:spPr>
      </p:pic>
      <p:sp>
        <p:nvSpPr>
          <p:cNvPr id="10" name="Text 6"/>
          <p:cNvSpPr txBox="1"/>
          <p:nvPr/>
        </p:nvSpPr>
        <p:spPr>
          <a:xfrm>
            <a:off x="548640" y="5669280"/>
            <a:ext cx="2194560" cy="402336"/>
          </a:xfrm>
          <a:prstGeom prst="rect">
            <a:avLst/>
          </a:prstGeom>
          <a:noFill/>
          <a:ln/>
        </p:spPr>
        <p:txBody>
          <a:bodyPr wrap="square" lIns="0" tIns="0" rIns="0" bIns="0" rtlCol="0" anchor="ctr"/>
          <a:lstStyle/>
          <a:p>
            <a:pPr algn="ctr" indent="0" marL="0">
              <a:buNone/>
            </a:pPr>
            <a:r>
              <a:rPr lang="en-US" sz="1800" b="1" dirty="0">
                <a:solidFill>
                  <a:schemeClr val="bg1"/>
                </a:solidFill>
              </a:rPr>
              <a:t>Biaya terjangkau</a:t>
            </a:r>
            <a:endParaRPr lang="en-US" sz="1800" dirty="0"/>
          </a:p>
        </p:txBody>
      </p:sp>
      <p:sp>
        <p:nvSpPr>
          <p:cNvPr id="11" name="sudut Jaringan listrik andal"/>
          <p:cNvSpPr/>
          <p:nvPr/>
        </p:nvSpPr>
        <p:spPr>
          <a:xfrm>
            <a:off x="4617720" y="4754880"/>
            <a:ext cx="822960" cy="822960"/>
          </a:xfrm>
          <a:prstGeom prst="ellipse">
            <a:avLst/>
          </a:prstGeom>
          <a:solidFill>
            <a:schemeClr val="accent2"/>
          </a:solidFill>
          <a:ln w="25400">
            <a:solidFill>
              <a:schemeClr val="bg1"/>
            </a:solidFill>
            <a:prstDash val="solid"/>
          </a:ln>
        </p:spPr>
      </p:sp>
      <p:pic>
        <p:nvPicPr>
          <p:cNvPr id="12" name="Image 2" descr="FaBolt">    </p:cNvPr>
          <p:cNvPicPr>
            <a:picLocks noChangeAspect="1"/>
          </p:cNvPicPr>
          <p:nvPr/>
        </p:nvPicPr>
        <p:blipFill>
          <a:blip r:embed="rId3"/>
          <a:stretch>
            <a:fillRect/>
          </a:stretch>
        </p:blipFill>
        <p:spPr>
          <a:xfrm>
            <a:off x="4823460" y="4960620"/>
            <a:ext cx="411480" cy="411480"/>
          </a:xfrm>
          <a:prstGeom prst="rect">
            <a:avLst/>
          </a:prstGeom>
        </p:spPr>
      </p:pic>
      <p:sp>
        <p:nvSpPr>
          <p:cNvPr id="13" name="Text 8"/>
          <p:cNvSpPr txBox="1"/>
          <p:nvPr/>
        </p:nvSpPr>
        <p:spPr>
          <a:xfrm>
            <a:off x="3749040" y="5669280"/>
            <a:ext cx="2560320" cy="402336"/>
          </a:xfrm>
          <a:prstGeom prst="rect">
            <a:avLst/>
          </a:prstGeom>
          <a:noFill/>
          <a:ln/>
        </p:spPr>
        <p:txBody>
          <a:bodyPr wrap="square" lIns="0" tIns="0" rIns="0" bIns="0" rtlCol="0" anchor="ctr"/>
          <a:lstStyle/>
          <a:p>
            <a:pPr algn="ctr" indent="0" marL="0">
              <a:buNone/>
            </a:pPr>
            <a:r>
              <a:rPr lang="en-US" sz="1800" b="1" dirty="0">
                <a:solidFill>
                  <a:schemeClr val="bg1"/>
                </a:solidFill>
              </a:rPr>
              <a:t>Jaringan listrik andal</a:t>
            </a:r>
            <a:endParaRPr lang="en-US" sz="1800" dirty="0"/>
          </a:p>
        </p:txBody>
      </p:sp>
      <p:sp>
        <p:nvSpPr>
          <p:cNvPr id="14" name="Text 9"/>
          <p:cNvSpPr txBox="1"/>
          <p:nvPr/>
        </p:nvSpPr>
        <p:spPr>
          <a:xfrm>
            <a:off x="2377440" y="4297680"/>
            <a:ext cx="1920240" cy="365760"/>
          </a:xfrm>
          <a:prstGeom prst="rect">
            <a:avLst/>
          </a:prstGeom>
          <a:noFill/>
          <a:ln/>
        </p:spPr>
        <p:txBody>
          <a:bodyPr wrap="square" lIns="0" tIns="0" rIns="0" bIns="0" rtlCol="0" anchor="ctr"/>
          <a:lstStyle/>
          <a:p>
            <a:pPr algn="ctr" indent="0" marL="0">
              <a:buNone/>
            </a:pPr>
            <a:r>
              <a:rPr lang="en-US" sz="1500" i="1" dirty="0">
                <a:solidFill>
                  <a:schemeClr val="accent4"/>
                </a:solidFill>
              </a:rPr>
              <a:t>saling tarik</a:t>
            </a:r>
            <a:endParaRPr lang="en-US" sz="1500" dirty="0"/>
          </a:p>
        </p:txBody>
      </p:sp>
      <p:sp>
        <p:nvSpPr>
          <p:cNvPr id="15" name="Text 10"/>
          <p:cNvSpPr txBox="1"/>
          <p:nvPr/>
        </p:nvSpPr>
        <p:spPr>
          <a:xfrm>
            <a:off x="6263640" y="2331720"/>
            <a:ext cx="5376672" cy="1234440"/>
          </a:xfrm>
          <a:prstGeom prst="rect">
            <a:avLst/>
          </a:prstGeom>
          <a:noFill/>
          <a:ln/>
        </p:spPr>
        <p:txBody>
          <a:bodyPr wrap="square" lIns="0" tIns="0" rIns="0" bIns="0" rtlCol="0" anchor="ctr"/>
          <a:lstStyle/>
          <a:p>
            <a:pPr algn="l" indent="0" marL="0">
              <a:buNone/>
            </a:pPr>
            <a:r>
              <a:rPr lang="en-US" sz="8000" b="1" dirty="0">
                <a:solidFill>
                  <a:schemeClr val="accent1"/>
                </a:solidFill>
              </a:rPr>
              <a:t>+94,85%</a:t>
            </a:r>
            <a:endParaRPr lang="en-US" sz="8000" dirty="0"/>
          </a:p>
        </p:txBody>
      </p:sp>
      <p:sp>
        <p:nvSpPr>
          <p:cNvPr id="16" name="Text 11"/>
          <p:cNvSpPr txBox="1"/>
          <p:nvPr/>
        </p:nvSpPr>
        <p:spPr>
          <a:xfrm>
            <a:off x="6263640" y="3611880"/>
            <a:ext cx="5120640" cy="914400"/>
          </a:xfrm>
          <a:prstGeom prst="rect">
            <a:avLst/>
          </a:prstGeom>
          <a:noFill/>
          <a:ln/>
        </p:spPr>
        <p:txBody>
          <a:bodyPr wrap="square" lIns="0" tIns="0" rIns="0" bIns="0" rtlCol="0" anchor="t"/>
          <a:lstStyle/>
          <a:p>
            <a:pPr algn="l" indent="0" marL="0">
              <a:buNone/>
            </a:pPr>
            <a:r>
              <a:rPr lang="en-US" sz="2000" dirty="0">
                <a:solidFill>
                  <a:schemeClr val="bg1"/>
                </a:solidFill>
              </a:rPr>
              <a:t>median kenaikan konsumsi listrik tahunan zona bila semua pemanas gas diganti pompa panas</a:t>
            </a:r>
            <a:endParaRPr lang="en-US" sz="2000" dirty="0"/>
          </a:p>
        </p:txBody>
      </p:sp>
      <p:sp>
        <p:nvSpPr>
          <p:cNvPr id="17" name="label ASUMSI"/>
          <p:cNvSpPr/>
          <p:nvPr/>
        </p:nvSpPr>
        <p:spPr>
          <a:xfrm>
            <a:off x="6263640" y="4754880"/>
            <a:ext cx="852952" cy="310896"/>
          </a:xfrm>
          <a:prstGeom prst="roundRect">
            <a:avLst>
              <a:gd name="adj" fmla="val 17647"/>
            </a:avLst>
          </a:prstGeom>
          <a:solidFill>
            <a:schemeClr val="bg1">
              <a:alpha val="15000"/>
            </a:schemeClr>
          </a:solidFill>
          <a:ln/>
        </p:spPr>
      </p:sp>
      <p:sp>
        <p:nvSpPr>
          <p:cNvPr id="18" name="Text 13"/>
          <p:cNvSpPr txBox="1"/>
          <p:nvPr/>
        </p:nvSpPr>
        <p:spPr>
          <a:xfrm>
            <a:off x="6263640" y="4754880"/>
            <a:ext cx="852952"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ASUMSI</a:t>
            </a:r>
            <a:endParaRPr lang="en-US" sz="1400" dirty="0"/>
          </a:p>
        </p:txBody>
      </p:sp>
      <p:sp>
        <p:nvSpPr>
          <p:cNvPr id="19" name="Text 14"/>
          <p:cNvSpPr txBox="1"/>
          <p:nvPr/>
        </p:nvSpPr>
        <p:spPr>
          <a:xfrm>
            <a:off x="6263640" y="5166360"/>
            <a:ext cx="5120640" cy="685800"/>
          </a:xfrm>
          <a:prstGeom prst="rect">
            <a:avLst/>
          </a:prstGeom>
          <a:noFill/>
          <a:ln/>
        </p:spPr>
        <p:txBody>
          <a:bodyPr wrap="square" lIns="0" tIns="0" rIns="0" bIns="0" rtlCol="0" anchor="t"/>
          <a:lstStyle/>
          <a:p>
            <a:pPr algn="l" indent="0" marL="0">
              <a:buNone/>
            </a:pPr>
            <a:r>
              <a:rPr lang="en-US" sz="1500" dirty="0">
                <a:solidFill>
                  <a:schemeClr val="accent4"/>
                </a:solidFill>
              </a:rPr>
              <a:t>80% gas untuk pemanasan, COP 3 (3 kWh panas per 1 kWh listrik); energi tahunan, bukan beban puncak</a:t>
            </a:r>
            <a:endParaRPr lang="en-US" sz="1500" dirty="0"/>
          </a:p>
        </p:txBody>
      </p:sp>
      <p:sp>
        <p:nvSpPr>
          <p:cNvPr id="20"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4"/>
                </a:solidFill>
              </a:rPr>
              <a:t>Notebook: bagian 7.2, In [35]</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a:t>
            </a:fld>
            <a:endParaRPr lang="en-US"/>
          </a:p>
        </p:txBody>
      </p:sp>
      <p:sp>
        <p:nvSpPr>
          <p:cNvPr id="26" name="pembicara"/>
          <p:cNvSpPr txBox="1"/>
          <p:nvPr/>
        </p:nvSpPr>
        <p:spPr>
          <a:xfrm>
            <a:off x="6263640" y="5870448"/>
            <a:ext cx="5376672" cy="502920"/>
          </a:xfrm>
          <a:prstGeom prst="rect">
            <a:avLst/>
          </a:prstGeom>
          <a:noFill/>
          <a:ln/>
        </p:spPr>
        <p:txBody>
          <a:bodyPr wrap="square" lIns="0" tIns="0" rIns="0" bIns="0" rtlCol="0" anchor="t"/>
          <a:lstStyle/>
          <a:p>
            <a:pPr algn="l" indent="0" marL="0">
              <a:buNone/>
            </a:pPr>
            <a:r>
              <a:rPr lang="en-US" sz="1500" dirty="0">
                <a:solidFill>
                  <a:schemeClr val="accent4"/>
                </a:solidFill>
              </a:rPr>
              <a:t>Pembicara: [PERLU DIISI: nama dan peran pembicara]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 · RINGKASAN EKSEKUTIF</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Transisi 330 zona perlu diurutkan per kuadran, bukan diseragamkan</a:t>
            </a:r>
            <a:endParaRPr lang="en-US" sz="2800" dirty="0"/>
          </a:p>
        </p:txBody>
      </p:sp>
      <p:sp>
        <p:nvSpPr>
          <p:cNvPr id="4" name="kartu R1"/>
          <p:cNvSpPr/>
          <p:nvPr/>
        </p:nvSpPr>
        <p:spPr>
          <a:xfrm>
            <a:off x="548640" y="1828800"/>
            <a:ext cx="3515258" cy="3657600"/>
          </a:xfrm>
          <a:prstGeom prst="roundRect">
            <a:avLst>
              <a:gd name="adj" fmla="val 3121"/>
            </a:avLst>
          </a:prstGeom>
          <a:solidFill>
            <a:schemeClr val="bg2"/>
          </a:solidFill>
          <a:ln/>
        </p:spPr>
      </p:sp>
      <p:sp>
        <p:nvSpPr>
          <p:cNvPr id="5" name="nomor 1"/>
          <p:cNvSpPr/>
          <p:nvPr/>
        </p:nvSpPr>
        <p:spPr>
          <a:xfrm>
            <a:off x="768096" y="2048256"/>
            <a:ext cx="566928" cy="566928"/>
          </a:xfrm>
          <a:prstGeom prst="ellipse">
            <a:avLst/>
          </a:prstGeom>
          <a:solidFill>
            <a:schemeClr val="accent1"/>
          </a:solidFill>
          <a:ln/>
        </p:spPr>
      </p:sp>
      <p:sp>
        <p:nvSpPr>
          <p:cNvPr id="6" name="Text 4"/>
          <p:cNvSpPr txBox="1"/>
          <p:nvPr/>
        </p:nvSpPr>
        <p:spPr>
          <a:xfrm>
            <a:off x="768096" y="2048256"/>
            <a:ext cx="566928" cy="566928"/>
          </a:xfrm>
          <a:prstGeom prst="rect">
            <a:avLst/>
          </a:prstGeom>
          <a:noFill/>
          <a:ln/>
        </p:spPr>
        <p:txBody>
          <a:bodyPr wrap="square" lIns="0" tIns="0" rIns="0" bIns="0" rtlCol="0" anchor="ctr"/>
          <a:lstStyle/>
          <a:p>
            <a:pPr algn="ctr" indent="0" marL="0">
              <a:buNone/>
            </a:pPr>
            <a:r>
              <a:rPr lang="en-US" sz="2100" b="1" dirty="0">
                <a:solidFill>
                  <a:schemeClr val="bg1"/>
                </a:solidFill>
              </a:rPr>
              <a:t>1</a:t>
            </a:r>
            <a:endParaRPr lang="en-US" sz="2100" dirty="0"/>
          </a:p>
        </p:txBody>
      </p:sp>
      <p:sp>
        <p:nvSpPr>
          <p:cNvPr id="7" name="kuadran Q3"/>
          <p:cNvSpPr/>
          <p:nvPr/>
        </p:nvSpPr>
        <p:spPr>
          <a:xfrm>
            <a:off x="2966618" y="2029968"/>
            <a:ext cx="384048" cy="384048"/>
          </a:xfrm>
          <a:prstGeom prst="roundRect">
            <a:avLst>
              <a:gd name="adj" fmla="val 11905"/>
            </a:avLst>
          </a:prstGeom>
          <a:solidFill>
            <a:schemeClr val="bg1"/>
          </a:solidFill>
          <a:ln w="9525">
            <a:solidFill>
              <a:srgbClr val="D5DBE3"/>
            </a:solidFill>
            <a:prstDash val="solid"/>
          </a:ln>
        </p:spPr>
      </p:sp>
      <p:sp>
        <p:nvSpPr>
          <p:cNvPr id="8" name="Text 6"/>
          <p:cNvSpPr txBox="1"/>
          <p:nvPr/>
        </p:nvSpPr>
        <p:spPr>
          <a:xfrm>
            <a:off x="2966618" y="2029968"/>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Q3</a:t>
            </a:r>
            <a:endParaRPr lang="en-US" sz="1400" dirty="0"/>
          </a:p>
        </p:txBody>
      </p:sp>
      <p:sp>
        <p:nvSpPr>
          <p:cNvPr id="9" name="kuadran Q1 (sasaran)"/>
          <p:cNvSpPr/>
          <p:nvPr/>
        </p:nvSpPr>
        <p:spPr>
          <a:xfrm>
            <a:off x="3396386" y="2029968"/>
            <a:ext cx="384048" cy="384048"/>
          </a:xfrm>
          <a:prstGeom prst="roundRect">
            <a:avLst>
              <a:gd name="adj" fmla="val 11905"/>
            </a:avLst>
          </a:prstGeom>
          <a:solidFill>
            <a:schemeClr val="accent1"/>
          </a:solidFill>
          <a:ln/>
        </p:spPr>
      </p:sp>
      <p:sp>
        <p:nvSpPr>
          <p:cNvPr id="10" name="Text 8"/>
          <p:cNvSpPr txBox="1"/>
          <p:nvPr/>
        </p:nvSpPr>
        <p:spPr>
          <a:xfrm>
            <a:off x="3396386" y="20299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Q1</a:t>
            </a:r>
            <a:endParaRPr lang="en-US" sz="1400" dirty="0"/>
          </a:p>
        </p:txBody>
      </p:sp>
      <p:sp>
        <p:nvSpPr>
          <p:cNvPr id="11" name="kuadran Q4"/>
          <p:cNvSpPr/>
          <p:nvPr/>
        </p:nvSpPr>
        <p:spPr>
          <a:xfrm>
            <a:off x="2966618" y="2459736"/>
            <a:ext cx="384048" cy="384048"/>
          </a:xfrm>
          <a:prstGeom prst="roundRect">
            <a:avLst>
              <a:gd name="adj" fmla="val 11905"/>
            </a:avLst>
          </a:prstGeom>
          <a:solidFill>
            <a:schemeClr val="bg1"/>
          </a:solidFill>
          <a:ln w="9525">
            <a:solidFill>
              <a:srgbClr val="D5DBE3"/>
            </a:solidFill>
            <a:prstDash val="solid"/>
          </a:ln>
        </p:spPr>
      </p:sp>
      <p:sp>
        <p:nvSpPr>
          <p:cNvPr id="12" name="Text 10"/>
          <p:cNvSpPr txBox="1"/>
          <p:nvPr/>
        </p:nvSpPr>
        <p:spPr>
          <a:xfrm>
            <a:off x="2966618" y="2459736"/>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Q4</a:t>
            </a:r>
            <a:endParaRPr lang="en-US" sz="1400" dirty="0"/>
          </a:p>
        </p:txBody>
      </p:sp>
      <p:sp>
        <p:nvSpPr>
          <p:cNvPr id="13" name="kuadran Q2"/>
          <p:cNvSpPr/>
          <p:nvPr/>
        </p:nvSpPr>
        <p:spPr>
          <a:xfrm>
            <a:off x="3396386" y="2459736"/>
            <a:ext cx="384048" cy="384048"/>
          </a:xfrm>
          <a:prstGeom prst="roundRect">
            <a:avLst>
              <a:gd name="adj" fmla="val 11905"/>
            </a:avLst>
          </a:prstGeom>
          <a:solidFill>
            <a:schemeClr val="bg1"/>
          </a:solidFill>
          <a:ln w="9525">
            <a:solidFill>
              <a:srgbClr val="D5DBE3"/>
            </a:solidFill>
            <a:prstDash val="solid"/>
          </a:ln>
        </p:spPr>
      </p:sp>
      <p:sp>
        <p:nvSpPr>
          <p:cNvPr id="14" name="Text 12"/>
          <p:cNvSpPr txBox="1"/>
          <p:nvPr/>
        </p:nvSpPr>
        <p:spPr>
          <a:xfrm>
            <a:off x="3396386" y="2459736"/>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Q2</a:t>
            </a:r>
            <a:endParaRPr lang="en-US" sz="1400" dirty="0"/>
          </a:p>
        </p:txBody>
      </p:sp>
      <p:sp>
        <p:nvSpPr>
          <p:cNvPr id="15" name="Text 13"/>
          <p:cNvSpPr txBox="1"/>
          <p:nvPr/>
        </p:nvSpPr>
        <p:spPr>
          <a:xfrm>
            <a:off x="822960" y="2926080"/>
            <a:ext cx="3058058" cy="777240"/>
          </a:xfrm>
          <a:prstGeom prst="rect">
            <a:avLst/>
          </a:prstGeom>
          <a:noFill/>
          <a:ln/>
        </p:spPr>
        <p:txBody>
          <a:bodyPr wrap="square" lIns="0" tIns="0" rIns="0" bIns="0" rtlCol="0" anchor="t"/>
          <a:lstStyle/>
          <a:p>
            <a:pPr algn="l" indent="0" marL="0">
              <a:buNone/>
            </a:pPr>
            <a:r>
              <a:rPr lang="en-US" sz="2000" b="1" i="1" dirty="0">
                <a:solidFill>
                  <a:schemeClr val="tx1"/>
                </a:solidFill>
              </a:rPr>
              <a:t>Retrofit</a:t>
            </a:r>
            <a:pPr algn="l" indent="0" marL="0">
              <a:buNone/>
            </a:pPr>
            <a:r>
              <a:rPr lang="en-US" sz="2000" b="1" dirty="0">
                <a:solidFill>
                  <a:schemeClr val="tx1"/>
                </a:solidFill>
              </a:rPr>
              <a:t> selubung dulu di zona Q1</a:t>
            </a:r>
            <a:endParaRPr lang="en-US" sz="2000" dirty="0"/>
          </a:p>
        </p:txBody>
      </p:sp>
      <p:sp>
        <p:nvSpPr>
          <p:cNvPr id="16" name="Text 14"/>
          <p:cNvSpPr txBox="1"/>
          <p:nvPr/>
        </p:nvSpPr>
        <p:spPr>
          <a:xfrm>
            <a:off x="822960" y="3703320"/>
            <a:ext cx="3058058" cy="685800"/>
          </a:xfrm>
          <a:prstGeom prst="rect">
            <a:avLst/>
          </a:prstGeom>
          <a:noFill/>
          <a:ln/>
        </p:spPr>
        <p:txBody>
          <a:bodyPr wrap="square" lIns="0" tIns="0" rIns="0" bIns="0" rtlCol="0" anchor="ctr"/>
          <a:lstStyle/>
          <a:p>
            <a:pPr algn="l" indent="0" marL="0">
              <a:buNone/>
            </a:pPr>
            <a:r>
              <a:rPr lang="en-US" sz="4000" b="1" dirty="0">
                <a:solidFill>
                  <a:schemeClr val="accent1"/>
                </a:solidFill>
              </a:rPr>
              <a:t>118 zona</a:t>
            </a:r>
            <a:endParaRPr lang="en-US" sz="1600" dirty="0"/>
          </a:p>
        </p:txBody>
      </p:sp>
      <p:sp>
        <p:nvSpPr>
          <p:cNvPr id="17" name="Text 15"/>
          <p:cNvSpPr txBox="1"/>
          <p:nvPr/>
        </p:nvSpPr>
        <p:spPr>
          <a:xfrm>
            <a:off x="822960" y="4389120"/>
            <a:ext cx="3058058" cy="365760"/>
          </a:xfrm>
          <a:prstGeom prst="rect">
            <a:avLst/>
          </a:prstGeom>
          <a:noFill/>
          <a:ln/>
        </p:spPr>
        <p:txBody>
          <a:bodyPr wrap="square" lIns="0" tIns="0" rIns="0" bIns="0" rtlCol="0" anchor="t"/>
          <a:lstStyle/>
          <a:p>
            <a:pPr algn="l" indent="0" marL="0">
              <a:buNone/>
            </a:pPr>
            <a:r>
              <a:rPr lang="en-US" sz="1800" b="1" dirty="0">
                <a:solidFill>
                  <a:schemeClr val="accent1"/>
                </a:solidFill>
              </a:rPr>
              <a:t>47% konsumsi gas</a:t>
            </a:r>
            <a:endParaRPr lang="en-US" sz="1800" dirty="0"/>
          </a:p>
        </p:txBody>
      </p:sp>
      <p:sp>
        <p:nvSpPr>
          <p:cNvPr id="18" name="titik trilema 1"/>
          <p:cNvSpPr/>
          <p:nvPr/>
        </p:nvSpPr>
        <p:spPr>
          <a:xfrm>
            <a:off x="822960" y="5001768"/>
            <a:ext cx="182880" cy="182880"/>
          </a:xfrm>
          <a:prstGeom prst="ellipse">
            <a:avLst/>
          </a:prstGeom>
          <a:solidFill>
            <a:schemeClr val="accent1"/>
          </a:solidFill>
          <a:ln/>
        </p:spPr>
      </p:sp>
      <p:sp>
        <p:nvSpPr>
          <p:cNvPr id="19" name="titik trilema 2"/>
          <p:cNvSpPr/>
          <p:nvPr/>
        </p:nvSpPr>
        <p:spPr>
          <a:xfrm>
            <a:off x="1060704" y="5001768"/>
            <a:ext cx="182880" cy="182880"/>
          </a:xfrm>
          <a:prstGeom prst="ellipse">
            <a:avLst/>
          </a:prstGeom>
          <a:solidFill>
            <a:schemeClr val="accent3"/>
          </a:solidFill>
          <a:ln/>
        </p:spPr>
      </p:sp>
      <p:sp>
        <p:nvSpPr>
          <p:cNvPr id="20" name="Text 18"/>
          <p:cNvSpPr txBox="1"/>
          <p:nvPr/>
        </p:nvSpPr>
        <p:spPr>
          <a:xfrm>
            <a:off x="1371600" y="4937760"/>
            <a:ext cx="2743200" cy="310896"/>
          </a:xfrm>
          <a:prstGeom prst="rect">
            <a:avLst/>
          </a:prstGeom>
          <a:noFill/>
          <a:ln/>
        </p:spPr>
        <p:txBody>
          <a:bodyPr wrap="square" lIns="0" tIns="0" rIns="0" bIns="0" rtlCol="0" anchor="ctr"/>
          <a:lstStyle/>
          <a:p>
            <a:pPr algn="l" indent="0" marL="0">
              <a:buNone/>
            </a:pPr>
            <a:r>
              <a:rPr lang="en-US" sz="1500" b="1" dirty="0">
                <a:solidFill>
                  <a:schemeClr val="tx1"/>
                </a:solidFill>
              </a:rPr>
              <a:t>biaya dan emisi</a:t>
            </a:r>
            <a:endParaRPr lang="en-US" sz="1500" dirty="0"/>
          </a:p>
        </p:txBody>
      </p:sp>
      <p:sp>
        <p:nvSpPr>
          <p:cNvPr id="21" name="kartu R2"/>
          <p:cNvSpPr/>
          <p:nvPr/>
        </p:nvSpPr>
        <p:spPr>
          <a:xfrm>
            <a:off x="4338218" y="1828800"/>
            <a:ext cx="3515258" cy="3657600"/>
          </a:xfrm>
          <a:prstGeom prst="roundRect">
            <a:avLst>
              <a:gd name="adj" fmla="val 3121"/>
            </a:avLst>
          </a:prstGeom>
          <a:solidFill>
            <a:schemeClr val="tx2"/>
          </a:solidFill>
          <a:ln/>
        </p:spPr>
      </p:sp>
      <p:sp>
        <p:nvSpPr>
          <p:cNvPr id="22" name="nomor 2"/>
          <p:cNvSpPr/>
          <p:nvPr/>
        </p:nvSpPr>
        <p:spPr>
          <a:xfrm>
            <a:off x="4557674" y="2048256"/>
            <a:ext cx="566928" cy="566928"/>
          </a:xfrm>
          <a:prstGeom prst="ellipse">
            <a:avLst/>
          </a:prstGeom>
          <a:solidFill>
            <a:schemeClr val="bg1"/>
          </a:solidFill>
          <a:ln/>
        </p:spPr>
      </p:sp>
      <p:sp>
        <p:nvSpPr>
          <p:cNvPr id="23" name="Text 21"/>
          <p:cNvSpPr txBox="1"/>
          <p:nvPr/>
        </p:nvSpPr>
        <p:spPr>
          <a:xfrm>
            <a:off x="4557674" y="2048256"/>
            <a:ext cx="566928" cy="566928"/>
          </a:xfrm>
          <a:prstGeom prst="rect">
            <a:avLst/>
          </a:prstGeom>
          <a:noFill/>
          <a:ln/>
        </p:spPr>
        <p:txBody>
          <a:bodyPr wrap="square" lIns="0" tIns="0" rIns="0" bIns="0" rtlCol="0" anchor="ctr"/>
          <a:lstStyle/>
          <a:p>
            <a:pPr algn="ctr" indent="0" marL="0">
              <a:buNone/>
            </a:pPr>
            <a:r>
              <a:rPr lang="en-US" sz="2100" b="1" dirty="0">
                <a:solidFill>
                  <a:schemeClr val="tx2"/>
                </a:solidFill>
              </a:rPr>
              <a:t>2</a:t>
            </a:r>
            <a:endParaRPr lang="en-US" sz="2100" dirty="0"/>
          </a:p>
        </p:txBody>
      </p:sp>
      <p:sp>
        <p:nvSpPr>
          <p:cNvPr id="24" name="kuadran Q3 (sasaran)"/>
          <p:cNvSpPr/>
          <p:nvPr/>
        </p:nvSpPr>
        <p:spPr>
          <a:xfrm>
            <a:off x="6756197" y="2029968"/>
            <a:ext cx="384048" cy="384048"/>
          </a:xfrm>
          <a:prstGeom prst="roundRect">
            <a:avLst>
              <a:gd name="adj" fmla="val 11905"/>
            </a:avLst>
          </a:prstGeom>
          <a:solidFill>
            <a:schemeClr val="bg1"/>
          </a:solidFill>
          <a:ln/>
        </p:spPr>
      </p:sp>
      <p:sp>
        <p:nvSpPr>
          <p:cNvPr id="25" name="Text 23"/>
          <p:cNvSpPr txBox="1"/>
          <p:nvPr/>
        </p:nvSpPr>
        <p:spPr>
          <a:xfrm>
            <a:off x="6756197" y="2029968"/>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Q3</a:t>
            </a:r>
            <a:endParaRPr lang="en-US" sz="1400" dirty="0"/>
          </a:p>
        </p:txBody>
      </p:sp>
      <p:sp>
        <p:nvSpPr>
          <p:cNvPr id="26" name="kuadran Q1 (sasaran)"/>
          <p:cNvSpPr/>
          <p:nvPr/>
        </p:nvSpPr>
        <p:spPr>
          <a:xfrm>
            <a:off x="7185965" y="2029968"/>
            <a:ext cx="384048" cy="384048"/>
          </a:xfrm>
          <a:prstGeom prst="roundRect">
            <a:avLst>
              <a:gd name="adj" fmla="val 11905"/>
            </a:avLst>
          </a:prstGeom>
          <a:solidFill>
            <a:schemeClr val="accent1"/>
          </a:solidFill>
          <a:ln/>
        </p:spPr>
      </p:sp>
      <p:sp>
        <p:nvSpPr>
          <p:cNvPr id="27" name="Text 25"/>
          <p:cNvSpPr txBox="1"/>
          <p:nvPr/>
        </p:nvSpPr>
        <p:spPr>
          <a:xfrm>
            <a:off x="7185965" y="20299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Q1</a:t>
            </a:r>
            <a:endParaRPr lang="en-US" sz="1400" dirty="0"/>
          </a:p>
        </p:txBody>
      </p:sp>
      <p:sp>
        <p:nvSpPr>
          <p:cNvPr id="28" name="kuadran Q4"/>
          <p:cNvSpPr/>
          <p:nvPr/>
        </p:nvSpPr>
        <p:spPr>
          <a:xfrm>
            <a:off x="6756197" y="2459736"/>
            <a:ext cx="384048" cy="384048"/>
          </a:xfrm>
          <a:prstGeom prst="roundRect">
            <a:avLst>
              <a:gd name="adj" fmla="val 11905"/>
            </a:avLst>
          </a:prstGeom>
          <a:solidFill>
            <a:schemeClr val="bg1">
              <a:alpha val="15000"/>
            </a:schemeClr>
          </a:solidFill>
          <a:ln/>
        </p:spPr>
      </p:sp>
      <p:sp>
        <p:nvSpPr>
          <p:cNvPr id="29" name="Text 27"/>
          <p:cNvSpPr txBox="1"/>
          <p:nvPr/>
        </p:nvSpPr>
        <p:spPr>
          <a:xfrm>
            <a:off x="6756197" y="2459736"/>
            <a:ext cx="384048" cy="384048"/>
          </a:xfrm>
          <a:prstGeom prst="rect">
            <a:avLst/>
          </a:prstGeom>
          <a:noFill/>
          <a:ln/>
        </p:spPr>
        <p:txBody>
          <a:bodyPr wrap="square" lIns="0" tIns="0" rIns="0" bIns="0" rtlCol="0" anchor="ctr"/>
          <a:lstStyle/>
          <a:p>
            <a:pPr algn="ctr" indent="0" marL="0">
              <a:buNone/>
            </a:pPr>
            <a:r>
              <a:rPr lang="en-US" sz="1400" b="1" dirty="0">
                <a:solidFill>
                  <a:schemeClr val="accent4"/>
                </a:solidFill>
              </a:rPr>
              <a:t>Q4</a:t>
            </a:r>
            <a:endParaRPr lang="en-US" sz="1400" dirty="0"/>
          </a:p>
        </p:txBody>
      </p:sp>
      <p:sp>
        <p:nvSpPr>
          <p:cNvPr id="30" name="kuadran Q2"/>
          <p:cNvSpPr/>
          <p:nvPr/>
        </p:nvSpPr>
        <p:spPr>
          <a:xfrm>
            <a:off x="7185965" y="2459736"/>
            <a:ext cx="384048" cy="384048"/>
          </a:xfrm>
          <a:prstGeom prst="roundRect">
            <a:avLst>
              <a:gd name="adj" fmla="val 11905"/>
            </a:avLst>
          </a:prstGeom>
          <a:solidFill>
            <a:schemeClr val="bg1">
              <a:alpha val="15000"/>
            </a:schemeClr>
          </a:solidFill>
          <a:ln/>
        </p:spPr>
      </p:sp>
      <p:sp>
        <p:nvSpPr>
          <p:cNvPr id="31" name="Text 29"/>
          <p:cNvSpPr txBox="1"/>
          <p:nvPr/>
        </p:nvSpPr>
        <p:spPr>
          <a:xfrm>
            <a:off x="7185965" y="2459736"/>
            <a:ext cx="384048" cy="384048"/>
          </a:xfrm>
          <a:prstGeom prst="rect">
            <a:avLst/>
          </a:prstGeom>
          <a:noFill/>
          <a:ln/>
        </p:spPr>
        <p:txBody>
          <a:bodyPr wrap="square" lIns="0" tIns="0" rIns="0" bIns="0" rtlCol="0" anchor="ctr"/>
          <a:lstStyle/>
          <a:p>
            <a:pPr algn="ctr" indent="0" marL="0">
              <a:buNone/>
            </a:pPr>
            <a:r>
              <a:rPr lang="en-US" sz="1400" b="1" dirty="0">
                <a:solidFill>
                  <a:schemeClr val="accent4"/>
                </a:solidFill>
              </a:rPr>
              <a:t>Q2</a:t>
            </a:r>
            <a:endParaRPr lang="en-US" sz="1400" dirty="0"/>
          </a:p>
        </p:txBody>
      </p:sp>
      <p:sp>
        <p:nvSpPr>
          <p:cNvPr id="32" name="Text 30"/>
          <p:cNvSpPr txBox="1"/>
          <p:nvPr/>
        </p:nvSpPr>
        <p:spPr>
          <a:xfrm>
            <a:off x="4612538" y="2926080"/>
            <a:ext cx="3012338" cy="1143000"/>
          </a:xfrm>
          <a:prstGeom prst="rect">
            <a:avLst/>
          </a:prstGeom>
          <a:noFill/>
          <a:ln/>
        </p:spPr>
        <p:txBody>
          <a:bodyPr wrap="square" lIns="0" tIns="0" rIns="0" bIns="0" rtlCol="0" anchor="t"/>
          <a:lstStyle/>
          <a:p>
            <a:pPr algn="l" indent="0" marL="0">
              <a:buNone/>
            </a:pPr>
            <a:r>
              <a:rPr lang="en-US" sz="2200" b="1" dirty="0">
                <a:solidFill>
                  <a:schemeClr val="bg1"/>
                </a:solidFill>
              </a:rPr>
              <a:t>Gardu dinilai sebelum subsidi pompa panas dibuka</a:t>
            </a:r>
            <a:endParaRPr lang="en-US" sz="2200" dirty="0"/>
          </a:p>
        </p:txBody>
      </p:sp>
      <p:sp>
        <p:nvSpPr>
          <p:cNvPr id="33" name="Text 31"/>
          <p:cNvSpPr txBox="1"/>
          <p:nvPr/>
        </p:nvSpPr>
        <p:spPr>
          <a:xfrm>
            <a:off x="4612538" y="4114800"/>
            <a:ext cx="3012338" cy="685800"/>
          </a:xfrm>
          <a:prstGeom prst="rect">
            <a:avLst/>
          </a:prstGeom>
          <a:noFill/>
          <a:ln/>
        </p:spPr>
        <p:txBody>
          <a:bodyPr wrap="square" lIns="0" tIns="0" rIns="0" bIns="0" rtlCol="0" anchor="t"/>
          <a:lstStyle/>
          <a:p>
            <a:pPr algn="l" indent="0" marL="0">
              <a:buNone/>
            </a:pPr>
            <a:r>
              <a:rPr lang="en-US" sz="1500" i="1" dirty="0">
                <a:solidFill>
                  <a:schemeClr val="accent4"/>
                </a:solidFill>
              </a:rPr>
              <a:t>zona Q1 dan Q3: kenaikan listrik di atas median</a:t>
            </a:r>
            <a:endParaRPr lang="en-US" sz="1500" dirty="0"/>
          </a:p>
        </p:txBody>
      </p:sp>
      <p:sp>
        <p:nvSpPr>
          <p:cNvPr id="34" name="titik trilema 1"/>
          <p:cNvSpPr/>
          <p:nvPr/>
        </p:nvSpPr>
        <p:spPr>
          <a:xfrm>
            <a:off x="4612538" y="5001768"/>
            <a:ext cx="182880" cy="182880"/>
          </a:xfrm>
          <a:prstGeom prst="ellipse">
            <a:avLst/>
          </a:prstGeom>
          <a:solidFill>
            <a:schemeClr val="accent2"/>
          </a:solidFill>
          <a:ln/>
        </p:spPr>
      </p:sp>
      <p:sp>
        <p:nvSpPr>
          <p:cNvPr id="35" name="Text 33"/>
          <p:cNvSpPr txBox="1"/>
          <p:nvPr/>
        </p:nvSpPr>
        <p:spPr>
          <a:xfrm>
            <a:off x="4923434" y="4937760"/>
            <a:ext cx="2743200" cy="310896"/>
          </a:xfrm>
          <a:prstGeom prst="rect">
            <a:avLst/>
          </a:prstGeom>
          <a:noFill/>
          <a:ln/>
        </p:spPr>
        <p:txBody>
          <a:bodyPr wrap="square" lIns="0" tIns="0" rIns="0" bIns="0" rtlCol="0" anchor="ctr"/>
          <a:lstStyle/>
          <a:p>
            <a:pPr algn="l" indent="0" marL="0">
              <a:buNone/>
            </a:pPr>
            <a:r>
              <a:rPr lang="en-US" sz="1500" b="1" dirty="0">
                <a:solidFill>
                  <a:schemeClr val="bg1"/>
                </a:solidFill>
              </a:rPr>
              <a:t>keandalan jaringan</a:t>
            </a:r>
            <a:endParaRPr lang="en-US" sz="1500" dirty="0"/>
          </a:p>
        </p:txBody>
      </p:sp>
      <p:sp>
        <p:nvSpPr>
          <p:cNvPr id="36" name="kartu R3"/>
          <p:cNvSpPr/>
          <p:nvPr/>
        </p:nvSpPr>
        <p:spPr>
          <a:xfrm>
            <a:off x="8127797" y="1828800"/>
            <a:ext cx="3515258" cy="3657600"/>
          </a:xfrm>
          <a:prstGeom prst="roundRect">
            <a:avLst>
              <a:gd name="adj" fmla="val 3121"/>
            </a:avLst>
          </a:prstGeom>
          <a:solidFill>
            <a:schemeClr val="bg2"/>
          </a:solidFill>
          <a:ln/>
        </p:spPr>
      </p:sp>
      <p:sp>
        <p:nvSpPr>
          <p:cNvPr id="37" name="nomor 3"/>
          <p:cNvSpPr/>
          <p:nvPr/>
        </p:nvSpPr>
        <p:spPr>
          <a:xfrm>
            <a:off x="8347253" y="2048256"/>
            <a:ext cx="566928" cy="566928"/>
          </a:xfrm>
          <a:prstGeom prst="ellipse">
            <a:avLst/>
          </a:prstGeom>
          <a:solidFill>
            <a:schemeClr val="accent2"/>
          </a:solidFill>
          <a:ln/>
        </p:spPr>
      </p:sp>
      <p:sp>
        <p:nvSpPr>
          <p:cNvPr id="38" name="Text 36"/>
          <p:cNvSpPr txBox="1"/>
          <p:nvPr/>
        </p:nvSpPr>
        <p:spPr>
          <a:xfrm>
            <a:off x="8347253" y="2048256"/>
            <a:ext cx="566928" cy="566928"/>
          </a:xfrm>
          <a:prstGeom prst="rect">
            <a:avLst/>
          </a:prstGeom>
          <a:noFill/>
          <a:ln/>
        </p:spPr>
        <p:txBody>
          <a:bodyPr wrap="square" lIns="0" tIns="0" rIns="0" bIns="0" rtlCol="0" anchor="ctr"/>
          <a:lstStyle/>
          <a:p>
            <a:pPr algn="ctr" indent="0" marL="0">
              <a:buNone/>
            </a:pPr>
            <a:r>
              <a:rPr lang="en-US" sz="2100" b="1" dirty="0">
                <a:solidFill>
                  <a:schemeClr val="bg1"/>
                </a:solidFill>
              </a:rPr>
              <a:t>3</a:t>
            </a:r>
            <a:endParaRPr lang="en-US" sz="2100" dirty="0"/>
          </a:p>
        </p:txBody>
      </p:sp>
      <p:sp>
        <p:nvSpPr>
          <p:cNvPr id="39" name="kuadran Q3"/>
          <p:cNvSpPr/>
          <p:nvPr/>
        </p:nvSpPr>
        <p:spPr>
          <a:xfrm>
            <a:off x="10545775" y="2029968"/>
            <a:ext cx="384048" cy="384048"/>
          </a:xfrm>
          <a:prstGeom prst="roundRect">
            <a:avLst>
              <a:gd name="adj" fmla="val 11905"/>
            </a:avLst>
          </a:prstGeom>
          <a:solidFill>
            <a:schemeClr val="bg1"/>
          </a:solidFill>
          <a:ln w="9525">
            <a:solidFill>
              <a:srgbClr val="D5DBE3"/>
            </a:solidFill>
            <a:prstDash val="solid"/>
          </a:ln>
        </p:spPr>
      </p:sp>
      <p:sp>
        <p:nvSpPr>
          <p:cNvPr id="40" name="Text 38"/>
          <p:cNvSpPr txBox="1"/>
          <p:nvPr/>
        </p:nvSpPr>
        <p:spPr>
          <a:xfrm>
            <a:off x="10545775" y="2029968"/>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Q3</a:t>
            </a:r>
            <a:endParaRPr lang="en-US" sz="1400" dirty="0"/>
          </a:p>
        </p:txBody>
      </p:sp>
      <p:sp>
        <p:nvSpPr>
          <p:cNvPr id="41" name="kuadran Q1"/>
          <p:cNvSpPr/>
          <p:nvPr/>
        </p:nvSpPr>
        <p:spPr>
          <a:xfrm>
            <a:off x="10975543" y="2029968"/>
            <a:ext cx="384048" cy="384048"/>
          </a:xfrm>
          <a:prstGeom prst="roundRect">
            <a:avLst>
              <a:gd name="adj" fmla="val 11905"/>
            </a:avLst>
          </a:prstGeom>
          <a:solidFill>
            <a:schemeClr val="bg1"/>
          </a:solidFill>
          <a:ln w="9525">
            <a:solidFill>
              <a:srgbClr val="D5DBE3"/>
            </a:solidFill>
            <a:prstDash val="solid"/>
          </a:ln>
        </p:spPr>
      </p:sp>
      <p:sp>
        <p:nvSpPr>
          <p:cNvPr id="42" name="Text 40"/>
          <p:cNvSpPr txBox="1"/>
          <p:nvPr/>
        </p:nvSpPr>
        <p:spPr>
          <a:xfrm>
            <a:off x="10975543" y="2029968"/>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Q1</a:t>
            </a:r>
            <a:endParaRPr lang="en-US" sz="1400" dirty="0"/>
          </a:p>
        </p:txBody>
      </p:sp>
      <p:sp>
        <p:nvSpPr>
          <p:cNvPr id="43" name="kuadran Q4"/>
          <p:cNvSpPr/>
          <p:nvPr/>
        </p:nvSpPr>
        <p:spPr>
          <a:xfrm>
            <a:off x="10545775" y="2459736"/>
            <a:ext cx="384048" cy="384048"/>
          </a:xfrm>
          <a:prstGeom prst="roundRect">
            <a:avLst>
              <a:gd name="adj" fmla="val 11905"/>
            </a:avLst>
          </a:prstGeom>
          <a:solidFill>
            <a:schemeClr val="bg1"/>
          </a:solidFill>
          <a:ln w="9525">
            <a:solidFill>
              <a:srgbClr val="D5DBE3"/>
            </a:solidFill>
            <a:prstDash val="solid"/>
          </a:ln>
        </p:spPr>
      </p:sp>
      <p:sp>
        <p:nvSpPr>
          <p:cNvPr id="44" name="Text 42"/>
          <p:cNvSpPr txBox="1"/>
          <p:nvPr/>
        </p:nvSpPr>
        <p:spPr>
          <a:xfrm>
            <a:off x="10545775" y="2459736"/>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Q4</a:t>
            </a:r>
            <a:endParaRPr lang="en-US" sz="1400" dirty="0"/>
          </a:p>
        </p:txBody>
      </p:sp>
      <p:sp>
        <p:nvSpPr>
          <p:cNvPr id="45" name="kuadran Q2 (sasaran)"/>
          <p:cNvSpPr/>
          <p:nvPr/>
        </p:nvSpPr>
        <p:spPr>
          <a:xfrm>
            <a:off x="10975543" y="2459736"/>
            <a:ext cx="384048" cy="384048"/>
          </a:xfrm>
          <a:prstGeom prst="roundRect">
            <a:avLst>
              <a:gd name="adj" fmla="val 11905"/>
            </a:avLst>
          </a:prstGeom>
          <a:solidFill>
            <a:schemeClr val="accent2"/>
          </a:solidFill>
          <a:ln/>
        </p:spPr>
      </p:sp>
      <p:sp>
        <p:nvSpPr>
          <p:cNvPr id="46" name="Text 44"/>
          <p:cNvSpPr txBox="1"/>
          <p:nvPr/>
        </p:nvSpPr>
        <p:spPr>
          <a:xfrm>
            <a:off x="10975543" y="24597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Q2</a:t>
            </a:r>
            <a:endParaRPr lang="en-US" sz="1400" dirty="0"/>
          </a:p>
        </p:txBody>
      </p:sp>
      <p:sp>
        <p:nvSpPr>
          <p:cNvPr id="47" name="Text 45"/>
          <p:cNvSpPr txBox="1"/>
          <p:nvPr/>
        </p:nvSpPr>
        <p:spPr>
          <a:xfrm>
            <a:off x="8402117" y="2926080"/>
            <a:ext cx="3012338" cy="1143000"/>
          </a:xfrm>
          <a:prstGeom prst="rect">
            <a:avLst/>
          </a:prstGeom>
          <a:noFill/>
          <a:ln/>
        </p:spPr>
        <p:txBody>
          <a:bodyPr wrap="square" lIns="0" tIns="0" rIns="0" bIns="0" rtlCol="0" anchor="t"/>
          <a:lstStyle/>
          <a:p>
            <a:pPr algn="l" indent="0" marL="0">
              <a:buNone/>
            </a:pPr>
            <a:r>
              <a:rPr lang="en-US" sz="2000" b="1" dirty="0">
                <a:solidFill>
                  <a:schemeClr val="tx1"/>
                </a:solidFill>
              </a:rPr>
              <a:t>Pilot pompa panas di kawasan bergas zona Q2</a:t>
            </a:r>
            <a:endParaRPr lang="en-US" sz="2000" dirty="0"/>
          </a:p>
        </p:txBody>
      </p:sp>
      <p:sp>
        <p:nvSpPr>
          <p:cNvPr id="48" name="Text 46"/>
          <p:cNvSpPr txBox="1"/>
          <p:nvPr/>
        </p:nvSpPr>
        <p:spPr>
          <a:xfrm>
            <a:off x="8402117" y="4114800"/>
            <a:ext cx="3012338" cy="685800"/>
          </a:xfrm>
          <a:prstGeom prst="rect">
            <a:avLst/>
          </a:prstGeom>
          <a:noFill/>
          <a:ln/>
        </p:spPr>
        <p:txBody>
          <a:bodyPr wrap="square" lIns="0" tIns="0" rIns="0" bIns="0" rtlCol="0" anchor="t"/>
          <a:lstStyle/>
          <a:p>
            <a:pPr algn="l" indent="0" marL="0">
              <a:buNone/>
            </a:pPr>
            <a:r>
              <a:rPr lang="en-US" sz="1500" i="1" dirty="0">
                <a:solidFill>
                  <a:schemeClr val="accent5"/>
                </a:solidFill>
              </a:rPr>
              <a:t>zona Q2: kenaikan listrik di bawah median</a:t>
            </a:r>
            <a:endParaRPr lang="en-US" sz="1500" dirty="0"/>
          </a:p>
        </p:txBody>
      </p:sp>
      <p:sp>
        <p:nvSpPr>
          <p:cNvPr id="49" name="titik trilema 1"/>
          <p:cNvSpPr/>
          <p:nvPr/>
        </p:nvSpPr>
        <p:spPr>
          <a:xfrm>
            <a:off x="8402117" y="5001768"/>
            <a:ext cx="182880" cy="182880"/>
          </a:xfrm>
          <a:prstGeom prst="ellipse">
            <a:avLst/>
          </a:prstGeom>
          <a:solidFill>
            <a:schemeClr val="accent1"/>
          </a:solidFill>
          <a:ln/>
        </p:spPr>
      </p:sp>
      <p:sp>
        <p:nvSpPr>
          <p:cNvPr id="50" name="titik trilema 2"/>
          <p:cNvSpPr/>
          <p:nvPr/>
        </p:nvSpPr>
        <p:spPr>
          <a:xfrm>
            <a:off x="8639861" y="5001768"/>
            <a:ext cx="182880" cy="182880"/>
          </a:xfrm>
          <a:prstGeom prst="ellipse">
            <a:avLst/>
          </a:prstGeom>
          <a:solidFill>
            <a:schemeClr val="accent2"/>
          </a:solidFill>
          <a:ln/>
        </p:spPr>
      </p:sp>
      <p:sp>
        <p:nvSpPr>
          <p:cNvPr id="51" name="Text 49"/>
          <p:cNvSpPr txBox="1"/>
          <p:nvPr/>
        </p:nvSpPr>
        <p:spPr>
          <a:xfrm>
            <a:off x="8950757" y="4937760"/>
            <a:ext cx="2743200" cy="310896"/>
          </a:xfrm>
          <a:prstGeom prst="rect">
            <a:avLst/>
          </a:prstGeom>
          <a:noFill/>
          <a:ln/>
        </p:spPr>
        <p:txBody>
          <a:bodyPr wrap="square" lIns="0" tIns="0" rIns="0" bIns="0" rtlCol="0" anchor="ctr"/>
          <a:lstStyle/>
          <a:p>
            <a:pPr algn="l" indent="0" marL="0">
              <a:buNone/>
            </a:pPr>
            <a:r>
              <a:rPr lang="en-US" sz="1500" b="1" dirty="0">
                <a:solidFill>
                  <a:schemeClr val="tx1"/>
                </a:solidFill>
              </a:rPr>
              <a:t>transisi yang terukur</a:t>
            </a:r>
            <a:endParaRPr lang="en-US" sz="1500" dirty="0"/>
          </a:p>
        </p:txBody>
      </p:sp>
      <p:sp>
        <p:nvSpPr>
          <p:cNvPr id="52" name="Text 50"/>
          <p:cNvSpPr txBox="1"/>
          <p:nvPr/>
        </p:nvSpPr>
        <p:spPr>
          <a:xfrm>
            <a:off x="548640" y="5760720"/>
            <a:ext cx="11094415" cy="365760"/>
          </a:xfrm>
          <a:prstGeom prst="rect">
            <a:avLst/>
          </a:prstGeom>
          <a:noFill/>
          <a:ln/>
        </p:spPr>
        <p:txBody>
          <a:bodyPr wrap="square" lIns="0" tIns="0" rIns="0" bIns="0" rtlCol="0" anchor="ctr"/>
          <a:lstStyle/>
          <a:p>
            <a:pPr algn="l" indent="0" marL="0">
              <a:buNone/>
            </a:pPr>
            <a:r>
              <a:rPr lang="en-US" sz="1500" b="1" dirty="0">
                <a:solidFill>
                  <a:schemeClr val="tx2"/>
                </a:solidFill>
              </a:rPr>
              <a:t>Berikutnya: </a:t>
            </a:r>
            <a:pPr algn="l" indent="0" marL="0">
              <a:buNone/>
            </a:pPr>
            <a:r>
              <a:rPr lang="en-US" sz="1500" dirty="0">
                <a:solidFill>
                  <a:schemeClr val="accent5"/>
                </a:solidFill>
              </a:rPr>
              <a:t>fitur → model → kebijakan → batas</a:t>
            </a:r>
            <a:endParaRPr lang="en-US" sz="1500" dirty="0"/>
          </a:p>
        </p:txBody>
      </p:sp>
      <p:sp>
        <p:nvSpPr>
          <p:cNvPr id="53"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In [34], bagian 7.3</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II · REKAYASA FITUR</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Luas lantai per meter: fitur teratas model penjelas konsumsi,</a:t>
            </a:r>
            <a:br/>
            <a:pPr algn="l" indent="0" marL="0">
              <a:buNone/>
            </a:pPr>
            <a:r>
              <a:rPr lang="en-US" sz="2800" b="1" dirty="0">
                <a:solidFill>
                  <a:schemeClr val="tx2"/>
                </a:solidFill>
              </a:rPr>
              <a:t>dihitung tanpa menyentuh target</a:t>
            </a:r>
            <a:endParaRPr lang="en-US" sz="2800" dirty="0"/>
          </a:p>
        </p:txBody>
      </p:sp>
      <p:sp>
        <p:nvSpPr>
          <p:cNvPr id="4" name="label DIBANGUN"/>
          <p:cNvSpPr/>
          <p:nvPr/>
        </p:nvSpPr>
        <p:spPr>
          <a:xfrm>
            <a:off x="548640" y="1691640"/>
            <a:ext cx="1088502" cy="310896"/>
          </a:xfrm>
          <a:prstGeom prst="roundRect">
            <a:avLst>
              <a:gd name="adj" fmla="val 17647"/>
            </a:avLst>
          </a:prstGeom>
          <a:solidFill>
            <a:schemeClr val="tx2"/>
          </a:solidFill>
          <a:ln/>
        </p:spPr>
      </p:sp>
      <p:sp>
        <p:nvSpPr>
          <p:cNvPr id="5" name="Text 3"/>
          <p:cNvSpPr txBox="1"/>
          <p:nvPr/>
        </p:nvSpPr>
        <p:spPr>
          <a:xfrm>
            <a:off x="548640" y="1691640"/>
            <a:ext cx="1088502"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DIBANGUN</a:t>
            </a:r>
            <a:endParaRPr lang="en-US" sz="1400" dirty="0"/>
          </a:p>
        </p:txBody>
      </p:sp>
      <p:sp>
        <p:nvSpPr>
          <p:cNvPr id="6" name="label RISIKO DIKENDALIKAN"/>
          <p:cNvSpPr/>
          <p:nvPr/>
        </p:nvSpPr>
        <p:spPr>
          <a:xfrm>
            <a:off x="3749040" y="1691640"/>
            <a:ext cx="2384024" cy="310896"/>
          </a:xfrm>
          <a:prstGeom prst="roundRect">
            <a:avLst>
              <a:gd name="adj" fmla="val 17647"/>
            </a:avLst>
          </a:prstGeom>
          <a:solidFill>
            <a:schemeClr val="accent1"/>
          </a:solidFill>
          <a:ln/>
        </p:spPr>
      </p:sp>
      <p:sp>
        <p:nvSpPr>
          <p:cNvPr id="7" name="Text 5"/>
          <p:cNvSpPr txBox="1"/>
          <p:nvPr/>
        </p:nvSpPr>
        <p:spPr>
          <a:xfrm>
            <a:off x="3749040" y="1691640"/>
            <a:ext cx="2384024"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RISIKO DIKENDALIKAN</a:t>
            </a:r>
            <a:endParaRPr lang="en-US" sz="1400" dirty="0"/>
          </a:p>
        </p:txBody>
      </p:sp>
      <p:sp>
        <p:nvSpPr>
          <p:cNvPr id="8" name="label KONTRIBUSI"/>
          <p:cNvSpPr/>
          <p:nvPr/>
        </p:nvSpPr>
        <p:spPr>
          <a:xfrm>
            <a:off x="6675120" y="1691640"/>
            <a:ext cx="1324051" cy="310896"/>
          </a:xfrm>
          <a:prstGeom prst="roundRect">
            <a:avLst>
              <a:gd name="adj" fmla="val 17647"/>
            </a:avLst>
          </a:prstGeom>
          <a:solidFill>
            <a:schemeClr val="accent2"/>
          </a:solidFill>
          <a:ln/>
        </p:spPr>
      </p:sp>
      <p:sp>
        <p:nvSpPr>
          <p:cNvPr id="9" name="Text 7"/>
          <p:cNvSpPr txBox="1"/>
          <p:nvPr/>
        </p:nvSpPr>
        <p:spPr>
          <a:xfrm>
            <a:off x="6675120" y="1691640"/>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KONTRIBUSI</a:t>
            </a:r>
            <a:endParaRPr lang="en-US" sz="1400" dirty="0"/>
          </a:p>
        </p:txBody>
      </p:sp>
      <p:sp>
        <p:nvSpPr>
          <p:cNvPr id="10" name="Shape 8"/>
          <p:cNvSpPr/>
          <p:nvPr/>
        </p:nvSpPr>
        <p:spPr>
          <a:xfrm>
            <a:off x="1746870" y="1847088"/>
            <a:ext cx="1892442" cy="914"/>
          </a:xfrm>
          <a:prstGeom prst="line">
            <a:avLst/>
          </a:prstGeom>
          <a:noFill/>
          <a:ln w="19050">
            <a:solidFill>
              <a:schemeClr val="accent4"/>
            </a:solidFill>
            <a:prstDash val="solid"/>
            <a:tailEnd type="triangle"/>
          </a:ln>
        </p:spPr>
      </p:sp>
      <p:sp>
        <p:nvSpPr>
          <p:cNvPr id="11" name="Shape 9"/>
          <p:cNvSpPr/>
          <p:nvPr/>
        </p:nvSpPr>
        <p:spPr>
          <a:xfrm>
            <a:off x="6224504" y="1847088"/>
            <a:ext cx="359176" cy="914"/>
          </a:xfrm>
          <a:prstGeom prst="line">
            <a:avLst/>
          </a:prstGeom>
          <a:noFill/>
          <a:ln w="19050">
            <a:solidFill>
              <a:schemeClr val="accent4"/>
            </a:solidFill>
            <a:prstDash val="solid"/>
            <a:tailEnd type="triangle"/>
          </a:ln>
        </p:spPr>
      </p:sp>
      <p:sp>
        <p:nvSpPr>
          <p:cNvPr id="12" name="kartu rumus"/>
          <p:cNvSpPr/>
          <p:nvPr/>
        </p:nvSpPr>
        <p:spPr>
          <a:xfrm>
            <a:off x="548640" y="2176272"/>
            <a:ext cx="2971800" cy="1755648"/>
          </a:xfrm>
          <a:prstGeom prst="roundRect">
            <a:avLst>
              <a:gd name="adj" fmla="val 5208"/>
            </a:avLst>
          </a:prstGeom>
          <a:solidFill>
            <a:schemeClr val="bg2"/>
          </a:solidFill>
          <a:ln/>
        </p:spPr>
      </p:sp>
      <p:sp>
        <p:nvSpPr>
          <p:cNvPr id="13" name="Text 11"/>
          <p:cNvSpPr txBox="1"/>
          <p:nvPr/>
        </p:nvSpPr>
        <p:spPr>
          <a:xfrm>
            <a:off x="731520" y="2267712"/>
            <a:ext cx="2651760" cy="1234440"/>
          </a:xfrm>
          <a:prstGeom prst="rect">
            <a:avLst/>
          </a:prstGeom>
          <a:noFill/>
          <a:ln/>
        </p:spPr>
        <p:txBody>
          <a:bodyPr wrap="square" lIns="0" tIns="0" rIns="0" bIns="0" rtlCol="0" anchor="t"/>
          <a:lstStyle/>
          <a:p>
            <a:pPr algn="l" indent="0" marL="0">
              <a:buNone/>
            </a:pPr>
            <a:r>
              <a:rPr lang="en-US" sz="2000" b="1" dirty="0">
                <a:solidFill>
                  <a:schemeClr val="tx2"/>
                </a:solidFill>
              </a:rPr>
              <a:t>area_per_meter</a:t>
            </a:r>
            <a:endParaRPr lang="en-US" sz="1600" dirty="0"/>
          </a:p>
          <a:p>
            <a:pPr algn="l" indent="0" marL="0">
              <a:buNone/>
            </a:pPr>
            <a:r>
              <a:rPr lang="en-US" sz="1700" dirty="0">
                <a:solidFill>
                  <a:schemeClr val="tx1"/>
                </a:solidFill>
              </a:rPr>
              <a:t>= luas lantai ÷ jumlah meter</a:t>
            </a:r>
            <a:endParaRPr lang="en-US" sz="1600" dirty="0"/>
          </a:p>
          <a:p>
            <a:pPr algn="l" indent="0" marL="0">
              <a:buNone/>
            </a:pPr>
            <a:r>
              <a:rPr lang="en-US" sz="1700" b="1" dirty="0">
                <a:solidFill>
                  <a:schemeClr val="accent1"/>
                </a:solidFill>
              </a:rPr>
              <a:t>≈ luas satu rumah</a:t>
            </a:r>
            <a:endParaRPr lang="en-US" sz="1600" dirty="0"/>
          </a:p>
        </p:txBody>
      </p:sp>
      <p:sp>
        <p:nvSpPr>
          <p:cNvPr id="14" name="Text 12"/>
          <p:cNvSpPr txBox="1"/>
          <p:nvPr/>
        </p:nvSpPr>
        <p:spPr>
          <a:xfrm>
            <a:off x="731520" y="3547872"/>
            <a:ext cx="2651760" cy="274320"/>
          </a:xfrm>
          <a:prstGeom prst="rect">
            <a:avLst/>
          </a:prstGeom>
          <a:noFill/>
          <a:ln/>
        </p:spPr>
        <p:txBody>
          <a:bodyPr wrap="square" lIns="0" tIns="0" rIns="0" bIns="0" rtlCol="0" anchor="t"/>
          <a:lstStyle/>
          <a:p>
            <a:pPr algn="l" indent="0" marL="0">
              <a:buNone/>
            </a:pPr>
            <a:r>
              <a:rPr lang="en-US" sz="1400" dirty="0">
                <a:solidFill>
                  <a:schemeClr val="accent5"/>
                </a:solidFill>
              </a:rPr>
              <a:t>(bld_dim_06 ÷ bld_dim_12)</a:t>
            </a:r>
            <a:endParaRPr lang="en-US" sz="1400" dirty="0"/>
          </a:p>
        </p:txBody>
      </p:sp>
      <p:pic>
        <p:nvPicPr>
          <p:cNvPr id="15" name="Image 0" descr="rumah kecil">    </p:cNvPr>
          <p:cNvPicPr>
            <a:picLocks noChangeAspect="1"/>
          </p:cNvPicPr>
          <p:nvPr/>
        </p:nvPicPr>
        <p:blipFill>
          <a:blip r:embed="rId1"/>
          <a:stretch>
            <a:fillRect/>
          </a:stretch>
        </p:blipFill>
        <p:spPr>
          <a:xfrm>
            <a:off x="1028700" y="4526280"/>
            <a:ext cx="502920" cy="502920"/>
          </a:xfrm>
          <a:prstGeom prst="rect">
            <a:avLst/>
          </a:prstGeom>
        </p:spPr>
      </p:pic>
      <p:pic>
        <p:nvPicPr>
          <p:cNvPr id="16" name="Image 1" descr="rumah besar">    </p:cNvPr>
          <p:cNvPicPr>
            <a:picLocks noChangeAspect="1"/>
          </p:cNvPicPr>
          <p:nvPr/>
        </p:nvPicPr>
        <p:blipFill>
          <a:blip r:embed="rId2"/>
          <a:stretch>
            <a:fillRect/>
          </a:stretch>
        </p:blipFill>
        <p:spPr>
          <a:xfrm>
            <a:off x="2331720" y="4114800"/>
            <a:ext cx="914400" cy="914400"/>
          </a:xfrm>
          <a:prstGeom prst="rect">
            <a:avLst/>
          </a:prstGeom>
        </p:spPr>
      </p:pic>
      <p:sp>
        <p:nvSpPr>
          <p:cNvPr id="17" name="Text 13"/>
          <p:cNvSpPr txBox="1"/>
          <p:nvPr/>
        </p:nvSpPr>
        <p:spPr>
          <a:xfrm>
            <a:off x="594360" y="5120640"/>
            <a:ext cx="1371600" cy="292608"/>
          </a:xfrm>
          <a:prstGeom prst="rect">
            <a:avLst/>
          </a:prstGeom>
          <a:noFill/>
          <a:ln/>
        </p:spPr>
        <p:txBody>
          <a:bodyPr wrap="square" lIns="0" tIns="0" rIns="0" bIns="0" rtlCol="0" anchor="t"/>
          <a:lstStyle/>
          <a:p>
            <a:pPr algn="ctr" indent="0" marL="0">
              <a:buNone/>
            </a:pPr>
            <a:r>
              <a:rPr lang="en-US" sz="1500" b="1" dirty="0">
                <a:solidFill>
                  <a:schemeClr val="tx2"/>
                </a:solidFill>
              </a:rPr>
              <a:t>±37 m²</a:t>
            </a:r>
            <a:endParaRPr lang="en-US" sz="1500" dirty="0"/>
          </a:p>
        </p:txBody>
      </p:sp>
      <p:sp>
        <p:nvSpPr>
          <p:cNvPr id="18" name="Text 14"/>
          <p:cNvSpPr txBox="1"/>
          <p:nvPr/>
        </p:nvSpPr>
        <p:spPr>
          <a:xfrm>
            <a:off x="2103120" y="5120640"/>
            <a:ext cx="1371600" cy="292608"/>
          </a:xfrm>
          <a:prstGeom prst="rect">
            <a:avLst/>
          </a:prstGeom>
          <a:noFill/>
          <a:ln/>
        </p:spPr>
        <p:txBody>
          <a:bodyPr wrap="square" lIns="0" tIns="0" rIns="0" bIns="0" rtlCol="0" anchor="t"/>
          <a:lstStyle/>
          <a:p>
            <a:pPr algn="ctr" indent="0" marL="0">
              <a:buNone/>
            </a:pPr>
            <a:r>
              <a:rPr lang="en-US" sz="1500" b="1" dirty="0">
                <a:solidFill>
                  <a:schemeClr val="accent5"/>
                </a:solidFill>
              </a:rPr>
              <a:t>±173 m²</a:t>
            </a:r>
            <a:endParaRPr lang="en-US" sz="1500" dirty="0"/>
          </a:p>
        </p:txBody>
      </p:sp>
      <p:sp>
        <p:nvSpPr>
          <p:cNvPr id="19" name="Text 15"/>
          <p:cNvSpPr txBox="1"/>
          <p:nvPr/>
        </p:nvSpPr>
        <p:spPr>
          <a:xfrm>
            <a:off x="548640" y="5532120"/>
            <a:ext cx="2971800" cy="274320"/>
          </a:xfrm>
          <a:prstGeom prst="rect">
            <a:avLst/>
          </a:prstGeom>
          <a:noFill/>
          <a:ln/>
        </p:spPr>
        <p:txBody>
          <a:bodyPr wrap="square" lIns="0" tIns="0" rIns="0" bIns="0" rtlCol="0" anchor="t"/>
          <a:lstStyle/>
          <a:p>
            <a:pPr algn="ctr" indent="0" marL="0">
              <a:buNone/>
            </a:pPr>
            <a:r>
              <a:rPr lang="en-US" sz="1400" dirty="0">
                <a:solidFill>
                  <a:schemeClr val="accent5"/>
                </a:solidFill>
              </a:rPr>
              <a:t>pita 5% terkecil dan terbesar</a:t>
            </a:r>
            <a:endParaRPr lang="en-US" sz="1400" dirty="0"/>
          </a:p>
        </p:txBody>
      </p:sp>
      <p:sp>
        <p:nvSpPr>
          <p:cNvPr id="20" name="ikon FaCheck"/>
          <p:cNvSpPr/>
          <p:nvPr/>
        </p:nvSpPr>
        <p:spPr>
          <a:xfrm>
            <a:off x="3767328" y="2286000"/>
            <a:ext cx="457200" cy="457200"/>
          </a:xfrm>
          <a:prstGeom prst="ellipse">
            <a:avLst/>
          </a:prstGeom>
          <a:solidFill>
            <a:schemeClr val="accent2"/>
          </a:solidFill>
          <a:ln/>
        </p:spPr>
      </p:sp>
      <p:pic>
        <p:nvPicPr>
          <p:cNvPr id="21" name="Image 2" descr="FaCheck">    </p:cNvPr>
          <p:cNvPicPr>
            <a:picLocks noChangeAspect="1"/>
          </p:cNvPicPr>
          <p:nvPr/>
        </p:nvPicPr>
        <p:blipFill>
          <a:blip r:embed="rId3"/>
          <a:stretch>
            <a:fillRect/>
          </a:stretch>
        </p:blipFill>
        <p:spPr>
          <a:xfrm>
            <a:off x="3881628" y="2400300"/>
            <a:ext cx="228600" cy="228600"/>
          </a:xfrm>
          <a:prstGeom prst="rect">
            <a:avLst/>
          </a:prstGeom>
        </p:spPr>
      </p:pic>
      <p:sp>
        <p:nvSpPr>
          <p:cNvPr id="22" name="Text 17"/>
          <p:cNvSpPr txBox="1"/>
          <p:nvPr/>
        </p:nvSpPr>
        <p:spPr>
          <a:xfrm>
            <a:off x="4370832" y="2240280"/>
            <a:ext cx="2075688" cy="566928"/>
          </a:xfrm>
          <a:prstGeom prst="rect">
            <a:avLst/>
          </a:prstGeom>
          <a:noFill/>
          <a:ln/>
        </p:spPr>
        <p:txBody>
          <a:bodyPr wrap="square" lIns="0" tIns="0" rIns="0" bIns="0" rtlCol="0" anchor="ctr"/>
          <a:lstStyle/>
          <a:p>
            <a:pPr algn="l" indent="0" marL="0">
              <a:buNone/>
            </a:pPr>
            <a:r>
              <a:rPr lang="en-US" sz="1500" dirty="0">
                <a:solidFill>
                  <a:schemeClr val="tx1"/>
                </a:solidFill>
              </a:rPr>
              <a:t>dua kolom input baris yang sama</a:t>
            </a:r>
            <a:endParaRPr lang="en-US" sz="1500" dirty="0"/>
          </a:p>
        </p:txBody>
      </p:sp>
      <p:sp>
        <p:nvSpPr>
          <p:cNvPr id="23" name="ikon FaCheck"/>
          <p:cNvSpPr/>
          <p:nvPr/>
        </p:nvSpPr>
        <p:spPr>
          <a:xfrm>
            <a:off x="3767328" y="3200400"/>
            <a:ext cx="457200" cy="457200"/>
          </a:xfrm>
          <a:prstGeom prst="ellipse">
            <a:avLst/>
          </a:prstGeom>
          <a:solidFill>
            <a:schemeClr val="accent2"/>
          </a:solidFill>
          <a:ln/>
        </p:spPr>
      </p:sp>
      <p:pic>
        <p:nvPicPr>
          <p:cNvPr id="24" name="Image 3" descr="FaCheck">    </p:cNvPr>
          <p:cNvPicPr>
            <a:picLocks noChangeAspect="1"/>
          </p:cNvPicPr>
          <p:nvPr/>
        </p:nvPicPr>
        <p:blipFill>
          <a:blip r:embed="rId4"/>
          <a:stretch>
            <a:fillRect/>
          </a:stretch>
        </p:blipFill>
        <p:spPr>
          <a:xfrm>
            <a:off x="3881628" y="3314700"/>
            <a:ext cx="228600" cy="228600"/>
          </a:xfrm>
          <a:prstGeom prst="rect">
            <a:avLst/>
          </a:prstGeom>
        </p:spPr>
      </p:pic>
      <p:sp>
        <p:nvSpPr>
          <p:cNvPr id="25" name="Text 19"/>
          <p:cNvSpPr txBox="1"/>
          <p:nvPr/>
        </p:nvSpPr>
        <p:spPr>
          <a:xfrm>
            <a:off x="4370832" y="3154680"/>
            <a:ext cx="2075688" cy="566928"/>
          </a:xfrm>
          <a:prstGeom prst="rect">
            <a:avLst/>
          </a:prstGeom>
          <a:noFill/>
          <a:ln/>
        </p:spPr>
        <p:txBody>
          <a:bodyPr wrap="square" lIns="0" tIns="0" rIns="0" bIns="0" rtlCol="0" anchor="ctr"/>
          <a:lstStyle/>
          <a:p>
            <a:pPr algn="l" indent="0" marL="0">
              <a:buNone/>
            </a:pPr>
            <a:r>
              <a:rPr lang="en-US" sz="1500" dirty="0">
                <a:solidFill>
                  <a:schemeClr val="tx1"/>
                </a:solidFill>
              </a:rPr>
              <a:t>tanpa target</a:t>
            </a:r>
            <a:endParaRPr lang="en-US" sz="1500" dirty="0"/>
          </a:p>
        </p:txBody>
      </p:sp>
      <p:sp>
        <p:nvSpPr>
          <p:cNvPr id="26" name="ikon FaCheck"/>
          <p:cNvSpPr/>
          <p:nvPr/>
        </p:nvSpPr>
        <p:spPr>
          <a:xfrm>
            <a:off x="3767328" y="4114800"/>
            <a:ext cx="457200" cy="457200"/>
          </a:xfrm>
          <a:prstGeom prst="ellipse">
            <a:avLst/>
          </a:prstGeom>
          <a:solidFill>
            <a:schemeClr val="accent2"/>
          </a:solidFill>
          <a:ln/>
        </p:spPr>
      </p:sp>
      <p:pic>
        <p:nvPicPr>
          <p:cNvPr id="27" name="Image 4" descr="FaCheck">    </p:cNvPr>
          <p:cNvPicPr>
            <a:picLocks noChangeAspect="1"/>
          </p:cNvPicPr>
          <p:nvPr/>
        </p:nvPicPr>
        <p:blipFill>
          <a:blip r:embed="rId5"/>
          <a:stretch>
            <a:fillRect/>
          </a:stretch>
        </p:blipFill>
        <p:spPr>
          <a:xfrm>
            <a:off x="3881628" y="4229100"/>
            <a:ext cx="228600" cy="228600"/>
          </a:xfrm>
          <a:prstGeom prst="rect">
            <a:avLst/>
          </a:prstGeom>
        </p:spPr>
      </p:pic>
      <p:sp>
        <p:nvSpPr>
          <p:cNvPr id="28" name="Text 21"/>
          <p:cNvSpPr txBox="1"/>
          <p:nvPr/>
        </p:nvSpPr>
        <p:spPr>
          <a:xfrm>
            <a:off x="4370832" y="4069080"/>
            <a:ext cx="2075688" cy="566928"/>
          </a:xfrm>
          <a:prstGeom prst="rect">
            <a:avLst/>
          </a:prstGeom>
          <a:noFill/>
          <a:ln/>
        </p:spPr>
        <p:txBody>
          <a:bodyPr wrap="square" lIns="0" tIns="0" rIns="0" bIns="0" rtlCol="0" anchor="ctr"/>
          <a:lstStyle/>
          <a:p>
            <a:pPr algn="l" indent="0" marL="0">
              <a:buNone/>
            </a:pPr>
            <a:r>
              <a:rPr lang="en-US" sz="1500" dirty="0">
                <a:solidFill>
                  <a:schemeClr val="tx1"/>
                </a:solidFill>
              </a:rPr>
              <a:t>tanpa statistik lintas baris</a:t>
            </a:r>
            <a:endParaRPr lang="en-US" sz="1500" dirty="0"/>
          </a:p>
        </p:txBody>
      </p:sp>
      <p:sp>
        <p:nvSpPr>
          <p:cNvPr id="29" name="ikon FaCheck"/>
          <p:cNvSpPr/>
          <p:nvPr/>
        </p:nvSpPr>
        <p:spPr>
          <a:xfrm>
            <a:off x="3767328" y="5029200"/>
            <a:ext cx="457200" cy="457200"/>
          </a:xfrm>
          <a:prstGeom prst="ellipse">
            <a:avLst/>
          </a:prstGeom>
          <a:solidFill>
            <a:schemeClr val="accent2"/>
          </a:solidFill>
          <a:ln/>
        </p:spPr>
      </p:sp>
      <p:pic>
        <p:nvPicPr>
          <p:cNvPr id="30" name="Image 5" descr="FaCheck">    </p:cNvPr>
          <p:cNvPicPr>
            <a:picLocks noChangeAspect="1"/>
          </p:cNvPicPr>
          <p:nvPr/>
        </p:nvPicPr>
        <p:blipFill>
          <a:blip r:embed="rId6"/>
          <a:stretch>
            <a:fillRect/>
          </a:stretch>
        </p:blipFill>
        <p:spPr>
          <a:xfrm>
            <a:off x="3881628" y="5143500"/>
            <a:ext cx="228600" cy="228600"/>
          </a:xfrm>
          <a:prstGeom prst="rect">
            <a:avLst/>
          </a:prstGeom>
        </p:spPr>
      </p:pic>
      <p:sp>
        <p:nvSpPr>
          <p:cNvPr id="31" name="Text 23"/>
          <p:cNvSpPr txBox="1"/>
          <p:nvPr/>
        </p:nvSpPr>
        <p:spPr>
          <a:xfrm>
            <a:off x="4370832" y="4983480"/>
            <a:ext cx="2075688" cy="566928"/>
          </a:xfrm>
          <a:prstGeom prst="rect">
            <a:avLst/>
          </a:prstGeom>
          <a:noFill/>
          <a:ln/>
        </p:spPr>
        <p:txBody>
          <a:bodyPr wrap="square" lIns="0" tIns="0" rIns="0" bIns="0" rtlCol="0" anchor="ctr"/>
          <a:lstStyle/>
          <a:p>
            <a:pPr algn="l" indent="0" marL="0">
              <a:buNone/>
            </a:pPr>
            <a:r>
              <a:rPr lang="en-US" sz="1500" dirty="0">
                <a:solidFill>
                  <a:schemeClr val="tx1"/>
                </a:solidFill>
              </a:rPr>
              <a:t>rumus sama di data latih dan uji</a:t>
            </a:r>
            <a:endParaRPr lang="en-US" sz="1500" dirty="0"/>
          </a:p>
        </p:txBody>
      </p:sp>
      <p:sp>
        <p:nvSpPr>
          <p:cNvPr id="32" name="Text 24"/>
          <p:cNvSpPr txBox="1"/>
          <p:nvPr/>
        </p:nvSpPr>
        <p:spPr>
          <a:xfrm>
            <a:off x="6675120" y="2103120"/>
            <a:ext cx="1783080" cy="530352"/>
          </a:xfrm>
          <a:prstGeom prst="rect">
            <a:avLst/>
          </a:prstGeom>
          <a:noFill/>
          <a:ln/>
        </p:spPr>
        <p:txBody>
          <a:bodyPr wrap="square" lIns="0" tIns="0" rIns="0" bIns="0" rtlCol="0" anchor="ctr"/>
          <a:lstStyle/>
          <a:p>
            <a:pPr algn="l" indent="0" marL="0">
              <a:buNone/>
            </a:pPr>
            <a:r>
              <a:rPr lang="en-US" sz="3200" b="1" dirty="0">
                <a:solidFill>
                  <a:schemeClr val="accent1"/>
                </a:solidFill>
              </a:rPr>
              <a:t>25–30%</a:t>
            </a:r>
            <a:endParaRPr lang="en-US" sz="3200" dirty="0"/>
          </a:p>
        </p:txBody>
      </p:sp>
      <p:sp>
        <p:nvSpPr>
          <p:cNvPr id="33" name="Text 25"/>
          <p:cNvSpPr txBox="1"/>
          <p:nvPr/>
        </p:nvSpPr>
        <p:spPr>
          <a:xfrm>
            <a:off x="8458200" y="2103120"/>
            <a:ext cx="3184855" cy="530352"/>
          </a:xfrm>
          <a:prstGeom prst="rect">
            <a:avLst/>
          </a:prstGeom>
          <a:noFill/>
          <a:ln/>
        </p:spPr>
        <p:txBody>
          <a:bodyPr wrap="square" lIns="0" tIns="0" rIns="0" bIns="0" rtlCol="0" anchor="ctr"/>
          <a:lstStyle/>
          <a:p>
            <a:pPr algn="l" indent="0" marL="0">
              <a:buNone/>
            </a:pPr>
            <a:r>
              <a:rPr lang="en-US" sz="1500" b="1" dirty="0">
                <a:solidFill>
                  <a:schemeClr val="tx2"/>
                </a:solidFill>
              </a:rPr>
              <a:t>porsi SHAP rasio fisik turunan</a:t>
            </a:r>
            <a:endParaRPr lang="en-US" sz="1500" dirty="0"/>
          </a:p>
        </p:txBody>
      </p:sp>
      <p:sp>
        <p:nvSpPr>
          <p:cNvPr id="34" name="Text 26"/>
          <p:cNvSpPr txBox="1"/>
          <p:nvPr/>
        </p:nvSpPr>
        <p:spPr>
          <a:xfrm>
            <a:off x="6675120" y="2724912"/>
            <a:ext cx="4967935" cy="274320"/>
          </a:xfrm>
          <a:prstGeom prst="rect">
            <a:avLst/>
          </a:prstGeom>
          <a:noFill/>
          <a:ln/>
        </p:spPr>
        <p:txBody>
          <a:bodyPr wrap="square" lIns="0" tIns="0" rIns="0" bIns="0" rtlCol="0" anchor="t"/>
          <a:lstStyle/>
          <a:p>
            <a:pPr algn="l" indent="0" marL="0">
              <a:buNone/>
            </a:pPr>
            <a:r>
              <a:rPr lang="en-US" sz="1400" b="1" dirty="0">
                <a:solidFill>
                  <a:schemeClr val="tx2"/>
                </a:solidFill>
              </a:rPr>
              <a:t>log intensitas gas (EUI)</a:t>
            </a:r>
            <a:pPr algn="l" indent="0" marL="0">
              <a:buNone/>
            </a:pPr>
            <a:r>
              <a:rPr lang="en-US" sz="1400" dirty="0">
                <a:solidFill>
                  <a:schemeClr val="tx1"/>
                </a:solidFill>
              </a:rPr>
              <a:t> · peringkat 1: 2,8× fitur kedua</a:t>
            </a:r>
            <a:endParaRPr lang="en-US" sz="1400" dirty="0"/>
          </a:p>
        </p:txBody>
      </p:sp>
      <p:graphicFrame>
        <p:nvGraphicFramePr>
          <p:cNvPr id="35" name="grafik SHAP log intensitas gas (EUI)" descr="Rata-rata |SHAP| lima fitur teratas, log intensitas gas (EUI); fitur turunan berwarna biru tua dan jingga"/>
          <p:cNvGraphicFramePr/>
          <p:nvPr/>
        </p:nvGraphicFramePr>
        <p:xfrm>
          <a:off x="6675120" y="3017520"/>
          <a:ext cx="4967935" cy="1225296"/>
        </p:xfrm>
        <a:graphic xmlns:a="http://schemas.openxmlformats.org/drawingml/2006/main">
          <a:graphicData uri="http://schemas.openxmlformats.org/drawingml/2006/chart">
            <c:chart xmlns:c="http://schemas.openxmlformats.org/drawingml/2006/chart" r:id="rId7"/>
          </a:graphicData>
        </a:graphic>
      </p:graphicFrame>
      <p:sp>
        <p:nvSpPr>
          <p:cNvPr id="36" name="Text 27"/>
          <p:cNvSpPr txBox="1"/>
          <p:nvPr/>
        </p:nvSpPr>
        <p:spPr>
          <a:xfrm>
            <a:off x="6675120" y="3035808"/>
            <a:ext cx="1417320" cy="237744"/>
          </a:xfrm>
          <a:prstGeom prst="rect">
            <a:avLst/>
          </a:prstGeom>
          <a:noFill/>
          <a:ln/>
        </p:spPr>
        <p:txBody>
          <a:bodyPr wrap="square" lIns="0" tIns="0" rIns="0" bIns="0" rtlCol="0" anchor="ctr"/>
          <a:lstStyle/>
          <a:p>
            <a:pPr algn="r" indent="0" marL="0">
              <a:buNone/>
            </a:pPr>
            <a:r>
              <a:rPr lang="en-US" sz="1400" b="1" dirty="0">
                <a:solidFill>
                  <a:schemeClr val="tx2"/>
                </a:solidFill>
              </a:rPr>
              <a:t>area_per_meter</a:t>
            </a:r>
            <a:endParaRPr lang="en-US" sz="1400" dirty="0"/>
          </a:p>
        </p:txBody>
      </p:sp>
      <p:sp>
        <p:nvSpPr>
          <p:cNvPr id="37" name="Text 28"/>
          <p:cNvSpPr txBox="1"/>
          <p:nvPr/>
        </p:nvSpPr>
        <p:spPr>
          <a:xfrm>
            <a:off x="10461879" y="3035808"/>
            <a:ext cx="731520" cy="237744"/>
          </a:xfrm>
          <a:prstGeom prst="rect">
            <a:avLst/>
          </a:prstGeom>
          <a:noFill/>
          <a:ln/>
        </p:spPr>
        <p:txBody>
          <a:bodyPr wrap="square" lIns="0" tIns="0" rIns="0" bIns="0" rtlCol="0" anchor="ctr"/>
          <a:lstStyle/>
          <a:p>
            <a:pPr algn="l" indent="0" marL="0">
              <a:buNone/>
            </a:pPr>
            <a:r>
              <a:rPr lang="en-US" sz="1400" b="1" dirty="0">
                <a:solidFill>
                  <a:schemeClr val="accent1"/>
                </a:solidFill>
              </a:rPr>
              <a:t>0,0895</a:t>
            </a:r>
            <a:endParaRPr lang="en-US" sz="1400" dirty="0"/>
          </a:p>
        </p:txBody>
      </p:sp>
      <p:sp>
        <p:nvSpPr>
          <p:cNvPr id="38" name="Text 29"/>
          <p:cNvSpPr txBox="1"/>
          <p:nvPr/>
        </p:nvSpPr>
        <p:spPr>
          <a:xfrm>
            <a:off x="6675120" y="3273552"/>
            <a:ext cx="1417320" cy="237744"/>
          </a:xfrm>
          <a:prstGeom prst="rect">
            <a:avLst/>
          </a:prstGeom>
          <a:noFill/>
          <a:ln/>
        </p:spPr>
        <p:txBody>
          <a:bodyPr wrap="square" lIns="0" tIns="0" rIns="0" bIns="0" rtlCol="0" anchor="ctr"/>
          <a:lstStyle/>
          <a:p>
            <a:pPr algn="r" indent="0" marL="0">
              <a:buNone/>
            </a:pPr>
            <a:r>
              <a:rPr lang="en-US" sz="1400" dirty="0">
                <a:solidFill>
                  <a:schemeClr val="accent5"/>
                </a:solidFill>
              </a:rPr>
              <a:t>env_climate_05</a:t>
            </a:r>
            <a:endParaRPr lang="en-US" sz="1400" dirty="0"/>
          </a:p>
        </p:txBody>
      </p:sp>
      <p:sp>
        <p:nvSpPr>
          <p:cNvPr id="39" name="Text 30"/>
          <p:cNvSpPr txBox="1"/>
          <p:nvPr/>
        </p:nvSpPr>
        <p:spPr>
          <a:xfrm>
            <a:off x="6675120" y="3511296"/>
            <a:ext cx="1417320" cy="237744"/>
          </a:xfrm>
          <a:prstGeom prst="rect">
            <a:avLst/>
          </a:prstGeom>
          <a:noFill/>
          <a:ln/>
        </p:spPr>
        <p:txBody>
          <a:bodyPr wrap="square" lIns="0" tIns="0" rIns="0" bIns="0" rtlCol="0" anchor="ctr"/>
          <a:lstStyle/>
          <a:p>
            <a:pPr algn="r" indent="0" marL="0">
              <a:buNone/>
            </a:pPr>
            <a:r>
              <a:rPr lang="en-US" sz="1400" dirty="0">
                <a:solidFill>
                  <a:schemeClr val="accent5"/>
                </a:solidFill>
              </a:rPr>
              <a:t>socio_demog_082</a:t>
            </a:r>
            <a:endParaRPr lang="en-US" sz="1400" dirty="0"/>
          </a:p>
        </p:txBody>
      </p:sp>
      <p:sp>
        <p:nvSpPr>
          <p:cNvPr id="40" name="Text 31"/>
          <p:cNvSpPr txBox="1"/>
          <p:nvPr/>
        </p:nvSpPr>
        <p:spPr>
          <a:xfrm>
            <a:off x="6675120" y="3749040"/>
            <a:ext cx="1417320" cy="237744"/>
          </a:xfrm>
          <a:prstGeom prst="rect">
            <a:avLst/>
          </a:prstGeom>
          <a:noFill/>
          <a:ln/>
        </p:spPr>
        <p:txBody>
          <a:bodyPr wrap="square" lIns="0" tIns="0" rIns="0" bIns="0" rtlCol="0" anchor="ctr"/>
          <a:lstStyle/>
          <a:p>
            <a:pPr algn="r" indent="0" marL="0">
              <a:buNone/>
            </a:pPr>
            <a:r>
              <a:rPr lang="en-US" sz="1400" b="1" dirty="0">
                <a:solidFill>
                  <a:schemeClr val="tx2"/>
                </a:solidFill>
              </a:rPr>
              <a:t>area_per_epc</a:t>
            </a:r>
            <a:endParaRPr lang="en-US" sz="1400" dirty="0"/>
          </a:p>
        </p:txBody>
      </p:sp>
      <p:sp>
        <p:nvSpPr>
          <p:cNvPr id="41" name="Text 32"/>
          <p:cNvSpPr txBox="1"/>
          <p:nvPr/>
        </p:nvSpPr>
        <p:spPr>
          <a:xfrm>
            <a:off x="6675120" y="3986784"/>
            <a:ext cx="1417320" cy="237744"/>
          </a:xfrm>
          <a:prstGeom prst="rect">
            <a:avLst/>
          </a:prstGeom>
          <a:noFill/>
          <a:ln/>
        </p:spPr>
        <p:txBody>
          <a:bodyPr wrap="square" lIns="0" tIns="0" rIns="0" bIns="0" rtlCol="0" anchor="ctr"/>
          <a:lstStyle/>
          <a:p>
            <a:pPr algn="r" indent="0" marL="0">
              <a:buNone/>
            </a:pPr>
            <a:r>
              <a:rPr lang="en-US" sz="1400" b="1" dirty="0">
                <a:solidFill>
                  <a:schemeClr val="tx2"/>
                </a:solidFill>
              </a:rPr>
              <a:t>s002_ratio</a:t>
            </a:r>
            <a:endParaRPr lang="en-US" sz="1400" dirty="0"/>
          </a:p>
        </p:txBody>
      </p:sp>
      <p:sp>
        <p:nvSpPr>
          <p:cNvPr id="42" name="Text 33"/>
          <p:cNvSpPr txBox="1"/>
          <p:nvPr/>
        </p:nvSpPr>
        <p:spPr>
          <a:xfrm>
            <a:off x="6675120" y="4261104"/>
            <a:ext cx="4967935" cy="274320"/>
          </a:xfrm>
          <a:prstGeom prst="rect">
            <a:avLst/>
          </a:prstGeom>
          <a:noFill/>
          <a:ln/>
        </p:spPr>
        <p:txBody>
          <a:bodyPr wrap="square" lIns="0" tIns="0" rIns="0" bIns="0" rtlCol="0" anchor="t"/>
          <a:lstStyle/>
          <a:p>
            <a:pPr algn="l" indent="0" marL="0">
              <a:buNone/>
            </a:pPr>
            <a:r>
              <a:rPr lang="en-US" sz="1400" b="1" dirty="0">
                <a:solidFill>
                  <a:schemeClr val="tx2"/>
                </a:solidFill>
              </a:rPr>
              <a:t>log listrik per meter</a:t>
            </a:r>
            <a:pPr algn="l" indent="0" marL="0">
              <a:buNone/>
            </a:pPr>
            <a:r>
              <a:rPr lang="en-US" sz="1400" dirty="0">
                <a:solidFill>
                  <a:schemeClr val="tx1"/>
                </a:solidFill>
              </a:rPr>
              <a:t> · peringkat 1: 3,0×</a:t>
            </a:r>
            <a:endParaRPr lang="en-US" sz="1400" dirty="0"/>
          </a:p>
        </p:txBody>
      </p:sp>
      <p:graphicFrame>
        <p:nvGraphicFramePr>
          <p:cNvPr id="43" name="grafik SHAP log listrik per meter" descr="Rata-rata |SHAP| lima fitur teratas, log listrik per meter; fitur turunan berwarna biru tua dan jingga"/>
          <p:cNvGraphicFramePr/>
          <p:nvPr/>
        </p:nvGraphicFramePr>
        <p:xfrm>
          <a:off x="6675120" y="4553712"/>
          <a:ext cx="4967935" cy="1225296"/>
        </p:xfrm>
        <a:graphic xmlns:a="http://schemas.openxmlformats.org/drawingml/2006/main">
          <a:graphicData uri="http://schemas.openxmlformats.org/drawingml/2006/chart">
            <c:chart xmlns:c="http://schemas.openxmlformats.org/drawingml/2006/chart" r:id="rId8"/>
          </a:graphicData>
        </a:graphic>
      </p:graphicFrame>
      <p:sp>
        <p:nvSpPr>
          <p:cNvPr id="44" name="Text 34"/>
          <p:cNvSpPr txBox="1"/>
          <p:nvPr/>
        </p:nvSpPr>
        <p:spPr>
          <a:xfrm>
            <a:off x="6675120" y="4572000"/>
            <a:ext cx="1417320" cy="237744"/>
          </a:xfrm>
          <a:prstGeom prst="rect">
            <a:avLst/>
          </a:prstGeom>
          <a:noFill/>
          <a:ln/>
        </p:spPr>
        <p:txBody>
          <a:bodyPr wrap="square" lIns="0" tIns="0" rIns="0" bIns="0" rtlCol="0" anchor="ctr"/>
          <a:lstStyle/>
          <a:p>
            <a:pPr algn="r" indent="0" marL="0">
              <a:buNone/>
            </a:pPr>
            <a:r>
              <a:rPr lang="en-US" sz="1400" b="1" dirty="0">
                <a:solidFill>
                  <a:schemeClr val="tx2"/>
                </a:solidFill>
              </a:rPr>
              <a:t>area_per_meter</a:t>
            </a:r>
            <a:endParaRPr lang="en-US" sz="1400" dirty="0"/>
          </a:p>
        </p:txBody>
      </p:sp>
      <p:sp>
        <p:nvSpPr>
          <p:cNvPr id="45" name="Text 35"/>
          <p:cNvSpPr txBox="1"/>
          <p:nvPr/>
        </p:nvSpPr>
        <p:spPr>
          <a:xfrm>
            <a:off x="10461879" y="4572000"/>
            <a:ext cx="731520" cy="237744"/>
          </a:xfrm>
          <a:prstGeom prst="rect">
            <a:avLst/>
          </a:prstGeom>
          <a:noFill/>
          <a:ln/>
        </p:spPr>
        <p:txBody>
          <a:bodyPr wrap="square" lIns="0" tIns="0" rIns="0" bIns="0" rtlCol="0" anchor="ctr"/>
          <a:lstStyle/>
          <a:p>
            <a:pPr algn="l" indent="0" marL="0">
              <a:buNone/>
            </a:pPr>
            <a:r>
              <a:rPr lang="en-US" sz="1400" b="1" dirty="0">
                <a:solidFill>
                  <a:schemeClr val="accent1"/>
                </a:solidFill>
              </a:rPr>
              <a:t>0,0895</a:t>
            </a:r>
            <a:endParaRPr lang="en-US" sz="1400" dirty="0"/>
          </a:p>
        </p:txBody>
      </p:sp>
      <p:sp>
        <p:nvSpPr>
          <p:cNvPr id="46" name="Text 36"/>
          <p:cNvSpPr txBox="1"/>
          <p:nvPr/>
        </p:nvSpPr>
        <p:spPr>
          <a:xfrm>
            <a:off x="6675120" y="4809744"/>
            <a:ext cx="1417320" cy="237744"/>
          </a:xfrm>
          <a:prstGeom prst="rect">
            <a:avLst/>
          </a:prstGeom>
          <a:noFill/>
          <a:ln/>
        </p:spPr>
        <p:txBody>
          <a:bodyPr wrap="square" lIns="0" tIns="0" rIns="0" bIns="0" rtlCol="0" anchor="ctr"/>
          <a:lstStyle/>
          <a:p>
            <a:pPr algn="r" indent="0" marL="0">
              <a:buNone/>
            </a:pPr>
            <a:r>
              <a:rPr lang="en-US" sz="1400" b="1" dirty="0">
                <a:solidFill>
                  <a:schemeClr val="tx2"/>
                </a:solidFill>
              </a:rPr>
              <a:t>meters_per_epc</a:t>
            </a:r>
            <a:endParaRPr lang="en-US" sz="1400" dirty="0"/>
          </a:p>
        </p:txBody>
      </p:sp>
      <p:sp>
        <p:nvSpPr>
          <p:cNvPr id="47" name="Text 37"/>
          <p:cNvSpPr txBox="1"/>
          <p:nvPr/>
        </p:nvSpPr>
        <p:spPr>
          <a:xfrm>
            <a:off x="6675120" y="5047488"/>
            <a:ext cx="1417320" cy="237744"/>
          </a:xfrm>
          <a:prstGeom prst="rect">
            <a:avLst/>
          </a:prstGeom>
          <a:noFill/>
          <a:ln/>
        </p:spPr>
        <p:txBody>
          <a:bodyPr wrap="square" lIns="0" tIns="0" rIns="0" bIns="0" rtlCol="0" anchor="ctr"/>
          <a:lstStyle/>
          <a:p>
            <a:pPr algn="r" indent="0" marL="0">
              <a:buNone/>
            </a:pPr>
            <a:r>
              <a:rPr lang="en-US" sz="1400" dirty="0">
                <a:solidFill>
                  <a:schemeClr val="accent5"/>
                </a:solidFill>
              </a:rPr>
              <a:t>socio_demog_005</a:t>
            </a:r>
            <a:endParaRPr lang="en-US" sz="1400" dirty="0"/>
          </a:p>
        </p:txBody>
      </p:sp>
      <p:sp>
        <p:nvSpPr>
          <p:cNvPr id="48" name="Text 38"/>
          <p:cNvSpPr txBox="1"/>
          <p:nvPr/>
        </p:nvSpPr>
        <p:spPr>
          <a:xfrm>
            <a:off x="6675120" y="5285232"/>
            <a:ext cx="1417320" cy="237744"/>
          </a:xfrm>
          <a:prstGeom prst="rect">
            <a:avLst/>
          </a:prstGeom>
          <a:noFill/>
          <a:ln/>
        </p:spPr>
        <p:txBody>
          <a:bodyPr wrap="square" lIns="0" tIns="0" rIns="0" bIns="0" rtlCol="0" anchor="ctr"/>
          <a:lstStyle/>
          <a:p>
            <a:pPr algn="r" indent="0" marL="0">
              <a:buNone/>
            </a:pPr>
            <a:r>
              <a:rPr lang="en-US" sz="1400" dirty="0">
                <a:solidFill>
                  <a:schemeClr val="accent5"/>
                </a:solidFill>
              </a:rPr>
              <a:t>socio_demog_038</a:t>
            </a:r>
            <a:endParaRPr lang="en-US" sz="1400" dirty="0"/>
          </a:p>
        </p:txBody>
      </p:sp>
      <p:sp>
        <p:nvSpPr>
          <p:cNvPr id="49" name="Text 39"/>
          <p:cNvSpPr txBox="1"/>
          <p:nvPr/>
        </p:nvSpPr>
        <p:spPr>
          <a:xfrm>
            <a:off x="6675120" y="5522976"/>
            <a:ext cx="1417320" cy="237744"/>
          </a:xfrm>
          <a:prstGeom prst="rect">
            <a:avLst/>
          </a:prstGeom>
          <a:noFill/>
          <a:ln/>
        </p:spPr>
        <p:txBody>
          <a:bodyPr wrap="square" lIns="0" tIns="0" rIns="0" bIns="0" rtlCol="0" anchor="ctr"/>
          <a:lstStyle/>
          <a:p>
            <a:pPr algn="r" indent="0" marL="0">
              <a:buNone/>
            </a:pPr>
            <a:r>
              <a:rPr lang="en-US" sz="1400" dirty="0">
                <a:solidFill>
                  <a:schemeClr val="accent5"/>
                </a:solidFill>
              </a:rPr>
              <a:t>socio_demog_061</a:t>
            </a:r>
            <a:endParaRPr lang="en-US" sz="1400" dirty="0"/>
          </a:p>
        </p:txBody>
      </p:sp>
      <p:sp>
        <p:nvSpPr>
          <p:cNvPr id="50" name="legenda area_per_meter"/>
          <p:cNvSpPr/>
          <p:nvPr/>
        </p:nvSpPr>
        <p:spPr>
          <a:xfrm>
            <a:off x="6675120" y="5861304"/>
            <a:ext cx="164592" cy="164592"/>
          </a:xfrm>
          <a:prstGeom prst="rect">
            <a:avLst/>
          </a:prstGeom>
          <a:solidFill>
            <a:schemeClr val="accent1"/>
          </a:solidFill>
          <a:ln/>
        </p:spPr>
      </p:sp>
      <p:sp>
        <p:nvSpPr>
          <p:cNvPr id="51" name="legenda fitur turunan"/>
          <p:cNvSpPr/>
          <p:nvPr/>
        </p:nvSpPr>
        <p:spPr>
          <a:xfrm>
            <a:off x="6876288" y="5861304"/>
            <a:ext cx="164592" cy="164592"/>
          </a:xfrm>
          <a:prstGeom prst="rect">
            <a:avLst/>
          </a:prstGeom>
          <a:solidFill>
            <a:schemeClr val="tx2"/>
          </a:solidFill>
          <a:ln/>
        </p:spPr>
      </p:sp>
      <p:sp>
        <p:nvSpPr>
          <p:cNvPr id="52" name="Text 42"/>
          <p:cNvSpPr txBox="1"/>
          <p:nvPr/>
        </p:nvSpPr>
        <p:spPr>
          <a:xfrm>
            <a:off x="7104888" y="5815584"/>
            <a:ext cx="2286000" cy="256032"/>
          </a:xfrm>
          <a:prstGeom prst="rect">
            <a:avLst/>
          </a:prstGeom>
          <a:noFill/>
          <a:ln/>
        </p:spPr>
        <p:txBody>
          <a:bodyPr wrap="square" lIns="0" tIns="0" rIns="0" bIns="0" rtlCol="0" anchor="ctr"/>
          <a:lstStyle/>
          <a:p>
            <a:pPr algn="l" indent="0" marL="0">
              <a:buNone/>
            </a:pPr>
            <a:r>
              <a:rPr lang="en-US" sz="1400" b="1" dirty="0">
                <a:solidFill>
                  <a:schemeClr val="tx2"/>
                </a:solidFill>
              </a:rPr>
              <a:t>fitur turunan buatan tim</a:t>
            </a:r>
            <a:endParaRPr lang="en-US" sz="1400" dirty="0"/>
          </a:p>
        </p:txBody>
      </p:sp>
      <p:sp>
        <p:nvSpPr>
          <p:cNvPr id="53" name="legenda kolom asli"/>
          <p:cNvSpPr/>
          <p:nvPr/>
        </p:nvSpPr>
        <p:spPr>
          <a:xfrm>
            <a:off x="9418320" y="5861304"/>
            <a:ext cx="164592" cy="164592"/>
          </a:xfrm>
          <a:prstGeom prst="rect">
            <a:avLst/>
          </a:prstGeom>
          <a:solidFill>
            <a:schemeClr val="accent4"/>
          </a:solidFill>
          <a:ln/>
        </p:spPr>
      </p:sp>
      <p:sp>
        <p:nvSpPr>
          <p:cNvPr id="54" name="Text 44"/>
          <p:cNvSpPr txBox="1"/>
          <p:nvPr/>
        </p:nvSpPr>
        <p:spPr>
          <a:xfrm>
            <a:off x="9646920" y="5815584"/>
            <a:ext cx="1996135" cy="256032"/>
          </a:xfrm>
          <a:prstGeom prst="rect">
            <a:avLst/>
          </a:prstGeom>
          <a:noFill/>
          <a:ln/>
        </p:spPr>
        <p:txBody>
          <a:bodyPr wrap="square" lIns="0" tIns="0" rIns="0" bIns="0" rtlCol="0" anchor="ctr"/>
          <a:lstStyle/>
          <a:p>
            <a:pPr algn="l" indent="0" marL="0">
              <a:buNone/>
            </a:pPr>
            <a:r>
              <a:rPr lang="en-US" sz="1400" dirty="0">
                <a:solidFill>
                  <a:schemeClr val="accent5"/>
                </a:solidFill>
              </a:rPr>
              <a:t>kolom asli data</a:t>
            </a:r>
            <a:endParaRPr lang="en-US" sz="1400" dirty="0"/>
          </a:p>
        </p:txBody>
      </p:sp>
      <p:sp>
        <p:nvSpPr>
          <p:cNvPr id="55" name="Text 45"/>
          <p:cNvSpPr txBox="1"/>
          <p:nvPr/>
        </p:nvSpPr>
        <p:spPr>
          <a:xfrm>
            <a:off x="6675120" y="6071616"/>
            <a:ext cx="4967935" cy="256032"/>
          </a:xfrm>
          <a:prstGeom prst="rect">
            <a:avLst/>
          </a:prstGeom>
          <a:noFill/>
          <a:ln/>
        </p:spPr>
        <p:txBody>
          <a:bodyPr wrap="square" lIns="0" tIns="0" rIns="0" bIns="0" rtlCol="0" anchor="t"/>
          <a:lstStyle/>
          <a:p>
            <a:pPr algn="l" indent="0" marL="0">
              <a:buNone/>
            </a:pPr>
            <a:r>
              <a:rPr lang="en-US" sz="1400" dirty="0">
                <a:solidFill>
                  <a:schemeClr val="accent5"/>
                </a:solidFill>
              </a:rPr>
              <a:t>rata-rata |SHAP|</a:t>
            </a:r>
            <a:endParaRPr lang="en-US" sz="1400" dirty="0"/>
          </a:p>
        </p:txBody>
      </p:sp>
      <p:sp>
        <p:nvSpPr>
          <p:cNvPr id="56" name="sel notebook"/>
          <p:cNvSpPr txBox="1"/>
          <p:nvPr/>
        </p:nvSpPr>
        <p:spPr>
          <a:xfrm>
            <a:off x="3383279" y="6400800"/>
            <a:ext cx="7680960" cy="274320"/>
          </a:xfrm>
          <a:prstGeom prst="rect">
            <a:avLst/>
          </a:prstGeom>
          <a:noFill/>
          <a:ln/>
        </p:spPr>
        <p:txBody>
          <a:bodyPr wrap="square" lIns="0" tIns="0" rIns="0" bIns="0" rtlCol="0" anchor="t"/>
          <a:lstStyle/>
          <a:p>
            <a:pPr algn="r" indent="0" marL="0">
              <a:buNone/>
            </a:pPr>
            <a:r>
              <a:rPr lang="en-US" sz="1200" dirty="0">
                <a:solidFill>
                  <a:schemeClr val="accent5"/>
                </a:solidFill>
              </a:rPr>
              <a:t>Sumber: notebook bagian 2, In [31], [32]; ±37/±173 m²: skrip cek terpisah</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II · REKAYASA FITUR</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Fitur kawasan termirip memakai target tetangga,</a:t>
            </a:r>
            <a:br/>
            <a:pPr algn="l" indent="0" marL="0">
              <a:buNone/>
            </a:pPr>
            <a:r>
              <a:rPr lang="en-US" sz="2800" b="1" dirty="0">
                <a:solidFill>
                  <a:schemeClr val="tx2"/>
                </a:solidFill>
              </a:rPr>
              <a:t>tetapi dihitung </a:t>
            </a:r>
            <a:pPr algn="l" indent="0" marL="0">
              <a:buNone/>
            </a:pPr>
            <a:r>
              <a:rPr lang="en-US" sz="2800" b="1" i="1" dirty="0">
                <a:solidFill>
                  <a:schemeClr val="tx2"/>
                </a:solidFill>
              </a:rPr>
              <a:t>out-of-fold</a:t>
            </a:r>
            <a:pPr algn="l" indent="0" marL="0">
              <a:buNone/>
            </a:pPr>
            <a:r>
              <a:rPr lang="en-US" sz="2800" b="1" dirty="0">
                <a:solidFill>
                  <a:schemeClr val="tx2"/>
                </a:solidFill>
              </a:rPr>
              <a:t> dua lapis</a:t>
            </a:r>
            <a:endParaRPr lang="en-US" sz="2800" dirty="0"/>
          </a:p>
        </p:txBody>
      </p:sp>
      <p:sp>
        <p:nvSpPr>
          <p:cNvPr id="4" name="kartu dibangun"/>
          <p:cNvSpPr/>
          <p:nvPr/>
        </p:nvSpPr>
        <p:spPr>
          <a:xfrm>
            <a:off x="548640" y="1691640"/>
            <a:ext cx="3611880" cy="1874520"/>
          </a:xfrm>
          <a:prstGeom prst="roundRect">
            <a:avLst>
              <a:gd name="adj" fmla="val 4878"/>
            </a:avLst>
          </a:prstGeom>
          <a:solidFill>
            <a:schemeClr val="bg2"/>
          </a:solidFill>
          <a:ln/>
        </p:spPr>
      </p:sp>
      <p:sp>
        <p:nvSpPr>
          <p:cNvPr id="5" name="label DIBANGUN"/>
          <p:cNvSpPr/>
          <p:nvPr/>
        </p:nvSpPr>
        <p:spPr>
          <a:xfrm>
            <a:off x="731520" y="1874520"/>
            <a:ext cx="1088502" cy="310896"/>
          </a:xfrm>
          <a:prstGeom prst="roundRect">
            <a:avLst>
              <a:gd name="adj" fmla="val 17647"/>
            </a:avLst>
          </a:prstGeom>
          <a:solidFill>
            <a:schemeClr val="tx2"/>
          </a:solidFill>
          <a:ln/>
        </p:spPr>
      </p:sp>
      <p:sp>
        <p:nvSpPr>
          <p:cNvPr id="6" name="Text 4"/>
          <p:cNvSpPr txBox="1"/>
          <p:nvPr/>
        </p:nvSpPr>
        <p:spPr>
          <a:xfrm>
            <a:off x="731520" y="1874520"/>
            <a:ext cx="1088502"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DIBANGUN</a:t>
            </a:r>
            <a:endParaRPr lang="en-US" sz="1400" dirty="0"/>
          </a:p>
        </p:txBody>
      </p:sp>
      <p:sp>
        <p:nvSpPr>
          <p:cNvPr id="7" name="Text 5"/>
          <p:cNvSpPr txBox="1"/>
          <p:nvPr/>
        </p:nvSpPr>
        <p:spPr>
          <a:xfrm>
            <a:off x="731520" y="2295144"/>
            <a:ext cx="3246120" cy="1207008"/>
          </a:xfrm>
          <a:prstGeom prst="rect">
            <a:avLst/>
          </a:prstGeom>
          <a:noFill/>
          <a:ln/>
        </p:spPr>
        <p:txBody>
          <a:bodyPr wrap="square" lIns="0" tIns="0" rIns="0" bIns="0" rtlCol="0" anchor="t"/>
          <a:lstStyle/>
          <a:p>
            <a:pPr algn="l" indent="0" marL="0">
              <a:buNone/>
            </a:pPr>
            <a:r>
              <a:rPr lang="en-US" sz="1600" dirty="0">
                <a:solidFill>
                  <a:schemeClr val="tx1"/>
                </a:solidFill>
              </a:rPr>
              <a:t>rata-rata konsumsi k kawasan paling mirip, dalam jendela nomor subzona</a:t>
            </a:r>
            <a:endParaRPr lang="en-US" sz="1600" dirty="0"/>
          </a:p>
        </p:txBody>
      </p:sp>
      <p:sp>
        <p:nvSpPr>
          <p:cNvPr id="8" name="kartu risiko"/>
          <p:cNvSpPr/>
          <p:nvPr/>
        </p:nvSpPr>
        <p:spPr>
          <a:xfrm>
            <a:off x="548640" y="3749040"/>
            <a:ext cx="3611880" cy="2423160"/>
          </a:xfrm>
          <a:prstGeom prst="roundRect">
            <a:avLst>
              <a:gd name="adj" fmla="val 3774"/>
            </a:avLst>
          </a:prstGeom>
          <a:solidFill>
            <a:schemeClr val="bg2"/>
          </a:solidFill>
          <a:ln/>
        </p:spPr>
      </p:sp>
      <p:sp>
        <p:nvSpPr>
          <p:cNvPr id="9" name="label RISIKO DIKENDALIKAN"/>
          <p:cNvSpPr/>
          <p:nvPr/>
        </p:nvSpPr>
        <p:spPr>
          <a:xfrm>
            <a:off x="731520" y="3931920"/>
            <a:ext cx="2384024" cy="310896"/>
          </a:xfrm>
          <a:prstGeom prst="roundRect">
            <a:avLst>
              <a:gd name="adj" fmla="val 17647"/>
            </a:avLst>
          </a:prstGeom>
          <a:solidFill>
            <a:schemeClr val="accent1"/>
          </a:solidFill>
          <a:ln/>
        </p:spPr>
      </p:sp>
      <p:sp>
        <p:nvSpPr>
          <p:cNvPr id="10" name="Text 8"/>
          <p:cNvSpPr txBox="1"/>
          <p:nvPr/>
        </p:nvSpPr>
        <p:spPr>
          <a:xfrm>
            <a:off x="731520" y="3931920"/>
            <a:ext cx="2384024"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RISIKO DIKENDALIKAN</a:t>
            </a:r>
            <a:endParaRPr lang="en-US" sz="1400" dirty="0"/>
          </a:p>
        </p:txBody>
      </p:sp>
      <p:sp>
        <p:nvSpPr>
          <p:cNvPr id="11" name="Text 9"/>
          <p:cNvSpPr txBox="1"/>
          <p:nvPr/>
        </p:nvSpPr>
        <p:spPr>
          <a:xfrm>
            <a:off x="731520" y="4370832"/>
            <a:ext cx="3246120" cy="1097280"/>
          </a:xfrm>
          <a:prstGeom prst="rect">
            <a:avLst/>
          </a:prstGeom>
          <a:noFill/>
          <a:ln/>
        </p:spPr>
        <p:txBody>
          <a:bodyPr wrap="square" lIns="0" tIns="0" rIns="0" bIns="0" rtlCol="0" anchor="t"/>
          <a:lstStyle/>
          <a:p>
            <a:pPr algn="l" indent="0" marL="0">
              <a:buNone/>
            </a:pPr>
            <a:r>
              <a:rPr lang="en-US" sz="1600" dirty="0">
                <a:solidFill>
                  <a:schemeClr val="tx1"/>
                </a:solidFill>
              </a:rPr>
              <a:t>lapis luar 10 </a:t>
            </a:r>
            <a:pPr algn="l" indent="0" marL="0">
              <a:buNone/>
            </a:pPr>
            <a:r>
              <a:rPr lang="en-US" sz="1600" i="1" dirty="0">
                <a:solidFill>
                  <a:schemeClr val="tx1"/>
                </a:solidFill>
              </a:rPr>
              <a:t>fold</a:t>
            </a:r>
            <a:pPr algn="l" indent="0" marL="0">
              <a:buNone/>
            </a:pPr>
            <a:r>
              <a:rPr lang="en-US" sz="1600" dirty="0">
                <a:solidFill>
                  <a:schemeClr val="tx1"/>
                </a:solidFill>
              </a:rPr>
              <a:t>, lapis dalam 5 bagian: tidak ada baris memakai targetnya sendiri</a:t>
            </a:r>
            <a:endParaRPr lang="en-US" sz="1600" dirty="0"/>
          </a:p>
        </p:txBody>
      </p:sp>
      <p:sp>
        <p:nvSpPr>
          <p:cNvPr id="12" name="ikon pengaman"/>
          <p:cNvSpPr/>
          <p:nvPr/>
        </p:nvSpPr>
        <p:spPr>
          <a:xfrm>
            <a:off x="777240" y="5458968"/>
            <a:ext cx="548640" cy="548640"/>
          </a:xfrm>
          <a:prstGeom prst="ellipse">
            <a:avLst/>
          </a:prstGeom>
          <a:solidFill>
            <a:schemeClr val="accent1"/>
          </a:solidFill>
          <a:ln/>
        </p:spPr>
      </p:sp>
      <p:pic>
        <p:nvPicPr>
          <p:cNvPr id="13" name="Image 0" descr="FaShieldHalved">    </p:cNvPr>
          <p:cNvPicPr>
            <a:picLocks noChangeAspect="1"/>
          </p:cNvPicPr>
          <p:nvPr/>
        </p:nvPicPr>
        <p:blipFill>
          <a:blip r:embed="rId1"/>
          <a:stretch>
            <a:fillRect/>
          </a:stretch>
        </p:blipFill>
        <p:spPr>
          <a:xfrm>
            <a:off x="914400" y="5596128"/>
            <a:ext cx="274320" cy="274320"/>
          </a:xfrm>
          <a:prstGeom prst="rect">
            <a:avLst/>
          </a:prstGeom>
        </p:spPr>
      </p:pic>
      <p:sp>
        <p:nvSpPr>
          <p:cNvPr id="14" name="subzona 1"/>
          <p:cNvSpPr/>
          <p:nvPr/>
        </p:nvSpPr>
        <p:spPr>
          <a:xfrm>
            <a:off x="4753966" y="2606040"/>
            <a:ext cx="187452" cy="347472"/>
          </a:xfrm>
          <a:prstGeom prst="rect">
            <a:avLst/>
          </a:prstGeom>
          <a:solidFill>
            <a:schemeClr val="tx2">
              <a:alpha val="18000"/>
            </a:schemeClr>
          </a:solidFill>
          <a:ln/>
        </p:spPr>
      </p:sp>
      <p:sp>
        <p:nvSpPr>
          <p:cNvPr id="15" name="subzona 2"/>
          <p:cNvSpPr/>
          <p:nvPr/>
        </p:nvSpPr>
        <p:spPr>
          <a:xfrm>
            <a:off x="4968850" y="2606040"/>
            <a:ext cx="187452" cy="347472"/>
          </a:xfrm>
          <a:prstGeom prst="rect">
            <a:avLst/>
          </a:prstGeom>
          <a:solidFill>
            <a:schemeClr val="tx2">
              <a:alpha val="18000"/>
            </a:schemeClr>
          </a:solidFill>
          <a:ln/>
        </p:spPr>
      </p:sp>
      <p:sp>
        <p:nvSpPr>
          <p:cNvPr id="16" name="subzona 3"/>
          <p:cNvSpPr/>
          <p:nvPr/>
        </p:nvSpPr>
        <p:spPr>
          <a:xfrm>
            <a:off x="5183734" y="2606040"/>
            <a:ext cx="187452" cy="347472"/>
          </a:xfrm>
          <a:prstGeom prst="rect">
            <a:avLst/>
          </a:prstGeom>
          <a:solidFill>
            <a:schemeClr val="tx2">
              <a:alpha val="18000"/>
            </a:schemeClr>
          </a:solidFill>
          <a:ln/>
        </p:spPr>
      </p:sp>
      <p:sp>
        <p:nvSpPr>
          <p:cNvPr id="17" name="subzona 4"/>
          <p:cNvSpPr/>
          <p:nvPr/>
        </p:nvSpPr>
        <p:spPr>
          <a:xfrm>
            <a:off x="5398618" y="2606040"/>
            <a:ext cx="187452" cy="347472"/>
          </a:xfrm>
          <a:prstGeom prst="rect">
            <a:avLst/>
          </a:prstGeom>
          <a:solidFill>
            <a:schemeClr val="tx2">
              <a:alpha val="18000"/>
            </a:schemeClr>
          </a:solidFill>
          <a:ln/>
        </p:spPr>
      </p:sp>
      <p:sp>
        <p:nvSpPr>
          <p:cNvPr id="18" name="subzona 5"/>
          <p:cNvSpPr/>
          <p:nvPr/>
        </p:nvSpPr>
        <p:spPr>
          <a:xfrm>
            <a:off x="5613502" y="2606040"/>
            <a:ext cx="187452" cy="347472"/>
          </a:xfrm>
          <a:prstGeom prst="rect">
            <a:avLst/>
          </a:prstGeom>
          <a:solidFill>
            <a:schemeClr val="tx2">
              <a:alpha val="18000"/>
            </a:schemeClr>
          </a:solidFill>
          <a:ln/>
        </p:spPr>
      </p:sp>
      <p:sp>
        <p:nvSpPr>
          <p:cNvPr id="19" name="subzona 6"/>
          <p:cNvSpPr/>
          <p:nvPr/>
        </p:nvSpPr>
        <p:spPr>
          <a:xfrm>
            <a:off x="5828386" y="2606040"/>
            <a:ext cx="187452" cy="347472"/>
          </a:xfrm>
          <a:prstGeom prst="rect">
            <a:avLst/>
          </a:prstGeom>
          <a:solidFill>
            <a:schemeClr val="tx2">
              <a:alpha val="18000"/>
            </a:schemeClr>
          </a:solidFill>
          <a:ln/>
        </p:spPr>
      </p:sp>
      <p:sp>
        <p:nvSpPr>
          <p:cNvPr id="20" name="subzona 7"/>
          <p:cNvSpPr/>
          <p:nvPr/>
        </p:nvSpPr>
        <p:spPr>
          <a:xfrm>
            <a:off x="6043270" y="2606040"/>
            <a:ext cx="187452" cy="347472"/>
          </a:xfrm>
          <a:prstGeom prst="rect">
            <a:avLst/>
          </a:prstGeom>
          <a:solidFill>
            <a:schemeClr val="tx2">
              <a:alpha val="18000"/>
            </a:schemeClr>
          </a:solidFill>
          <a:ln/>
        </p:spPr>
      </p:sp>
      <p:sp>
        <p:nvSpPr>
          <p:cNvPr id="21" name="subzona 8"/>
          <p:cNvSpPr/>
          <p:nvPr/>
        </p:nvSpPr>
        <p:spPr>
          <a:xfrm>
            <a:off x="6258154" y="2606040"/>
            <a:ext cx="187452" cy="347472"/>
          </a:xfrm>
          <a:prstGeom prst="rect">
            <a:avLst/>
          </a:prstGeom>
          <a:solidFill>
            <a:schemeClr val="tx2">
              <a:alpha val="18000"/>
            </a:schemeClr>
          </a:solidFill>
          <a:ln/>
        </p:spPr>
      </p:sp>
      <p:sp>
        <p:nvSpPr>
          <p:cNvPr id="22" name="subzona 9"/>
          <p:cNvSpPr/>
          <p:nvPr/>
        </p:nvSpPr>
        <p:spPr>
          <a:xfrm>
            <a:off x="6473038" y="2606040"/>
            <a:ext cx="187452" cy="347472"/>
          </a:xfrm>
          <a:prstGeom prst="rect">
            <a:avLst/>
          </a:prstGeom>
          <a:solidFill>
            <a:schemeClr val="tx2">
              <a:alpha val="18000"/>
            </a:schemeClr>
          </a:solidFill>
          <a:ln/>
        </p:spPr>
      </p:sp>
      <p:sp>
        <p:nvSpPr>
          <p:cNvPr id="23" name="subzona 10"/>
          <p:cNvSpPr/>
          <p:nvPr/>
        </p:nvSpPr>
        <p:spPr>
          <a:xfrm>
            <a:off x="6687922" y="2606040"/>
            <a:ext cx="187452" cy="347472"/>
          </a:xfrm>
          <a:prstGeom prst="rect">
            <a:avLst/>
          </a:prstGeom>
          <a:solidFill>
            <a:schemeClr val="tx2">
              <a:alpha val="18000"/>
            </a:schemeClr>
          </a:solidFill>
          <a:ln/>
        </p:spPr>
      </p:sp>
      <p:sp>
        <p:nvSpPr>
          <p:cNvPr id="24" name="subzona 11"/>
          <p:cNvSpPr/>
          <p:nvPr/>
        </p:nvSpPr>
        <p:spPr>
          <a:xfrm>
            <a:off x="6902806" y="2606040"/>
            <a:ext cx="187452" cy="347472"/>
          </a:xfrm>
          <a:prstGeom prst="rect">
            <a:avLst/>
          </a:prstGeom>
          <a:solidFill>
            <a:schemeClr val="tx2">
              <a:alpha val="18000"/>
            </a:schemeClr>
          </a:solidFill>
          <a:ln/>
        </p:spPr>
      </p:sp>
      <p:sp>
        <p:nvSpPr>
          <p:cNvPr id="25" name="subzona 12"/>
          <p:cNvSpPr/>
          <p:nvPr/>
        </p:nvSpPr>
        <p:spPr>
          <a:xfrm>
            <a:off x="7117690" y="2606040"/>
            <a:ext cx="187452" cy="347472"/>
          </a:xfrm>
          <a:prstGeom prst="rect">
            <a:avLst/>
          </a:prstGeom>
          <a:solidFill>
            <a:schemeClr val="tx2">
              <a:alpha val="18000"/>
            </a:schemeClr>
          </a:solidFill>
          <a:ln/>
        </p:spPr>
      </p:sp>
      <p:sp>
        <p:nvSpPr>
          <p:cNvPr id="26" name="subzona 13"/>
          <p:cNvSpPr/>
          <p:nvPr/>
        </p:nvSpPr>
        <p:spPr>
          <a:xfrm>
            <a:off x="7332574" y="2606040"/>
            <a:ext cx="187452" cy="347472"/>
          </a:xfrm>
          <a:prstGeom prst="rect">
            <a:avLst/>
          </a:prstGeom>
          <a:solidFill>
            <a:schemeClr val="tx2">
              <a:alpha val="18000"/>
            </a:schemeClr>
          </a:solidFill>
          <a:ln/>
        </p:spPr>
      </p:sp>
      <p:sp>
        <p:nvSpPr>
          <p:cNvPr id="27" name="subzona 14"/>
          <p:cNvSpPr/>
          <p:nvPr/>
        </p:nvSpPr>
        <p:spPr>
          <a:xfrm>
            <a:off x="7547458" y="2606040"/>
            <a:ext cx="187452" cy="347472"/>
          </a:xfrm>
          <a:prstGeom prst="rect">
            <a:avLst/>
          </a:prstGeom>
          <a:solidFill>
            <a:schemeClr val="tx2">
              <a:alpha val="18000"/>
            </a:schemeClr>
          </a:solidFill>
          <a:ln/>
        </p:spPr>
      </p:sp>
      <p:sp>
        <p:nvSpPr>
          <p:cNvPr id="28" name="subzona 15"/>
          <p:cNvSpPr/>
          <p:nvPr/>
        </p:nvSpPr>
        <p:spPr>
          <a:xfrm>
            <a:off x="7762342" y="2606040"/>
            <a:ext cx="187452" cy="347472"/>
          </a:xfrm>
          <a:prstGeom prst="rect">
            <a:avLst/>
          </a:prstGeom>
          <a:solidFill>
            <a:schemeClr val="tx2">
              <a:alpha val="18000"/>
            </a:schemeClr>
          </a:solidFill>
          <a:ln/>
        </p:spPr>
      </p:sp>
      <p:sp>
        <p:nvSpPr>
          <p:cNvPr id="29" name="kawasan dinilai"/>
          <p:cNvSpPr/>
          <p:nvPr/>
        </p:nvSpPr>
        <p:spPr>
          <a:xfrm>
            <a:off x="7977226" y="2606040"/>
            <a:ext cx="187452" cy="347472"/>
          </a:xfrm>
          <a:prstGeom prst="rect">
            <a:avLst/>
          </a:prstGeom>
          <a:solidFill>
            <a:schemeClr val="accent1"/>
          </a:solidFill>
          <a:ln/>
        </p:spPr>
      </p:sp>
      <p:sp>
        <p:nvSpPr>
          <p:cNvPr id="30" name="subzona 17"/>
          <p:cNvSpPr/>
          <p:nvPr/>
        </p:nvSpPr>
        <p:spPr>
          <a:xfrm>
            <a:off x="8192110" y="2606040"/>
            <a:ext cx="187452" cy="347472"/>
          </a:xfrm>
          <a:prstGeom prst="rect">
            <a:avLst/>
          </a:prstGeom>
          <a:solidFill>
            <a:schemeClr val="tx2">
              <a:alpha val="18000"/>
            </a:schemeClr>
          </a:solidFill>
          <a:ln/>
        </p:spPr>
      </p:sp>
      <p:sp>
        <p:nvSpPr>
          <p:cNvPr id="31" name="subzona 18"/>
          <p:cNvSpPr/>
          <p:nvPr/>
        </p:nvSpPr>
        <p:spPr>
          <a:xfrm>
            <a:off x="8406994" y="2606040"/>
            <a:ext cx="187452" cy="347472"/>
          </a:xfrm>
          <a:prstGeom prst="rect">
            <a:avLst/>
          </a:prstGeom>
          <a:solidFill>
            <a:schemeClr val="tx2">
              <a:alpha val="18000"/>
            </a:schemeClr>
          </a:solidFill>
          <a:ln/>
        </p:spPr>
      </p:sp>
      <p:sp>
        <p:nvSpPr>
          <p:cNvPr id="32" name="subzona 19"/>
          <p:cNvSpPr/>
          <p:nvPr/>
        </p:nvSpPr>
        <p:spPr>
          <a:xfrm>
            <a:off x="8621878" y="2606040"/>
            <a:ext cx="187452" cy="347472"/>
          </a:xfrm>
          <a:prstGeom prst="rect">
            <a:avLst/>
          </a:prstGeom>
          <a:solidFill>
            <a:schemeClr val="tx2">
              <a:alpha val="18000"/>
            </a:schemeClr>
          </a:solidFill>
          <a:ln/>
        </p:spPr>
      </p:sp>
      <p:sp>
        <p:nvSpPr>
          <p:cNvPr id="33" name="subzona 20"/>
          <p:cNvSpPr/>
          <p:nvPr/>
        </p:nvSpPr>
        <p:spPr>
          <a:xfrm>
            <a:off x="8836762" y="2606040"/>
            <a:ext cx="187452" cy="347472"/>
          </a:xfrm>
          <a:prstGeom prst="rect">
            <a:avLst/>
          </a:prstGeom>
          <a:solidFill>
            <a:schemeClr val="tx2">
              <a:alpha val="18000"/>
            </a:schemeClr>
          </a:solidFill>
          <a:ln/>
        </p:spPr>
      </p:sp>
      <p:sp>
        <p:nvSpPr>
          <p:cNvPr id="34" name="subzona 21"/>
          <p:cNvSpPr/>
          <p:nvPr/>
        </p:nvSpPr>
        <p:spPr>
          <a:xfrm>
            <a:off x="9051646" y="2606040"/>
            <a:ext cx="187452" cy="347472"/>
          </a:xfrm>
          <a:prstGeom prst="rect">
            <a:avLst/>
          </a:prstGeom>
          <a:solidFill>
            <a:schemeClr val="tx2">
              <a:alpha val="18000"/>
            </a:schemeClr>
          </a:solidFill>
          <a:ln/>
        </p:spPr>
      </p:sp>
      <p:sp>
        <p:nvSpPr>
          <p:cNvPr id="35" name="subzona 22"/>
          <p:cNvSpPr/>
          <p:nvPr/>
        </p:nvSpPr>
        <p:spPr>
          <a:xfrm>
            <a:off x="9266530" y="2606040"/>
            <a:ext cx="187452" cy="347472"/>
          </a:xfrm>
          <a:prstGeom prst="rect">
            <a:avLst/>
          </a:prstGeom>
          <a:solidFill>
            <a:schemeClr val="tx2">
              <a:alpha val="18000"/>
            </a:schemeClr>
          </a:solidFill>
          <a:ln/>
        </p:spPr>
      </p:sp>
      <p:sp>
        <p:nvSpPr>
          <p:cNvPr id="36" name="subzona 23"/>
          <p:cNvSpPr/>
          <p:nvPr/>
        </p:nvSpPr>
        <p:spPr>
          <a:xfrm>
            <a:off x="9481414" y="2606040"/>
            <a:ext cx="187452" cy="347472"/>
          </a:xfrm>
          <a:prstGeom prst="rect">
            <a:avLst/>
          </a:prstGeom>
          <a:solidFill>
            <a:schemeClr val="tx2">
              <a:alpha val="18000"/>
            </a:schemeClr>
          </a:solidFill>
          <a:ln/>
        </p:spPr>
      </p:sp>
      <p:sp>
        <p:nvSpPr>
          <p:cNvPr id="37" name="subzona 24"/>
          <p:cNvSpPr/>
          <p:nvPr/>
        </p:nvSpPr>
        <p:spPr>
          <a:xfrm>
            <a:off x="9696298" y="2606040"/>
            <a:ext cx="187452" cy="347472"/>
          </a:xfrm>
          <a:prstGeom prst="rect">
            <a:avLst/>
          </a:prstGeom>
          <a:solidFill>
            <a:schemeClr val="tx2">
              <a:alpha val="18000"/>
            </a:schemeClr>
          </a:solidFill>
          <a:ln/>
        </p:spPr>
      </p:sp>
      <p:sp>
        <p:nvSpPr>
          <p:cNvPr id="38" name="subzona 25"/>
          <p:cNvSpPr/>
          <p:nvPr/>
        </p:nvSpPr>
        <p:spPr>
          <a:xfrm>
            <a:off x="9911182" y="2606040"/>
            <a:ext cx="187452" cy="347472"/>
          </a:xfrm>
          <a:prstGeom prst="rect">
            <a:avLst/>
          </a:prstGeom>
          <a:solidFill>
            <a:schemeClr val="tx2">
              <a:alpha val="18000"/>
            </a:schemeClr>
          </a:solidFill>
          <a:ln/>
        </p:spPr>
      </p:sp>
      <p:sp>
        <p:nvSpPr>
          <p:cNvPr id="39" name="subzona 26"/>
          <p:cNvSpPr/>
          <p:nvPr/>
        </p:nvSpPr>
        <p:spPr>
          <a:xfrm>
            <a:off x="10126066" y="2606040"/>
            <a:ext cx="187452" cy="347472"/>
          </a:xfrm>
          <a:prstGeom prst="rect">
            <a:avLst/>
          </a:prstGeom>
          <a:solidFill>
            <a:schemeClr val="tx2">
              <a:alpha val="18000"/>
            </a:schemeClr>
          </a:solidFill>
          <a:ln/>
        </p:spPr>
      </p:sp>
      <p:sp>
        <p:nvSpPr>
          <p:cNvPr id="40" name="subzona 27"/>
          <p:cNvSpPr/>
          <p:nvPr/>
        </p:nvSpPr>
        <p:spPr>
          <a:xfrm>
            <a:off x="10340950" y="2606040"/>
            <a:ext cx="187452" cy="347472"/>
          </a:xfrm>
          <a:prstGeom prst="rect">
            <a:avLst/>
          </a:prstGeom>
          <a:solidFill>
            <a:schemeClr val="tx2">
              <a:alpha val="18000"/>
            </a:schemeClr>
          </a:solidFill>
          <a:ln/>
        </p:spPr>
      </p:sp>
      <p:sp>
        <p:nvSpPr>
          <p:cNvPr id="41" name="subzona 28"/>
          <p:cNvSpPr/>
          <p:nvPr/>
        </p:nvSpPr>
        <p:spPr>
          <a:xfrm>
            <a:off x="10555834" y="2606040"/>
            <a:ext cx="187452" cy="347472"/>
          </a:xfrm>
          <a:prstGeom prst="rect">
            <a:avLst/>
          </a:prstGeom>
          <a:solidFill>
            <a:schemeClr val="tx2">
              <a:alpha val="18000"/>
            </a:schemeClr>
          </a:solidFill>
          <a:ln/>
        </p:spPr>
      </p:sp>
      <p:sp>
        <p:nvSpPr>
          <p:cNvPr id="42" name="subzona 29"/>
          <p:cNvSpPr/>
          <p:nvPr/>
        </p:nvSpPr>
        <p:spPr>
          <a:xfrm>
            <a:off x="10770718" y="2606040"/>
            <a:ext cx="187452" cy="347472"/>
          </a:xfrm>
          <a:prstGeom prst="rect">
            <a:avLst/>
          </a:prstGeom>
          <a:solidFill>
            <a:schemeClr val="tx2">
              <a:alpha val="18000"/>
            </a:schemeClr>
          </a:solidFill>
          <a:ln/>
        </p:spPr>
      </p:sp>
      <p:sp>
        <p:nvSpPr>
          <p:cNvPr id="43" name="subzona 30"/>
          <p:cNvSpPr/>
          <p:nvPr/>
        </p:nvSpPr>
        <p:spPr>
          <a:xfrm>
            <a:off x="10985602" y="2606040"/>
            <a:ext cx="187452" cy="347472"/>
          </a:xfrm>
          <a:prstGeom prst="rect">
            <a:avLst/>
          </a:prstGeom>
          <a:solidFill>
            <a:schemeClr val="tx2">
              <a:alpha val="18000"/>
            </a:schemeClr>
          </a:solidFill>
          <a:ln/>
        </p:spPr>
      </p:sp>
      <p:sp>
        <p:nvSpPr>
          <p:cNvPr id="44" name="subzona 31"/>
          <p:cNvSpPr/>
          <p:nvPr/>
        </p:nvSpPr>
        <p:spPr>
          <a:xfrm>
            <a:off x="11200486" y="2606040"/>
            <a:ext cx="187452" cy="347472"/>
          </a:xfrm>
          <a:prstGeom prst="rect">
            <a:avLst/>
          </a:prstGeom>
          <a:solidFill>
            <a:schemeClr val="tx2">
              <a:alpha val="18000"/>
            </a:schemeClr>
          </a:solidFill>
          <a:ln/>
        </p:spPr>
      </p:sp>
      <p:sp>
        <p:nvSpPr>
          <p:cNvPr id="45" name="Text 42"/>
          <p:cNvSpPr txBox="1"/>
          <p:nvPr/>
        </p:nvSpPr>
        <p:spPr>
          <a:xfrm>
            <a:off x="7353148" y="2990088"/>
            <a:ext cx="1463040" cy="256032"/>
          </a:xfrm>
          <a:prstGeom prst="rect">
            <a:avLst/>
          </a:prstGeom>
          <a:noFill/>
          <a:ln/>
        </p:spPr>
        <p:txBody>
          <a:bodyPr wrap="square" lIns="0" tIns="0" rIns="0" bIns="0" rtlCol="0" anchor="t"/>
          <a:lstStyle/>
          <a:p>
            <a:pPr algn="ctr" indent="0" marL="0">
              <a:buNone/>
            </a:pPr>
            <a:r>
              <a:rPr lang="en-US" sz="1400" b="1" dirty="0">
                <a:solidFill>
                  <a:schemeClr val="accent1"/>
                </a:solidFill>
              </a:rPr>
              <a:t>kawasan dinilai</a:t>
            </a:r>
            <a:endParaRPr lang="en-US" sz="1400" dirty="0"/>
          </a:p>
        </p:txBody>
      </p:sp>
      <p:sp>
        <p:nvSpPr>
          <p:cNvPr id="46" name="Shape 43"/>
          <p:cNvSpPr/>
          <p:nvPr/>
        </p:nvSpPr>
        <p:spPr>
          <a:xfrm>
            <a:off x="7332574" y="2414016"/>
            <a:ext cx="1476756" cy="914"/>
          </a:xfrm>
          <a:prstGeom prst="line">
            <a:avLst/>
          </a:prstGeom>
          <a:noFill/>
          <a:ln w="19050">
            <a:solidFill>
              <a:schemeClr val="accent2"/>
            </a:solidFill>
            <a:prstDash val="solid"/>
          </a:ln>
        </p:spPr>
      </p:sp>
      <p:sp>
        <p:nvSpPr>
          <p:cNvPr id="47" name="Shape 44"/>
          <p:cNvSpPr/>
          <p:nvPr/>
        </p:nvSpPr>
        <p:spPr>
          <a:xfrm>
            <a:off x="7332574" y="2322576"/>
            <a:ext cx="914" cy="182880"/>
          </a:xfrm>
          <a:prstGeom prst="line">
            <a:avLst/>
          </a:prstGeom>
          <a:noFill/>
          <a:ln w="19050">
            <a:solidFill>
              <a:schemeClr val="accent2"/>
            </a:solidFill>
            <a:prstDash val="solid"/>
          </a:ln>
        </p:spPr>
      </p:sp>
      <p:sp>
        <p:nvSpPr>
          <p:cNvPr id="48" name="Shape 45"/>
          <p:cNvSpPr/>
          <p:nvPr/>
        </p:nvSpPr>
        <p:spPr>
          <a:xfrm>
            <a:off x="8809330" y="2322576"/>
            <a:ext cx="914" cy="182880"/>
          </a:xfrm>
          <a:prstGeom prst="line">
            <a:avLst/>
          </a:prstGeom>
          <a:noFill/>
          <a:ln w="19050">
            <a:solidFill>
              <a:schemeClr val="accent2"/>
            </a:solidFill>
            <a:prstDash val="solid"/>
          </a:ln>
        </p:spPr>
      </p:sp>
      <p:sp>
        <p:nvSpPr>
          <p:cNvPr id="49" name="Text 46"/>
          <p:cNvSpPr txBox="1"/>
          <p:nvPr/>
        </p:nvSpPr>
        <p:spPr>
          <a:xfrm>
            <a:off x="6646774" y="2286000"/>
            <a:ext cx="640080" cy="256032"/>
          </a:xfrm>
          <a:prstGeom prst="rect">
            <a:avLst/>
          </a:prstGeom>
          <a:noFill/>
          <a:ln/>
        </p:spPr>
        <p:txBody>
          <a:bodyPr wrap="square" lIns="0" tIns="0" rIns="0" bIns="0" rtlCol="0" anchor="ctr"/>
          <a:lstStyle/>
          <a:p>
            <a:pPr algn="r" indent="0" marL="0">
              <a:buNone/>
            </a:pPr>
            <a:r>
              <a:rPr lang="en-US" sz="1400" b="1" dirty="0">
                <a:solidFill>
                  <a:schemeClr val="accent2"/>
                </a:solidFill>
              </a:rPr>
              <a:t>±30</a:t>
            </a:r>
            <a:endParaRPr lang="en-US" sz="1400" dirty="0"/>
          </a:p>
        </p:txBody>
      </p:sp>
      <p:sp>
        <p:nvSpPr>
          <p:cNvPr id="50" name="Shape 47"/>
          <p:cNvSpPr/>
          <p:nvPr/>
        </p:nvSpPr>
        <p:spPr>
          <a:xfrm>
            <a:off x="6258154" y="2139696"/>
            <a:ext cx="3625596" cy="914"/>
          </a:xfrm>
          <a:prstGeom prst="line">
            <a:avLst/>
          </a:prstGeom>
          <a:noFill/>
          <a:ln w="19050">
            <a:solidFill>
              <a:schemeClr val="accent2"/>
            </a:solidFill>
            <a:prstDash val="solid"/>
          </a:ln>
        </p:spPr>
      </p:sp>
      <p:sp>
        <p:nvSpPr>
          <p:cNvPr id="51" name="Shape 48"/>
          <p:cNvSpPr/>
          <p:nvPr/>
        </p:nvSpPr>
        <p:spPr>
          <a:xfrm>
            <a:off x="6258154" y="2048256"/>
            <a:ext cx="914" cy="182880"/>
          </a:xfrm>
          <a:prstGeom prst="line">
            <a:avLst/>
          </a:prstGeom>
          <a:noFill/>
          <a:ln w="19050">
            <a:solidFill>
              <a:schemeClr val="accent2"/>
            </a:solidFill>
            <a:prstDash val="solid"/>
          </a:ln>
        </p:spPr>
      </p:sp>
      <p:sp>
        <p:nvSpPr>
          <p:cNvPr id="52" name="Shape 49"/>
          <p:cNvSpPr/>
          <p:nvPr/>
        </p:nvSpPr>
        <p:spPr>
          <a:xfrm>
            <a:off x="9883750" y="2048256"/>
            <a:ext cx="914" cy="182880"/>
          </a:xfrm>
          <a:prstGeom prst="line">
            <a:avLst/>
          </a:prstGeom>
          <a:noFill/>
          <a:ln w="19050">
            <a:solidFill>
              <a:schemeClr val="accent2"/>
            </a:solidFill>
            <a:prstDash val="solid"/>
          </a:ln>
        </p:spPr>
      </p:sp>
      <p:sp>
        <p:nvSpPr>
          <p:cNvPr id="53" name="Text 50"/>
          <p:cNvSpPr txBox="1"/>
          <p:nvPr/>
        </p:nvSpPr>
        <p:spPr>
          <a:xfrm>
            <a:off x="5572354" y="2011680"/>
            <a:ext cx="640080" cy="256032"/>
          </a:xfrm>
          <a:prstGeom prst="rect">
            <a:avLst/>
          </a:prstGeom>
          <a:noFill/>
          <a:ln/>
        </p:spPr>
        <p:txBody>
          <a:bodyPr wrap="square" lIns="0" tIns="0" rIns="0" bIns="0" rtlCol="0" anchor="ctr"/>
          <a:lstStyle/>
          <a:p>
            <a:pPr algn="r" indent="0" marL="0">
              <a:buNone/>
            </a:pPr>
            <a:r>
              <a:rPr lang="en-US" sz="1400" b="1" dirty="0">
                <a:solidFill>
                  <a:schemeClr val="accent2"/>
                </a:solidFill>
              </a:rPr>
              <a:t>±100</a:t>
            </a:r>
            <a:endParaRPr lang="en-US" sz="1400" dirty="0"/>
          </a:p>
        </p:txBody>
      </p:sp>
      <p:sp>
        <p:nvSpPr>
          <p:cNvPr id="54" name="Shape 51"/>
          <p:cNvSpPr/>
          <p:nvPr/>
        </p:nvSpPr>
        <p:spPr>
          <a:xfrm>
            <a:off x="4753966" y="1865376"/>
            <a:ext cx="6633972" cy="914"/>
          </a:xfrm>
          <a:prstGeom prst="line">
            <a:avLst/>
          </a:prstGeom>
          <a:noFill/>
          <a:ln w="19050">
            <a:solidFill>
              <a:schemeClr val="accent2"/>
            </a:solidFill>
            <a:prstDash val="solid"/>
          </a:ln>
        </p:spPr>
      </p:sp>
      <p:sp>
        <p:nvSpPr>
          <p:cNvPr id="55" name="Shape 52"/>
          <p:cNvSpPr/>
          <p:nvPr/>
        </p:nvSpPr>
        <p:spPr>
          <a:xfrm>
            <a:off x="4753966" y="1773936"/>
            <a:ext cx="914" cy="182880"/>
          </a:xfrm>
          <a:prstGeom prst="line">
            <a:avLst/>
          </a:prstGeom>
          <a:noFill/>
          <a:ln w="19050">
            <a:solidFill>
              <a:schemeClr val="accent2"/>
            </a:solidFill>
            <a:prstDash val="solid"/>
          </a:ln>
        </p:spPr>
      </p:sp>
      <p:sp>
        <p:nvSpPr>
          <p:cNvPr id="56" name="Shape 53"/>
          <p:cNvSpPr/>
          <p:nvPr/>
        </p:nvSpPr>
        <p:spPr>
          <a:xfrm>
            <a:off x="11387938" y="1773936"/>
            <a:ext cx="914" cy="182880"/>
          </a:xfrm>
          <a:prstGeom prst="line">
            <a:avLst/>
          </a:prstGeom>
          <a:noFill/>
          <a:ln w="19050">
            <a:solidFill>
              <a:schemeClr val="accent2"/>
            </a:solidFill>
            <a:prstDash val="solid"/>
          </a:ln>
        </p:spPr>
      </p:sp>
      <p:sp>
        <p:nvSpPr>
          <p:cNvPr id="57" name="Text 54"/>
          <p:cNvSpPr txBox="1"/>
          <p:nvPr/>
        </p:nvSpPr>
        <p:spPr>
          <a:xfrm>
            <a:off x="4068166" y="1737360"/>
            <a:ext cx="640080" cy="256032"/>
          </a:xfrm>
          <a:prstGeom prst="rect">
            <a:avLst/>
          </a:prstGeom>
          <a:noFill/>
          <a:ln/>
        </p:spPr>
        <p:txBody>
          <a:bodyPr wrap="square" lIns="0" tIns="0" rIns="0" bIns="0" rtlCol="0" anchor="ctr"/>
          <a:lstStyle/>
          <a:p>
            <a:pPr algn="r" indent="0" marL="0">
              <a:buNone/>
            </a:pPr>
            <a:r>
              <a:rPr lang="en-US" sz="1400" b="1" dirty="0">
                <a:solidFill>
                  <a:schemeClr val="accent2"/>
                </a:solidFill>
              </a:rPr>
              <a:t>±300</a:t>
            </a:r>
            <a:endParaRPr lang="en-US" sz="1400" dirty="0"/>
          </a:p>
        </p:txBody>
      </p:sp>
      <p:sp>
        <p:nvSpPr>
          <p:cNvPr id="58" name="Text 55"/>
          <p:cNvSpPr txBox="1"/>
          <p:nvPr/>
        </p:nvSpPr>
        <p:spPr>
          <a:xfrm>
            <a:off x="9860890" y="2990088"/>
            <a:ext cx="1554480" cy="256032"/>
          </a:xfrm>
          <a:prstGeom prst="rect">
            <a:avLst/>
          </a:prstGeom>
          <a:noFill/>
          <a:ln/>
        </p:spPr>
        <p:txBody>
          <a:bodyPr wrap="square" lIns="0" tIns="0" rIns="0" bIns="0" rtlCol="0" anchor="t"/>
          <a:lstStyle/>
          <a:p>
            <a:pPr algn="r" indent="0" marL="0">
              <a:buNone/>
            </a:pPr>
            <a:r>
              <a:rPr lang="en-US" sz="1400" dirty="0">
                <a:solidFill>
                  <a:schemeClr val="accent5"/>
                </a:solidFill>
              </a:rPr>
              <a:t>nomor subzona →</a:t>
            </a:r>
            <a:endParaRPr lang="en-US" sz="1400" dirty="0"/>
          </a:p>
        </p:txBody>
      </p:sp>
      <p:sp>
        <p:nvSpPr>
          <p:cNvPr id="59" name="Text 56"/>
          <p:cNvSpPr txBox="1"/>
          <p:nvPr/>
        </p:nvSpPr>
        <p:spPr>
          <a:xfrm>
            <a:off x="4526280" y="3273552"/>
            <a:ext cx="7116775" cy="502920"/>
          </a:xfrm>
          <a:prstGeom prst="rect">
            <a:avLst/>
          </a:prstGeom>
          <a:noFill/>
          <a:ln/>
        </p:spPr>
        <p:txBody>
          <a:bodyPr wrap="square" lIns="0" tIns="0" rIns="0" bIns="0" rtlCol="0" anchor="t"/>
          <a:lstStyle/>
          <a:p>
            <a:pPr algn="ctr" indent="0" marL="0">
              <a:buNone/>
            </a:pPr>
            <a:r>
              <a:rPr lang="en-US" sz="1400" b="1" dirty="0">
                <a:solidFill>
                  <a:schemeClr val="accent2"/>
                </a:solidFill>
              </a:rPr>
              <a:t>96,5%</a:t>
            </a:r>
            <a:pPr algn="ctr" indent="0" marL="0">
              <a:buNone/>
            </a:pPr>
            <a:r>
              <a:rPr lang="en-US" sz="1400" dirty="0">
                <a:solidFill>
                  <a:schemeClr val="tx1"/>
                </a:solidFill>
              </a:rPr>
              <a:t> pasangan subzona bernomor berurutan berada di zona yang sama</a:t>
            </a:r>
            <a:endParaRPr lang="en-US" sz="1400" dirty="0"/>
          </a:p>
          <a:p>
            <a:pPr algn="ctr" indent="0" marL="0">
              <a:buNone/>
            </a:pPr>
            <a:r>
              <a:rPr lang="en-US" sz="1400" b="1" dirty="0">
                <a:solidFill>
                  <a:schemeClr val="tx2"/>
                </a:solidFill>
              </a:rPr>
              <a:t>→ nomor berdekatan = pendekatan lokasi</a:t>
            </a:r>
            <a:endParaRPr lang="en-US" sz="1400" dirty="0"/>
          </a:p>
        </p:txBody>
      </p:sp>
      <p:sp>
        <p:nvSpPr>
          <p:cNvPr id="60" name="Text 57"/>
          <p:cNvSpPr txBox="1"/>
          <p:nvPr/>
        </p:nvSpPr>
        <p:spPr>
          <a:xfrm>
            <a:off x="4526280" y="3840480"/>
            <a:ext cx="3657600" cy="274320"/>
          </a:xfrm>
          <a:prstGeom prst="rect">
            <a:avLst/>
          </a:prstGeom>
          <a:noFill/>
          <a:ln/>
        </p:spPr>
        <p:txBody>
          <a:bodyPr wrap="square" lIns="0" tIns="0" rIns="0" bIns="0" rtlCol="0" anchor="t"/>
          <a:lstStyle/>
          <a:p>
            <a:pPr algn="l" indent="0" marL="0">
              <a:buNone/>
            </a:pPr>
            <a:r>
              <a:rPr lang="en-US" sz="1400" b="1" dirty="0">
                <a:solidFill>
                  <a:schemeClr val="tx2"/>
                </a:solidFill>
              </a:rPr>
              <a:t>Lapis luar: 10 </a:t>
            </a:r>
            <a:pPr algn="l" indent="0" marL="0">
              <a:buNone/>
            </a:pPr>
            <a:r>
              <a:rPr lang="en-US" sz="1400" b="1" i="1" dirty="0">
                <a:solidFill>
                  <a:schemeClr val="tx2"/>
                </a:solidFill>
              </a:rPr>
              <a:t>fold</a:t>
            </a:r>
            <a:endParaRPr lang="en-US" sz="1400" dirty="0"/>
          </a:p>
        </p:txBody>
      </p:sp>
      <p:sp>
        <p:nvSpPr>
          <p:cNvPr id="61" name="fold 1"/>
          <p:cNvSpPr/>
          <p:nvPr/>
        </p:nvSpPr>
        <p:spPr>
          <a:xfrm>
            <a:off x="4526280" y="4133088"/>
            <a:ext cx="654070" cy="438912"/>
          </a:xfrm>
          <a:prstGeom prst="roundRect">
            <a:avLst>
              <a:gd name="adj" fmla="val 10417"/>
            </a:avLst>
          </a:prstGeom>
          <a:solidFill>
            <a:schemeClr val="tx2">
              <a:alpha val="18000"/>
            </a:schemeClr>
          </a:solidFill>
          <a:ln/>
        </p:spPr>
      </p:sp>
      <p:sp>
        <p:nvSpPr>
          <p:cNvPr id="62" name="fold 2"/>
          <p:cNvSpPr/>
          <p:nvPr/>
        </p:nvSpPr>
        <p:spPr>
          <a:xfrm>
            <a:off x="5244358" y="4133088"/>
            <a:ext cx="654070" cy="438912"/>
          </a:xfrm>
          <a:prstGeom prst="roundRect">
            <a:avLst>
              <a:gd name="adj" fmla="val 10417"/>
            </a:avLst>
          </a:prstGeom>
          <a:solidFill>
            <a:schemeClr val="tx2">
              <a:alpha val="18000"/>
            </a:schemeClr>
          </a:solidFill>
          <a:ln/>
        </p:spPr>
      </p:sp>
      <p:sp>
        <p:nvSpPr>
          <p:cNvPr id="63" name="fold dinilai"/>
          <p:cNvSpPr/>
          <p:nvPr/>
        </p:nvSpPr>
        <p:spPr>
          <a:xfrm>
            <a:off x="5962437" y="4133088"/>
            <a:ext cx="654070" cy="438912"/>
          </a:xfrm>
          <a:prstGeom prst="roundRect">
            <a:avLst>
              <a:gd name="adj" fmla="val 10417"/>
            </a:avLst>
          </a:prstGeom>
          <a:solidFill>
            <a:schemeClr val="accent1"/>
          </a:solidFill>
          <a:ln/>
        </p:spPr>
      </p:sp>
      <p:sp>
        <p:nvSpPr>
          <p:cNvPr id="64" name="Text 61"/>
          <p:cNvSpPr txBox="1"/>
          <p:nvPr/>
        </p:nvSpPr>
        <p:spPr>
          <a:xfrm>
            <a:off x="5962437" y="4133088"/>
            <a:ext cx="654070" cy="438912"/>
          </a:xfrm>
          <a:prstGeom prst="rect">
            <a:avLst/>
          </a:prstGeom>
          <a:noFill/>
          <a:ln/>
        </p:spPr>
        <p:txBody>
          <a:bodyPr wrap="square" lIns="0" tIns="0" rIns="0" bIns="0" rtlCol="0" anchor="ctr"/>
          <a:lstStyle/>
          <a:p>
            <a:pPr algn="ctr" indent="0" marL="0">
              <a:buNone/>
            </a:pPr>
            <a:r>
              <a:rPr lang="en-US" sz="1400" b="1" dirty="0">
                <a:solidFill>
                  <a:schemeClr val="bg1"/>
                </a:solidFill>
              </a:rPr>
              <a:t>dinilai</a:t>
            </a:r>
            <a:endParaRPr lang="en-US" sz="1400" dirty="0"/>
          </a:p>
        </p:txBody>
      </p:sp>
      <p:sp>
        <p:nvSpPr>
          <p:cNvPr id="65" name="fold 4"/>
          <p:cNvSpPr/>
          <p:nvPr/>
        </p:nvSpPr>
        <p:spPr>
          <a:xfrm>
            <a:off x="6680515" y="4133088"/>
            <a:ext cx="654070" cy="438912"/>
          </a:xfrm>
          <a:prstGeom prst="roundRect">
            <a:avLst>
              <a:gd name="adj" fmla="val 10417"/>
            </a:avLst>
          </a:prstGeom>
          <a:solidFill>
            <a:schemeClr val="tx2">
              <a:alpha val="18000"/>
            </a:schemeClr>
          </a:solidFill>
          <a:ln/>
        </p:spPr>
      </p:sp>
      <p:sp>
        <p:nvSpPr>
          <p:cNvPr id="66" name="fold 5"/>
          <p:cNvSpPr/>
          <p:nvPr/>
        </p:nvSpPr>
        <p:spPr>
          <a:xfrm>
            <a:off x="7398593" y="4133088"/>
            <a:ext cx="654070" cy="438912"/>
          </a:xfrm>
          <a:prstGeom prst="roundRect">
            <a:avLst>
              <a:gd name="adj" fmla="val 10417"/>
            </a:avLst>
          </a:prstGeom>
          <a:solidFill>
            <a:schemeClr val="tx2">
              <a:alpha val="18000"/>
            </a:schemeClr>
          </a:solidFill>
          <a:ln/>
        </p:spPr>
      </p:sp>
      <p:sp>
        <p:nvSpPr>
          <p:cNvPr id="67" name="fold 6"/>
          <p:cNvSpPr/>
          <p:nvPr/>
        </p:nvSpPr>
        <p:spPr>
          <a:xfrm>
            <a:off x="8116672" y="4133088"/>
            <a:ext cx="654070" cy="438912"/>
          </a:xfrm>
          <a:prstGeom prst="roundRect">
            <a:avLst>
              <a:gd name="adj" fmla="val 10417"/>
            </a:avLst>
          </a:prstGeom>
          <a:solidFill>
            <a:schemeClr val="tx2">
              <a:alpha val="18000"/>
            </a:schemeClr>
          </a:solidFill>
          <a:ln/>
        </p:spPr>
      </p:sp>
      <p:sp>
        <p:nvSpPr>
          <p:cNvPr id="68" name="fold 7"/>
          <p:cNvSpPr/>
          <p:nvPr/>
        </p:nvSpPr>
        <p:spPr>
          <a:xfrm>
            <a:off x="8834750" y="4133088"/>
            <a:ext cx="654070" cy="438912"/>
          </a:xfrm>
          <a:prstGeom prst="roundRect">
            <a:avLst>
              <a:gd name="adj" fmla="val 10417"/>
            </a:avLst>
          </a:prstGeom>
          <a:solidFill>
            <a:schemeClr val="tx2">
              <a:alpha val="18000"/>
            </a:schemeClr>
          </a:solidFill>
          <a:ln/>
        </p:spPr>
      </p:sp>
      <p:sp>
        <p:nvSpPr>
          <p:cNvPr id="69" name="fold 8"/>
          <p:cNvSpPr/>
          <p:nvPr/>
        </p:nvSpPr>
        <p:spPr>
          <a:xfrm>
            <a:off x="9552828" y="4133088"/>
            <a:ext cx="654070" cy="438912"/>
          </a:xfrm>
          <a:prstGeom prst="roundRect">
            <a:avLst>
              <a:gd name="adj" fmla="val 10417"/>
            </a:avLst>
          </a:prstGeom>
          <a:solidFill>
            <a:schemeClr val="tx2">
              <a:alpha val="18000"/>
            </a:schemeClr>
          </a:solidFill>
          <a:ln/>
        </p:spPr>
      </p:sp>
      <p:sp>
        <p:nvSpPr>
          <p:cNvPr id="70" name="fold 9"/>
          <p:cNvSpPr/>
          <p:nvPr/>
        </p:nvSpPr>
        <p:spPr>
          <a:xfrm>
            <a:off x="10270907" y="4133088"/>
            <a:ext cx="654070" cy="438912"/>
          </a:xfrm>
          <a:prstGeom prst="roundRect">
            <a:avLst>
              <a:gd name="adj" fmla="val 10417"/>
            </a:avLst>
          </a:prstGeom>
          <a:solidFill>
            <a:schemeClr val="tx2">
              <a:alpha val="18000"/>
            </a:schemeClr>
          </a:solidFill>
          <a:ln/>
        </p:spPr>
      </p:sp>
      <p:sp>
        <p:nvSpPr>
          <p:cNvPr id="71" name="fold 10"/>
          <p:cNvSpPr/>
          <p:nvPr/>
        </p:nvSpPr>
        <p:spPr>
          <a:xfrm>
            <a:off x="10988985" y="4133088"/>
            <a:ext cx="654070" cy="438912"/>
          </a:xfrm>
          <a:prstGeom prst="roundRect">
            <a:avLst>
              <a:gd name="adj" fmla="val 10417"/>
            </a:avLst>
          </a:prstGeom>
          <a:solidFill>
            <a:schemeClr val="tx2">
              <a:alpha val="18000"/>
            </a:schemeClr>
          </a:solidFill>
          <a:ln/>
        </p:spPr>
      </p:sp>
      <p:sp>
        <p:nvSpPr>
          <p:cNvPr id="72" name="Text 69"/>
          <p:cNvSpPr txBox="1"/>
          <p:nvPr/>
        </p:nvSpPr>
        <p:spPr>
          <a:xfrm>
            <a:off x="4526280" y="4599432"/>
            <a:ext cx="7116775" cy="256032"/>
          </a:xfrm>
          <a:prstGeom prst="rect">
            <a:avLst/>
          </a:prstGeom>
          <a:noFill/>
          <a:ln/>
        </p:spPr>
        <p:txBody>
          <a:bodyPr wrap="square" lIns="0" tIns="0" rIns="0" bIns="0" rtlCol="0" anchor="t"/>
          <a:lstStyle/>
          <a:p>
            <a:pPr algn="r" indent="0" marL="0">
              <a:buNone/>
            </a:pPr>
            <a:r>
              <a:rPr lang="en-US" sz="1400" dirty="0">
                <a:solidFill>
                  <a:schemeClr val="accent5"/>
                </a:solidFill>
              </a:rPr>
              <a:t>9 </a:t>
            </a:r>
            <a:pPr algn="r" indent="0" marL="0">
              <a:buNone/>
            </a:pPr>
            <a:r>
              <a:rPr lang="en-US" sz="1400" i="1" dirty="0">
                <a:solidFill>
                  <a:schemeClr val="accent5"/>
                </a:solidFill>
              </a:rPr>
              <a:t>fold</a:t>
            </a:r>
            <a:pPr algn="r" indent="0" marL="0">
              <a:buNone/>
            </a:pPr>
            <a:r>
              <a:rPr lang="en-US" sz="1400" dirty="0">
                <a:solidFill>
                  <a:schemeClr val="accent5"/>
                </a:solidFill>
              </a:rPr>
              <a:t> lain: sumber tetangga</a:t>
            </a:r>
            <a:endParaRPr lang="en-US" sz="1400" dirty="0"/>
          </a:p>
        </p:txBody>
      </p:sp>
      <p:sp>
        <p:nvSpPr>
          <p:cNvPr id="73" name="Text 70"/>
          <p:cNvSpPr txBox="1"/>
          <p:nvPr/>
        </p:nvSpPr>
        <p:spPr>
          <a:xfrm>
            <a:off x="4526280" y="4873752"/>
            <a:ext cx="4114800" cy="274320"/>
          </a:xfrm>
          <a:prstGeom prst="rect">
            <a:avLst/>
          </a:prstGeom>
          <a:noFill/>
          <a:ln/>
        </p:spPr>
        <p:txBody>
          <a:bodyPr wrap="square" lIns="0" tIns="0" rIns="0" bIns="0" rtlCol="0" anchor="t"/>
          <a:lstStyle/>
          <a:p>
            <a:pPr algn="l" indent="0" marL="0">
              <a:buNone/>
            </a:pPr>
            <a:r>
              <a:rPr lang="en-US" sz="1400" b="1" dirty="0">
                <a:solidFill>
                  <a:schemeClr val="tx2"/>
                </a:solidFill>
              </a:rPr>
              <a:t>Lapis dalam: bagian latih dibagi 5</a:t>
            </a:r>
            <a:endParaRPr lang="en-US" sz="1400" dirty="0"/>
          </a:p>
        </p:txBody>
      </p:sp>
      <p:sp>
        <p:nvSpPr>
          <p:cNvPr id="74" name="bagian dihitung"/>
          <p:cNvSpPr/>
          <p:nvPr/>
        </p:nvSpPr>
        <p:spPr>
          <a:xfrm>
            <a:off x="4526280" y="5166360"/>
            <a:ext cx="1372149" cy="402336"/>
          </a:xfrm>
          <a:prstGeom prst="roundRect">
            <a:avLst>
              <a:gd name="adj" fmla="val 11364"/>
            </a:avLst>
          </a:prstGeom>
          <a:solidFill>
            <a:schemeClr val="accent2"/>
          </a:solidFill>
          <a:ln/>
        </p:spPr>
      </p:sp>
      <p:sp>
        <p:nvSpPr>
          <p:cNvPr id="75" name="Text 72"/>
          <p:cNvSpPr txBox="1"/>
          <p:nvPr/>
        </p:nvSpPr>
        <p:spPr>
          <a:xfrm>
            <a:off x="4526280" y="5166360"/>
            <a:ext cx="1372149" cy="402336"/>
          </a:xfrm>
          <a:prstGeom prst="rect">
            <a:avLst/>
          </a:prstGeom>
          <a:noFill/>
          <a:ln/>
        </p:spPr>
        <p:txBody>
          <a:bodyPr wrap="square" lIns="0" tIns="0" rIns="0" bIns="0" rtlCol="0" anchor="ctr"/>
          <a:lstStyle/>
          <a:p>
            <a:pPr algn="ctr" indent="0" marL="0">
              <a:buNone/>
            </a:pPr>
            <a:r>
              <a:rPr lang="en-US" sz="1400" b="1" dirty="0">
                <a:solidFill>
                  <a:schemeClr val="bg1"/>
                </a:solidFill>
              </a:rPr>
              <a:t>dihitung</a:t>
            </a:r>
            <a:endParaRPr lang="en-US" sz="1400" dirty="0"/>
          </a:p>
        </p:txBody>
      </p:sp>
      <p:sp>
        <p:nvSpPr>
          <p:cNvPr id="76" name="bagian 2"/>
          <p:cNvSpPr/>
          <p:nvPr/>
        </p:nvSpPr>
        <p:spPr>
          <a:xfrm>
            <a:off x="5962437" y="5166360"/>
            <a:ext cx="1372149" cy="402336"/>
          </a:xfrm>
          <a:prstGeom prst="roundRect">
            <a:avLst>
              <a:gd name="adj" fmla="val 11364"/>
            </a:avLst>
          </a:prstGeom>
          <a:solidFill>
            <a:schemeClr val="accent2">
              <a:alpha val="20000"/>
            </a:schemeClr>
          </a:solidFill>
          <a:ln/>
        </p:spPr>
      </p:sp>
      <p:sp>
        <p:nvSpPr>
          <p:cNvPr id="77" name="bagian 3"/>
          <p:cNvSpPr/>
          <p:nvPr/>
        </p:nvSpPr>
        <p:spPr>
          <a:xfrm>
            <a:off x="7398593" y="5166360"/>
            <a:ext cx="1372149" cy="402336"/>
          </a:xfrm>
          <a:prstGeom prst="roundRect">
            <a:avLst>
              <a:gd name="adj" fmla="val 11364"/>
            </a:avLst>
          </a:prstGeom>
          <a:solidFill>
            <a:schemeClr val="accent2">
              <a:alpha val="20000"/>
            </a:schemeClr>
          </a:solidFill>
          <a:ln/>
        </p:spPr>
      </p:sp>
      <p:sp>
        <p:nvSpPr>
          <p:cNvPr id="78" name="bagian 4"/>
          <p:cNvSpPr/>
          <p:nvPr/>
        </p:nvSpPr>
        <p:spPr>
          <a:xfrm>
            <a:off x="8834750" y="5166360"/>
            <a:ext cx="1372149" cy="402336"/>
          </a:xfrm>
          <a:prstGeom prst="roundRect">
            <a:avLst>
              <a:gd name="adj" fmla="val 11364"/>
            </a:avLst>
          </a:prstGeom>
          <a:solidFill>
            <a:schemeClr val="accent2">
              <a:alpha val="20000"/>
            </a:schemeClr>
          </a:solidFill>
          <a:ln/>
        </p:spPr>
      </p:sp>
      <p:sp>
        <p:nvSpPr>
          <p:cNvPr id="79" name="bagian 5"/>
          <p:cNvSpPr/>
          <p:nvPr/>
        </p:nvSpPr>
        <p:spPr>
          <a:xfrm>
            <a:off x="10270907" y="5166360"/>
            <a:ext cx="1372149" cy="402336"/>
          </a:xfrm>
          <a:prstGeom prst="roundRect">
            <a:avLst>
              <a:gd name="adj" fmla="val 11364"/>
            </a:avLst>
          </a:prstGeom>
          <a:solidFill>
            <a:schemeClr val="accent2">
              <a:alpha val="20000"/>
            </a:schemeClr>
          </a:solidFill>
          <a:ln/>
        </p:spPr>
      </p:sp>
      <p:sp>
        <p:nvSpPr>
          <p:cNvPr id="80" name="Text 77"/>
          <p:cNvSpPr txBox="1"/>
          <p:nvPr/>
        </p:nvSpPr>
        <p:spPr>
          <a:xfrm>
            <a:off x="4526280" y="5596128"/>
            <a:ext cx="7116775" cy="256032"/>
          </a:xfrm>
          <a:prstGeom prst="rect">
            <a:avLst/>
          </a:prstGeom>
          <a:noFill/>
          <a:ln/>
        </p:spPr>
        <p:txBody>
          <a:bodyPr wrap="square" lIns="0" tIns="0" rIns="0" bIns="0" rtlCol="0" anchor="t"/>
          <a:lstStyle/>
          <a:p>
            <a:pPr algn="r" indent="0" marL="0">
              <a:buNone/>
            </a:pPr>
            <a:r>
              <a:rPr lang="en-US" sz="1400" dirty="0">
                <a:solidFill>
                  <a:schemeClr val="accent5"/>
                </a:solidFill>
              </a:rPr>
              <a:t>4 bagian lain: sumber tetangga</a:t>
            </a:r>
            <a:endParaRPr lang="en-US" sz="1400" dirty="0"/>
          </a:p>
        </p:txBody>
      </p:sp>
      <p:pic>
        <p:nvPicPr>
          <p:cNvPr id="81" name="Image 1" descr="panah">    </p:cNvPr>
          <p:cNvPicPr>
            <a:picLocks noChangeAspect="1"/>
          </p:cNvPicPr>
          <p:nvPr/>
        </p:nvPicPr>
        <p:blipFill>
          <a:blip r:embed="rId2"/>
          <a:stretch>
            <a:fillRect/>
          </a:stretch>
        </p:blipFill>
        <p:spPr>
          <a:xfrm>
            <a:off x="4526280" y="5925312"/>
            <a:ext cx="274320" cy="274320"/>
          </a:xfrm>
          <a:prstGeom prst="rect">
            <a:avLst/>
          </a:prstGeom>
        </p:spPr>
      </p:pic>
      <p:sp>
        <p:nvSpPr>
          <p:cNvPr id="82" name="Text 78"/>
          <p:cNvSpPr txBox="1"/>
          <p:nvPr/>
        </p:nvSpPr>
        <p:spPr>
          <a:xfrm>
            <a:off x="4910328" y="5879592"/>
            <a:ext cx="6732727" cy="365760"/>
          </a:xfrm>
          <a:prstGeom prst="rect">
            <a:avLst/>
          </a:prstGeom>
          <a:noFill/>
          <a:ln/>
        </p:spPr>
        <p:txBody>
          <a:bodyPr wrap="square" lIns="0" tIns="0" rIns="0" bIns="0" rtlCol="0" anchor="ctr"/>
          <a:lstStyle/>
          <a:p>
            <a:pPr algn="l" indent="0" marL="0">
              <a:buNone/>
            </a:pPr>
            <a:r>
              <a:rPr lang="en-US" sz="1400" dirty="0">
                <a:solidFill>
                  <a:schemeClr val="accent5"/>
                </a:solidFill>
              </a:rPr>
              <a:t>Data uji: tetangga dari bagian latih model yang sama</a:t>
            </a:r>
            <a:endParaRPr lang="en-US" sz="1400" dirty="0"/>
          </a:p>
        </p:txBody>
      </p:sp>
      <p:sp>
        <p:nvSpPr>
          <p:cNvPr id="83" name="sel notebook"/>
          <p:cNvSpPr txBox="1"/>
          <p:nvPr/>
        </p:nvSpPr>
        <p:spPr>
          <a:xfrm>
            <a:off x="3383279" y="6400800"/>
            <a:ext cx="7680960" cy="274320"/>
          </a:xfrm>
          <a:prstGeom prst="rect">
            <a:avLst/>
          </a:prstGeom>
          <a:noFill/>
          <a:ln/>
        </p:spPr>
        <p:txBody>
          <a:bodyPr wrap="square" lIns="0" tIns="0" rIns="0" bIns="0" rtlCol="0" anchor="t"/>
          <a:lstStyle/>
          <a:p>
            <a:pPr algn="r" indent="0" marL="0">
              <a:buNone/>
            </a:pPr>
            <a:r>
              <a:rPr lang="en-US" sz="1200" dirty="0">
                <a:solidFill>
                  <a:schemeClr val="accent5"/>
                </a:solidFill>
              </a:rPr>
              <a:t>Sumber: notebook bagian 2, In [6]; 96,5%: skrip cek terpisah</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II · REKAYASA FITUR</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Uji label acak lulus: label baris yang dinilai tidak terbaca,</a:t>
            </a:r>
            <a:br/>
            <a:pPr algn="l" indent="0" marL="0">
              <a:buNone/>
            </a:pPr>
            <a:r>
              <a:rPr lang="en-US" sz="2800" b="1" dirty="0">
                <a:solidFill>
                  <a:schemeClr val="tx2"/>
                </a:solidFill>
              </a:rPr>
              <a:t>versi bocor tertangkap</a:t>
            </a:r>
            <a:endParaRPr lang="en-US" sz="2800" dirty="0"/>
          </a:p>
        </p:txBody>
      </p:sp>
      <p:sp>
        <p:nvSpPr>
          <p:cNvPr id="4" name="uji 1"/>
          <p:cNvSpPr/>
          <p:nvPr/>
        </p:nvSpPr>
        <p:spPr>
          <a:xfrm>
            <a:off x="548640" y="1737360"/>
            <a:ext cx="11094415" cy="868680"/>
          </a:xfrm>
          <a:prstGeom prst="roundRect">
            <a:avLst>
              <a:gd name="adj" fmla="val 8421"/>
            </a:avLst>
          </a:prstGeom>
          <a:solidFill>
            <a:schemeClr val="bg2"/>
          </a:solidFill>
          <a:ln/>
        </p:spPr>
      </p:sp>
      <p:sp>
        <p:nvSpPr>
          <p:cNvPr id="5" name="ikon FaCheck"/>
          <p:cNvSpPr/>
          <p:nvPr/>
        </p:nvSpPr>
        <p:spPr>
          <a:xfrm>
            <a:off x="731520" y="1897380"/>
            <a:ext cx="548640" cy="548640"/>
          </a:xfrm>
          <a:prstGeom prst="ellipse">
            <a:avLst/>
          </a:prstGeom>
          <a:solidFill>
            <a:schemeClr val="accent2"/>
          </a:solidFill>
          <a:ln/>
        </p:spPr>
      </p:sp>
      <p:pic>
        <p:nvPicPr>
          <p:cNvPr id="6" name="Image 0" descr="FaCheck">    </p:cNvPr>
          <p:cNvPicPr>
            <a:picLocks noChangeAspect="1"/>
          </p:cNvPicPr>
          <p:nvPr/>
        </p:nvPicPr>
        <p:blipFill>
          <a:blip r:embed="rId1"/>
          <a:stretch>
            <a:fillRect/>
          </a:stretch>
        </p:blipFill>
        <p:spPr>
          <a:xfrm>
            <a:off x="868680" y="2034540"/>
            <a:ext cx="274320" cy="274320"/>
          </a:xfrm>
          <a:prstGeom prst="rect">
            <a:avLst/>
          </a:prstGeom>
        </p:spPr>
      </p:pic>
      <p:sp>
        <p:nvSpPr>
          <p:cNvPr id="7" name="Text 4"/>
          <p:cNvSpPr txBox="1"/>
          <p:nvPr/>
        </p:nvSpPr>
        <p:spPr>
          <a:xfrm>
            <a:off x="1463040" y="1792224"/>
            <a:ext cx="8183880" cy="758952"/>
          </a:xfrm>
          <a:prstGeom prst="rect">
            <a:avLst/>
          </a:prstGeom>
          <a:noFill/>
          <a:ln/>
        </p:spPr>
        <p:txBody>
          <a:bodyPr wrap="square" lIns="0" tIns="0" rIns="0" bIns="0" rtlCol="0" anchor="ctr"/>
          <a:lstStyle/>
          <a:p>
            <a:pPr algn="l" indent="0" marL="0">
              <a:buNone/>
            </a:pPr>
            <a:r>
              <a:rPr lang="en-US" sz="1700" dirty="0">
                <a:solidFill>
                  <a:schemeClr val="tx1"/>
                </a:solidFill>
              </a:rPr>
              <a:t>Label 42.931 baris validasi diacak → fitur validasi dan 183.987 kawasan uji: 0 baris berubah</a:t>
            </a:r>
            <a:endParaRPr lang="en-US" sz="1700" dirty="0"/>
          </a:p>
        </p:txBody>
      </p:sp>
      <p:sp>
        <p:nvSpPr>
          <p:cNvPr id="8" name="hasil 1"/>
          <p:cNvSpPr/>
          <p:nvPr/>
        </p:nvSpPr>
        <p:spPr>
          <a:xfrm>
            <a:off x="9829800" y="1956816"/>
            <a:ext cx="1645920" cy="429768"/>
          </a:xfrm>
          <a:prstGeom prst="roundRect">
            <a:avLst>
              <a:gd name="adj" fmla="val 48936"/>
            </a:avLst>
          </a:prstGeom>
          <a:solidFill>
            <a:schemeClr val="accent2"/>
          </a:solidFill>
          <a:ln/>
        </p:spPr>
      </p:sp>
      <p:sp>
        <p:nvSpPr>
          <p:cNvPr id="9" name="Text 6"/>
          <p:cNvSpPr txBox="1"/>
          <p:nvPr/>
        </p:nvSpPr>
        <p:spPr>
          <a:xfrm>
            <a:off x="9829800" y="1956816"/>
            <a:ext cx="1645920" cy="429768"/>
          </a:xfrm>
          <a:prstGeom prst="rect">
            <a:avLst/>
          </a:prstGeom>
          <a:noFill/>
          <a:ln/>
        </p:spPr>
        <p:txBody>
          <a:bodyPr wrap="square" lIns="0" tIns="0" rIns="0" bIns="0" rtlCol="0" anchor="ctr"/>
          <a:lstStyle/>
          <a:p>
            <a:pPr algn="ctr" indent="0" marL="0">
              <a:buNone/>
            </a:pPr>
            <a:r>
              <a:rPr lang="en-US" sz="1500" b="1" dirty="0">
                <a:solidFill>
                  <a:schemeClr val="bg1"/>
                </a:solidFill>
              </a:rPr>
              <a:t>lulus</a:t>
            </a:r>
            <a:endParaRPr lang="en-US" sz="1500" dirty="0"/>
          </a:p>
        </p:txBody>
      </p:sp>
      <p:sp>
        <p:nvSpPr>
          <p:cNvPr id="10" name="uji 2"/>
          <p:cNvSpPr/>
          <p:nvPr/>
        </p:nvSpPr>
        <p:spPr>
          <a:xfrm>
            <a:off x="548640" y="2688336"/>
            <a:ext cx="11094415" cy="868680"/>
          </a:xfrm>
          <a:prstGeom prst="roundRect">
            <a:avLst>
              <a:gd name="adj" fmla="val 8421"/>
            </a:avLst>
          </a:prstGeom>
          <a:solidFill>
            <a:schemeClr val="bg2"/>
          </a:solidFill>
          <a:ln/>
        </p:spPr>
      </p:sp>
      <p:sp>
        <p:nvSpPr>
          <p:cNvPr id="11" name="ikon FaCheck"/>
          <p:cNvSpPr/>
          <p:nvPr/>
        </p:nvSpPr>
        <p:spPr>
          <a:xfrm>
            <a:off x="731520" y="2848356"/>
            <a:ext cx="548640" cy="548640"/>
          </a:xfrm>
          <a:prstGeom prst="ellipse">
            <a:avLst/>
          </a:prstGeom>
          <a:solidFill>
            <a:schemeClr val="accent2"/>
          </a:solidFill>
          <a:ln/>
        </p:spPr>
      </p:sp>
      <p:pic>
        <p:nvPicPr>
          <p:cNvPr id="12" name="Image 1" descr="FaCheck">    </p:cNvPr>
          <p:cNvPicPr>
            <a:picLocks noChangeAspect="1"/>
          </p:cNvPicPr>
          <p:nvPr/>
        </p:nvPicPr>
        <p:blipFill>
          <a:blip r:embed="rId2"/>
          <a:stretch>
            <a:fillRect/>
          </a:stretch>
        </p:blipFill>
        <p:spPr>
          <a:xfrm>
            <a:off x="868680" y="2985516"/>
            <a:ext cx="274320" cy="274320"/>
          </a:xfrm>
          <a:prstGeom prst="rect">
            <a:avLst/>
          </a:prstGeom>
        </p:spPr>
      </p:pic>
      <p:sp>
        <p:nvSpPr>
          <p:cNvPr id="13" name="Text 9"/>
          <p:cNvSpPr txBox="1"/>
          <p:nvPr/>
        </p:nvSpPr>
        <p:spPr>
          <a:xfrm>
            <a:off x="1463040" y="2743200"/>
            <a:ext cx="8183880" cy="758952"/>
          </a:xfrm>
          <a:prstGeom prst="rect">
            <a:avLst/>
          </a:prstGeom>
          <a:noFill/>
          <a:ln/>
        </p:spPr>
        <p:txBody>
          <a:bodyPr wrap="square" lIns="0" tIns="0" rIns="0" bIns="0" rtlCol="0" anchor="ctr"/>
          <a:lstStyle/>
          <a:p>
            <a:pPr algn="l" indent="0" marL="0">
              <a:buNone/>
            </a:pPr>
            <a:r>
              <a:rPr lang="en-US" sz="1700" dirty="0">
                <a:solidFill>
                  <a:schemeClr val="tx1"/>
                </a:solidFill>
              </a:rPr>
              <a:t>Label 77.275 baris latih bagian dalam diacak → fitur bagian itu identik; 309.097 baris lain berubah, sesuai rancangan</a:t>
            </a:r>
            <a:endParaRPr lang="en-US" sz="1700" dirty="0"/>
          </a:p>
        </p:txBody>
      </p:sp>
      <p:sp>
        <p:nvSpPr>
          <p:cNvPr id="14" name="hasil 2"/>
          <p:cNvSpPr/>
          <p:nvPr/>
        </p:nvSpPr>
        <p:spPr>
          <a:xfrm>
            <a:off x="9829800" y="2907792"/>
            <a:ext cx="1645920" cy="429768"/>
          </a:xfrm>
          <a:prstGeom prst="roundRect">
            <a:avLst>
              <a:gd name="adj" fmla="val 48936"/>
            </a:avLst>
          </a:prstGeom>
          <a:solidFill>
            <a:schemeClr val="accent2"/>
          </a:solidFill>
          <a:ln/>
        </p:spPr>
      </p:sp>
      <p:sp>
        <p:nvSpPr>
          <p:cNvPr id="15" name="Text 11"/>
          <p:cNvSpPr txBox="1"/>
          <p:nvPr/>
        </p:nvSpPr>
        <p:spPr>
          <a:xfrm>
            <a:off x="9829800" y="2907792"/>
            <a:ext cx="1645920" cy="429768"/>
          </a:xfrm>
          <a:prstGeom prst="rect">
            <a:avLst/>
          </a:prstGeom>
          <a:noFill/>
          <a:ln/>
        </p:spPr>
        <p:txBody>
          <a:bodyPr wrap="square" lIns="0" tIns="0" rIns="0" bIns="0" rtlCol="0" anchor="ctr"/>
          <a:lstStyle/>
          <a:p>
            <a:pPr algn="ctr" indent="0" marL="0">
              <a:buNone/>
            </a:pPr>
            <a:r>
              <a:rPr lang="en-US" sz="1500" b="1" dirty="0">
                <a:solidFill>
                  <a:schemeClr val="bg1"/>
                </a:solidFill>
              </a:rPr>
              <a:t>lulus</a:t>
            </a:r>
            <a:endParaRPr lang="en-US" sz="1500" dirty="0"/>
          </a:p>
        </p:txBody>
      </p:sp>
      <p:sp>
        <p:nvSpPr>
          <p:cNvPr id="16" name="uji 3"/>
          <p:cNvSpPr/>
          <p:nvPr/>
        </p:nvSpPr>
        <p:spPr>
          <a:xfrm>
            <a:off x="548640" y="3639312"/>
            <a:ext cx="11094415" cy="868680"/>
          </a:xfrm>
          <a:prstGeom prst="roundRect">
            <a:avLst>
              <a:gd name="adj" fmla="val 8421"/>
            </a:avLst>
          </a:prstGeom>
          <a:solidFill>
            <a:schemeClr val="accent6">
              <a:alpha val="8000"/>
            </a:schemeClr>
          </a:solidFill>
          <a:ln/>
        </p:spPr>
      </p:sp>
      <p:sp>
        <p:nvSpPr>
          <p:cNvPr id="17" name="ikon FaTriangleExclamation"/>
          <p:cNvSpPr/>
          <p:nvPr/>
        </p:nvSpPr>
        <p:spPr>
          <a:xfrm>
            <a:off x="731520" y="3799332"/>
            <a:ext cx="548640" cy="548640"/>
          </a:xfrm>
          <a:prstGeom prst="ellipse">
            <a:avLst/>
          </a:prstGeom>
          <a:solidFill>
            <a:schemeClr val="accent6"/>
          </a:solidFill>
          <a:ln/>
        </p:spPr>
      </p:sp>
      <p:pic>
        <p:nvPicPr>
          <p:cNvPr id="18" name="Image 2" descr="FaTriangleExclamation">    </p:cNvPr>
          <p:cNvPicPr>
            <a:picLocks noChangeAspect="1"/>
          </p:cNvPicPr>
          <p:nvPr/>
        </p:nvPicPr>
        <p:blipFill>
          <a:blip r:embed="rId3"/>
          <a:stretch>
            <a:fillRect/>
          </a:stretch>
        </p:blipFill>
        <p:spPr>
          <a:xfrm>
            <a:off x="868680" y="3936492"/>
            <a:ext cx="274320" cy="274320"/>
          </a:xfrm>
          <a:prstGeom prst="rect">
            <a:avLst/>
          </a:prstGeom>
        </p:spPr>
      </p:pic>
      <p:sp>
        <p:nvSpPr>
          <p:cNvPr id="19" name="label KONTROL"/>
          <p:cNvSpPr/>
          <p:nvPr/>
        </p:nvSpPr>
        <p:spPr>
          <a:xfrm>
            <a:off x="1463040" y="3913632"/>
            <a:ext cx="970727" cy="320040"/>
          </a:xfrm>
          <a:prstGeom prst="roundRect">
            <a:avLst>
              <a:gd name="adj" fmla="val 17143"/>
            </a:avLst>
          </a:prstGeom>
          <a:solidFill>
            <a:schemeClr val="accent6"/>
          </a:solidFill>
          <a:ln/>
        </p:spPr>
      </p:sp>
      <p:sp>
        <p:nvSpPr>
          <p:cNvPr id="20" name="Text 15"/>
          <p:cNvSpPr txBox="1"/>
          <p:nvPr/>
        </p:nvSpPr>
        <p:spPr>
          <a:xfrm>
            <a:off x="1463040" y="3913632"/>
            <a:ext cx="970727" cy="320040"/>
          </a:xfrm>
          <a:prstGeom prst="rect">
            <a:avLst/>
          </a:prstGeom>
          <a:noFill/>
          <a:ln/>
        </p:spPr>
        <p:txBody>
          <a:bodyPr wrap="square" lIns="0" tIns="0" rIns="0" bIns="0" rtlCol="0" anchor="ctr"/>
          <a:lstStyle/>
          <a:p>
            <a:pPr algn="ctr" indent="0" marL="0">
              <a:buNone/>
            </a:pPr>
            <a:r>
              <a:rPr lang="en-US" sz="1400" b="1" spc="50" kern="0" dirty="0">
                <a:solidFill>
                  <a:schemeClr val="bg1"/>
                </a:solidFill>
              </a:rPr>
              <a:t>KONTROL</a:t>
            </a:r>
            <a:endParaRPr lang="en-US" sz="1400" dirty="0"/>
          </a:p>
        </p:txBody>
      </p:sp>
      <p:sp>
        <p:nvSpPr>
          <p:cNvPr id="21" name="Text 16"/>
          <p:cNvSpPr txBox="1"/>
          <p:nvPr/>
        </p:nvSpPr>
        <p:spPr>
          <a:xfrm>
            <a:off x="2570927" y="3694176"/>
            <a:ext cx="7075993" cy="758952"/>
          </a:xfrm>
          <a:prstGeom prst="rect">
            <a:avLst/>
          </a:prstGeom>
          <a:noFill/>
          <a:ln/>
        </p:spPr>
        <p:txBody>
          <a:bodyPr wrap="square" lIns="0" tIns="0" rIns="0" bIns="0" rtlCol="0" anchor="ctr"/>
          <a:lstStyle/>
          <a:p>
            <a:pPr algn="l" indent="0" marL="0">
              <a:buNone/>
            </a:pPr>
            <a:r>
              <a:rPr lang="en-US" sz="1700" dirty="0">
                <a:solidFill>
                  <a:schemeClr val="tx1"/>
                </a:solidFill>
              </a:rPr>
              <a:t>versi bocor berubah di 42.931 baris</a:t>
            </a:r>
            <a:endParaRPr lang="en-US" sz="1700" dirty="0"/>
          </a:p>
        </p:txBody>
      </p:sp>
      <p:sp>
        <p:nvSpPr>
          <p:cNvPr id="22" name="hasil 3"/>
          <p:cNvSpPr/>
          <p:nvPr/>
        </p:nvSpPr>
        <p:spPr>
          <a:xfrm>
            <a:off x="9829800" y="3858768"/>
            <a:ext cx="1645920" cy="429768"/>
          </a:xfrm>
          <a:prstGeom prst="roundRect">
            <a:avLst>
              <a:gd name="adj" fmla="val 48936"/>
            </a:avLst>
          </a:prstGeom>
          <a:solidFill>
            <a:schemeClr val="accent6"/>
          </a:solidFill>
          <a:ln/>
        </p:spPr>
      </p:sp>
      <p:sp>
        <p:nvSpPr>
          <p:cNvPr id="23" name="Text 18"/>
          <p:cNvSpPr txBox="1"/>
          <p:nvPr/>
        </p:nvSpPr>
        <p:spPr>
          <a:xfrm>
            <a:off x="9829800" y="3858768"/>
            <a:ext cx="1645920" cy="429768"/>
          </a:xfrm>
          <a:prstGeom prst="rect">
            <a:avLst/>
          </a:prstGeom>
          <a:noFill/>
          <a:ln/>
        </p:spPr>
        <p:txBody>
          <a:bodyPr wrap="square" lIns="0" tIns="0" rIns="0" bIns="0" rtlCol="0" anchor="ctr"/>
          <a:lstStyle/>
          <a:p>
            <a:pPr algn="ctr" indent="0" marL="0">
              <a:buNone/>
            </a:pPr>
            <a:r>
              <a:rPr lang="en-US" sz="1500" b="1" dirty="0">
                <a:solidFill>
                  <a:schemeClr val="bg1"/>
                </a:solidFill>
              </a:rPr>
              <a:t>tertangkap</a:t>
            </a:r>
            <a:endParaRPr lang="en-US" sz="1500" dirty="0"/>
          </a:p>
        </p:txBody>
      </p:sp>
      <p:sp>
        <p:nvSpPr>
          <p:cNvPr id="24" name="label cakupan"/>
          <p:cNvSpPr/>
          <p:nvPr/>
        </p:nvSpPr>
        <p:spPr>
          <a:xfrm>
            <a:off x="548640" y="4690872"/>
            <a:ext cx="4023360" cy="384048"/>
          </a:xfrm>
          <a:prstGeom prst="roundRect">
            <a:avLst>
              <a:gd name="adj" fmla="val 50000"/>
            </a:avLst>
          </a:prstGeom>
          <a:ln w="12700">
            <a:solidFill>
              <a:schemeClr val="accent5"/>
            </a:solidFill>
            <a:prstDash val="solid"/>
          </a:ln>
        </p:spPr>
      </p:sp>
      <p:sp>
        <p:nvSpPr>
          <p:cNvPr id="25" name="Text 20"/>
          <p:cNvSpPr txBox="1"/>
          <p:nvPr/>
        </p:nvSpPr>
        <p:spPr>
          <a:xfrm>
            <a:off x="548640" y="4690872"/>
            <a:ext cx="4023360" cy="384048"/>
          </a:xfrm>
          <a:prstGeom prst="rect">
            <a:avLst/>
          </a:prstGeom>
          <a:noFill/>
          <a:ln/>
        </p:spPr>
        <p:txBody>
          <a:bodyPr wrap="square" lIns="0" tIns="0" rIns="0" bIns="0" rtlCol="0" anchor="ctr"/>
          <a:lstStyle/>
          <a:p>
            <a:pPr algn="ctr" indent="0" marL="0">
              <a:buNone/>
            </a:pPr>
            <a:r>
              <a:rPr lang="en-US" sz="1400" dirty="0">
                <a:solidFill>
                  <a:schemeClr val="accent5"/>
                </a:solidFill>
              </a:rPr>
              <a:t>Cakupan: dua blok fitur, satu </a:t>
            </a:r>
            <a:pPr algn="ctr" indent="0" marL="0">
              <a:buNone/>
            </a:pPr>
            <a:r>
              <a:rPr lang="en-US" sz="1400" i="1" dirty="0">
                <a:solidFill>
                  <a:schemeClr val="accent5"/>
                </a:solidFill>
              </a:rPr>
              <a:t>fold</a:t>
            </a:r>
            <a:endParaRPr lang="en-US" sz="1400" dirty="0"/>
          </a:p>
        </p:txBody>
      </p:sp>
      <p:sp>
        <p:nvSpPr>
          <p:cNvPr id="26" name="pita kontribusi"/>
          <p:cNvSpPr/>
          <p:nvPr/>
        </p:nvSpPr>
        <p:spPr>
          <a:xfrm>
            <a:off x="548640" y="5303520"/>
            <a:ext cx="11094415" cy="868680"/>
          </a:xfrm>
          <a:prstGeom prst="roundRect">
            <a:avLst>
              <a:gd name="adj" fmla="val 10526"/>
            </a:avLst>
          </a:prstGeom>
          <a:solidFill>
            <a:schemeClr val="accent2">
              <a:alpha val="12000"/>
            </a:schemeClr>
          </a:solidFill>
          <a:ln/>
        </p:spPr>
      </p:sp>
      <p:sp>
        <p:nvSpPr>
          <p:cNvPr id="27" name="label KONTRIBUSI"/>
          <p:cNvSpPr/>
          <p:nvPr/>
        </p:nvSpPr>
        <p:spPr>
          <a:xfrm>
            <a:off x="777240" y="5582412"/>
            <a:ext cx="1324051" cy="310896"/>
          </a:xfrm>
          <a:prstGeom prst="roundRect">
            <a:avLst>
              <a:gd name="adj" fmla="val 17647"/>
            </a:avLst>
          </a:prstGeom>
          <a:solidFill>
            <a:schemeClr val="accent2"/>
          </a:solidFill>
          <a:ln/>
        </p:spPr>
      </p:sp>
      <p:sp>
        <p:nvSpPr>
          <p:cNvPr id="28" name="Text 23"/>
          <p:cNvSpPr txBox="1"/>
          <p:nvPr/>
        </p:nvSpPr>
        <p:spPr>
          <a:xfrm>
            <a:off x="777240" y="5582412"/>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KONTRIBUSI</a:t>
            </a:r>
            <a:endParaRPr lang="en-US" sz="1400" dirty="0"/>
          </a:p>
        </p:txBody>
      </p:sp>
      <p:sp>
        <p:nvSpPr>
          <p:cNvPr id="29" name="Text 24"/>
          <p:cNvSpPr txBox="1"/>
          <p:nvPr/>
        </p:nvSpPr>
        <p:spPr>
          <a:xfrm>
            <a:off x="2284171" y="5330952"/>
            <a:ext cx="7225589" cy="813816"/>
          </a:xfrm>
          <a:prstGeom prst="rect">
            <a:avLst/>
          </a:prstGeom>
          <a:noFill/>
          <a:ln/>
        </p:spPr>
        <p:txBody>
          <a:bodyPr wrap="square" lIns="0" tIns="0" rIns="0" bIns="0" rtlCol="0" anchor="ctr"/>
          <a:lstStyle/>
          <a:p>
            <a:pPr algn="l" indent="0" marL="0">
              <a:buNone/>
            </a:pPr>
            <a:r>
              <a:rPr lang="en-US" sz="1700" dirty="0">
                <a:solidFill>
                  <a:schemeClr val="tx1"/>
                </a:solidFill>
              </a:rPr>
              <a:t>perbaikan galat EUI model tunggal dari kelompok fitur ini; prediksi untuk 30% nilai peta zona memakainya</a:t>
            </a:r>
            <a:endParaRPr lang="en-US" sz="1700" dirty="0"/>
          </a:p>
        </p:txBody>
      </p:sp>
      <p:sp>
        <p:nvSpPr>
          <p:cNvPr id="30" name="Shape 25"/>
          <p:cNvSpPr/>
          <p:nvPr/>
        </p:nvSpPr>
        <p:spPr>
          <a:xfrm>
            <a:off x="9601200" y="5733288"/>
            <a:ext cx="685800" cy="914"/>
          </a:xfrm>
          <a:prstGeom prst="line">
            <a:avLst/>
          </a:prstGeom>
          <a:noFill/>
          <a:ln w="25400">
            <a:solidFill>
              <a:schemeClr val="accent2"/>
            </a:solidFill>
            <a:prstDash val="solid"/>
            <a:tailEnd type="triangle"/>
          </a:ln>
        </p:spPr>
      </p:sp>
      <p:sp>
        <p:nvSpPr>
          <p:cNvPr id="31" name="kuadran Q3 (sasaran)"/>
          <p:cNvSpPr/>
          <p:nvPr/>
        </p:nvSpPr>
        <p:spPr>
          <a:xfrm>
            <a:off x="10378440" y="5330952"/>
            <a:ext cx="384048" cy="384048"/>
          </a:xfrm>
          <a:prstGeom prst="roundRect">
            <a:avLst>
              <a:gd name="adj" fmla="val 11905"/>
            </a:avLst>
          </a:prstGeom>
          <a:solidFill>
            <a:schemeClr val="tx2"/>
          </a:solidFill>
          <a:ln/>
        </p:spPr>
      </p:sp>
      <p:sp>
        <p:nvSpPr>
          <p:cNvPr id="32" name="Text 27"/>
          <p:cNvSpPr txBox="1"/>
          <p:nvPr/>
        </p:nvSpPr>
        <p:spPr>
          <a:xfrm>
            <a:off x="10378440" y="53309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Q3</a:t>
            </a:r>
            <a:endParaRPr lang="en-US" sz="1400" dirty="0"/>
          </a:p>
        </p:txBody>
      </p:sp>
      <p:sp>
        <p:nvSpPr>
          <p:cNvPr id="33" name="kuadran Q1 (sasaran)"/>
          <p:cNvSpPr/>
          <p:nvPr/>
        </p:nvSpPr>
        <p:spPr>
          <a:xfrm>
            <a:off x="10808208" y="5330952"/>
            <a:ext cx="384048" cy="384048"/>
          </a:xfrm>
          <a:prstGeom prst="roundRect">
            <a:avLst>
              <a:gd name="adj" fmla="val 11905"/>
            </a:avLst>
          </a:prstGeom>
          <a:solidFill>
            <a:schemeClr val="accent1"/>
          </a:solidFill>
          <a:ln/>
        </p:spPr>
      </p:sp>
      <p:sp>
        <p:nvSpPr>
          <p:cNvPr id="34" name="Text 29"/>
          <p:cNvSpPr txBox="1"/>
          <p:nvPr/>
        </p:nvSpPr>
        <p:spPr>
          <a:xfrm>
            <a:off x="10808208" y="53309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Q1</a:t>
            </a:r>
            <a:endParaRPr lang="en-US" sz="1400" dirty="0"/>
          </a:p>
        </p:txBody>
      </p:sp>
      <p:sp>
        <p:nvSpPr>
          <p:cNvPr id="35" name="kuadran Q4 (sasaran)"/>
          <p:cNvSpPr/>
          <p:nvPr/>
        </p:nvSpPr>
        <p:spPr>
          <a:xfrm>
            <a:off x="10378440" y="5760720"/>
            <a:ext cx="384048" cy="384048"/>
          </a:xfrm>
          <a:prstGeom prst="roundRect">
            <a:avLst>
              <a:gd name="adj" fmla="val 11905"/>
            </a:avLst>
          </a:prstGeom>
          <a:solidFill>
            <a:schemeClr val="accent4"/>
          </a:solidFill>
          <a:ln/>
        </p:spPr>
      </p:sp>
      <p:sp>
        <p:nvSpPr>
          <p:cNvPr id="36" name="Text 31"/>
          <p:cNvSpPr txBox="1"/>
          <p:nvPr/>
        </p:nvSpPr>
        <p:spPr>
          <a:xfrm>
            <a:off x="10378440" y="5760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Q4</a:t>
            </a:r>
            <a:endParaRPr lang="en-US" sz="1400" dirty="0"/>
          </a:p>
        </p:txBody>
      </p:sp>
      <p:sp>
        <p:nvSpPr>
          <p:cNvPr id="37" name="kuadran Q2 (sasaran)"/>
          <p:cNvSpPr/>
          <p:nvPr/>
        </p:nvSpPr>
        <p:spPr>
          <a:xfrm>
            <a:off x="10808208" y="5760720"/>
            <a:ext cx="384048" cy="384048"/>
          </a:xfrm>
          <a:prstGeom prst="roundRect">
            <a:avLst>
              <a:gd name="adj" fmla="val 11905"/>
            </a:avLst>
          </a:prstGeom>
          <a:solidFill>
            <a:schemeClr val="accent2"/>
          </a:solidFill>
          <a:ln/>
        </p:spPr>
      </p:sp>
      <p:sp>
        <p:nvSpPr>
          <p:cNvPr id="38" name="Text 33"/>
          <p:cNvSpPr txBox="1"/>
          <p:nvPr/>
        </p:nvSpPr>
        <p:spPr>
          <a:xfrm>
            <a:off x="10808208" y="5760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Q2</a:t>
            </a:r>
            <a:endParaRPr lang="en-US" sz="1400" dirty="0"/>
          </a:p>
        </p:txBody>
      </p:sp>
      <p:sp>
        <p:nvSpPr>
          <p:cNvPr id="39" name="sel notebook"/>
          <p:cNvSpPr txBox="1"/>
          <p:nvPr/>
        </p:nvSpPr>
        <p:spPr>
          <a:xfrm>
            <a:off x="3383279" y="6400800"/>
            <a:ext cx="7680960" cy="274320"/>
          </a:xfrm>
          <a:prstGeom prst="rect">
            <a:avLst/>
          </a:prstGeom>
          <a:noFill/>
          <a:ln/>
        </p:spPr>
        <p:txBody>
          <a:bodyPr wrap="square" lIns="0" tIns="0" rIns="0" bIns="0" rtlCol="0" anchor="t"/>
          <a:lstStyle/>
          <a:p>
            <a:pPr algn="r" indent="0" marL="0">
              <a:buNone/>
            </a:pPr>
            <a:r>
              <a:rPr lang="en-US" sz="1200" dirty="0">
                <a:solidFill>
                  <a:schemeClr val="accent5"/>
                </a:solidFill>
              </a:rPr>
              <a:t>Sumber: notebook bagian 1 dan 2; uji label acak: skrip cek terpisah</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III · ARSITEKTUR MODEL</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Lima target, tiga jalur: model besar hanya untuk gas, EUI, dan listrik</a:t>
            </a:r>
            <a:endParaRPr lang="en-US" sz="2800" dirty="0"/>
          </a:p>
        </p:txBody>
      </p:sp>
      <p:sp>
        <p:nvSpPr>
          <p:cNvPr id="4" name="data"/>
          <p:cNvSpPr/>
          <p:nvPr/>
        </p:nvSpPr>
        <p:spPr>
          <a:xfrm>
            <a:off x="548640" y="2240280"/>
            <a:ext cx="1325880" cy="1325880"/>
          </a:xfrm>
          <a:prstGeom prst="roundRect">
            <a:avLst>
              <a:gd name="adj" fmla="val 5517"/>
            </a:avLst>
          </a:prstGeom>
          <a:solidFill>
            <a:schemeClr val="bg2"/>
          </a:solidFill>
          <a:ln w="12700">
            <a:solidFill>
              <a:schemeClr val="tx2"/>
            </a:solidFill>
            <a:prstDash val="solid"/>
          </a:ln>
        </p:spPr>
      </p:sp>
      <p:sp>
        <p:nvSpPr>
          <p:cNvPr id="5" name="Text 3"/>
          <p:cNvSpPr txBox="1"/>
          <p:nvPr/>
        </p:nvSpPr>
        <p:spPr>
          <a:xfrm>
            <a:off x="621792" y="2286000"/>
            <a:ext cx="1179576" cy="1234440"/>
          </a:xfrm>
          <a:prstGeom prst="rect">
            <a:avLst/>
          </a:prstGeom>
          <a:noFill/>
          <a:ln/>
        </p:spPr>
        <p:txBody>
          <a:bodyPr wrap="square" lIns="0" tIns="0" rIns="0" bIns="0" rtlCol="0" anchor="ctr"/>
          <a:lstStyle/>
          <a:p>
            <a:pPr algn="ctr" indent="0" marL="0">
              <a:buNone/>
            </a:pPr>
            <a:r>
              <a:rPr lang="en-US" sz="1400" b="1" dirty="0">
                <a:solidFill>
                  <a:schemeClr val="tx2"/>
                </a:solidFill>
              </a:rPr>
              <a:t>Data latih + uji, 201 kolom</a:t>
            </a:r>
            <a:endParaRPr lang="en-US" sz="1400" dirty="0"/>
          </a:p>
        </p:txBody>
      </p:sp>
      <p:sp>
        <p:nvSpPr>
          <p:cNvPr id="6" name="Shape 4"/>
          <p:cNvSpPr/>
          <p:nvPr/>
        </p:nvSpPr>
        <p:spPr>
          <a:xfrm>
            <a:off x="1874520" y="2907792"/>
            <a:ext cx="182880" cy="914"/>
          </a:xfrm>
          <a:prstGeom prst="line">
            <a:avLst/>
          </a:prstGeom>
          <a:noFill/>
          <a:ln w="19050">
            <a:solidFill>
              <a:schemeClr val="accent5"/>
            </a:solidFill>
            <a:prstDash val="solid"/>
          </a:ln>
        </p:spPr>
      </p:sp>
      <p:sp>
        <p:nvSpPr>
          <p:cNvPr id="7" name="Shape 5"/>
          <p:cNvSpPr/>
          <p:nvPr/>
        </p:nvSpPr>
        <p:spPr>
          <a:xfrm>
            <a:off x="2057400" y="2103120"/>
            <a:ext cx="914" cy="1938528"/>
          </a:xfrm>
          <a:prstGeom prst="line">
            <a:avLst/>
          </a:prstGeom>
          <a:noFill/>
          <a:ln w="19050">
            <a:solidFill>
              <a:schemeClr val="accent5"/>
            </a:solidFill>
            <a:prstDash val="solid"/>
          </a:ln>
        </p:spPr>
      </p:sp>
      <p:sp>
        <p:nvSpPr>
          <p:cNvPr id="8" name="Shape 6"/>
          <p:cNvSpPr/>
          <p:nvPr/>
        </p:nvSpPr>
        <p:spPr>
          <a:xfrm>
            <a:off x="2057400" y="2103120"/>
            <a:ext cx="164592" cy="914"/>
          </a:xfrm>
          <a:prstGeom prst="line">
            <a:avLst/>
          </a:prstGeom>
          <a:noFill/>
          <a:ln w="19050">
            <a:solidFill>
              <a:schemeClr val="accent5"/>
            </a:solidFill>
            <a:prstDash val="solid"/>
            <a:tailEnd type="triangle"/>
          </a:ln>
        </p:spPr>
      </p:sp>
      <p:sp>
        <p:nvSpPr>
          <p:cNvPr id="9" name="Shape 7"/>
          <p:cNvSpPr/>
          <p:nvPr/>
        </p:nvSpPr>
        <p:spPr>
          <a:xfrm>
            <a:off x="2057400" y="2944368"/>
            <a:ext cx="164592" cy="914"/>
          </a:xfrm>
          <a:prstGeom prst="line">
            <a:avLst/>
          </a:prstGeom>
          <a:noFill/>
          <a:ln w="19050">
            <a:solidFill>
              <a:schemeClr val="accent5"/>
            </a:solidFill>
            <a:prstDash val="solid"/>
            <a:tailEnd type="triangle"/>
          </a:ln>
        </p:spPr>
      </p:sp>
      <p:sp>
        <p:nvSpPr>
          <p:cNvPr id="10" name="Shape 8"/>
          <p:cNvSpPr/>
          <p:nvPr/>
        </p:nvSpPr>
        <p:spPr>
          <a:xfrm>
            <a:off x="2057400" y="4041648"/>
            <a:ext cx="164592" cy="914"/>
          </a:xfrm>
          <a:prstGeom prst="line">
            <a:avLst/>
          </a:prstGeom>
          <a:noFill/>
          <a:ln w="19050">
            <a:solidFill>
              <a:schemeClr val="accent5"/>
            </a:solidFill>
            <a:prstDash val="solid"/>
            <a:tailEnd type="triangle"/>
          </a:ln>
        </p:spPr>
      </p:sp>
      <p:sp>
        <p:nvSpPr>
          <p:cNvPr id="11" name="jalur 1"/>
          <p:cNvSpPr/>
          <p:nvPr/>
        </p:nvSpPr>
        <p:spPr>
          <a:xfrm>
            <a:off x="2240280" y="1691640"/>
            <a:ext cx="2971800" cy="841248"/>
          </a:xfrm>
          <a:prstGeom prst="roundRect">
            <a:avLst>
              <a:gd name="adj" fmla="val 8696"/>
            </a:avLst>
          </a:prstGeom>
          <a:solidFill>
            <a:schemeClr val="accent1">
              <a:alpha val="15000"/>
            </a:schemeClr>
          </a:solidFill>
          <a:ln w="12700">
            <a:solidFill>
              <a:schemeClr val="accent1"/>
            </a:solidFill>
            <a:prstDash val="solid"/>
          </a:ln>
        </p:spPr>
      </p:sp>
      <p:sp>
        <p:nvSpPr>
          <p:cNvPr id="12" name="Text 10"/>
          <p:cNvSpPr txBox="1"/>
          <p:nvPr/>
        </p:nvSpPr>
        <p:spPr>
          <a:xfrm>
            <a:off x="2377440" y="1719072"/>
            <a:ext cx="2697480" cy="786384"/>
          </a:xfrm>
          <a:prstGeom prst="rect">
            <a:avLst/>
          </a:prstGeom>
          <a:noFill/>
          <a:ln/>
        </p:spPr>
        <p:txBody>
          <a:bodyPr wrap="square" lIns="0" tIns="0" rIns="0" bIns="0" rtlCol="0" anchor="ctr"/>
          <a:lstStyle/>
          <a:p>
            <a:pPr algn="l" indent="0" marL="0">
              <a:buNone/>
            </a:pPr>
            <a:r>
              <a:rPr lang="en-US" sz="1500" b="1" dirty="0">
                <a:solidFill>
                  <a:schemeClr val="tx1"/>
                </a:solidFill>
              </a:rPr>
              <a:t>Jalur 1 · Gas dan EUI: 28 model</a:t>
            </a:r>
            <a:endParaRPr lang="en-US" sz="1500" dirty="0"/>
          </a:p>
        </p:txBody>
      </p:sp>
      <p:sp>
        <p:nvSpPr>
          <p:cNvPr id="13" name="jalur 2"/>
          <p:cNvSpPr/>
          <p:nvPr/>
        </p:nvSpPr>
        <p:spPr>
          <a:xfrm>
            <a:off x="2240280" y="2670048"/>
            <a:ext cx="2971800" cy="548640"/>
          </a:xfrm>
          <a:prstGeom prst="roundRect">
            <a:avLst>
              <a:gd name="adj" fmla="val 13333"/>
            </a:avLst>
          </a:prstGeom>
          <a:solidFill>
            <a:schemeClr val="accent2">
              <a:alpha val="15000"/>
            </a:schemeClr>
          </a:solidFill>
          <a:ln w="12700">
            <a:solidFill>
              <a:schemeClr val="accent2"/>
            </a:solidFill>
            <a:prstDash val="solid"/>
          </a:ln>
        </p:spPr>
      </p:sp>
      <p:sp>
        <p:nvSpPr>
          <p:cNvPr id="14" name="Text 12"/>
          <p:cNvSpPr txBox="1"/>
          <p:nvPr/>
        </p:nvSpPr>
        <p:spPr>
          <a:xfrm>
            <a:off x="2377440" y="2670048"/>
            <a:ext cx="2697480" cy="548640"/>
          </a:xfrm>
          <a:prstGeom prst="rect">
            <a:avLst/>
          </a:prstGeom>
          <a:noFill/>
          <a:ln/>
        </p:spPr>
        <p:txBody>
          <a:bodyPr wrap="square" lIns="0" tIns="0" rIns="0" bIns="0" rtlCol="0" anchor="ctr"/>
          <a:lstStyle/>
          <a:p>
            <a:pPr algn="l" indent="0" marL="0">
              <a:buNone/>
            </a:pPr>
            <a:r>
              <a:rPr lang="en-US" sz="1500" b="1" dirty="0">
                <a:solidFill>
                  <a:schemeClr val="tx1"/>
                </a:solidFill>
              </a:rPr>
              <a:t>Jalur 2 · Listrik: 13 model</a:t>
            </a:r>
            <a:endParaRPr lang="en-US" sz="1500" dirty="0"/>
          </a:p>
        </p:txBody>
      </p:sp>
      <p:sp>
        <p:nvSpPr>
          <p:cNvPr id="15" name="kurung 41 model"/>
          <p:cNvSpPr/>
          <p:nvPr/>
        </p:nvSpPr>
        <p:spPr>
          <a:xfrm>
            <a:off x="5266944" y="1691640"/>
            <a:ext cx="182880" cy="1527048"/>
          </a:xfrm>
          <a:prstGeom prst="rightBrace">
            <a:avLst/>
          </a:prstGeom>
          <a:ln w="19050">
            <a:solidFill>
              <a:schemeClr val="tx2"/>
            </a:solidFill>
            <a:prstDash val="solid"/>
          </a:ln>
        </p:spPr>
      </p:sp>
      <p:sp>
        <p:nvSpPr>
          <p:cNvPr id="16" name="Text 14"/>
          <p:cNvSpPr txBox="1"/>
          <p:nvPr/>
        </p:nvSpPr>
        <p:spPr>
          <a:xfrm>
            <a:off x="5440680" y="1874520"/>
            <a:ext cx="1051560" cy="512064"/>
          </a:xfrm>
          <a:prstGeom prst="rect">
            <a:avLst/>
          </a:prstGeom>
          <a:noFill/>
          <a:ln/>
        </p:spPr>
        <p:txBody>
          <a:bodyPr wrap="square" lIns="0" tIns="0" rIns="0" bIns="0" rtlCol="0" anchor="b"/>
          <a:lstStyle/>
          <a:p>
            <a:pPr algn="ctr" indent="0" marL="0">
              <a:buNone/>
            </a:pPr>
            <a:r>
              <a:rPr lang="en-US" sz="1400" b="1" dirty="0">
                <a:solidFill>
                  <a:schemeClr val="tx2"/>
                </a:solidFill>
              </a:rPr>
              <a:t>41 model</a:t>
            </a:r>
            <a:endParaRPr lang="en-US" sz="1400" dirty="0"/>
          </a:p>
          <a:p>
            <a:pPr algn="ctr" indent="0" marL="0">
              <a:buNone/>
            </a:pPr>
            <a:r>
              <a:rPr lang="en-US" sz="1400" b="1" dirty="0">
                <a:solidFill>
                  <a:schemeClr val="tx2"/>
                </a:solidFill>
              </a:rPr>
              <a:t>di-</a:t>
            </a:r>
            <a:pPr algn="ctr" indent="0" marL="0">
              <a:buNone/>
            </a:pPr>
            <a:r>
              <a:rPr lang="en-US" sz="1400" b="1" i="1" dirty="0">
                <a:solidFill>
                  <a:schemeClr val="tx2"/>
                </a:solidFill>
              </a:rPr>
              <a:t>blend</a:t>
            </a:r>
            <a:endParaRPr lang="en-US" sz="1400" dirty="0"/>
          </a:p>
        </p:txBody>
      </p:sp>
      <p:sp>
        <p:nvSpPr>
          <p:cNvPr id="17" name="Shape 15"/>
          <p:cNvSpPr/>
          <p:nvPr/>
        </p:nvSpPr>
        <p:spPr>
          <a:xfrm>
            <a:off x="5458968" y="2450592"/>
            <a:ext cx="1014984" cy="914"/>
          </a:xfrm>
          <a:prstGeom prst="line">
            <a:avLst/>
          </a:prstGeom>
          <a:noFill/>
          <a:ln w="25400">
            <a:solidFill>
              <a:schemeClr val="tx2"/>
            </a:solidFill>
            <a:prstDash val="solid"/>
            <a:tailEnd type="triangle"/>
          </a:ln>
        </p:spPr>
      </p:sp>
      <p:sp>
        <p:nvSpPr>
          <p:cNvPr id="18" name="tahap gabungan"/>
          <p:cNvSpPr/>
          <p:nvPr/>
        </p:nvSpPr>
        <p:spPr>
          <a:xfrm>
            <a:off x="6510528" y="1691640"/>
            <a:ext cx="2514600" cy="1527048"/>
          </a:xfrm>
          <a:prstGeom prst="roundRect">
            <a:avLst>
              <a:gd name="adj" fmla="val 4790"/>
            </a:avLst>
          </a:prstGeom>
          <a:solidFill>
            <a:schemeClr val="tx2"/>
          </a:solidFill>
          <a:ln/>
        </p:spPr>
      </p:sp>
      <p:sp>
        <p:nvSpPr>
          <p:cNvPr id="19" name="Text 17"/>
          <p:cNvSpPr txBox="1"/>
          <p:nvPr/>
        </p:nvSpPr>
        <p:spPr>
          <a:xfrm>
            <a:off x="6556248" y="1719072"/>
            <a:ext cx="2423160" cy="1472184"/>
          </a:xfrm>
          <a:prstGeom prst="rect">
            <a:avLst/>
          </a:prstGeom>
          <a:noFill/>
          <a:ln/>
        </p:spPr>
        <p:txBody>
          <a:bodyPr wrap="square" lIns="0" tIns="0" rIns="0" bIns="0" rtlCol="0" anchor="ctr"/>
          <a:lstStyle/>
          <a:p>
            <a:pPr algn="ctr" indent="0" marL="0">
              <a:buNone/>
            </a:pPr>
            <a:r>
              <a:rPr lang="en-US" sz="1400" b="1" dirty="0">
                <a:solidFill>
                  <a:schemeClr val="bg1"/>
                </a:solidFill>
              </a:rPr>
              <a:t>gabungan bobot adaptif</a:t>
            </a:r>
            <a:endParaRPr lang="en-US" sz="1600" dirty="0"/>
          </a:p>
          <a:p>
            <a:pPr algn="ctr" indent="0" marL="0">
              <a:buNone/>
            </a:pPr>
            <a:r>
              <a:rPr lang="en-US" sz="1400" dirty="0">
                <a:solidFill>
                  <a:schemeClr val="accent4"/>
                </a:solidFill>
              </a:rPr>
              <a:t>↓</a:t>
            </a:r>
            <a:endParaRPr lang="en-US" sz="1600" dirty="0"/>
          </a:p>
          <a:p>
            <a:pPr algn="ctr" indent="0" marL="0">
              <a:buNone/>
            </a:pPr>
            <a:r>
              <a:rPr lang="en-US" sz="1400" b="1" dirty="0">
                <a:solidFill>
                  <a:schemeClr val="bg1"/>
                </a:solidFill>
              </a:rPr>
              <a:t>koreksi galat tetangga</a:t>
            </a:r>
            <a:endParaRPr lang="en-US" sz="1600" dirty="0"/>
          </a:p>
          <a:p>
            <a:pPr algn="ctr" indent="0" marL="0">
              <a:buNone/>
            </a:pPr>
            <a:r>
              <a:rPr lang="en-US" sz="1400" dirty="0">
                <a:solidFill>
                  <a:schemeClr val="accent4"/>
                </a:solidFill>
              </a:rPr>
              <a:t>↓</a:t>
            </a:r>
            <a:endParaRPr lang="en-US" sz="1600" dirty="0"/>
          </a:p>
          <a:p>
            <a:pPr algn="ctr" indent="0" marL="0">
              <a:buNone/>
            </a:pPr>
            <a:r>
              <a:rPr lang="en-US" sz="1400" b="1" dirty="0">
                <a:solidFill>
                  <a:schemeClr val="bg1"/>
                </a:solidFill>
              </a:rPr>
              <a:t>penyesuaian akhir</a:t>
            </a:r>
            <a:endParaRPr lang="en-US" sz="1600" dirty="0"/>
          </a:p>
        </p:txBody>
      </p:sp>
      <p:sp>
        <p:nvSpPr>
          <p:cNvPr id="20" name="jalur 3"/>
          <p:cNvSpPr/>
          <p:nvPr/>
        </p:nvSpPr>
        <p:spPr>
          <a:xfrm>
            <a:off x="2240280" y="3383280"/>
            <a:ext cx="6784848" cy="1344168"/>
          </a:xfrm>
          <a:prstGeom prst="roundRect">
            <a:avLst>
              <a:gd name="adj" fmla="val 5442"/>
            </a:avLst>
          </a:prstGeom>
          <a:solidFill>
            <a:schemeClr val="accent4">
              <a:alpha val="20000"/>
            </a:schemeClr>
          </a:solidFill>
          <a:ln w="12700">
            <a:solidFill>
              <a:schemeClr val="accent4"/>
            </a:solidFill>
            <a:prstDash val="solid"/>
          </a:ln>
        </p:spPr>
      </p:sp>
      <p:sp>
        <p:nvSpPr>
          <p:cNvPr id="21" name="Text 19"/>
          <p:cNvSpPr txBox="1"/>
          <p:nvPr/>
        </p:nvSpPr>
        <p:spPr>
          <a:xfrm>
            <a:off x="2377440" y="3429000"/>
            <a:ext cx="6492240" cy="292608"/>
          </a:xfrm>
          <a:prstGeom prst="rect">
            <a:avLst/>
          </a:prstGeom>
          <a:noFill/>
          <a:ln/>
        </p:spPr>
        <p:txBody>
          <a:bodyPr wrap="square" lIns="0" tIns="0" rIns="0" bIns="0" rtlCol="0" anchor="t"/>
          <a:lstStyle/>
          <a:p>
            <a:pPr algn="l" indent="0" marL="0">
              <a:buNone/>
            </a:pPr>
            <a:r>
              <a:rPr lang="en-US" sz="1500" b="1" dirty="0">
                <a:solidFill>
                  <a:schemeClr val="tx1"/>
                </a:solidFill>
              </a:rPr>
              <a:t>Jalur 3 · Porsi bersih dan adopsi: tanpa model besar</a:t>
            </a:r>
            <a:endParaRPr lang="en-US" sz="1500" dirty="0"/>
          </a:p>
        </p:txBody>
      </p:sp>
      <p:sp>
        <p:nvSpPr>
          <p:cNvPr id="22" name="porsi bersih"/>
          <p:cNvSpPr/>
          <p:nvPr/>
        </p:nvSpPr>
        <p:spPr>
          <a:xfrm>
            <a:off x="2377440" y="3767328"/>
            <a:ext cx="1508760" cy="868680"/>
          </a:xfrm>
          <a:prstGeom prst="roundRect">
            <a:avLst>
              <a:gd name="adj" fmla="val 6316"/>
            </a:avLst>
          </a:prstGeom>
          <a:solidFill>
            <a:schemeClr val="bg1"/>
          </a:solidFill>
          <a:ln/>
        </p:spPr>
      </p:sp>
      <p:sp>
        <p:nvSpPr>
          <p:cNvPr id="23" name="Text 21"/>
          <p:cNvSpPr txBox="1"/>
          <p:nvPr/>
        </p:nvSpPr>
        <p:spPr>
          <a:xfrm>
            <a:off x="2423160" y="3767328"/>
            <a:ext cx="1417320" cy="868680"/>
          </a:xfrm>
          <a:prstGeom prst="rect">
            <a:avLst/>
          </a:prstGeom>
          <a:noFill/>
          <a:ln/>
        </p:spPr>
        <p:txBody>
          <a:bodyPr wrap="square" lIns="0" tIns="0" rIns="0" bIns="0" rtlCol="0" anchor="ctr"/>
          <a:lstStyle/>
          <a:p>
            <a:pPr algn="ctr" indent="0" marL="0">
              <a:buNone/>
            </a:pPr>
            <a:r>
              <a:rPr lang="en-US" sz="1400" dirty="0">
                <a:solidFill>
                  <a:schemeClr val="tx1"/>
                </a:solidFill>
              </a:rPr>
              <a:t>porsi bersih: rumus</a:t>
            </a:r>
            <a:endParaRPr lang="en-US" sz="1400" dirty="0"/>
          </a:p>
        </p:txBody>
      </p:sp>
      <p:sp>
        <p:nvSpPr>
          <p:cNvPr id="24" name="salin subzona"/>
          <p:cNvSpPr/>
          <p:nvPr/>
        </p:nvSpPr>
        <p:spPr>
          <a:xfrm>
            <a:off x="4023360" y="3767328"/>
            <a:ext cx="2057400" cy="868680"/>
          </a:xfrm>
          <a:prstGeom prst="roundRect">
            <a:avLst>
              <a:gd name="adj" fmla="val 6316"/>
            </a:avLst>
          </a:prstGeom>
          <a:solidFill>
            <a:schemeClr val="bg1"/>
          </a:solidFill>
          <a:ln/>
        </p:spPr>
      </p:sp>
      <p:sp>
        <p:nvSpPr>
          <p:cNvPr id="25" name="Text 23"/>
          <p:cNvSpPr txBox="1"/>
          <p:nvPr/>
        </p:nvSpPr>
        <p:spPr>
          <a:xfrm>
            <a:off x="4069080" y="3767328"/>
            <a:ext cx="1965960" cy="868680"/>
          </a:xfrm>
          <a:prstGeom prst="rect">
            <a:avLst/>
          </a:prstGeom>
          <a:noFill/>
          <a:ln/>
        </p:spPr>
        <p:txBody>
          <a:bodyPr wrap="square" lIns="0" tIns="0" rIns="0" bIns="0" rtlCol="0" anchor="ctr"/>
          <a:lstStyle/>
          <a:p>
            <a:pPr algn="ctr" indent="0" marL="0">
              <a:buNone/>
            </a:pPr>
            <a:r>
              <a:rPr lang="en-US" sz="1400" dirty="0">
                <a:solidFill>
                  <a:schemeClr val="tx1"/>
                </a:solidFill>
              </a:rPr>
              <a:t>adopsi: salin subzona (91,86%)</a:t>
            </a:r>
            <a:endParaRPr lang="en-US" sz="1400" dirty="0"/>
          </a:p>
        </p:txBody>
      </p:sp>
      <p:sp>
        <p:nvSpPr>
          <p:cNvPr id="26" name="Text 24"/>
          <p:cNvSpPr txBox="1"/>
          <p:nvPr/>
        </p:nvSpPr>
        <p:spPr>
          <a:xfrm>
            <a:off x="6080760" y="3767328"/>
            <a:ext cx="274320" cy="86868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27" name="2 LightGBM terpisah"/>
          <p:cNvSpPr/>
          <p:nvPr/>
        </p:nvSpPr>
        <p:spPr>
          <a:xfrm>
            <a:off x="6355080" y="3767328"/>
            <a:ext cx="2532888" cy="868680"/>
          </a:xfrm>
          <a:prstGeom prst="roundRect">
            <a:avLst>
              <a:gd name="adj" fmla="val 6316"/>
            </a:avLst>
          </a:prstGeom>
          <a:solidFill>
            <a:schemeClr val="bg1"/>
          </a:solidFill>
          <a:ln w="15875">
            <a:solidFill>
              <a:schemeClr val="accent6"/>
            </a:solidFill>
            <a:prstDash val="dash"/>
          </a:ln>
        </p:spPr>
      </p:sp>
      <p:sp>
        <p:nvSpPr>
          <p:cNvPr id="28" name="Text 26"/>
          <p:cNvSpPr txBox="1"/>
          <p:nvPr/>
        </p:nvSpPr>
        <p:spPr>
          <a:xfrm>
            <a:off x="6400800" y="3767328"/>
            <a:ext cx="2441448" cy="868680"/>
          </a:xfrm>
          <a:prstGeom prst="rect">
            <a:avLst/>
          </a:prstGeom>
          <a:noFill/>
          <a:ln/>
        </p:spPr>
        <p:txBody>
          <a:bodyPr wrap="square" lIns="0" tIns="0" rIns="0" bIns="0" rtlCol="0" anchor="ctr"/>
          <a:lstStyle/>
          <a:p>
            <a:pPr algn="ctr" indent="0" marL="0">
              <a:buNone/>
            </a:pPr>
            <a:r>
              <a:rPr lang="en-US" sz="1400" b="1" dirty="0">
                <a:solidFill>
                  <a:schemeClr val="accent6"/>
                </a:solidFill>
              </a:rPr>
              <a:t>2 LightGBM terpisah</a:t>
            </a:r>
            <a:endParaRPr lang="en-US" sz="1600" dirty="0"/>
          </a:p>
          <a:p>
            <a:pPr algn="ctr" indent="0" marL="0">
              <a:buNone/>
            </a:pPr>
            <a:r>
              <a:rPr lang="en-US" sz="1400" dirty="0">
                <a:solidFill>
                  <a:schemeClr val="accent5"/>
                </a:solidFill>
              </a:rPr>
              <a:t>8,14% kawasan uji di subzona baru</a:t>
            </a:r>
            <a:endParaRPr lang="en-US" sz="1600" dirty="0"/>
          </a:p>
        </p:txBody>
      </p:sp>
      <p:sp>
        <p:nvSpPr>
          <p:cNvPr id="29" name="Text 27"/>
          <p:cNvSpPr txBox="1"/>
          <p:nvPr/>
        </p:nvSpPr>
        <p:spPr>
          <a:xfrm>
            <a:off x="9162288" y="1371600"/>
            <a:ext cx="2480767" cy="603504"/>
          </a:xfrm>
          <a:prstGeom prst="rect">
            <a:avLst/>
          </a:prstGeom>
          <a:noFill/>
          <a:ln/>
        </p:spPr>
        <p:txBody>
          <a:bodyPr wrap="square" lIns="0" tIns="0" rIns="0" bIns="0" rtlCol="0" anchor="b"/>
          <a:lstStyle/>
          <a:p>
            <a:pPr algn="r" indent="0" marL="0">
              <a:buNone/>
            </a:pPr>
            <a:r>
              <a:rPr lang="en-US" sz="1400" dirty="0">
                <a:solidFill>
                  <a:schemeClr val="accent5"/>
                </a:solidFill>
              </a:rPr>
              <a:t>Galat jujur sebelum koreksi (RMSE/σ; menebak rata-rata ≈ 1)</a:t>
            </a:r>
            <a:endParaRPr lang="en-US" sz="1400" dirty="0"/>
          </a:p>
        </p:txBody>
      </p:sp>
      <p:sp>
        <p:nvSpPr>
          <p:cNvPr id="30" name="keluaran Gas"/>
          <p:cNvSpPr/>
          <p:nvPr/>
        </p:nvSpPr>
        <p:spPr>
          <a:xfrm>
            <a:off x="9253728" y="2011680"/>
            <a:ext cx="2389327" cy="347472"/>
          </a:xfrm>
          <a:prstGeom prst="roundRect">
            <a:avLst>
              <a:gd name="adj" fmla="val 15789"/>
            </a:avLst>
          </a:prstGeom>
          <a:solidFill>
            <a:schemeClr val="bg2"/>
          </a:solidFill>
          <a:ln/>
        </p:spPr>
      </p:sp>
      <p:sp>
        <p:nvSpPr>
          <p:cNvPr id="31" name="Text 29"/>
          <p:cNvSpPr txBox="1"/>
          <p:nvPr/>
        </p:nvSpPr>
        <p:spPr>
          <a:xfrm>
            <a:off x="9363456" y="2011680"/>
            <a:ext cx="1325880" cy="347472"/>
          </a:xfrm>
          <a:prstGeom prst="rect">
            <a:avLst/>
          </a:prstGeom>
          <a:noFill/>
          <a:ln/>
        </p:spPr>
        <p:txBody>
          <a:bodyPr wrap="square" lIns="0" tIns="0" rIns="0" bIns="0" rtlCol="0" anchor="ctr"/>
          <a:lstStyle/>
          <a:p>
            <a:pPr algn="l" indent="0" marL="0">
              <a:buNone/>
            </a:pPr>
            <a:r>
              <a:rPr lang="en-US" sz="1400" dirty="0">
                <a:solidFill>
                  <a:schemeClr val="tx1"/>
                </a:solidFill>
              </a:rPr>
              <a:t>Gas</a:t>
            </a:r>
            <a:endParaRPr lang="en-US" sz="1400" dirty="0"/>
          </a:p>
        </p:txBody>
      </p:sp>
      <p:sp>
        <p:nvSpPr>
          <p:cNvPr id="32" name="Text 30"/>
          <p:cNvSpPr txBox="1"/>
          <p:nvPr/>
        </p:nvSpPr>
        <p:spPr>
          <a:xfrm>
            <a:off x="10579608" y="2011680"/>
            <a:ext cx="972007" cy="347472"/>
          </a:xfrm>
          <a:prstGeom prst="rect">
            <a:avLst/>
          </a:prstGeom>
          <a:noFill/>
          <a:ln/>
        </p:spPr>
        <p:txBody>
          <a:bodyPr wrap="square" lIns="0" tIns="0" rIns="0" bIns="0" rtlCol="0" anchor="ctr"/>
          <a:lstStyle/>
          <a:p>
            <a:pPr algn="r" indent="0" marL="0">
              <a:buNone/>
            </a:pPr>
            <a:r>
              <a:rPr lang="en-US" sz="1600" b="1" dirty="0">
                <a:solidFill>
                  <a:schemeClr val="tx2"/>
                </a:solidFill>
              </a:rPr>
              <a:t>0,2449</a:t>
            </a:r>
            <a:endParaRPr lang="en-US" sz="1600" dirty="0"/>
          </a:p>
        </p:txBody>
      </p:sp>
      <p:sp>
        <p:nvSpPr>
          <p:cNvPr id="33" name="keluaran EUI"/>
          <p:cNvSpPr/>
          <p:nvPr/>
        </p:nvSpPr>
        <p:spPr>
          <a:xfrm>
            <a:off x="9253728" y="2414016"/>
            <a:ext cx="2389327" cy="347472"/>
          </a:xfrm>
          <a:prstGeom prst="roundRect">
            <a:avLst>
              <a:gd name="adj" fmla="val 15789"/>
            </a:avLst>
          </a:prstGeom>
          <a:solidFill>
            <a:schemeClr val="bg2"/>
          </a:solidFill>
          <a:ln/>
        </p:spPr>
      </p:sp>
      <p:sp>
        <p:nvSpPr>
          <p:cNvPr id="34" name="Text 32"/>
          <p:cNvSpPr txBox="1"/>
          <p:nvPr/>
        </p:nvSpPr>
        <p:spPr>
          <a:xfrm>
            <a:off x="9363456" y="2414016"/>
            <a:ext cx="1325880" cy="347472"/>
          </a:xfrm>
          <a:prstGeom prst="rect">
            <a:avLst/>
          </a:prstGeom>
          <a:noFill/>
          <a:ln/>
        </p:spPr>
        <p:txBody>
          <a:bodyPr wrap="square" lIns="0" tIns="0" rIns="0" bIns="0" rtlCol="0" anchor="ctr"/>
          <a:lstStyle/>
          <a:p>
            <a:pPr algn="l" indent="0" marL="0">
              <a:buNone/>
            </a:pPr>
            <a:r>
              <a:rPr lang="en-US" sz="1400" dirty="0">
                <a:solidFill>
                  <a:schemeClr val="tx1"/>
                </a:solidFill>
              </a:rPr>
              <a:t>EUI</a:t>
            </a:r>
            <a:endParaRPr lang="en-US" sz="1400" dirty="0"/>
          </a:p>
        </p:txBody>
      </p:sp>
      <p:sp>
        <p:nvSpPr>
          <p:cNvPr id="35" name="Text 33"/>
          <p:cNvSpPr txBox="1"/>
          <p:nvPr/>
        </p:nvSpPr>
        <p:spPr>
          <a:xfrm>
            <a:off x="10579608" y="2414016"/>
            <a:ext cx="972007" cy="347472"/>
          </a:xfrm>
          <a:prstGeom prst="rect">
            <a:avLst/>
          </a:prstGeom>
          <a:noFill/>
          <a:ln/>
        </p:spPr>
        <p:txBody>
          <a:bodyPr wrap="square" lIns="0" tIns="0" rIns="0" bIns="0" rtlCol="0" anchor="ctr"/>
          <a:lstStyle/>
          <a:p>
            <a:pPr algn="r" indent="0" marL="0">
              <a:buNone/>
            </a:pPr>
            <a:r>
              <a:rPr lang="en-US" sz="1600" b="1" dirty="0">
                <a:solidFill>
                  <a:schemeClr val="tx2"/>
                </a:solidFill>
              </a:rPr>
              <a:t>0,6502</a:t>
            </a:r>
            <a:endParaRPr lang="en-US" sz="1600" dirty="0"/>
          </a:p>
        </p:txBody>
      </p:sp>
      <p:sp>
        <p:nvSpPr>
          <p:cNvPr id="36" name="keluaran Listrik"/>
          <p:cNvSpPr/>
          <p:nvPr/>
        </p:nvSpPr>
        <p:spPr>
          <a:xfrm>
            <a:off x="9253728" y="2816352"/>
            <a:ext cx="2389327" cy="347472"/>
          </a:xfrm>
          <a:prstGeom prst="roundRect">
            <a:avLst>
              <a:gd name="adj" fmla="val 15789"/>
            </a:avLst>
          </a:prstGeom>
          <a:solidFill>
            <a:schemeClr val="bg2"/>
          </a:solidFill>
          <a:ln/>
        </p:spPr>
      </p:sp>
      <p:sp>
        <p:nvSpPr>
          <p:cNvPr id="37" name="Text 35"/>
          <p:cNvSpPr txBox="1"/>
          <p:nvPr/>
        </p:nvSpPr>
        <p:spPr>
          <a:xfrm>
            <a:off x="9363456" y="2816352"/>
            <a:ext cx="1325880" cy="347472"/>
          </a:xfrm>
          <a:prstGeom prst="rect">
            <a:avLst/>
          </a:prstGeom>
          <a:noFill/>
          <a:ln/>
        </p:spPr>
        <p:txBody>
          <a:bodyPr wrap="square" lIns="0" tIns="0" rIns="0" bIns="0" rtlCol="0" anchor="ctr"/>
          <a:lstStyle/>
          <a:p>
            <a:pPr algn="l" indent="0" marL="0">
              <a:buNone/>
            </a:pPr>
            <a:r>
              <a:rPr lang="en-US" sz="1400" dirty="0">
                <a:solidFill>
                  <a:schemeClr val="tx1"/>
                </a:solidFill>
              </a:rPr>
              <a:t>Listrik</a:t>
            </a:r>
            <a:endParaRPr lang="en-US" sz="1400" dirty="0"/>
          </a:p>
        </p:txBody>
      </p:sp>
      <p:sp>
        <p:nvSpPr>
          <p:cNvPr id="38" name="Text 36"/>
          <p:cNvSpPr txBox="1"/>
          <p:nvPr/>
        </p:nvSpPr>
        <p:spPr>
          <a:xfrm>
            <a:off x="10579608" y="2816352"/>
            <a:ext cx="972007" cy="347472"/>
          </a:xfrm>
          <a:prstGeom prst="rect">
            <a:avLst/>
          </a:prstGeom>
          <a:noFill/>
          <a:ln/>
        </p:spPr>
        <p:txBody>
          <a:bodyPr wrap="square" lIns="0" tIns="0" rIns="0" bIns="0" rtlCol="0" anchor="ctr"/>
          <a:lstStyle/>
          <a:p>
            <a:pPr algn="r" indent="0" marL="0">
              <a:buNone/>
            </a:pPr>
            <a:r>
              <a:rPr lang="en-US" sz="1600" b="1" dirty="0">
                <a:solidFill>
                  <a:schemeClr val="tx2"/>
                </a:solidFill>
              </a:rPr>
              <a:t>0,3159</a:t>
            </a:r>
            <a:endParaRPr lang="en-US" sz="1600" dirty="0"/>
          </a:p>
        </p:txBody>
      </p:sp>
      <p:sp>
        <p:nvSpPr>
          <p:cNvPr id="39" name="keluaran Porsi bersih"/>
          <p:cNvSpPr/>
          <p:nvPr/>
        </p:nvSpPr>
        <p:spPr>
          <a:xfrm>
            <a:off x="9253728" y="3493008"/>
            <a:ext cx="2389327" cy="347472"/>
          </a:xfrm>
          <a:prstGeom prst="roundRect">
            <a:avLst>
              <a:gd name="adj" fmla="val 15789"/>
            </a:avLst>
          </a:prstGeom>
          <a:solidFill>
            <a:schemeClr val="bg2"/>
          </a:solidFill>
          <a:ln/>
        </p:spPr>
      </p:sp>
      <p:sp>
        <p:nvSpPr>
          <p:cNvPr id="40" name="Text 38"/>
          <p:cNvSpPr txBox="1"/>
          <p:nvPr/>
        </p:nvSpPr>
        <p:spPr>
          <a:xfrm>
            <a:off x="9363456" y="3493008"/>
            <a:ext cx="1325880" cy="347472"/>
          </a:xfrm>
          <a:prstGeom prst="rect">
            <a:avLst/>
          </a:prstGeom>
          <a:noFill/>
          <a:ln/>
        </p:spPr>
        <p:txBody>
          <a:bodyPr wrap="square" lIns="0" tIns="0" rIns="0" bIns="0" rtlCol="0" anchor="ctr"/>
          <a:lstStyle/>
          <a:p>
            <a:pPr algn="l" indent="0" marL="0">
              <a:buNone/>
            </a:pPr>
            <a:r>
              <a:rPr lang="en-US" sz="1400" dirty="0">
                <a:solidFill>
                  <a:schemeClr val="tx1"/>
                </a:solidFill>
              </a:rPr>
              <a:t>Porsi bersih</a:t>
            </a:r>
            <a:endParaRPr lang="en-US" sz="1400" dirty="0"/>
          </a:p>
        </p:txBody>
      </p:sp>
      <p:sp>
        <p:nvSpPr>
          <p:cNvPr id="41" name="Text 39"/>
          <p:cNvSpPr txBox="1"/>
          <p:nvPr/>
        </p:nvSpPr>
        <p:spPr>
          <a:xfrm>
            <a:off x="10579608" y="3493008"/>
            <a:ext cx="972007" cy="347472"/>
          </a:xfrm>
          <a:prstGeom prst="rect">
            <a:avLst/>
          </a:prstGeom>
          <a:noFill/>
          <a:ln/>
        </p:spPr>
        <p:txBody>
          <a:bodyPr wrap="square" lIns="0" tIns="0" rIns="0" bIns="0" rtlCol="0" anchor="ctr"/>
          <a:lstStyle/>
          <a:p>
            <a:pPr algn="r" indent="0" marL="0">
              <a:buNone/>
            </a:pPr>
            <a:r>
              <a:rPr lang="en-US" sz="1600" b="1" dirty="0">
                <a:solidFill>
                  <a:schemeClr val="accent5"/>
                </a:solidFill>
              </a:rPr>
              <a:t>0</a:t>
            </a:r>
            <a:endParaRPr lang="en-US" sz="1600" dirty="0"/>
          </a:p>
        </p:txBody>
      </p:sp>
      <p:sp>
        <p:nvSpPr>
          <p:cNvPr id="42" name="keluaran Adopsi"/>
          <p:cNvSpPr/>
          <p:nvPr/>
        </p:nvSpPr>
        <p:spPr>
          <a:xfrm>
            <a:off x="9253728" y="3895344"/>
            <a:ext cx="2389327" cy="347472"/>
          </a:xfrm>
          <a:prstGeom prst="roundRect">
            <a:avLst>
              <a:gd name="adj" fmla="val 15789"/>
            </a:avLst>
          </a:prstGeom>
          <a:solidFill>
            <a:schemeClr val="bg2"/>
          </a:solidFill>
          <a:ln/>
        </p:spPr>
      </p:sp>
      <p:sp>
        <p:nvSpPr>
          <p:cNvPr id="43" name="Text 41"/>
          <p:cNvSpPr txBox="1"/>
          <p:nvPr/>
        </p:nvSpPr>
        <p:spPr>
          <a:xfrm>
            <a:off x="9363456" y="3895344"/>
            <a:ext cx="1325880" cy="347472"/>
          </a:xfrm>
          <a:prstGeom prst="rect">
            <a:avLst/>
          </a:prstGeom>
          <a:noFill/>
          <a:ln/>
        </p:spPr>
        <p:txBody>
          <a:bodyPr wrap="square" lIns="0" tIns="0" rIns="0" bIns="0" rtlCol="0" anchor="ctr"/>
          <a:lstStyle/>
          <a:p>
            <a:pPr algn="l" indent="0" marL="0">
              <a:buNone/>
            </a:pPr>
            <a:r>
              <a:rPr lang="en-US" sz="1400" dirty="0">
                <a:solidFill>
                  <a:schemeClr val="tx1"/>
                </a:solidFill>
              </a:rPr>
              <a:t>Adopsi</a:t>
            </a:r>
            <a:endParaRPr lang="en-US" sz="1400" dirty="0"/>
          </a:p>
        </p:txBody>
      </p:sp>
      <p:sp>
        <p:nvSpPr>
          <p:cNvPr id="44" name="Text 42"/>
          <p:cNvSpPr txBox="1"/>
          <p:nvPr/>
        </p:nvSpPr>
        <p:spPr>
          <a:xfrm>
            <a:off x="10579608" y="3895344"/>
            <a:ext cx="972007" cy="347472"/>
          </a:xfrm>
          <a:prstGeom prst="rect">
            <a:avLst/>
          </a:prstGeom>
          <a:noFill/>
          <a:ln/>
        </p:spPr>
        <p:txBody>
          <a:bodyPr wrap="square" lIns="0" tIns="0" rIns="0" bIns="0" rtlCol="0" anchor="ctr"/>
          <a:lstStyle/>
          <a:p>
            <a:pPr algn="r" indent="0" marL="0">
              <a:buNone/>
            </a:pPr>
            <a:r>
              <a:rPr lang="en-US" sz="1600" b="1" dirty="0">
                <a:solidFill>
                  <a:schemeClr val="accent5"/>
                </a:solidFill>
              </a:rPr>
              <a:t>≈ 0,04</a:t>
            </a:r>
            <a:endParaRPr lang="en-US" sz="1600" dirty="0"/>
          </a:p>
        </p:txBody>
      </p:sp>
      <p:sp>
        <p:nvSpPr>
          <p:cNvPr id="45" name="Shape 43"/>
          <p:cNvSpPr/>
          <p:nvPr/>
        </p:nvSpPr>
        <p:spPr>
          <a:xfrm>
            <a:off x="9025128" y="2450592"/>
            <a:ext cx="192024" cy="914"/>
          </a:xfrm>
          <a:prstGeom prst="line">
            <a:avLst/>
          </a:prstGeom>
          <a:noFill/>
          <a:ln w="25400">
            <a:solidFill>
              <a:schemeClr val="tx2"/>
            </a:solidFill>
            <a:prstDash val="solid"/>
            <a:tailEnd type="triangle"/>
          </a:ln>
        </p:spPr>
      </p:sp>
      <p:sp>
        <p:nvSpPr>
          <p:cNvPr id="46" name="Shape 44"/>
          <p:cNvSpPr/>
          <p:nvPr/>
        </p:nvSpPr>
        <p:spPr>
          <a:xfrm>
            <a:off x="9025128" y="3886200"/>
            <a:ext cx="192024" cy="914"/>
          </a:xfrm>
          <a:prstGeom prst="line">
            <a:avLst/>
          </a:prstGeom>
          <a:noFill/>
          <a:ln w="25400">
            <a:solidFill>
              <a:schemeClr val="accent5"/>
            </a:solidFill>
            <a:prstDash val="solid"/>
            <a:tailEnd type="triangle"/>
          </a:ln>
        </p:spPr>
      </p:sp>
      <p:sp>
        <p:nvSpPr>
          <p:cNvPr id="47" name="jumlah model"/>
          <p:cNvSpPr txBox="1"/>
          <p:nvPr/>
        </p:nvSpPr>
        <p:spPr>
          <a:xfrm>
            <a:off x="9162288" y="4297680"/>
            <a:ext cx="2480767" cy="548640"/>
          </a:xfrm>
          <a:prstGeom prst="rect">
            <a:avLst/>
          </a:prstGeom>
          <a:noFill/>
          <a:ln/>
        </p:spPr>
        <p:txBody>
          <a:bodyPr wrap="square" lIns="0" tIns="0" rIns="0" bIns="0" rtlCol="0" anchor="t"/>
          <a:lstStyle/>
          <a:p>
            <a:pPr algn="r" indent="0" marL="0">
              <a:buNone/>
            </a:pPr>
            <a:r>
              <a:rPr lang="en-US" sz="1500" b="1" dirty="0">
                <a:solidFill>
                  <a:schemeClr val="tx2"/>
                </a:solidFill>
              </a:rPr>
              <a:t>43 model</a:t>
            </a:r>
            <a:pPr algn="r" indent="0" marL="0">
              <a:buNone/>
            </a:pPr>
            <a:r>
              <a:rPr lang="en-US" sz="1500" dirty="0">
                <a:solidFill>
                  <a:schemeClr val="accent5"/>
                </a:solidFill>
              </a:rPr>
              <a:t> =</a:t>
            </a:r>
            <a:endParaRPr lang="en-US" sz="1500" dirty="0"/>
          </a:p>
          <a:p>
            <a:pPr algn="r" indent="0" marL="0">
              <a:buNone/>
            </a:pPr>
            <a:r>
              <a:rPr lang="en-US" sz="1500" b="1" dirty="0">
                <a:solidFill>
                  <a:schemeClr val="accent1"/>
                </a:solidFill>
              </a:rPr>
              <a:t>41</a:t>
            </a:r>
            <a:pPr algn="r" indent="0" marL="0">
              <a:buNone/>
            </a:pPr>
            <a:r>
              <a:rPr lang="en-US" sz="1500" dirty="0">
                <a:solidFill>
                  <a:schemeClr val="tx1"/>
                </a:solidFill>
              </a:rPr>
              <a:t> di-</a:t>
            </a:r>
            <a:pPr algn="r" indent="0" marL="0">
              <a:buNone/>
            </a:pPr>
            <a:r>
              <a:rPr lang="en-US" sz="1500" i="1" dirty="0">
                <a:solidFill>
                  <a:schemeClr val="tx1"/>
                </a:solidFill>
              </a:rPr>
              <a:t>blend</a:t>
            </a:r>
            <a:pPr algn="r" indent="0" marL="0">
              <a:buNone/>
            </a:pPr>
            <a:r>
              <a:rPr lang="en-US" sz="1500" dirty="0">
                <a:solidFill>
                  <a:schemeClr val="accent5"/>
                </a:solidFill>
              </a:rPr>
              <a:t> + </a:t>
            </a:r>
            <a:pPr algn="r" indent="0" marL="0">
              <a:buNone/>
            </a:pPr>
            <a:r>
              <a:rPr lang="en-US" sz="1500" b="1" dirty="0">
                <a:solidFill>
                  <a:schemeClr val="accent5"/>
                </a:solidFill>
              </a:rPr>
              <a:t>2</a:t>
            </a:r>
            <a:pPr algn="r" indent="0" marL="0">
              <a:buNone/>
            </a:pPr>
            <a:r>
              <a:rPr lang="en-US" sz="1500" dirty="0">
                <a:solidFill>
                  <a:schemeClr val="tx1"/>
                </a:solidFill>
              </a:rPr>
              <a:t> terpisah</a:t>
            </a:r>
            <a:endParaRPr lang="en-US" sz="1500" dirty="0"/>
          </a:p>
        </p:txBody>
      </p:sp>
      <p:sp>
        <p:nvSpPr>
          <p:cNvPr id="48" name="label FAKTA DATA"/>
          <p:cNvSpPr/>
          <p:nvPr/>
        </p:nvSpPr>
        <p:spPr>
          <a:xfrm>
            <a:off x="548640" y="4919472"/>
            <a:ext cx="1324051" cy="310896"/>
          </a:xfrm>
          <a:prstGeom prst="roundRect">
            <a:avLst>
              <a:gd name="adj" fmla="val 17647"/>
            </a:avLst>
          </a:prstGeom>
          <a:solidFill>
            <a:schemeClr val="tx2"/>
          </a:solidFill>
          <a:ln/>
        </p:spPr>
      </p:sp>
      <p:sp>
        <p:nvSpPr>
          <p:cNvPr id="49" name="Text 47"/>
          <p:cNvSpPr txBox="1"/>
          <p:nvPr/>
        </p:nvSpPr>
        <p:spPr>
          <a:xfrm>
            <a:off x="548640" y="4919472"/>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FAKTA DATA</a:t>
            </a:r>
            <a:endParaRPr lang="en-US" sz="1400" dirty="0"/>
          </a:p>
        </p:txBody>
      </p:sp>
      <p:sp>
        <p:nvSpPr>
          <p:cNvPr id="50" name="fakta 1"/>
          <p:cNvSpPr/>
          <p:nvPr/>
        </p:nvSpPr>
        <p:spPr>
          <a:xfrm>
            <a:off x="548640" y="5330952"/>
            <a:ext cx="3576218" cy="896112"/>
          </a:xfrm>
          <a:prstGeom prst="roundRect">
            <a:avLst>
              <a:gd name="adj" fmla="val 8163"/>
            </a:avLst>
          </a:prstGeom>
          <a:solidFill>
            <a:schemeClr val="bg2"/>
          </a:solidFill>
          <a:ln/>
        </p:spPr>
      </p:sp>
      <p:sp>
        <p:nvSpPr>
          <p:cNvPr id="51" name="penanda jalur fakta 1"/>
          <p:cNvSpPr/>
          <p:nvPr/>
        </p:nvSpPr>
        <p:spPr>
          <a:xfrm>
            <a:off x="548640" y="5440680"/>
            <a:ext cx="64008" cy="676656"/>
          </a:xfrm>
          <a:prstGeom prst="rect">
            <a:avLst/>
          </a:prstGeom>
          <a:solidFill>
            <a:schemeClr val="accent1"/>
          </a:solidFill>
          <a:ln/>
        </p:spPr>
      </p:sp>
      <p:sp>
        <p:nvSpPr>
          <p:cNvPr id="52" name="Text 50"/>
          <p:cNvSpPr txBox="1"/>
          <p:nvPr/>
        </p:nvSpPr>
        <p:spPr>
          <a:xfrm>
            <a:off x="749808" y="5385816"/>
            <a:ext cx="3283610" cy="786384"/>
          </a:xfrm>
          <a:prstGeom prst="rect">
            <a:avLst/>
          </a:prstGeom>
          <a:noFill/>
          <a:ln/>
        </p:spPr>
        <p:txBody>
          <a:bodyPr wrap="square" lIns="0" tIns="0" rIns="0" bIns="0" rtlCol="0" anchor="ctr"/>
          <a:lstStyle/>
          <a:p>
            <a:pPr algn="l" indent="0" marL="0">
              <a:buNone/>
            </a:pPr>
            <a:r>
              <a:rPr lang="en-US" sz="1600" b="1" dirty="0">
                <a:solidFill>
                  <a:schemeClr val="tx2"/>
                </a:solidFill>
              </a:rPr>
              <a:t>Gas = EUI × luas lantai</a:t>
            </a:r>
            <a:endParaRPr lang="en-US" sz="1600" dirty="0"/>
          </a:p>
          <a:p>
            <a:pPr algn="l" indent="0" marL="0">
              <a:buNone/>
            </a:pPr>
            <a:pPr algn="l" indent="0" marL="0">
              <a:buNone/>
            </a:pPr>
            <a:r>
              <a:rPr lang="en-US" sz="1400" dirty="0">
                <a:solidFill>
                  <a:schemeClr val="tx1"/>
                </a:solidFill>
              </a:rPr>
              <a:t>galat relatif maks 6,7 × 10</a:t>
            </a:r>
            <a:r>
              <a:rPr lang="en-US" sz="1400" baseline="30000" dirty="0">
                <a:solidFill>
                  <a:schemeClr val="tx1"/>
                </a:solidFill>
              </a:rPr>
              <a:t>−16</a:t>
            </a:r>
            <a:r>
              <a:rPr lang="en-US" sz="1400" dirty="0">
                <a:solidFill>
                  <a:schemeClr val="tx1"/>
                </a:solidFill>
              </a:rPr>
              <a:t> di data latih</a:t>
            </a:r>
            <a:endParaRPr lang="en-US" sz="1600" dirty="0"/>
          </a:p>
        </p:txBody>
      </p:sp>
      <p:sp>
        <p:nvSpPr>
          <p:cNvPr id="53" name="fakta 2"/>
          <p:cNvSpPr/>
          <p:nvPr/>
        </p:nvSpPr>
        <p:spPr>
          <a:xfrm>
            <a:off x="4307738" y="5330952"/>
            <a:ext cx="3576218" cy="896112"/>
          </a:xfrm>
          <a:prstGeom prst="roundRect">
            <a:avLst>
              <a:gd name="adj" fmla="val 8163"/>
            </a:avLst>
          </a:prstGeom>
          <a:solidFill>
            <a:schemeClr val="bg2"/>
          </a:solidFill>
          <a:ln/>
        </p:spPr>
      </p:sp>
      <p:sp>
        <p:nvSpPr>
          <p:cNvPr id="54" name="penanda jalur fakta 2"/>
          <p:cNvSpPr/>
          <p:nvPr/>
        </p:nvSpPr>
        <p:spPr>
          <a:xfrm>
            <a:off x="4307738" y="5440680"/>
            <a:ext cx="64008" cy="676656"/>
          </a:xfrm>
          <a:prstGeom prst="rect">
            <a:avLst/>
          </a:prstGeom>
          <a:solidFill>
            <a:schemeClr val="accent4"/>
          </a:solidFill>
          <a:ln/>
        </p:spPr>
      </p:sp>
      <p:sp>
        <p:nvSpPr>
          <p:cNvPr id="55" name="Text 53"/>
          <p:cNvSpPr txBox="1"/>
          <p:nvPr/>
        </p:nvSpPr>
        <p:spPr>
          <a:xfrm>
            <a:off x="4508906" y="5385816"/>
            <a:ext cx="3283610" cy="786384"/>
          </a:xfrm>
          <a:prstGeom prst="rect">
            <a:avLst/>
          </a:prstGeom>
          <a:noFill/>
          <a:ln/>
        </p:spPr>
        <p:txBody>
          <a:bodyPr wrap="square" lIns="0" tIns="0" rIns="0" bIns="0" rtlCol="0" anchor="ctr"/>
          <a:lstStyle/>
          <a:p>
            <a:pPr algn="l" indent="0" marL="0">
              <a:buNone/>
            </a:pPr>
            <a:r>
              <a:rPr lang="en-US" sz="1600" b="1" dirty="0">
                <a:solidFill>
                  <a:schemeClr val="tx2"/>
                </a:solidFill>
              </a:rPr>
              <a:t>Porsi bersih = rumus</a:t>
            </a:r>
            <a:endParaRPr lang="en-US" sz="1600" dirty="0"/>
          </a:p>
          <a:p>
            <a:pPr algn="l" indent="0" marL="0">
              <a:buNone/>
            </a:pPr>
            <a:r>
              <a:rPr lang="en-US" sz="1400" dirty="0">
                <a:solidFill>
                  <a:schemeClr val="tx1"/>
                </a:solidFill>
              </a:rPr>
              <a:t>tepat di 100% baris latih</a:t>
            </a:r>
            <a:endParaRPr lang="en-US" sz="1600" dirty="0"/>
          </a:p>
        </p:txBody>
      </p:sp>
      <p:sp>
        <p:nvSpPr>
          <p:cNvPr id="56" name="fakta 3"/>
          <p:cNvSpPr/>
          <p:nvPr/>
        </p:nvSpPr>
        <p:spPr>
          <a:xfrm>
            <a:off x="8066837" y="5330952"/>
            <a:ext cx="3576218" cy="896112"/>
          </a:xfrm>
          <a:prstGeom prst="roundRect">
            <a:avLst>
              <a:gd name="adj" fmla="val 8163"/>
            </a:avLst>
          </a:prstGeom>
          <a:solidFill>
            <a:schemeClr val="bg2"/>
          </a:solidFill>
          <a:ln/>
        </p:spPr>
      </p:sp>
      <p:sp>
        <p:nvSpPr>
          <p:cNvPr id="57" name="penanda jalur fakta 3"/>
          <p:cNvSpPr/>
          <p:nvPr/>
        </p:nvSpPr>
        <p:spPr>
          <a:xfrm>
            <a:off x="8066837" y="5440680"/>
            <a:ext cx="64008" cy="676656"/>
          </a:xfrm>
          <a:prstGeom prst="rect">
            <a:avLst/>
          </a:prstGeom>
          <a:solidFill>
            <a:schemeClr val="accent4"/>
          </a:solidFill>
          <a:ln/>
        </p:spPr>
      </p:sp>
      <p:sp>
        <p:nvSpPr>
          <p:cNvPr id="58" name="Text 56"/>
          <p:cNvSpPr txBox="1"/>
          <p:nvPr/>
        </p:nvSpPr>
        <p:spPr>
          <a:xfrm>
            <a:off x="8268005" y="5385816"/>
            <a:ext cx="3283610" cy="786384"/>
          </a:xfrm>
          <a:prstGeom prst="rect">
            <a:avLst/>
          </a:prstGeom>
          <a:noFill/>
          <a:ln/>
        </p:spPr>
        <p:txBody>
          <a:bodyPr wrap="square" lIns="0" tIns="0" rIns="0" bIns="0" rtlCol="0" anchor="ctr"/>
          <a:lstStyle/>
          <a:p>
            <a:pPr algn="l" indent="0" marL="0">
              <a:buNone/>
            </a:pPr>
            <a:r>
              <a:rPr lang="en-US" sz="1600" b="1" dirty="0">
                <a:solidFill>
                  <a:schemeClr val="tx2"/>
                </a:solidFill>
              </a:rPr>
              <a:t>Adopsi seragam per subzona</a:t>
            </a:r>
            <a:endParaRPr lang="en-US" sz="1600" dirty="0"/>
          </a:p>
          <a:p>
            <a:pPr algn="l" indent="0" marL="0">
              <a:buNone/>
            </a:pPr>
            <a:r>
              <a:rPr lang="en-US" sz="1400" dirty="0">
                <a:solidFill>
                  <a:schemeClr val="tx1"/>
                </a:solidFill>
              </a:rPr>
              <a:t>100% subzona latih</a:t>
            </a:r>
            <a:endParaRPr lang="en-US" sz="1600" dirty="0"/>
          </a:p>
        </p:txBody>
      </p:sp>
      <p:sp>
        <p:nvSpPr>
          <p:cNvPr id="59"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1 dan 3, In [21], [22], [27]</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6</a:t>
            </a:fld>
            <a:endParaRPr lang="en-US"/>
          </a:p>
        </p:txBody>
      </p:sp>
      <p:sp>
        <p:nvSpPr>
          <p:cNvPr id="60" name="baris notebook"/>
          <p:cNvSpPr txBox="1"/>
          <p:nvPr/>
        </p:nvSpPr>
        <p:spPr>
          <a:xfrm>
            <a:off x="3413455" y="4937760"/>
            <a:ext cx="8229600" cy="274320"/>
          </a:xfrm>
          <a:prstGeom prst="rect">
            <a:avLst/>
          </a:prstGeom>
          <a:noFill/>
          <a:ln/>
        </p:spPr>
        <p:txBody>
          <a:bodyPr wrap="square" lIns="0" tIns="0" rIns="0" bIns="0" rtlCol="0" anchor="ctr"/>
          <a:lstStyle/>
          <a:p>
            <a:pPr algn="r" indent="0" marL="0">
              <a:buNone/>
            </a:pPr>
            <a:r>
              <a:rPr lang="en-US" sz="1400" dirty="0">
                <a:solidFill>
                  <a:schemeClr val="accent5"/>
                </a:solidFill>
              </a:rPr>
              <a:t>56 sel notebook, 17 modul, satu sakelar pelatihan (DICEFEST_TRAIN); jalan ulang dari prediksi tersimpan ±5 jam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III · ARSITEKTUR MODEL</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Skor publik turun di setiap langkah,</a:t>
            </a:r>
            <a:br/>
            <a:pPr algn="l" indent="0" marL="0">
              <a:buNone/>
            </a:pPr>
            <a:r>
              <a:rPr lang="en-US" sz="2800" b="1" dirty="0">
                <a:solidFill>
                  <a:schemeClr val="tx2"/>
                </a:solidFill>
              </a:rPr>
              <a:t>dan skor privat dari data tersembunyi tidak memburuk</a:t>
            </a:r>
            <a:endParaRPr lang="en-US" sz="2800" dirty="0"/>
          </a:p>
        </p:txBody>
      </p:sp>
      <p:sp>
        <p:nvSpPr>
          <p:cNvPr id="4" name="Text 2"/>
          <p:cNvSpPr txBox="1"/>
          <p:nvPr/>
        </p:nvSpPr>
        <p:spPr>
          <a:xfrm>
            <a:off x="548640" y="1719072"/>
            <a:ext cx="7269480" cy="274320"/>
          </a:xfrm>
          <a:prstGeom prst="rect">
            <a:avLst/>
          </a:prstGeom>
          <a:noFill/>
          <a:ln/>
        </p:spPr>
        <p:txBody>
          <a:bodyPr wrap="square" lIns="0" tIns="0" rIns="0" bIns="0" rtlCol="0" anchor="t"/>
          <a:lstStyle/>
          <a:p>
            <a:pPr algn="l" indent="0" marL="0">
              <a:buNone/>
            </a:pPr>
            <a:r>
              <a:rPr lang="en-US" sz="1400" b="1" dirty="0">
                <a:solidFill>
                  <a:schemeClr val="tx2"/>
                </a:solidFill>
              </a:rPr>
              <a:t>Skor </a:t>
            </a:r>
            <a:pPr algn="l" indent="0" marL="0">
              <a:buNone/>
            </a:pPr>
            <a:r>
              <a:rPr lang="en-US" sz="1400" b="1" i="1" dirty="0">
                <a:solidFill>
                  <a:schemeClr val="tx2"/>
                </a:solidFill>
              </a:rPr>
              <a:t>leaderboard</a:t>
            </a:r>
            <a:pPr algn="l" indent="0" marL="0">
              <a:buNone/>
            </a:pPr>
            <a:r>
              <a:rPr lang="en-US" sz="1400" b="1" dirty="0">
                <a:solidFill>
                  <a:schemeClr val="tx2"/>
                </a:solidFill>
              </a:rPr>
              <a:t> publik per langkah (makin kecil makin baik)</a:t>
            </a:r>
            <a:endParaRPr lang="en-US" sz="1400" dirty="0"/>
          </a:p>
        </p:txBody>
      </p:sp>
      <p:graphicFrame>
        <p:nvGraphicFramePr>
          <p:cNvPr id="5" name="grafik skor per langkah" descr="Skor leaderboard publik per langkah pengembangan, dari 0,25025 ke 0,24913, dan skor privat 0,24844"/>
          <p:cNvGraphicFramePr/>
          <p:nvPr/>
        </p:nvGraphicFramePr>
        <p:xfrm>
          <a:off x="548640" y="2103120"/>
          <a:ext cx="726948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1198517" y="2041398"/>
            <a:ext cx="822960" cy="256032"/>
          </a:xfrm>
          <a:prstGeom prst="rect">
            <a:avLst/>
          </a:prstGeom>
          <a:noFill/>
          <a:ln/>
        </p:spPr>
        <p:txBody>
          <a:bodyPr wrap="square" lIns="0" tIns="0" rIns="0" bIns="0" rtlCol="0" anchor="t"/>
          <a:lstStyle/>
          <a:p>
            <a:pPr algn="l" indent="0" marL="0">
              <a:buNone/>
            </a:pPr>
            <a:r>
              <a:rPr lang="en-US" sz="1400" dirty="0">
                <a:solidFill>
                  <a:schemeClr val="tx1"/>
                </a:solidFill>
              </a:rPr>
              <a:t>0,25025</a:t>
            </a:r>
            <a:endParaRPr lang="en-US" sz="1400" dirty="0"/>
          </a:p>
        </p:txBody>
      </p:sp>
      <p:sp>
        <p:nvSpPr>
          <p:cNvPr id="7" name="Text 4"/>
          <p:cNvSpPr txBox="1"/>
          <p:nvPr/>
        </p:nvSpPr>
        <p:spPr>
          <a:xfrm>
            <a:off x="594360"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gambaran</a:t>
            </a:r>
            <a:endParaRPr lang="en-US" sz="1400" dirty="0"/>
          </a:p>
          <a:p>
            <a:pPr algn="ctr" indent="0" marL="0">
              <a:buNone/>
            </a:pPr>
            <a:r>
              <a:rPr lang="en-US" sz="1400" dirty="0">
                <a:solidFill>
                  <a:schemeClr val="tx1"/>
                </a:solidFill>
              </a:rPr>
              <a:t>kawasan</a:t>
            </a:r>
            <a:endParaRPr lang="en-US" sz="1400" dirty="0"/>
          </a:p>
        </p:txBody>
      </p:sp>
      <p:sp>
        <p:nvSpPr>
          <p:cNvPr id="8" name="Text 5"/>
          <p:cNvSpPr txBox="1"/>
          <p:nvPr/>
        </p:nvSpPr>
        <p:spPr>
          <a:xfrm>
            <a:off x="1675311" y="3354324"/>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0,24954</a:t>
            </a:r>
            <a:endParaRPr lang="en-US" sz="1400" dirty="0"/>
          </a:p>
        </p:txBody>
      </p:sp>
      <p:sp>
        <p:nvSpPr>
          <p:cNvPr id="9" name="Text 6"/>
          <p:cNvSpPr txBox="1"/>
          <p:nvPr/>
        </p:nvSpPr>
        <p:spPr>
          <a:xfrm>
            <a:off x="1561011" y="5349240"/>
            <a:ext cx="1143000" cy="914400"/>
          </a:xfrm>
          <a:prstGeom prst="rect">
            <a:avLst/>
          </a:prstGeom>
          <a:noFill/>
          <a:ln/>
        </p:spPr>
        <p:txBody>
          <a:bodyPr wrap="square" lIns="0" tIns="0" rIns="0" bIns="0" rtlCol="0" anchor="t"/>
          <a:lstStyle/>
          <a:p>
            <a:pPr algn="ctr" indent="0" marL="0">
              <a:buNone/>
            </a:pPr>
            <a:r>
              <a:rPr lang="en-US" sz="1400" dirty="0">
                <a:solidFill>
                  <a:schemeClr val="tx1"/>
                </a:solidFill>
              </a:rPr>
              <a:t>koreksi galat,</a:t>
            </a:r>
            <a:endParaRPr lang="en-US" sz="1400" dirty="0"/>
          </a:p>
          <a:p>
            <a:pPr algn="ctr" indent="0" marL="0">
              <a:buNone/>
            </a:pPr>
            <a:r>
              <a:rPr lang="en-US" sz="1400" dirty="0">
                <a:solidFill>
                  <a:schemeClr val="tx1"/>
                </a:solidFill>
              </a:rPr>
              <a:t>adopsi, MLP,</a:t>
            </a:r>
            <a:endParaRPr lang="en-US" sz="1400" dirty="0"/>
          </a:p>
          <a:p>
            <a:pPr algn="ctr" indent="0" marL="0">
              <a:buNone/>
            </a:pPr>
            <a:r>
              <a:rPr lang="en-US" sz="1400" dirty="0">
                <a:solidFill>
                  <a:schemeClr val="tx1"/>
                </a:solidFill>
              </a:rPr>
              <a:t>salin duplikat,</a:t>
            </a:r>
            <a:endParaRPr lang="en-US" sz="1400" dirty="0"/>
          </a:p>
          <a:p>
            <a:pPr algn="ctr" indent="0" marL="0">
              <a:buNone/>
            </a:pPr>
            <a:r>
              <a:rPr lang="en-US" sz="1400" dirty="0">
                <a:solidFill>
                  <a:schemeClr val="tx1"/>
                </a:solidFill>
              </a:rPr>
              <a:t>tanpa CatBoost</a:t>
            </a:r>
            <a:endParaRPr lang="en-US" sz="1400" dirty="0"/>
          </a:p>
        </p:txBody>
      </p:sp>
      <p:sp>
        <p:nvSpPr>
          <p:cNvPr id="10" name="Text 7"/>
          <p:cNvSpPr txBox="1"/>
          <p:nvPr/>
        </p:nvSpPr>
        <p:spPr>
          <a:xfrm>
            <a:off x="2700746" y="3496818"/>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0,24943</a:t>
            </a:r>
            <a:endParaRPr lang="en-US" sz="1400" dirty="0"/>
          </a:p>
        </p:txBody>
      </p:sp>
      <p:sp>
        <p:nvSpPr>
          <p:cNvPr id="11" name="Text 8"/>
          <p:cNvSpPr txBox="1"/>
          <p:nvPr/>
        </p:nvSpPr>
        <p:spPr>
          <a:xfrm>
            <a:off x="2645229"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kawasan</a:t>
            </a:r>
            <a:endParaRPr lang="en-US" sz="1400" dirty="0"/>
          </a:p>
          <a:p>
            <a:pPr algn="ctr" indent="0" marL="0">
              <a:buNone/>
            </a:pPr>
            <a:r>
              <a:rPr lang="en-US" sz="1400" dirty="0">
                <a:solidFill>
                  <a:schemeClr val="tx1"/>
                </a:solidFill>
              </a:rPr>
              <a:t>termirip</a:t>
            </a:r>
            <a:endParaRPr lang="en-US" sz="1400" dirty="0"/>
          </a:p>
        </p:txBody>
      </p:sp>
      <p:sp>
        <p:nvSpPr>
          <p:cNvPr id="12" name="Text 9"/>
          <p:cNvSpPr txBox="1"/>
          <p:nvPr/>
        </p:nvSpPr>
        <p:spPr>
          <a:xfrm>
            <a:off x="3726180" y="3613404"/>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0,24934</a:t>
            </a:r>
            <a:endParaRPr lang="en-US" sz="1400" dirty="0"/>
          </a:p>
        </p:txBody>
      </p:sp>
      <p:sp>
        <p:nvSpPr>
          <p:cNvPr id="13" name="Text 10"/>
          <p:cNvSpPr txBox="1"/>
          <p:nvPr/>
        </p:nvSpPr>
        <p:spPr>
          <a:xfrm>
            <a:off x="3670663"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objektif</a:t>
            </a:r>
            <a:endParaRPr lang="en-US" sz="1400" dirty="0"/>
          </a:p>
          <a:p>
            <a:pPr algn="ctr" indent="0" marL="0">
              <a:buNone/>
            </a:pPr>
            <a:r>
              <a:rPr lang="en-US" sz="1400" dirty="0">
                <a:solidFill>
                  <a:schemeClr val="tx1"/>
                </a:solidFill>
              </a:rPr>
              <a:t>baru</a:t>
            </a:r>
            <a:endParaRPr lang="en-US" sz="1400" dirty="0"/>
          </a:p>
        </p:txBody>
      </p:sp>
      <p:sp>
        <p:nvSpPr>
          <p:cNvPr id="14" name="Text 11"/>
          <p:cNvSpPr txBox="1"/>
          <p:nvPr/>
        </p:nvSpPr>
        <p:spPr>
          <a:xfrm>
            <a:off x="4751614" y="3729990"/>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0,24925</a:t>
            </a:r>
            <a:endParaRPr lang="en-US" sz="1400" dirty="0"/>
          </a:p>
        </p:txBody>
      </p:sp>
      <p:sp>
        <p:nvSpPr>
          <p:cNvPr id="15" name="Text 12"/>
          <p:cNvSpPr txBox="1"/>
          <p:nvPr/>
        </p:nvSpPr>
        <p:spPr>
          <a:xfrm>
            <a:off x="4696097"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bobot</a:t>
            </a:r>
            <a:endParaRPr lang="en-US" sz="1400" dirty="0"/>
          </a:p>
          <a:p>
            <a:pPr algn="ctr" indent="0" marL="0">
              <a:buNone/>
            </a:pPr>
            <a:r>
              <a:rPr lang="en-US" sz="1400" dirty="0">
                <a:solidFill>
                  <a:schemeClr val="tx1"/>
                </a:solidFill>
              </a:rPr>
              <a:t>adaptif</a:t>
            </a:r>
            <a:endParaRPr lang="en-US" sz="1400" dirty="0"/>
          </a:p>
        </p:txBody>
      </p:sp>
      <p:sp>
        <p:nvSpPr>
          <p:cNvPr id="16" name="Text 13"/>
          <p:cNvSpPr txBox="1"/>
          <p:nvPr/>
        </p:nvSpPr>
        <p:spPr>
          <a:xfrm>
            <a:off x="5777049" y="3794760"/>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0,24920</a:t>
            </a:r>
            <a:endParaRPr lang="en-US" sz="1400" dirty="0"/>
          </a:p>
        </p:txBody>
      </p:sp>
      <p:sp>
        <p:nvSpPr>
          <p:cNvPr id="17" name="Text 14"/>
          <p:cNvSpPr txBox="1"/>
          <p:nvPr/>
        </p:nvSpPr>
        <p:spPr>
          <a:xfrm>
            <a:off x="5721531"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model</a:t>
            </a:r>
            <a:endParaRPr lang="en-US" sz="1400" dirty="0"/>
          </a:p>
          <a:p>
            <a:pPr algn="ctr" indent="0" marL="0">
              <a:buNone/>
            </a:pPr>
            <a:r>
              <a:rPr lang="en-US" sz="1400" dirty="0">
                <a:solidFill>
                  <a:schemeClr val="tx1"/>
                </a:solidFill>
              </a:rPr>
              <a:t>NCA</a:t>
            </a:r>
            <a:endParaRPr lang="en-US" sz="1400" dirty="0"/>
          </a:p>
        </p:txBody>
      </p:sp>
      <p:sp>
        <p:nvSpPr>
          <p:cNvPr id="18" name="Text 15"/>
          <p:cNvSpPr txBox="1"/>
          <p:nvPr/>
        </p:nvSpPr>
        <p:spPr>
          <a:xfrm>
            <a:off x="6802483" y="3885438"/>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0,24913</a:t>
            </a:r>
            <a:endParaRPr lang="en-US" sz="1400" dirty="0"/>
          </a:p>
        </p:txBody>
      </p:sp>
      <p:sp>
        <p:nvSpPr>
          <p:cNvPr id="19" name="Text 16"/>
          <p:cNvSpPr txBox="1"/>
          <p:nvPr/>
        </p:nvSpPr>
        <p:spPr>
          <a:xfrm>
            <a:off x="6746966"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penyesuaian</a:t>
            </a:r>
            <a:endParaRPr lang="en-US" sz="1400" dirty="0"/>
          </a:p>
          <a:p>
            <a:pPr algn="ctr" indent="0" marL="0">
              <a:buNone/>
            </a:pPr>
            <a:r>
              <a:rPr lang="en-US" sz="1400" dirty="0">
                <a:solidFill>
                  <a:schemeClr val="tx1"/>
                </a:solidFill>
              </a:rPr>
              <a:t>akhir</a:t>
            </a:r>
            <a:endParaRPr lang="en-US" sz="1400" dirty="0"/>
          </a:p>
        </p:txBody>
      </p:sp>
      <p:sp>
        <p:nvSpPr>
          <p:cNvPr id="20" name="garis privat"/>
          <p:cNvSpPr/>
          <p:nvPr/>
        </p:nvSpPr>
        <p:spPr>
          <a:xfrm>
            <a:off x="7259683" y="4178046"/>
            <a:ext cx="914" cy="381762"/>
          </a:xfrm>
          <a:prstGeom prst="line">
            <a:avLst/>
          </a:prstGeom>
          <a:noFill/>
          <a:ln w="15875">
            <a:solidFill>
              <a:schemeClr val="accent1"/>
            </a:solidFill>
            <a:prstDash val="dash"/>
          </a:ln>
        </p:spPr>
      </p:sp>
      <p:sp>
        <p:nvSpPr>
          <p:cNvPr id="21" name="titik privat"/>
          <p:cNvSpPr/>
          <p:nvPr/>
        </p:nvSpPr>
        <p:spPr>
          <a:xfrm>
            <a:off x="7140811" y="4568952"/>
            <a:ext cx="237744" cy="237744"/>
          </a:xfrm>
          <a:prstGeom prst="ellipse">
            <a:avLst/>
          </a:prstGeom>
          <a:solidFill>
            <a:schemeClr val="accent1"/>
          </a:solidFill>
          <a:ln w="19050">
            <a:solidFill>
              <a:schemeClr val="bg1"/>
            </a:solidFill>
            <a:prstDash val="solid"/>
          </a:ln>
        </p:spPr>
      </p:sp>
      <p:sp>
        <p:nvSpPr>
          <p:cNvPr id="22" name="Text 19"/>
          <p:cNvSpPr txBox="1"/>
          <p:nvPr/>
        </p:nvSpPr>
        <p:spPr>
          <a:xfrm>
            <a:off x="4196443" y="4541520"/>
            <a:ext cx="2834640" cy="292608"/>
          </a:xfrm>
          <a:prstGeom prst="rect">
            <a:avLst/>
          </a:prstGeom>
          <a:noFill/>
          <a:ln/>
        </p:spPr>
        <p:txBody>
          <a:bodyPr wrap="square" lIns="0" tIns="0" rIns="0" bIns="0" rtlCol="0" anchor="ctr"/>
          <a:lstStyle/>
          <a:p>
            <a:pPr algn="r" indent="0" marL="0">
              <a:buNone/>
            </a:pPr>
            <a:r>
              <a:rPr lang="en-US" sz="1400" b="1" dirty="0">
                <a:solidFill>
                  <a:schemeClr val="accent1"/>
                </a:solidFill>
              </a:rPr>
              <a:t>privat 0,24844 · peringkat 8</a:t>
            </a:r>
            <a:endParaRPr lang="en-US" sz="1400" dirty="0"/>
          </a:p>
        </p:txBody>
      </p:sp>
      <p:sp>
        <p:nvSpPr>
          <p:cNvPr id="23" name="ubin 1"/>
          <p:cNvSpPr/>
          <p:nvPr/>
        </p:nvSpPr>
        <p:spPr>
          <a:xfrm>
            <a:off x="8092440" y="1719072"/>
            <a:ext cx="3550615" cy="2121408"/>
          </a:xfrm>
          <a:prstGeom prst="roundRect">
            <a:avLst>
              <a:gd name="adj" fmla="val 5172"/>
            </a:avLst>
          </a:prstGeom>
          <a:solidFill>
            <a:schemeClr val="bg2"/>
          </a:solidFill>
          <a:ln/>
        </p:spPr>
      </p:sp>
      <p:sp>
        <p:nvSpPr>
          <p:cNvPr id="24" name="ikon FaRankingStar"/>
          <p:cNvSpPr/>
          <p:nvPr/>
        </p:nvSpPr>
        <p:spPr>
          <a:xfrm>
            <a:off x="8311896" y="1938528"/>
            <a:ext cx="566928" cy="566928"/>
          </a:xfrm>
          <a:prstGeom prst="ellipse">
            <a:avLst/>
          </a:prstGeom>
          <a:solidFill>
            <a:schemeClr val="accent1"/>
          </a:solidFill>
          <a:ln/>
        </p:spPr>
      </p:sp>
      <p:pic>
        <p:nvPicPr>
          <p:cNvPr id="25" name="Image 0" descr="FaRankingStar">    </p:cNvPr>
          <p:cNvPicPr>
            <a:picLocks noChangeAspect="1"/>
          </p:cNvPicPr>
          <p:nvPr/>
        </p:nvPicPr>
        <p:blipFill>
          <a:blip r:embed="rId2"/>
          <a:stretch>
            <a:fillRect/>
          </a:stretch>
        </p:blipFill>
        <p:spPr>
          <a:xfrm>
            <a:off x="8453628" y="2080260"/>
            <a:ext cx="283464" cy="283464"/>
          </a:xfrm>
          <a:prstGeom prst="rect">
            <a:avLst/>
          </a:prstGeom>
        </p:spPr>
      </p:pic>
      <p:sp>
        <p:nvSpPr>
          <p:cNvPr id="26" name="Text 22"/>
          <p:cNvSpPr txBox="1"/>
          <p:nvPr/>
        </p:nvSpPr>
        <p:spPr>
          <a:xfrm>
            <a:off x="9006840" y="1856232"/>
            <a:ext cx="2544775" cy="731520"/>
          </a:xfrm>
          <a:prstGeom prst="rect">
            <a:avLst/>
          </a:prstGeom>
          <a:noFill/>
          <a:ln/>
        </p:spPr>
        <p:txBody>
          <a:bodyPr wrap="square" lIns="0" tIns="0" rIns="0" bIns="0" rtlCol="0" anchor="ctr"/>
          <a:lstStyle/>
          <a:p>
            <a:pPr algn="l" indent="0" marL="0">
              <a:buNone/>
            </a:pPr>
            <a:r>
              <a:rPr lang="en-US" sz="4400" b="1" dirty="0">
                <a:solidFill>
                  <a:schemeClr val="accent1"/>
                </a:solidFill>
              </a:rPr>
              <a:t>0,24844</a:t>
            </a:r>
            <a:endParaRPr lang="en-US" sz="4400" dirty="0"/>
          </a:p>
        </p:txBody>
      </p:sp>
      <p:sp>
        <p:nvSpPr>
          <p:cNvPr id="27" name="Text 23"/>
          <p:cNvSpPr txBox="1"/>
          <p:nvPr/>
        </p:nvSpPr>
        <p:spPr>
          <a:xfrm>
            <a:off x="8366760" y="2679192"/>
            <a:ext cx="3093415" cy="1051560"/>
          </a:xfrm>
          <a:prstGeom prst="rect">
            <a:avLst/>
          </a:prstGeom>
          <a:noFill/>
          <a:ln/>
        </p:spPr>
        <p:txBody>
          <a:bodyPr wrap="square" lIns="0" tIns="0" rIns="0" bIns="0" rtlCol="0" anchor="t"/>
          <a:lstStyle/>
          <a:p>
            <a:pPr algn="l" indent="0" marL="0">
              <a:buNone/>
            </a:pPr>
            <a:r>
              <a:rPr lang="en-US" sz="1600" dirty="0">
                <a:solidFill>
                  <a:schemeClr val="tx1"/>
                </a:solidFill>
              </a:rPr>
              <a:t>skor privat, peringkat 8 · publik 0,24913: tidak memburuk</a:t>
            </a:r>
            <a:endParaRPr lang="en-US" sz="1600" dirty="0"/>
          </a:p>
        </p:txBody>
      </p:sp>
      <p:sp>
        <p:nvSpPr>
          <p:cNvPr id="28" name="ubin 2"/>
          <p:cNvSpPr/>
          <p:nvPr/>
        </p:nvSpPr>
        <p:spPr>
          <a:xfrm>
            <a:off x="8092440" y="4005072"/>
            <a:ext cx="3550615" cy="2121408"/>
          </a:xfrm>
          <a:prstGeom prst="roundRect">
            <a:avLst>
              <a:gd name="adj" fmla="val 5172"/>
            </a:avLst>
          </a:prstGeom>
          <a:solidFill>
            <a:schemeClr val="bg2"/>
          </a:solidFill>
          <a:ln/>
        </p:spPr>
      </p:sp>
      <p:sp>
        <p:nvSpPr>
          <p:cNvPr id="29" name="ikon FaScaleBalanced"/>
          <p:cNvSpPr/>
          <p:nvPr/>
        </p:nvSpPr>
        <p:spPr>
          <a:xfrm>
            <a:off x="8311896" y="4224528"/>
            <a:ext cx="566928" cy="566928"/>
          </a:xfrm>
          <a:prstGeom prst="ellipse">
            <a:avLst/>
          </a:prstGeom>
          <a:solidFill>
            <a:schemeClr val="accent2"/>
          </a:solidFill>
          <a:ln/>
        </p:spPr>
      </p:sp>
      <p:pic>
        <p:nvPicPr>
          <p:cNvPr id="30" name="Image 1" descr="FaScaleBalanced">    </p:cNvPr>
          <p:cNvPicPr>
            <a:picLocks noChangeAspect="1"/>
          </p:cNvPicPr>
          <p:nvPr/>
        </p:nvPicPr>
        <p:blipFill>
          <a:blip r:embed="rId3"/>
          <a:stretch>
            <a:fillRect/>
          </a:stretch>
        </p:blipFill>
        <p:spPr>
          <a:xfrm>
            <a:off x="8453628" y="4366260"/>
            <a:ext cx="283464" cy="283464"/>
          </a:xfrm>
          <a:prstGeom prst="rect">
            <a:avLst/>
          </a:prstGeom>
        </p:spPr>
      </p:pic>
      <p:sp>
        <p:nvSpPr>
          <p:cNvPr id="31" name="Text 26"/>
          <p:cNvSpPr txBox="1"/>
          <p:nvPr/>
        </p:nvSpPr>
        <p:spPr>
          <a:xfrm>
            <a:off x="9006840" y="4142232"/>
            <a:ext cx="2544775" cy="731520"/>
          </a:xfrm>
          <a:prstGeom prst="rect">
            <a:avLst/>
          </a:prstGeom>
          <a:noFill/>
          <a:ln/>
        </p:spPr>
        <p:txBody>
          <a:bodyPr wrap="square" lIns="0" tIns="0" rIns="0" bIns="0" rtlCol="0" anchor="ctr"/>
          <a:lstStyle/>
          <a:p>
            <a:pPr algn="l" indent="0" marL="0">
              <a:buNone/>
            </a:pPr>
            <a:r>
              <a:rPr lang="en-US" sz="4400" b="1" dirty="0">
                <a:solidFill>
                  <a:schemeClr val="accent2"/>
                </a:solidFill>
              </a:rPr>
              <a:t>0,4997</a:t>
            </a:r>
            <a:endParaRPr lang="en-US" sz="4400" dirty="0"/>
          </a:p>
        </p:txBody>
      </p:sp>
      <p:sp>
        <p:nvSpPr>
          <p:cNvPr id="32" name="Text 27"/>
          <p:cNvSpPr txBox="1"/>
          <p:nvPr/>
        </p:nvSpPr>
        <p:spPr>
          <a:xfrm>
            <a:off x="8366760" y="4965192"/>
            <a:ext cx="3093415" cy="1051560"/>
          </a:xfrm>
          <a:prstGeom prst="rect">
            <a:avLst/>
          </a:prstGeom>
          <a:noFill/>
          <a:ln/>
        </p:spPr>
        <p:txBody>
          <a:bodyPr wrap="square" lIns="0" tIns="0" rIns="0" bIns="0" rtlCol="0" anchor="t"/>
          <a:lstStyle/>
          <a:p>
            <a:pPr algn="l" indent="0" marL="0">
              <a:buNone/>
            </a:pPr>
            <a:r>
              <a:rPr lang="en-US" sz="1600" dirty="0">
                <a:solidFill>
                  <a:schemeClr val="tx1"/>
                </a:solidFill>
              </a:rPr>
              <a:t>AUC adversarial: latih dan uji tak dapat dibedakan, jadi validasi meniru data uji</a:t>
            </a:r>
            <a:endParaRPr lang="en-US" sz="1600" dirty="0"/>
          </a:p>
        </p:txBody>
      </p:sp>
      <p:sp>
        <p:nvSpPr>
          <p:cNvPr id="33"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In [27] sha256 aec745ab…d66e, [28], [37]</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IV · KEBIJAKAN PUBLIK</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Peta 330 zona: 118 zona Q1 memuat 47% konsumsi gas,</a:t>
            </a:r>
            <a:br/>
            <a:pPr algn="l" indent="0" marL="0">
              <a:buNone/>
            </a:pPr>
            <a:r>
              <a:rPr lang="en-US" sz="2800" b="1" dirty="0">
                <a:solidFill>
                  <a:schemeClr val="tx2"/>
                </a:solidFill>
              </a:rPr>
              <a:t>jadi program diurutkan per kuadran</a:t>
            </a:r>
            <a:endParaRPr lang="en-US" sz="2800" dirty="0"/>
          </a:p>
        </p:txBody>
      </p:sp>
      <p:pic>
        <p:nvPicPr>
          <p:cNvPr id="4" name="Image 0" descr="Peta kuadran 330 zona: intensitas gas zona terhadap kenaikan konsumsi listrik tahunan, ukuran titik = konsumsi gas zona">    </p:cNvPr>
          <p:cNvPicPr>
            <a:picLocks noChangeAspect="1"/>
          </p:cNvPicPr>
          <p:nvPr/>
        </p:nvPicPr>
        <p:blipFill>
          <a:blip r:embed="rId1"/>
          <a:stretch>
            <a:fillRect/>
          </a:stretch>
        </p:blipFill>
        <p:spPr>
          <a:xfrm>
            <a:off x="548640" y="1691640"/>
            <a:ext cx="5989320" cy="4069080"/>
          </a:xfrm>
          <a:prstGeom prst="rect">
            <a:avLst/>
          </a:prstGeom>
        </p:spPr>
      </p:pic>
      <p:sp>
        <p:nvSpPr>
          <p:cNvPr id="5" name="Text 2"/>
          <p:cNvSpPr txBox="1"/>
          <p:nvPr/>
        </p:nvSpPr>
        <p:spPr>
          <a:xfrm>
            <a:off x="594360" y="5788152"/>
            <a:ext cx="5943600" cy="457200"/>
          </a:xfrm>
          <a:prstGeom prst="rect">
            <a:avLst/>
          </a:prstGeom>
          <a:noFill/>
          <a:ln/>
        </p:spPr>
        <p:txBody>
          <a:bodyPr wrap="square" lIns="0" tIns="0" rIns="0" bIns="0" rtlCol="0" anchor="t"/>
          <a:lstStyle/>
          <a:p>
            <a:pPr algn="l" indent="0" marL="0">
              <a:buNone/>
            </a:pPr>
            <a:r>
              <a:rPr lang="en-US" sz="1400" dirty="0">
                <a:solidFill>
                  <a:schemeClr val="accent5"/>
                </a:solidFill>
              </a:rPr>
              <a:t>Bukan peta geografis (tanpa koordinat); 30% nilai zona dari prediksi kawasan uji</a:t>
            </a:r>
            <a:endParaRPr lang="en-US" sz="1400" dirty="0"/>
          </a:p>
        </p:txBody>
      </p:sp>
      <p:graphicFrame>
        <p:nvGraphicFramePr>
          <p:cNvPr id="9" name="tabel kuadran"/>
          <p:cNvGraphicFramePr>
            <a:graphicFrameLocks noGrp="1"/>
          </p:cNvGraphicFramePr>
          <p:nvPr>
            <p:extLst>
              <p:ext uri="{D42A27DB-BD31-4B8C-83A1-F6EECF244321}">
                <p14:modId xmlns:p14="http://schemas.microsoft.com/office/powerpoint/2010/main" val="1579011935"/>
              </p:ext>
            </p:extLst>
          </p:nvPr>
        </p:nvGraphicFramePr>
        <p:xfrm>
          <a:off x="6766560" y="1691640"/>
          <a:ext cx="4876495" cy="914400"/>
        </p:xfrm>
        <a:graphic>
          <a:graphicData uri="http://schemas.openxmlformats.org/drawingml/2006/table">
            <a:tbl>
              <a:tblPr/>
              <a:tblGrid>
                <a:gridCol w="786384"/>
                <a:gridCol w="603504"/>
                <a:gridCol w="713232"/>
                <a:gridCol w="1024128"/>
                <a:gridCol w="914400"/>
                <a:gridCol w="834847"/>
              </a:tblGrid>
              <a:tr h="603504">
                <a:tc>
                  <a:txBody>
                    <a:bodyPr/>
                    <a:lstStyle/>
                    <a:p>
                      <a:pPr algn="l" indent="0" marL="0">
                        <a:buNone/>
                      </a:pPr>
                      <a:r>
                        <a:rPr lang="en-US" sz="1400" b="1" dirty="0">
                          <a:solidFill>
                            <a:srgbClr val="FFFFFF"/>
                          </a:solidFill>
                        </a:rPr>
                        <a:t>Kuadran</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Zona</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Porsi gas</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Indikator </a:t>
                      </a:r>
                      <a:pPr algn="l" indent="0" marL="0">
                        <a:buNone/>
                      </a:pPr>
                      <a:r>
                        <a:rPr lang="en-US" sz="1400" b="1" i="1" dirty="0">
                          <a:solidFill>
                            <a:srgbClr val="FFFFFF"/>
                          </a:solidFill>
                        </a:rPr>
                        <a:t>retrofit</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Kenaikan listrik</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Program</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47472">
                <a:tc>
                  <a:txBody>
                    <a:bodyPr/>
                    <a:lstStyle/>
                    <a:p>
                      <a:pPr algn="l" indent="0" marL="0">
                        <a:buNone/>
                      </a:pPr>
                      <a:r>
                        <a:rPr lang="en-US" sz="1400" b="1" dirty="0">
                          <a:solidFill>
                            <a:srgbClr val="D97B29"/>
                          </a:solidFill>
                        </a:rPr>
                        <a:t>Q1</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118</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47%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3,65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+102%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l" indent="0" marL="0">
                        <a:buNone/>
                      </a:pPr>
                      <a:r>
                        <a:rPr lang="en-US" sz="1400" b="1" dirty="0">
                          <a:solidFill>
                            <a:srgbClr val="D97B29"/>
                          </a:solidFill>
                        </a:rPr>
                        <a:t>R1 + R2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r>
              <a:tr h="347472">
                <a:tc>
                  <a:txBody>
                    <a:bodyPr/>
                    <a:lstStyle/>
                    <a:p>
                      <a:pPr algn="l" indent="0" marL="0">
                        <a:buNone/>
                      </a:pPr>
                      <a:r>
                        <a:rPr lang="en-US" sz="1400" b="1" dirty="0">
                          <a:solidFill>
                            <a:srgbClr val="1F2933"/>
                          </a:solidFill>
                        </a:rPr>
                        <a:t>Q2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1,07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+90%</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R3</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47472">
                <a:tc>
                  <a:txBody>
                    <a:bodyPr/>
                    <a:lstStyle/>
                    <a:p>
                      <a:pPr algn="l" indent="0" marL="0">
                        <a:buNone/>
                      </a:pPr>
                      <a:r>
                        <a:rPr lang="en-US" sz="1400" b="1" dirty="0">
                          <a:solidFill>
                            <a:srgbClr val="1F2933"/>
                          </a:solidFill>
                        </a:rPr>
                        <a:t>Q3</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15%</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0,86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+99%</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R2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47472">
                <a:tc>
                  <a:txBody>
                    <a:bodyPr/>
                    <a:lstStyle/>
                    <a:p>
                      <a:pPr algn="l" indent="0" marL="0">
                        <a:buNone/>
                      </a:pPr>
                      <a:r>
                        <a:rPr lang="en-US" sz="1400" b="1" dirty="0">
                          <a:solidFill>
                            <a:srgbClr val="1F2933"/>
                          </a:solidFill>
                        </a:rPr>
                        <a:t>Q4</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118</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27%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1,81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+87%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standar</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kotak ASUMSI"/>
          <p:cNvSpPr/>
          <p:nvPr/>
        </p:nvSpPr>
        <p:spPr>
          <a:xfrm>
            <a:off x="6766560" y="3913632"/>
            <a:ext cx="4876495" cy="1078992"/>
          </a:xfrm>
          <a:prstGeom prst="roundRect">
            <a:avLst>
              <a:gd name="adj" fmla="val 6780"/>
            </a:avLst>
          </a:prstGeom>
          <a:solidFill>
            <a:schemeClr val="accent3">
              <a:alpha val="10000"/>
            </a:schemeClr>
          </a:solidFill>
          <a:ln/>
        </p:spPr>
      </p:sp>
      <p:sp>
        <p:nvSpPr>
          <p:cNvPr id="8" name="label ASUMSI"/>
          <p:cNvSpPr/>
          <p:nvPr/>
        </p:nvSpPr>
        <p:spPr>
          <a:xfrm>
            <a:off x="6903720" y="4023360"/>
            <a:ext cx="852952" cy="292608"/>
          </a:xfrm>
          <a:prstGeom prst="roundRect">
            <a:avLst>
              <a:gd name="adj" fmla="val 18750"/>
            </a:avLst>
          </a:prstGeom>
          <a:solidFill>
            <a:schemeClr val="accent3"/>
          </a:solidFill>
          <a:ln/>
        </p:spPr>
      </p:sp>
      <p:sp>
        <p:nvSpPr>
          <p:cNvPr id="9" name="Text 5"/>
          <p:cNvSpPr txBox="1"/>
          <p:nvPr/>
        </p:nvSpPr>
        <p:spPr>
          <a:xfrm>
            <a:off x="6903720" y="4023360"/>
            <a:ext cx="852952" cy="292608"/>
          </a:xfrm>
          <a:prstGeom prst="rect">
            <a:avLst/>
          </a:prstGeom>
          <a:noFill/>
          <a:ln/>
        </p:spPr>
        <p:txBody>
          <a:bodyPr wrap="square" lIns="0" tIns="0" rIns="0" bIns="0" rtlCol="0" anchor="ctr"/>
          <a:lstStyle/>
          <a:p>
            <a:pPr algn="ctr" indent="0" marL="0">
              <a:buNone/>
            </a:pPr>
            <a:r>
              <a:rPr lang="en-US" sz="1400" b="1" spc="50" kern="0" dirty="0">
                <a:solidFill>
                  <a:schemeClr val="bg1"/>
                </a:solidFill>
              </a:rPr>
              <a:t>ASUMSI</a:t>
            </a:r>
            <a:endParaRPr lang="en-US" sz="1400" dirty="0"/>
          </a:p>
        </p:txBody>
      </p:sp>
      <p:sp>
        <p:nvSpPr>
          <p:cNvPr id="10" name="Text 6"/>
          <p:cNvSpPr txBox="1"/>
          <p:nvPr/>
        </p:nvSpPr>
        <p:spPr>
          <a:xfrm>
            <a:off x="6903720" y="4370832"/>
            <a:ext cx="4602175" cy="585216"/>
          </a:xfrm>
          <a:prstGeom prst="rect">
            <a:avLst/>
          </a:prstGeom>
          <a:noFill/>
          <a:ln/>
        </p:spPr>
        <p:txBody>
          <a:bodyPr wrap="square" lIns="0" tIns="0" rIns="0" bIns="0" rtlCol="0" anchor="t"/>
          <a:lstStyle/>
          <a:p>
            <a:pPr algn="l" indent="0" marL="0">
              <a:buNone/>
            </a:pPr>
            <a:r>
              <a:rPr lang="en-US" sz="1400" dirty="0">
                <a:solidFill>
                  <a:schemeClr val="tx1"/>
                </a:solidFill>
              </a:rPr>
              <a:t>80% gas untuk pemanasan, COP 3, energi tahunan · </a:t>
            </a:r>
            <a:pPr algn="l" indent="0" marL="0">
              <a:buNone/>
            </a:pPr>
            <a:r>
              <a:rPr lang="en-US" sz="1400" i="1" dirty="0">
                <a:solidFill>
                  <a:schemeClr val="tx1"/>
                </a:solidFill>
              </a:rPr>
              <a:t>retrofit</a:t>
            </a:r>
            <a:pPr algn="l" indent="0" marL="0">
              <a:buNone/>
            </a:pPr>
            <a:r>
              <a:rPr lang="en-US" sz="1400" dirty="0">
                <a:solidFill>
                  <a:schemeClr val="tx1"/>
                </a:solidFill>
              </a:rPr>
              <a:t> 7,39 TWh = indikator, bukan janji</a:t>
            </a:r>
            <a:endParaRPr lang="en-US" sz="1400" dirty="0"/>
          </a:p>
        </p:txBody>
      </p:sp>
      <p:sp>
        <p:nvSpPr>
          <p:cNvPr id="11" name="kotak UJI KETAHANAN"/>
          <p:cNvSpPr/>
          <p:nvPr/>
        </p:nvSpPr>
        <p:spPr>
          <a:xfrm>
            <a:off x="6766560" y="5084064"/>
            <a:ext cx="4876495" cy="1078992"/>
          </a:xfrm>
          <a:prstGeom prst="roundRect">
            <a:avLst>
              <a:gd name="adj" fmla="val 6780"/>
            </a:avLst>
          </a:prstGeom>
          <a:solidFill>
            <a:schemeClr val="accent2">
              <a:alpha val="10000"/>
            </a:schemeClr>
          </a:solidFill>
          <a:ln/>
        </p:spPr>
      </p:sp>
      <p:sp>
        <p:nvSpPr>
          <p:cNvPr id="12" name="label UJI KETAHANAN"/>
          <p:cNvSpPr/>
          <p:nvPr/>
        </p:nvSpPr>
        <p:spPr>
          <a:xfrm>
            <a:off x="6903720" y="5193792"/>
            <a:ext cx="1677375" cy="292608"/>
          </a:xfrm>
          <a:prstGeom prst="roundRect">
            <a:avLst>
              <a:gd name="adj" fmla="val 18750"/>
            </a:avLst>
          </a:prstGeom>
          <a:solidFill>
            <a:schemeClr val="accent2"/>
          </a:solidFill>
          <a:ln/>
        </p:spPr>
      </p:sp>
      <p:sp>
        <p:nvSpPr>
          <p:cNvPr id="13" name="Text 9"/>
          <p:cNvSpPr txBox="1"/>
          <p:nvPr/>
        </p:nvSpPr>
        <p:spPr>
          <a:xfrm>
            <a:off x="6903720" y="5193792"/>
            <a:ext cx="1677375" cy="292608"/>
          </a:xfrm>
          <a:prstGeom prst="rect">
            <a:avLst/>
          </a:prstGeom>
          <a:noFill/>
          <a:ln/>
        </p:spPr>
        <p:txBody>
          <a:bodyPr wrap="square" lIns="0" tIns="0" rIns="0" bIns="0" rtlCol="0" anchor="ctr"/>
          <a:lstStyle/>
          <a:p>
            <a:pPr algn="ctr" indent="0" marL="0">
              <a:buNone/>
            </a:pPr>
            <a:r>
              <a:rPr lang="en-US" sz="1400" b="1" spc="50" kern="0" dirty="0">
                <a:solidFill>
                  <a:schemeClr val="bg1"/>
                </a:solidFill>
              </a:rPr>
              <a:t>UJI KETAHANAN</a:t>
            </a:r>
            <a:endParaRPr lang="en-US" sz="1400" dirty="0"/>
          </a:p>
        </p:txBody>
      </p:sp>
      <p:sp>
        <p:nvSpPr>
          <p:cNvPr id="14" name="Text 10"/>
          <p:cNvSpPr txBox="1"/>
          <p:nvPr/>
        </p:nvSpPr>
        <p:spPr>
          <a:xfrm>
            <a:off x="6903720" y="5541264"/>
            <a:ext cx="4602175" cy="585216"/>
          </a:xfrm>
          <a:prstGeom prst="rect">
            <a:avLst/>
          </a:prstGeom>
          <a:noFill/>
          <a:ln/>
        </p:spPr>
        <p:txBody>
          <a:bodyPr wrap="square" lIns="0" tIns="0" rIns="0" bIns="0" rtlCol="0" anchor="t"/>
          <a:lstStyle/>
          <a:p>
            <a:pPr algn="l" indent="0" marL="0">
              <a:buNone/>
            </a:pPr>
            <a:r>
              <a:rPr lang="en-US" sz="1400" dirty="0">
                <a:solidFill>
                  <a:schemeClr val="tx1"/>
                </a:solidFill>
              </a:rPr>
              <a:t>tahan derau acak per kawasan (Spearman 0,998); peka COP per iklim (Spearman 0,81) → daftar kandidat</a:t>
            </a:r>
            <a:endParaRPr lang="en-US" sz="1400" dirty="0"/>
          </a:p>
        </p:txBody>
      </p:sp>
      <p:sp>
        <p:nvSpPr>
          <p:cNvPr id="15" name="sel notebook"/>
          <p:cNvSpPr txBox="1"/>
          <p:nvPr/>
        </p:nvSpPr>
        <p:spPr>
          <a:xfrm>
            <a:off x="3383279" y="6400800"/>
            <a:ext cx="7680960" cy="274320"/>
          </a:xfrm>
          <a:prstGeom prst="rect">
            <a:avLst/>
          </a:prstGeom>
          <a:noFill/>
          <a:ln/>
        </p:spPr>
        <p:txBody>
          <a:bodyPr wrap="square" lIns="0" tIns="0" rIns="0" bIns="0" rtlCol="0" anchor="t"/>
          <a:lstStyle/>
          <a:p>
            <a:pPr algn="r" indent="0" marL="0">
              <a:buNone/>
            </a:pPr>
            <a:r>
              <a:rPr lang="en-US" sz="1200" dirty="0">
                <a:solidFill>
                  <a:schemeClr val="accent5"/>
                </a:solidFill>
              </a:rPr>
              <a:t>Sumber: notebook bagian 7.2 dan 7.3, In [34], [35]; Spearman: skrip cek terpisah</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IV · KEBIJAKAN PUBLIK</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1: </a:t>
            </a:r>
            <a:pPr algn="l" indent="0" marL="0">
              <a:buNone/>
            </a:pPr>
            <a:r>
              <a:rPr lang="en-US" sz="2800" b="1" i="1" dirty="0">
                <a:solidFill>
                  <a:schemeClr val="tx2"/>
                </a:solidFill>
              </a:rPr>
              <a:t>retrofit</a:t>
            </a:r>
            <a:pPr algn="l" indent="0" marL="0">
              <a:buNone/>
            </a:pPr>
            <a:r>
              <a:rPr lang="en-US" sz="2800" b="1" dirty="0">
                <a:solidFill>
                  <a:schemeClr val="tx2"/>
                </a:solidFill>
              </a:rPr>
              <a:t> selubung lebih dulu di zona Q1,</a:t>
            </a:r>
            <a:br/>
            <a:pPr algn="l" indent="0" marL="0">
              <a:buNone/>
            </a:pPr>
            <a:r>
              <a:rPr lang="en-US" sz="2800" b="1" dirty="0">
                <a:solidFill>
                  <a:schemeClr val="tx2"/>
                </a:solidFill>
              </a:rPr>
              <a:t>mulai dari audit energi</a:t>
            </a:r>
            <a:endParaRPr lang="en-US" sz="2800" dirty="0"/>
          </a:p>
        </p:txBody>
      </p:sp>
      <p:pic>
        <p:nvPicPr>
          <p:cNvPr id="4" name="Image 0" descr="Dependensi SHAP luas lantai per meter terhadap gas per m2, model penjelas">    </p:cNvPr>
          <p:cNvPicPr>
            <a:picLocks noChangeAspect="1"/>
          </p:cNvPicPr>
          <p:nvPr/>
        </p:nvPicPr>
        <p:blipFill>
          <a:blip r:embed="rId1"/>
          <a:stretch>
            <a:fillRect/>
          </a:stretch>
        </p:blipFill>
        <p:spPr>
          <a:xfrm>
            <a:off x="548640" y="1691640"/>
            <a:ext cx="5212080" cy="2788920"/>
          </a:xfrm>
          <a:prstGeom prst="rect">
            <a:avLst/>
          </a:prstGeom>
        </p:spPr>
      </p:pic>
      <p:sp>
        <p:nvSpPr>
          <p:cNvPr id="5" name="Text 2"/>
          <p:cNvSpPr txBox="1"/>
          <p:nvPr/>
        </p:nvSpPr>
        <p:spPr>
          <a:xfrm>
            <a:off x="548640" y="4572000"/>
            <a:ext cx="5212080" cy="274320"/>
          </a:xfrm>
          <a:prstGeom prst="rect">
            <a:avLst/>
          </a:prstGeom>
          <a:noFill/>
          <a:ln/>
        </p:spPr>
        <p:txBody>
          <a:bodyPr wrap="square" lIns="0" tIns="0" rIns="0" bIns="0" rtlCol="0" anchor="t"/>
          <a:lstStyle/>
          <a:p>
            <a:pPr algn="l" indent="0" marL="0">
              <a:buNone/>
            </a:pPr>
            <a:r>
              <a:rPr lang="en-US" sz="1400" b="1" dirty="0">
                <a:solidFill>
                  <a:schemeClr val="tx2"/>
                </a:solidFill>
              </a:rPr>
              <a:t>Indikator </a:t>
            </a:r>
            <a:pPr algn="l" indent="0" marL="0">
              <a:buNone/>
            </a:pPr>
            <a:r>
              <a:rPr lang="en-US" sz="1400" b="1" i="1" dirty="0">
                <a:solidFill>
                  <a:schemeClr val="tx2"/>
                </a:solidFill>
              </a:rPr>
              <a:t>retrofit</a:t>
            </a:r>
            <a:pPr algn="l" indent="0" marL="0">
              <a:buNone/>
            </a:pPr>
            <a:r>
              <a:rPr lang="en-US" sz="1400" b="1" dirty="0">
                <a:solidFill>
                  <a:schemeClr val="tx2"/>
                </a:solidFill>
              </a:rPr>
              <a:t> tiga zona kandidat (GWh; % gas zona)</a:t>
            </a:r>
            <a:endParaRPr lang="en-US" sz="1400" dirty="0"/>
          </a:p>
        </p:txBody>
      </p:sp>
      <p:graphicFrame>
        <p:nvGraphicFramePr>
          <p:cNvPr id="6" name="grafik indikator retrofit" descr="Indikator potensi retrofit tiga zona kandidat, GWh"/>
          <p:cNvGraphicFramePr/>
          <p:nvPr/>
        </p:nvGraphicFramePr>
        <p:xfrm>
          <a:off x="548640" y="4882896"/>
          <a:ext cx="5212080" cy="128016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4986528"/>
            <a:ext cx="877824" cy="256032"/>
          </a:xfrm>
          <a:prstGeom prst="rect">
            <a:avLst/>
          </a:prstGeom>
          <a:noFill/>
          <a:ln/>
        </p:spPr>
        <p:txBody>
          <a:bodyPr wrap="square" lIns="0" tIns="0" rIns="0" bIns="0" rtlCol="0" anchor="ctr"/>
          <a:lstStyle/>
          <a:p>
            <a:pPr algn="r" indent="0" marL="0">
              <a:buNone/>
            </a:pPr>
            <a:r>
              <a:rPr lang="en-US" sz="1400" dirty="0">
                <a:solidFill>
                  <a:schemeClr val="tx1"/>
                </a:solidFill>
              </a:rPr>
              <a:t>REG_273</a:t>
            </a:r>
            <a:endParaRPr lang="en-US" sz="1400" dirty="0"/>
          </a:p>
        </p:txBody>
      </p:sp>
      <p:sp>
        <p:nvSpPr>
          <p:cNvPr id="8" name="Text 4"/>
          <p:cNvSpPr txBox="1"/>
          <p:nvPr/>
        </p:nvSpPr>
        <p:spPr>
          <a:xfrm>
            <a:off x="3455518" y="4986528"/>
            <a:ext cx="2240280" cy="256032"/>
          </a:xfrm>
          <a:prstGeom prst="rect">
            <a:avLst/>
          </a:prstGeom>
          <a:noFill/>
          <a:ln/>
        </p:spPr>
        <p:txBody>
          <a:bodyPr wrap="square" lIns="0" tIns="0" rIns="0" bIns="0" rtlCol="0" anchor="ctr"/>
          <a:lstStyle/>
          <a:p>
            <a:pPr algn="l" indent="0" marL="0">
              <a:buNone/>
            </a:pPr>
            <a:r>
              <a:rPr lang="en-US" sz="1400" dirty="0">
                <a:solidFill>
                  <a:schemeClr val="accent5"/>
                </a:solidFill>
              </a:rPr>
              <a:t>≈170 GWh (7,36%)</a:t>
            </a:r>
            <a:endParaRPr lang="en-US" sz="1400" dirty="0"/>
          </a:p>
        </p:txBody>
      </p:sp>
      <p:sp>
        <p:nvSpPr>
          <p:cNvPr id="9" name="Text 5"/>
          <p:cNvSpPr txBox="1"/>
          <p:nvPr/>
        </p:nvSpPr>
        <p:spPr>
          <a:xfrm>
            <a:off x="548640" y="5394960"/>
            <a:ext cx="877824" cy="256032"/>
          </a:xfrm>
          <a:prstGeom prst="rect">
            <a:avLst/>
          </a:prstGeom>
          <a:noFill/>
          <a:ln/>
        </p:spPr>
        <p:txBody>
          <a:bodyPr wrap="square" lIns="0" tIns="0" rIns="0" bIns="0" rtlCol="0" anchor="ctr"/>
          <a:lstStyle/>
          <a:p>
            <a:pPr algn="r" indent="0" marL="0">
              <a:buNone/>
            </a:pPr>
            <a:r>
              <a:rPr lang="en-US" sz="1400" dirty="0">
                <a:solidFill>
                  <a:schemeClr val="tx1"/>
                </a:solidFill>
              </a:rPr>
              <a:t>REG_270</a:t>
            </a:r>
            <a:endParaRPr lang="en-US" sz="1400" dirty="0"/>
          </a:p>
        </p:txBody>
      </p:sp>
      <p:sp>
        <p:nvSpPr>
          <p:cNvPr id="10" name="Text 6"/>
          <p:cNvSpPr txBox="1"/>
          <p:nvPr/>
        </p:nvSpPr>
        <p:spPr>
          <a:xfrm>
            <a:off x="3118002" y="5394960"/>
            <a:ext cx="2240280" cy="256032"/>
          </a:xfrm>
          <a:prstGeom prst="rect">
            <a:avLst/>
          </a:prstGeom>
          <a:noFill/>
          <a:ln/>
        </p:spPr>
        <p:txBody>
          <a:bodyPr wrap="square" lIns="0" tIns="0" rIns="0" bIns="0" rtlCol="0" anchor="ctr"/>
          <a:lstStyle/>
          <a:p>
            <a:pPr algn="l" indent="0" marL="0">
              <a:buNone/>
            </a:pPr>
            <a:r>
              <a:rPr lang="en-US" sz="1400" dirty="0">
                <a:solidFill>
                  <a:schemeClr val="accent5"/>
                </a:solidFill>
              </a:rPr>
              <a:t>≈140 GWh (8,60%)</a:t>
            </a:r>
            <a:endParaRPr lang="en-US" sz="1400" dirty="0"/>
          </a:p>
        </p:txBody>
      </p:sp>
      <p:sp>
        <p:nvSpPr>
          <p:cNvPr id="11" name="Text 7"/>
          <p:cNvSpPr txBox="1"/>
          <p:nvPr/>
        </p:nvSpPr>
        <p:spPr>
          <a:xfrm>
            <a:off x="548640" y="5803392"/>
            <a:ext cx="877824" cy="256032"/>
          </a:xfrm>
          <a:prstGeom prst="rect">
            <a:avLst/>
          </a:prstGeom>
          <a:noFill/>
          <a:ln/>
        </p:spPr>
        <p:txBody>
          <a:bodyPr wrap="square" lIns="0" tIns="0" rIns="0" bIns="0" rtlCol="0" anchor="ctr"/>
          <a:lstStyle/>
          <a:p>
            <a:pPr algn="r" indent="0" marL="0">
              <a:buNone/>
            </a:pPr>
            <a:r>
              <a:rPr lang="en-US" sz="1400" dirty="0">
                <a:solidFill>
                  <a:schemeClr val="tx1"/>
                </a:solidFill>
              </a:rPr>
              <a:t>REG_045</a:t>
            </a:r>
            <a:endParaRPr lang="en-US" sz="1400" dirty="0"/>
          </a:p>
        </p:txBody>
      </p:sp>
      <p:sp>
        <p:nvSpPr>
          <p:cNvPr id="12" name="Text 8"/>
          <p:cNvSpPr txBox="1"/>
          <p:nvPr/>
        </p:nvSpPr>
        <p:spPr>
          <a:xfrm>
            <a:off x="2792781" y="5803392"/>
            <a:ext cx="2240280" cy="256032"/>
          </a:xfrm>
          <a:prstGeom prst="rect">
            <a:avLst/>
          </a:prstGeom>
          <a:noFill/>
          <a:ln/>
        </p:spPr>
        <p:txBody>
          <a:bodyPr wrap="square" lIns="0" tIns="0" rIns="0" bIns="0" rtlCol="0" anchor="ctr"/>
          <a:lstStyle/>
          <a:p>
            <a:pPr algn="l" indent="0" marL="0">
              <a:buNone/>
            </a:pPr>
            <a:r>
              <a:rPr lang="en-US" sz="1400" dirty="0">
                <a:solidFill>
                  <a:schemeClr val="accent5"/>
                </a:solidFill>
              </a:rPr>
              <a:t>≈111 GWh (6,69%)</a:t>
            </a:r>
            <a:endParaRPr lang="en-US" sz="1400" dirty="0"/>
          </a:p>
        </p:txBody>
      </p:sp>
      <p:sp>
        <p:nvSpPr>
          <p:cNvPr id="13" name="rantai TEMUAN"/>
          <p:cNvSpPr/>
          <p:nvPr/>
        </p:nvSpPr>
        <p:spPr>
          <a:xfrm>
            <a:off x="6035040" y="1691640"/>
            <a:ext cx="5608015" cy="850392"/>
          </a:xfrm>
          <a:prstGeom prst="roundRect">
            <a:avLst>
              <a:gd name="adj" fmla="val 8602"/>
            </a:avLst>
          </a:prstGeom>
          <a:solidFill>
            <a:schemeClr val="tx2">
              <a:alpha val="9000"/>
            </a:schemeClr>
          </a:solidFill>
          <a:ln/>
        </p:spPr>
      </p:sp>
      <p:sp>
        <p:nvSpPr>
          <p:cNvPr id="14" name="label TEMUAN"/>
          <p:cNvSpPr/>
          <p:nvPr/>
        </p:nvSpPr>
        <p:spPr>
          <a:xfrm>
            <a:off x="6153912" y="1792224"/>
            <a:ext cx="1572768" cy="310896"/>
          </a:xfrm>
          <a:prstGeom prst="roundRect">
            <a:avLst>
              <a:gd name="adj" fmla="val 17647"/>
            </a:avLst>
          </a:prstGeom>
          <a:solidFill>
            <a:schemeClr val="tx2"/>
          </a:solidFill>
          <a:ln/>
        </p:spPr>
      </p:sp>
      <p:sp>
        <p:nvSpPr>
          <p:cNvPr id="15" name="Text 11"/>
          <p:cNvSpPr txBox="1"/>
          <p:nvPr/>
        </p:nvSpPr>
        <p:spPr>
          <a:xfrm>
            <a:off x="6153912" y="1792224"/>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TEMUAN</a:t>
            </a:r>
            <a:endParaRPr lang="en-US" sz="1400" dirty="0"/>
          </a:p>
        </p:txBody>
      </p:sp>
      <p:sp>
        <p:nvSpPr>
          <p:cNvPr id="16" name="Text 12"/>
          <p:cNvSpPr txBox="1"/>
          <p:nvPr/>
        </p:nvSpPr>
        <p:spPr>
          <a:xfrm>
            <a:off x="7845552" y="1783080"/>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rumah terkecil: sumbangan gas per m² sekitar +65% vs terbesar (antarkuartil +34%); periode bld_era_15: +7% EUI</a:t>
            </a:r>
            <a:endParaRPr lang="en-US" sz="1400" dirty="0"/>
          </a:p>
        </p:txBody>
      </p:sp>
      <p:sp>
        <p:nvSpPr>
          <p:cNvPr id="17" name="panah rantai"/>
          <p:cNvSpPr/>
          <p:nvPr/>
        </p:nvSpPr>
        <p:spPr>
          <a:xfrm flipV="1">
            <a:off x="6803136" y="2583180"/>
            <a:ext cx="274320" cy="109728"/>
          </a:xfrm>
          <a:prstGeom prst="triangle">
            <a:avLst/>
          </a:prstGeom>
          <a:solidFill>
            <a:schemeClr val="accent4"/>
          </a:solidFill>
          <a:ln/>
        </p:spPr>
      </p:sp>
      <p:sp>
        <p:nvSpPr>
          <p:cNvPr id="18" name="rantai INTERPRETASI"/>
          <p:cNvSpPr/>
          <p:nvPr/>
        </p:nvSpPr>
        <p:spPr>
          <a:xfrm>
            <a:off x="6035040" y="2734056"/>
            <a:ext cx="5608015" cy="850392"/>
          </a:xfrm>
          <a:prstGeom prst="roundRect">
            <a:avLst>
              <a:gd name="adj" fmla="val 8602"/>
            </a:avLst>
          </a:prstGeom>
          <a:solidFill>
            <a:schemeClr val="accent3">
              <a:alpha val="9000"/>
            </a:schemeClr>
          </a:solidFill>
          <a:ln/>
        </p:spPr>
      </p:sp>
      <p:sp>
        <p:nvSpPr>
          <p:cNvPr id="19" name="label INTERPRETASI"/>
          <p:cNvSpPr/>
          <p:nvPr/>
        </p:nvSpPr>
        <p:spPr>
          <a:xfrm>
            <a:off x="6153912" y="2834640"/>
            <a:ext cx="1572768" cy="310896"/>
          </a:xfrm>
          <a:prstGeom prst="roundRect">
            <a:avLst>
              <a:gd name="adj" fmla="val 17647"/>
            </a:avLst>
          </a:prstGeom>
          <a:solidFill>
            <a:schemeClr val="accent3"/>
          </a:solidFill>
          <a:ln/>
        </p:spPr>
      </p:sp>
      <p:sp>
        <p:nvSpPr>
          <p:cNvPr id="20" name="Text 16"/>
          <p:cNvSpPr txBox="1"/>
          <p:nvPr/>
        </p:nvSpPr>
        <p:spPr>
          <a:xfrm>
            <a:off x="6153912" y="2834640"/>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INTERPRETASI</a:t>
            </a:r>
            <a:endParaRPr lang="en-US" sz="1400" dirty="0"/>
          </a:p>
        </p:txBody>
      </p:sp>
      <p:sp>
        <p:nvSpPr>
          <p:cNvPr id="21" name="Text 17"/>
          <p:cNvSpPr txBox="1"/>
          <p:nvPr/>
        </p:nvSpPr>
        <p:spPr>
          <a:xfrm>
            <a:off x="7845552" y="2825496"/>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dinding dan atap relatif luas;</a:t>
            </a:r>
            <a:br/>
            <a:pPr algn="l" indent="0" marL="0">
              <a:buNone/>
            </a:pPr>
            <a:r>
              <a:rPr lang="en-US" sz="1400" dirty="0">
                <a:solidFill>
                  <a:schemeClr val="tx1"/>
                </a:solidFill>
              </a:rPr>
              <a:t>asosiasi, bukan sebab-akibat</a:t>
            </a:r>
            <a:endParaRPr lang="en-US" sz="1400" dirty="0"/>
          </a:p>
        </p:txBody>
      </p:sp>
      <p:sp>
        <p:nvSpPr>
          <p:cNvPr id="22" name="panah rantai"/>
          <p:cNvSpPr/>
          <p:nvPr/>
        </p:nvSpPr>
        <p:spPr>
          <a:xfrm flipV="1">
            <a:off x="6803136" y="3625596"/>
            <a:ext cx="274320" cy="109728"/>
          </a:xfrm>
          <a:prstGeom prst="triangle">
            <a:avLst/>
          </a:prstGeom>
          <a:solidFill>
            <a:schemeClr val="accent4"/>
          </a:solidFill>
          <a:ln/>
        </p:spPr>
      </p:sp>
      <p:sp>
        <p:nvSpPr>
          <p:cNvPr id="23" name="rantai REKOMENDASI"/>
          <p:cNvSpPr/>
          <p:nvPr/>
        </p:nvSpPr>
        <p:spPr>
          <a:xfrm>
            <a:off x="6035040" y="3776472"/>
            <a:ext cx="5608015" cy="850392"/>
          </a:xfrm>
          <a:prstGeom prst="roundRect">
            <a:avLst>
              <a:gd name="adj" fmla="val 8602"/>
            </a:avLst>
          </a:prstGeom>
          <a:solidFill>
            <a:schemeClr val="accent1">
              <a:alpha val="16000"/>
            </a:schemeClr>
          </a:solidFill>
          <a:ln/>
        </p:spPr>
      </p:sp>
      <p:sp>
        <p:nvSpPr>
          <p:cNvPr id="24" name="label REKOMENDASI"/>
          <p:cNvSpPr/>
          <p:nvPr/>
        </p:nvSpPr>
        <p:spPr>
          <a:xfrm>
            <a:off x="6153912" y="3877056"/>
            <a:ext cx="1572768" cy="310896"/>
          </a:xfrm>
          <a:prstGeom prst="roundRect">
            <a:avLst>
              <a:gd name="adj" fmla="val 17647"/>
            </a:avLst>
          </a:prstGeom>
          <a:solidFill>
            <a:schemeClr val="accent1"/>
          </a:solidFill>
          <a:ln/>
        </p:spPr>
      </p:sp>
      <p:sp>
        <p:nvSpPr>
          <p:cNvPr id="25" name="Text 21"/>
          <p:cNvSpPr txBox="1"/>
          <p:nvPr/>
        </p:nvSpPr>
        <p:spPr>
          <a:xfrm>
            <a:off x="6153912" y="3877056"/>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REKOMENDASI</a:t>
            </a:r>
            <a:endParaRPr lang="en-US" sz="1400" dirty="0"/>
          </a:p>
        </p:txBody>
      </p:sp>
      <p:sp>
        <p:nvSpPr>
          <p:cNvPr id="26" name="Text 22"/>
          <p:cNvSpPr txBox="1"/>
          <p:nvPr/>
        </p:nvSpPr>
        <p:spPr>
          <a:xfrm>
            <a:off x="7845552" y="3867912"/>
            <a:ext cx="3706063" cy="704088"/>
          </a:xfrm>
          <a:prstGeom prst="rect">
            <a:avLst/>
          </a:prstGeom>
          <a:noFill/>
          <a:ln/>
        </p:spPr>
        <p:txBody>
          <a:bodyPr wrap="square" lIns="0" tIns="0" rIns="0" bIns="0" rtlCol="0" anchor="t"/>
          <a:lstStyle/>
          <a:p>
            <a:pPr algn="l" indent="0" marL="0">
              <a:buNone/>
            </a:pPr>
            <a:r>
              <a:rPr lang="en-US" sz="1400" b="1" dirty="0">
                <a:solidFill>
                  <a:schemeClr val="tx1"/>
                </a:solidFill>
              </a:rPr>
              <a:t>dinding, atap, jendela dulu, pompa panas kemudian; Q1 = 47% gas, indikator potensi 3,65 TWh</a:t>
            </a:r>
            <a:endParaRPr lang="en-US" sz="1400" dirty="0"/>
          </a:p>
        </p:txBody>
      </p:sp>
      <p:sp>
        <p:nvSpPr>
          <p:cNvPr id="27" name="panah rantai"/>
          <p:cNvSpPr/>
          <p:nvPr/>
        </p:nvSpPr>
        <p:spPr>
          <a:xfrm flipV="1">
            <a:off x="6803136" y="4668012"/>
            <a:ext cx="274320" cy="109728"/>
          </a:xfrm>
          <a:prstGeom prst="triangle">
            <a:avLst/>
          </a:prstGeom>
          <a:solidFill>
            <a:schemeClr val="accent4"/>
          </a:solidFill>
          <a:ln/>
        </p:spPr>
      </p:sp>
      <p:sp>
        <p:nvSpPr>
          <p:cNvPr id="28" name="rantai LANGKAH"/>
          <p:cNvSpPr/>
          <p:nvPr/>
        </p:nvSpPr>
        <p:spPr>
          <a:xfrm>
            <a:off x="6035040" y="4818888"/>
            <a:ext cx="5608015" cy="850392"/>
          </a:xfrm>
          <a:prstGeom prst="roundRect">
            <a:avLst>
              <a:gd name="adj" fmla="val 8602"/>
            </a:avLst>
          </a:prstGeom>
          <a:solidFill>
            <a:schemeClr val="accent2">
              <a:alpha val="9000"/>
            </a:schemeClr>
          </a:solidFill>
          <a:ln/>
        </p:spPr>
      </p:sp>
      <p:sp>
        <p:nvSpPr>
          <p:cNvPr id="29" name="label LANGKAH"/>
          <p:cNvSpPr/>
          <p:nvPr/>
        </p:nvSpPr>
        <p:spPr>
          <a:xfrm>
            <a:off x="6153912" y="4919472"/>
            <a:ext cx="1572768" cy="310896"/>
          </a:xfrm>
          <a:prstGeom prst="roundRect">
            <a:avLst>
              <a:gd name="adj" fmla="val 17647"/>
            </a:avLst>
          </a:prstGeom>
          <a:solidFill>
            <a:schemeClr val="accent2"/>
          </a:solidFill>
          <a:ln/>
        </p:spPr>
      </p:sp>
      <p:sp>
        <p:nvSpPr>
          <p:cNvPr id="30" name="Text 26"/>
          <p:cNvSpPr txBox="1"/>
          <p:nvPr/>
        </p:nvSpPr>
        <p:spPr>
          <a:xfrm>
            <a:off x="6153912" y="4919472"/>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LANGKAH</a:t>
            </a:r>
            <a:endParaRPr lang="en-US" sz="1400" dirty="0"/>
          </a:p>
        </p:txBody>
      </p:sp>
      <p:sp>
        <p:nvSpPr>
          <p:cNvPr id="31" name="Text 27"/>
          <p:cNvSpPr txBox="1"/>
          <p:nvPr/>
        </p:nvSpPr>
        <p:spPr>
          <a:xfrm>
            <a:off x="7845552" y="4910328"/>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audit energi REG_273, REG_270, REG_045 → pilot dengan pembanding → ukur gas per m²</a:t>
            </a:r>
            <a:endParaRPr lang="en-US" sz="1400" dirty="0"/>
          </a:p>
        </p:txBody>
      </p:sp>
      <p:sp>
        <p:nvSpPr>
          <p:cNvPr id="32" name="ikon pelaksana"/>
          <p:cNvSpPr/>
          <p:nvPr/>
        </p:nvSpPr>
        <p:spPr>
          <a:xfrm>
            <a:off x="6035040" y="5760720"/>
            <a:ext cx="438912" cy="438912"/>
          </a:xfrm>
          <a:prstGeom prst="ellipse">
            <a:avLst/>
          </a:prstGeom>
          <a:solidFill>
            <a:schemeClr val="tx2"/>
          </a:solidFill>
          <a:ln/>
        </p:spPr>
      </p:sp>
      <p:pic>
        <p:nvPicPr>
          <p:cNvPr id="33" name="Image 1" descr="FaUserGroup">    </p:cNvPr>
          <p:cNvPicPr>
            <a:picLocks noChangeAspect="1"/>
          </p:cNvPicPr>
          <p:nvPr/>
        </p:nvPicPr>
        <p:blipFill>
          <a:blip r:embed="rId3"/>
          <a:stretch>
            <a:fillRect/>
          </a:stretch>
        </p:blipFill>
        <p:spPr>
          <a:xfrm>
            <a:off x="6144768" y="5870448"/>
            <a:ext cx="219456" cy="219456"/>
          </a:xfrm>
          <a:prstGeom prst="rect">
            <a:avLst/>
          </a:prstGeom>
        </p:spPr>
      </p:pic>
      <p:sp>
        <p:nvSpPr>
          <p:cNvPr id="34" name="pelaksana"/>
          <p:cNvSpPr txBox="1"/>
          <p:nvPr/>
        </p:nvSpPr>
        <p:spPr>
          <a:xfrm>
            <a:off x="6601968" y="5760720"/>
            <a:ext cx="5041087" cy="438912"/>
          </a:xfrm>
          <a:prstGeom prst="rect">
            <a:avLst/>
          </a:prstGeom>
          <a:noFill/>
          <a:ln/>
        </p:spPr>
        <p:txBody>
          <a:bodyPr wrap="square" lIns="0" tIns="0" rIns="0" bIns="0" rtlCol="0" anchor="ctr"/>
          <a:lstStyle/>
          <a:p>
            <a:pPr algn="l" indent="0" marL="0">
              <a:buNone/>
            </a:pPr>
            <a:r>
              <a:rPr lang="en-US" sz="1500" b="1" dirty="0">
                <a:solidFill>
                  <a:schemeClr val="tx2"/>
                </a:solidFill>
              </a:rPr>
              <a:t>Pelaksana: </a:t>
            </a:r>
            <a:pPr algn="l" indent="0" marL="0">
              <a:buNone/>
            </a:pPr>
            <a:r>
              <a:rPr lang="en-US" sz="1500" dirty="0">
                <a:solidFill>
                  <a:schemeClr val="tx1"/>
                </a:solidFill>
              </a:rPr>
              <a:t>pemerintah kota dan penyedia jasa </a:t>
            </a:r>
            <a:pPr algn="l" indent="0" marL="0">
              <a:buNone/>
            </a:pPr>
            <a:r>
              <a:rPr lang="en-US" sz="1500" i="1" dirty="0">
                <a:solidFill>
                  <a:schemeClr val="tx1"/>
                </a:solidFill>
              </a:rPr>
              <a:t>retrofit</a:t>
            </a:r>
            <a:endParaRPr lang="en-US" sz="1500" dirty="0"/>
          </a:p>
        </p:txBody>
      </p:sp>
      <p:sp>
        <p:nvSpPr>
          <p:cNvPr id="35" name="sel notebook"/>
          <p:cNvSpPr txBox="1"/>
          <p:nvPr/>
        </p:nvSpPr>
        <p:spPr>
          <a:xfrm>
            <a:off x="3383279" y="6400800"/>
            <a:ext cx="7680960" cy="274320"/>
          </a:xfrm>
          <a:prstGeom prst="rect">
            <a:avLst/>
          </a:prstGeom>
          <a:noFill/>
          <a:ln/>
        </p:spPr>
        <p:txBody>
          <a:bodyPr wrap="square" lIns="0" tIns="0" rIns="0" bIns="0" rtlCol="0" anchor="t"/>
          <a:lstStyle/>
          <a:p>
            <a:pPr algn="r" indent="0" marL="0">
              <a:buNone/>
            </a:pPr>
            <a:r>
              <a:rPr lang="en-US" sz="1200" dirty="0">
                <a:solidFill>
                  <a:schemeClr val="accent5"/>
                </a:solidFill>
              </a:rPr>
              <a:t>Sumber: notebook bagian 7.1 (+65%), In [33], [34], [35]; +34%: skrip cek terpisah</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IV · KEBIJAKAN PUBLIK</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2: kapasitas gardu di zona Q1 dan Q3</a:t>
            </a:r>
            <a:br/>
            <a:pPr algn="l" indent="0" marL="0">
              <a:buNone/>
            </a:pPr>
            <a:r>
              <a:rPr lang="en-US" sz="2800" b="1" dirty="0">
                <a:solidFill>
                  <a:schemeClr val="tx2"/>
                </a:solidFill>
              </a:rPr>
              <a:t>dinilai sebelum subsidi pompa panas dibuka</a:t>
            </a:r>
            <a:endParaRPr lang="en-US" sz="2800" dirty="0"/>
          </a:p>
        </p:txBody>
      </p:sp>
      <p:pic>
        <p:nvPicPr>
          <p:cNvPr id="4" name="Image 0" descr="Dependensi SHAP luas lantai per meter terhadap listrik per meter, model penjelas: rumah besar sekitar +75% listrik per rumah">    </p:cNvPr>
          <p:cNvPicPr>
            <a:picLocks noChangeAspect="1"/>
          </p:cNvPicPr>
          <p:nvPr/>
        </p:nvPicPr>
        <p:blipFill>
          <a:blip r:embed="rId1"/>
          <a:stretch>
            <a:fillRect/>
          </a:stretch>
        </p:blipFill>
        <p:spPr>
          <a:xfrm>
            <a:off x="548640" y="1691640"/>
            <a:ext cx="5212080" cy="2514600"/>
          </a:xfrm>
          <a:prstGeom prst="rect">
            <a:avLst/>
          </a:prstGeom>
        </p:spPr>
      </p:pic>
      <p:sp>
        <p:nvSpPr>
          <p:cNvPr id="5" name="Text 2"/>
          <p:cNvSpPr txBox="1"/>
          <p:nvPr/>
        </p:nvSpPr>
        <p:spPr>
          <a:xfrm>
            <a:off x="548640" y="4261104"/>
            <a:ext cx="3977640" cy="475488"/>
          </a:xfrm>
          <a:prstGeom prst="rect">
            <a:avLst/>
          </a:prstGeom>
          <a:noFill/>
          <a:ln/>
        </p:spPr>
        <p:txBody>
          <a:bodyPr wrap="square" lIns="0" tIns="0" rIns="0" bIns="0" rtlCol="0" anchor="t"/>
          <a:lstStyle/>
          <a:p>
            <a:pPr algn="l" indent="0" marL="0">
              <a:buNone/>
            </a:pPr>
            <a:r>
              <a:rPr lang="en-US" sz="1400" b="1" dirty="0">
                <a:solidFill>
                  <a:schemeClr val="tx2"/>
                </a:solidFill>
              </a:rPr>
              <a:t>Tambahan listrik tahunan, tiga titik awal (GWh)</a:t>
            </a:r>
            <a:endParaRPr lang="en-US" sz="1400" dirty="0"/>
          </a:p>
          <a:p>
            <a:pPr algn="l" indent="0" marL="0">
              <a:buNone/>
            </a:pPr>
            <a:r>
              <a:rPr lang="en-US" sz="1400" dirty="0">
                <a:solidFill>
                  <a:schemeClr val="accent5"/>
                </a:solidFill>
              </a:rPr>
              <a:t>jingga = COP 3 · abu-abu = COP 2,5–3,5 per iklim</a:t>
            </a:r>
            <a:endParaRPr lang="en-US" sz="1400" dirty="0"/>
          </a:p>
        </p:txBody>
      </p:sp>
      <p:sp>
        <p:nvSpPr>
          <p:cNvPr id="6" name="Text 3"/>
          <p:cNvSpPr txBox="1"/>
          <p:nvPr/>
        </p:nvSpPr>
        <p:spPr>
          <a:xfrm>
            <a:off x="4526280" y="4261104"/>
            <a:ext cx="1234440" cy="475488"/>
          </a:xfrm>
          <a:prstGeom prst="rect">
            <a:avLst/>
          </a:prstGeom>
          <a:noFill/>
          <a:ln/>
        </p:spPr>
        <p:txBody>
          <a:bodyPr wrap="square" lIns="0" tIns="0" rIns="0" bIns="0" rtlCol="0" anchor="t"/>
          <a:lstStyle/>
          <a:p>
            <a:pPr algn="ctr" indent="0" marL="0">
              <a:buNone/>
            </a:pPr>
            <a:r>
              <a:rPr lang="en-US" sz="1400" dirty="0">
                <a:solidFill>
                  <a:schemeClr val="accent5"/>
                </a:solidFill>
              </a:rPr>
              <a:t>peringkat</a:t>
            </a:r>
            <a:endParaRPr lang="en-US" sz="1400" dirty="0"/>
          </a:p>
          <a:p>
            <a:pPr algn="ctr" indent="0" marL="0">
              <a:buNone/>
            </a:pPr>
            <a:r>
              <a:rPr lang="en-US" sz="1400" dirty="0">
                <a:solidFill>
                  <a:schemeClr val="accent5"/>
                </a:solidFill>
              </a:rPr>
              <a:t>COP 3 → iklim</a:t>
            </a:r>
            <a:endParaRPr lang="en-US" sz="1400" dirty="0"/>
          </a:p>
        </p:txBody>
      </p:sp>
      <p:graphicFrame>
        <p:nvGraphicFramePr>
          <p:cNvPr id="7" name="grafik tambahan absolut titik awal" descr="Tambahan konsumsi listrik tahunan tiga titik awal R2 (REG_263, REG_045, REG_270) dalam GWh, COP 3 dan COP per iklim"/>
          <p:cNvGraphicFramePr/>
          <p:nvPr/>
        </p:nvGraphicFramePr>
        <p:xfrm>
          <a:off x="548640" y="4754880"/>
          <a:ext cx="5212080" cy="1481328"/>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502920" y="4895087"/>
            <a:ext cx="1371600" cy="237744"/>
          </a:xfrm>
          <a:prstGeom prst="rect">
            <a:avLst/>
          </a:prstGeom>
          <a:noFill/>
          <a:ln/>
        </p:spPr>
        <p:txBody>
          <a:bodyPr wrap="square" lIns="0" tIns="0" rIns="0" bIns="0" rtlCol="0" anchor="ctr"/>
          <a:lstStyle/>
          <a:p>
            <a:pPr algn="r" indent="0" marL="0">
              <a:buNone/>
            </a:pPr>
            <a:r>
              <a:rPr lang="en-US" sz="1400" dirty="0">
                <a:solidFill>
                  <a:schemeClr val="tx1"/>
                </a:solidFill>
              </a:rPr>
              <a:t>REG_263</a:t>
            </a:r>
            <a:endParaRPr lang="en-US" sz="1400" dirty="0"/>
          </a:p>
        </p:txBody>
      </p:sp>
      <p:sp>
        <p:nvSpPr>
          <p:cNvPr id="9" name="Text 5"/>
          <p:cNvSpPr txBox="1"/>
          <p:nvPr/>
        </p:nvSpPr>
        <p:spPr>
          <a:xfrm>
            <a:off x="3246531" y="4792623"/>
            <a:ext cx="914400" cy="237744"/>
          </a:xfrm>
          <a:prstGeom prst="rect">
            <a:avLst/>
          </a:prstGeom>
          <a:noFill/>
          <a:ln/>
        </p:spPr>
        <p:txBody>
          <a:bodyPr wrap="square" lIns="0" tIns="0" rIns="0" bIns="0" rtlCol="0" anchor="ctr"/>
          <a:lstStyle/>
          <a:p>
            <a:pPr algn="l" indent="0" marL="0">
              <a:buNone/>
            </a:pPr>
            <a:r>
              <a:rPr lang="en-US" sz="1400" b="1" dirty="0">
                <a:solidFill>
                  <a:schemeClr val="tx1"/>
                </a:solidFill>
              </a:rPr>
              <a:t>757 GWh</a:t>
            </a:r>
            <a:endParaRPr lang="en-US" sz="1400" dirty="0"/>
          </a:p>
        </p:txBody>
      </p:sp>
      <p:sp>
        <p:nvSpPr>
          <p:cNvPr id="10" name="Text 6"/>
          <p:cNvSpPr txBox="1"/>
          <p:nvPr/>
        </p:nvSpPr>
        <p:spPr>
          <a:xfrm>
            <a:off x="4526280" y="4895087"/>
            <a:ext cx="1234440" cy="237744"/>
          </a:xfrm>
          <a:prstGeom prst="rect">
            <a:avLst/>
          </a:prstGeom>
          <a:noFill/>
          <a:ln/>
        </p:spPr>
        <p:txBody>
          <a:bodyPr wrap="square" lIns="0" tIns="0" rIns="0" bIns="0" rtlCol="0" anchor="ctr"/>
          <a:lstStyle/>
          <a:p>
            <a:pPr algn="ctr" indent="0" marL="0">
              <a:buNone/>
            </a:pPr>
            <a:r>
              <a:rPr lang="en-US" sz="1400" b="1" dirty="0">
                <a:solidFill>
                  <a:schemeClr val="tx2"/>
                </a:solidFill>
              </a:rPr>
              <a:t>1 → 1</a:t>
            </a:r>
            <a:endParaRPr lang="en-US" sz="1400" dirty="0"/>
          </a:p>
        </p:txBody>
      </p:sp>
      <p:sp>
        <p:nvSpPr>
          <p:cNvPr id="11" name="Text 7"/>
          <p:cNvSpPr txBox="1"/>
          <p:nvPr/>
        </p:nvSpPr>
        <p:spPr>
          <a:xfrm>
            <a:off x="502920" y="5376672"/>
            <a:ext cx="1371600" cy="237744"/>
          </a:xfrm>
          <a:prstGeom prst="rect">
            <a:avLst/>
          </a:prstGeom>
          <a:noFill/>
          <a:ln/>
        </p:spPr>
        <p:txBody>
          <a:bodyPr wrap="square" lIns="0" tIns="0" rIns="0" bIns="0" rtlCol="0" anchor="ctr"/>
          <a:lstStyle/>
          <a:p>
            <a:pPr algn="r" indent="0" marL="0">
              <a:buNone/>
            </a:pPr>
            <a:r>
              <a:rPr lang="en-US" sz="1400" dirty="0">
                <a:solidFill>
                  <a:schemeClr val="tx1"/>
                </a:solidFill>
              </a:rPr>
              <a:t>REG_045</a:t>
            </a:r>
            <a:endParaRPr lang="en-US" sz="1400" dirty="0"/>
          </a:p>
        </p:txBody>
      </p:sp>
      <p:sp>
        <p:nvSpPr>
          <p:cNvPr id="12" name="Text 8"/>
          <p:cNvSpPr txBox="1"/>
          <p:nvPr/>
        </p:nvSpPr>
        <p:spPr>
          <a:xfrm>
            <a:off x="2713664" y="5274207"/>
            <a:ext cx="914400" cy="237744"/>
          </a:xfrm>
          <a:prstGeom prst="rect">
            <a:avLst/>
          </a:prstGeom>
          <a:noFill/>
          <a:ln/>
        </p:spPr>
        <p:txBody>
          <a:bodyPr wrap="square" lIns="0" tIns="0" rIns="0" bIns="0" rtlCol="0" anchor="ctr"/>
          <a:lstStyle/>
          <a:p>
            <a:pPr algn="l" indent="0" marL="0">
              <a:buNone/>
            </a:pPr>
            <a:r>
              <a:rPr lang="en-US" sz="1400" b="1" dirty="0">
                <a:solidFill>
                  <a:schemeClr val="tx1"/>
                </a:solidFill>
              </a:rPr>
              <a:t>442 GWh</a:t>
            </a:r>
            <a:endParaRPr lang="en-US" sz="1400" dirty="0"/>
          </a:p>
        </p:txBody>
      </p:sp>
      <p:sp>
        <p:nvSpPr>
          <p:cNvPr id="13" name="Text 9"/>
          <p:cNvSpPr txBox="1"/>
          <p:nvPr/>
        </p:nvSpPr>
        <p:spPr>
          <a:xfrm>
            <a:off x="4526280" y="5376672"/>
            <a:ext cx="1234440" cy="237744"/>
          </a:xfrm>
          <a:prstGeom prst="rect">
            <a:avLst/>
          </a:prstGeom>
          <a:noFill/>
          <a:ln/>
        </p:spPr>
        <p:txBody>
          <a:bodyPr wrap="square" lIns="0" tIns="0" rIns="0" bIns="0" rtlCol="0" anchor="ctr"/>
          <a:lstStyle/>
          <a:p>
            <a:pPr algn="ctr" indent="0" marL="0">
              <a:buNone/>
            </a:pPr>
            <a:r>
              <a:rPr lang="en-US" sz="1400" b="1" dirty="0">
                <a:solidFill>
                  <a:schemeClr val="tx2"/>
                </a:solidFill>
              </a:rPr>
              <a:t>3 → 3</a:t>
            </a:r>
            <a:endParaRPr lang="en-US" sz="1400" dirty="0"/>
          </a:p>
        </p:txBody>
      </p:sp>
      <p:sp>
        <p:nvSpPr>
          <p:cNvPr id="14" name="Text 10"/>
          <p:cNvSpPr txBox="1"/>
          <p:nvPr/>
        </p:nvSpPr>
        <p:spPr>
          <a:xfrm>
            <a:off x="502920" y="5858256"/>
            <a:ext cx="1371600" cy="237744"/>
          </a:xfrm>
          <a:prstGeom prst="rect">
            <a:avLst/>
          </a:prstGeom>
          <a:noFill/>
          <a:ln/>
        </p:spPr>
        <p:txBody>
          <a:bodyPr wrap="square" lIns="0" tIns="0" rIns="0" bIns="0" rtlCol="0" anchor="ctr"/>
          <a:lstStyle/>
          <a:p>
            <a:pPr algn="r" indent="0" marL="0">
              <a:buNone/>
            </a:pPr>
            <a:r>
              <a:rPr lang="en-US" sz="1400" dirty="0">
                <a:solidFill>
                  <a:schemeClr val="tx1"/>
                </a:solidFill>
              </a:rPr>
              <a:t>REG_270</a:t>
            </a:r>
            <a:endParaRPr lang="en-US" sz="1400" dirty="0"/>
          </a:p>
        </p:txBody>
      </p:sp>
      <p:sp>
        <p:nvSpPr>
          <p:cNvPr id="15" name="Text 11"/>
          <p:cNvSpPr txBox="1"/>
          <p:nvPr/>
        </p:nvSpPr>
        <p:spPr>
          <a:xfrm>
            <a:off x="2700131" y="5755791"/>
            <a:ext cx="914400" cy="237744"/>
          </a:xfrm>
          <a:prstGeom prst="rect">
            <a:avLst/>
          </a:prstGeom>
          <a:noFill/>
          <a:ln/>
        </p:spPr>
        <p:txBody>
          <a:bodyPr wrap="square" lIns="0" tIns="0" rIns="0" bIns="0" rtlCol="0" anchor="ctr"/>
          <a:lstStyle/>
          <a:p>
            <a:pPr algn="l" indent="0" marL="0">
              <a:buNone/>
            </a:pPr>
            <a:r>
              <a:rPr lang="en-US" sz="1400" b="1" dirty="0">
                <a:solidFill>
                  <a:schemeClr val="tx1"/>
                </a:solidFill>
              </a:rPr>
              <a:t>434 GWh</a:t>
            </a:r>
            <a:endParaRPr lang="en-US" sz="1400" dirty="0"/>
          </a:p>
        </p:txBody>
      </p:sp>
      <p:sp>
        <p:nvSpPr>
          <p:cNvPr id="16" name="Text 12"/>
          <p:cNvSpPr txBox="1"/>
          <p:nvPr/>
        </p:nvSpPr>
        <p:spPr>
          <a:xfrm>
            <a:off x="4526280" y="5858256"/>
            <a:ext cx="1234440" cy="237744"/>
          </a:xfrm>
          <a:prstGeom prst="rect">
            <a:avLst/>
          </a:prstGeom>
          <a:noFill/>
          <a:ln/>
        </p:spPr>
        <p:txBody>
          <a:bodyPr wrap="square" lIns="0" tIns="0" rIns="0" bIns="0" rtlCol="0" anchor="ctr"/>
          <a:lstStyle/>
          <a:p>
            <a:pPr algn="ctr" indent="0" marL="0">
              <a:buNone/>
            </a:pPr>
            <a:r>
              <a:rPr lang="en-US" sz="1400" b="1" dirty="0">
                <a:solidFill>
                  <a:schemeClr val="tx2"/>
                </a:solidFill>
              </a:rPr>
              <a:t>4 → 4</a:t>
            </a:r>
            <a:endParaRPr lang="en-US" sz="1400" dirty="0"/>
          </a:p>
        </p:txBody>
      </p:sp>
      <p:sp>
        <p:nvSpPr>
          <p:cNvPr id="18" name="Text 14"/>
          <p:cNvSpPr txBox="1"/>
          <p:nvPr/>
        </p:nvSpPr>
        <p:spPr>
          <a:xfrm>
            <a:off x="3327730" y="4997552"/>
            <a:ext cx="914400" cy="237744"/>
          </a:xfrm>
          <a:prstGeom prst="rect">
            <a:avLst/>
          </a:prstGeom>
          <a:noFill/>
          <a:ln/>
        </p:spPr>
        <p:txBody>
          <a:bodyPr wrap="square" lIns="0" tIns="0" rIns="0" bIns="0" rtlCol="0" anchor="ctr"/>
          <a:lstStyle/>
          <a:p>
            <a:pPr algn="l" indent="0" marL="0">
              <a:buNone/>
            </a:pPr>
            <a:r>
              <a:rPr lang="en-US" sz="1400" dirty="0">
                <a:solidFill>
                  <a:schemeClr val="accent5"/>
                </a:solidFill>
              </a:rPr>
              <a:t>805 GWh</a:t>
            </a:r>
            <a:endParaRPr lang="en-US" sz="1400" dirty="0"/>
          </a:p>
        </p:txBody>
      </p:sp>
      <p:sp>
        <p:nvSpPr>
          <p:cNvPr id="21" name="Text 17"/>
          <p:cNvSpPr txBox="1"/>
          <p:nvPr/>
        </p:nvSpPr>
        <p:spPr>
          <a:xfrm>
            <a:off x="2854071" y="5479136"/>
            <a:ext cx="914400" cy="237744"/>
          </a:xfrm>
          <a:prstGeom prst="rect">
            <a:avLst/>
          </a:prstGeom>
          <a:noFill/>
          <a:ln/>
        </p:spPr>
        <p:txBody>
          <a:bodyPr wrap="square" lIns="0" tIns="0" rIns="0" bIns="0" rtlCol="0" anchor="ctr"/>
          <a:lstStyle/>
          <a:p>
            <a:pPr algn="l" indent="0" marL="0">
              <a:buNone/>
            </a:pPr>
            <a:r>
              <a:rPr lang="en-US" sz="1400" dirty="0">
                <a:solidFill>
                  <a:schemeClr val="accent5"/>
                </a:solidFill>
              </a:rPr>
              <a:t>525 GWh</a:t>
            </a:r>
            <a:endParaRPr lang="en-US" sz="1400" dirty="0"/>
          </a:p>
        </p:txBody>
      </p:sp>
      <p:sp>
        <p:nvSpPr>
          <p:cNvPr id="24" name="Text 20"/>
          <p:cNvSpPr txBox="1"/>
          <p:nvPr/>
        </p:nvSpPr>
        <p:spPr>
          <a:xfrm>
            <a:off x="2835462" y="5960720"/>
            <a:ext cx="914400" cy="237744"/>
          </a:xfrm>
          <a:prstGeom prst="rect">
            <a:avLst/>
          </a:prstGeom>
          <a:noFill/>
          <a:ln/>
        </p:spPr>
        <p:txBody>
          <a:bodyPr wrap="square" lIns="0" tIns="0" rIns="0" bIns="0" rtlCol="0" anchor="ctr"/>
          <a:lstStyle/>
          <a:p>
            <a:pPr algn="l" indent="0" marL="0">
              <a:buNone/>
            </a:pPr>
            <a:r>
              <a:rPr lang="en-US" sz="1400" dirty="0">
                <a:solidFill>
                  <a:schemeClr val="accent5"/>
                </a:solidFill>
              </a:rPr>
              <a:t>514 GWh</a:t>
            </a:r>
            <a:endParaRPr lang="en-US" sz="1400" dirty="0"/>
          </a:p>
        </p:txBody>
      </p:sp>
      <p:sp>
        <p:nvSpPr>
          <p:cNvPr id="25" name="rantai TEMUAN"/>
          <p:cNvSpPr/>
          <p:nvPr/>
        </p:nvSpPr>
        <p:spPr>
          <a:xfrm>
            <a:off x="6035040" y="1691640"/>
            <a:ext cx="5608015" cy="850392"/>
          </a:xfrm>
          <a:prstGeom prst="roundRect">
            <a:avLst>
              <a:gd name="adj" fmla="val 8602"/>
            </a:avLst>
          </a:prstGeom>
          <a:solidFill>
            <a:schemeClr val="tx2">
              <a:alpha val="9000"/>
            </a:schemeClr>
          </a:solidFill>
          <a:ln/>
        </p:spPr>
      </p:sp>
      <p:sp>
        <p:nvSpPr>
          <p:cNvPr id="26" name="label TEMUAN"/>
          <p:cNvSpPr/>
          <p:nvPr/>
        </p:nvSpPr>
        <p:spPr>
          <a:xfrm>
            <a:off x="6153912" y="1792224"/>
            <a:ext cx="1572768" cy="310896"/>
          </a:xfrm>
          <a:prstGeom prst="roundRect">
            <a:avLst>
              <a:gd name="adj" fmla="val 17647"/>
            </a:avLst>
          </a:prstGeom>
          <a:solidFill>
            <a:schemeClr val="tx2"/>
          </a:solidFill>
          <a:ln/>
        </p:spPr>
      </p:sp>
      <p:sp>
        <p:nvSpPr>
          <p:cNvPr id="27" name="Text 23"/>
          <p:cNvSpPr txBox="1"/>
          <p:nvPr/>
        </p:nvSpPr>
        <p:spPr>
          <a:xfrm>
            <a:off x="6153912" y="1792224"/>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TEMUAN</a:t>
            </a:r>
            <a:endParaRPr lang="en-US" sz="1400" dirty="0"/>
          </a:p>
        </p:txBody>
      </p:sp>
      <p:sp>
        <p:nvSpPr>
          <p:cNvPr id="28" name="Text 24"/>
          <p:cNvSpPr txBox="1"/>
          <p:nvPr/>
        </p:nvSpPr>
        <p:spPr>
          <a:xfrm>
            <a:off x="7845552" y="1783079"/>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SHAP: sumbangan listrik per rumah +75% di rumah besar vs kecil; lima zona dengan kenaikan persen tertinggi: +113% sampai +121%</a:t>
            </a:r>
            <a:endParaRPr lang="en-US" sz="1400" dirty="0"/>
          </a:p>
        </p:txBody>
      </p:sp>
      <p:sp>
        <p:nvSpPr>
          <p:cNvPr id="29" name="panah rantai"/>
          <p:cNvSpPr/>
          <p:nvPr/>
        </p:nvSpPr>
        <p:spPr>
          <a:xfrm flipV="1">
            <a:off x="6803136" y="2584704"/>
            <a:ext cx="274320" cy="109728"/>
          </a:xfrm>
          <a:prstGeom prst="triangle">
            <a:avLst/>
          </a:prstGeom>
          <a:solidFill>
            <a:schemeClr val="accent4"/>
          </a:solidFill>
          <a:ln/>
        </p:spPr>
      </p:sp>
      <p:sp>
        <p:nvSpPr>
          <p:cNvPr id="30" name="rantai INTERPRETASI"/>
          <p:cNvSpPr/>
          <p:nvPr/>
        </p:nvSpPr>
        <p:spPr>
          <a:xfrm>
            <a:off x="6035040" y="2737104"/>
            <a:ext cx="5608015" cy="1051560"/>
          </a:xfrm>
          <a:prstGeom prst="roundRect">
            <a:avLst>
              <a:gd name="adj" fmla="val 11429"/>
            </a:avLst>
          </a:prstGeom>
          <a:solidFill>
            <a:schemeClr val="accent3">
              <a:alpha val="9000"/>
            </a:schemeClr>
          </a:solidFill>
          <a:ln/>
        </p:spPr>
      </p:sp>
      <p:sp>
        <p:nvSpPr>
          <p:cNvPr id="31" name="label INTERPRETASI"/>
          <p:cNvSpPr/>
          <p:nvPr/>
        </p:nvSpPr>
        <p:spPr>
          <a:xfrm>
            <a:off x="6153912" y="2837687"/>
            <a:ext cx="1572768" cy="310896"/>
          </a:xfrm>
          <a:prstGeom prst="roundRect">
            <a:avLst>
              <a:gd name="adj" fmla="val 17647"/>
            </a:avLst>
          </a:prstGeom>
          <a:solidFill>
            <a:schemeClr val="accent3"/>
          </a:solidFill>
          <a:ln/>
        </p:spPr>
      </p:sp>
      <p:sp>
        <p:nvSpPr>
          <p:cNvPr id="32" name="Text 28"/>
          <p:cNvSpPr txBox="1"/>
          <p:nvPr/>
        </p:nvSpPr>
        <p:spPr>
          <a:xfrm>
            <a:off x="6153912" y="2837687"/>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INTERPRETASI</a:t>
            </a:r>
            <a:endParaRPr lang="en-US" sz="1400" dirty="0"/>
          </a:p>
        </p:txBody>
      </p:sp>
      <p:sp>
        <p:nvSpPr>
          <p:cNvPr id="33" name="Text 29"/>
          <p:cNvSpPr txBox="1"/>
          <p:nvPr/>
        </p:nvSpPr>
        <p:spPr>
          <a:xfrm>
            <a:off x="7845552" y="2828543"/>
            <a:ext cx="3706063" cy="905255"/>
          </a:xfrm>
          <a:prstGeom prst="rect">
            <a:avLst/>
          </a:prstGeom>
          <a:noFill/>
          <a:ln/>
        </p:spPr>
        <p:txBody>
          <a:bodyPr wrap="square" lIns="0" tIns="0" rIns="0" bIns="0" rtlCol="0" anchor="t"/>
          <a:lstStyle/>
          <a:p>
            <a:pPr algn="l" indent="0" marL="0">
              <a:buNone/>
            </a:pPr>
            <a:r>
              <a:rPr lang="en-US" sz="1400" dirty="0">
                <a:solidFill>
                  <a:schemeClr val="tx1"/>
                </a:solidFill>
              </a:rPr>
              <a:t>peringkat tambahan absolut stabil di kedua skenario COP (REG_263 1→1, REG_045 3→3, REG_270 4→4), sedangkan peringkat persen tidak (REG_290 1→47): titik awal menurut nilai absolut</a:t>
            </a:r>
            <a:endParaRPr lang="en-US" sz="1400" dirty="0"/>
          </a:p>
        </p:txBody>
      </p:sp>
      <p:sp>
        <p:nvSpPr>
          <p:cNvPr id="34" name="panah rantai"/>
          <p:cNvSpPr/>
          <p:nvPr/>
        </p:nvSpPr>
        <p:spPr>
          <a:xfrm flipV="1">
            <a:off x="6803136" y="3831335"/>
            <a:ext cx="274320" cy="109728"/>
          </a:xfrm>
          <a:prstGeom prst="triangle">
            <a:avLst/>
          </a:prstGeom>
          <a:solidFill>
            <a:schemeClr val="accent4"/>
          </a:solidFill>
          <a:ln/>
        </p:spPr>
      </p:sp>
      <p:sp>
        <p:nvSpPr>
          <p:cNvPr id="35" name="rantai REKOMENDASI"/>
          <p:cNvSpPr/>
          <p:nvPr/>
        </p:nvSpPr>
        <p:spPr>
          <a:xfrm>
            <a:off x="6035040" y="3983736"/>
            <a:ext cx="5608015" cy="640080"/>
          </a:xfrm>
          <a:prstGeom prst="roundRect">
            <a:avLst>
              <a:gd name="adj" fmla="val 11429"/>
            </a:avLst>
          </a:prstGeom>
          <a:solidFill>
            <a:schemeClr val="accent1">
              <a:alpha val="16000"/>
            </a:schemeClr>
          </a:solidFill>
          <a:ln/>
        </p:spPr>
      </p:sp>
      <p:sp>
        <p:nvSpPr>
          <p:cNvPr id="36" name="label REKOMENDASI"/>
          <p:cNvSpPr/>
          <p:nvPr/>
        </p:nvSpPr>
        <p:spPr>
          <a:xfrm>
            <a:off x="6153912" y="4084319"/>
            <a:ext cx="1572768" cy="310896"/>
          </a:xfrm>
          <a:prstGeom prst="roundRect">
            <a:avLst>
              <a:gd name="adj" fmla="val 17647"/>
            </a:avLst>
          </a:prstGeom>
          <a:solidFill>
            <a:schemeClr val="accent1"/>
          </a:solidFill>
          <a:ln/>
        </p:spPr>
      </p:sp>
      <p:sp>
        <p:nvSpPr>
          <p:cNvPr id="37" name="Text 33"/>
          <p:cNvSpPr txBox="1"/>
          <p:nvPr/>
        </p:nvSpPr>
        <p:spPr>
          <a:xfrm>
            <a:off x="6153912" y="4084319"/>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REKOMENDASI</a:t>
            </a:r>
            <a:endParaRPr lang="en-US" sz="1400" dirty="0"/>
          </a:p>
        </p:txBody>
      </p:sp>
      <p:sp>
        <p:nvSpPr>
          <p:cNvPr id="38" name="Text 34"/>
          <p:cNvSpPr txBox="1"/>
          <p:nvPr/>
        </p:nvSpPr>
        <p:spPr>
          <a:xfrm>
            <a:off x="7845552" y="4075176"/>
            <a:ext cx="3706063" cy="493775"/>
          </a:xfrm>
          <a:prstGeom prst="rect">
            <a:avLst/>
          </a:prstGeom>
          <a:noFill/>
          <a:ln/>
        </p:spPr>
        <p:txBody>
          <a:bodyPr wrap="square" lIns="0" tIns="0" rIns="0" bIns="0" rtlCol="0" anchor="t"/>
          <a:lstStyle/>
          <a:p>
            <a:pPr algn="l" indent="0" marL="0">
              <a:buNone/>
            </a:pPr>
            <a:r>
              <a:rPr lang="en-US" sz="1400" b="1" dirty="0">
                <a:solidFill>
                  <a:schemeClr val="tx1"/>
                </a:solidFill>
              </a:rPr>
              <a:t>gardu dinilai per zona sebelum subsidi; skrining energi tahunan, bukan bukti kapasitas</a:t>
            </a:r>
            <a:endParaRPr lang="en-US" sz="1400" dirty="0"/>
          </a:p>
        </p:txBody>
      </p:sp>
      <p:sp>
        <p:nvSpPr>
          <p:cNvPr id="39" name="panah rantai"/>
          <p:cNvSpPr/>
          <p:nvPr/>
        </p:nvSpPr>
        <p:spPr>
          <a:xfrm flipV="1">
            <a:off x="6803136" y="4666488"/>
            <a:ext cx="274320" cy="109728"/>
          </a:xfrm>
          <a:prstGeom prst="triangle">
            <a:avLst/>
          </a:prstGeom>
          <a:solidFill>
            <a:schemeClr val="accent4"/>
          </a:solidFill>
          <a:ln/>
        </p:spPr>
      </p:sp>
      <p:sp>
        <p:nvSpPr>
          <p:cNvPr id="40" name="rantai LANGKAH"/>
          <p:cNvSpPr/>
          <p:nvPr/>
        </p:nvSpPr>
        <p:spPr>
          <a:xfrm>
            <a:off x="6035040" y="4818888"/>
            <a:ext cx="5608015" cy="850392"/>
          </a:xfrm>
          <a:prstGeom prst="roundRect">
            <a:avLst>
              <a:gd name="adj" fmla="val 8602"/>
            </a:avLst>
          </a:prstGeom>
          <a:solidFill>
            <a:schemeClr val="accent2">
              <a:alpha val="9000"/>
            </a:schemeClr>
          </a:solidFill>
          <a:ln/>
        </p:spPr>
      </p:sp>
      <p:sp>
        <p:nvSpPr>
          <p:cNvPr id="41" name="label LANGKAH"/>
          <p:cNvSpPr/>
          <p:nvPr/>
        </p:nvSpPr>
        <p:spPr>
          <a:xfrm>
            <a:off x="6153912" y="4919471"/>
            <a:ext cx="1572768" cy="310896"/>
          </a:xfrm>
          <a:prstGeom prst="roundRect">
            <a:avLst>
              <a:gd name="adj" fmla="val 17647"/>
            </a:avLst>
          </a:prstGeom>
          <a:solidFill>
            <a:schemeClr val="accent2"/>
          </a:solidFill>
          <a:ln/>
        </p:spPr>
      </p:sp>
      <p:sp>
        <p:nvSpPr>
          <p:cNvPr id="42" name="Text 38"/>
          <p:cNvSpPr txBox="1"/>
          <p:nvPr/>
        </p:nvSpPr>
        <p:spPr>
          <a:xfrm>
            <a:off x="6153912" y="4919471"/>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LANGKAH</a:t>
            </a:r>
            <a:endParaRPr lang="en-US" sz="1400" dirty="0"/>
          </a:p>
        </p:txBody>
      </p:sp>
      <p:sp>
        <p:nvSpPr>
          <p:cNvPr id="43" name="Text 39"/>
          <p:cNvSpPr txBox="1"/>
          <p:nvPr/>
        </p:nvSpPr>
        <p:spPr>
          <a:xfrm>
            <a:off x="7845552" y="4910328"/>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operator menilai mulai REG_263, REG_045, REG_270 → penguatan bila perlu → subsidi bertahap</a:t>
            </a:r>
            <a:endParaRPr lang="en-US" sz="1400" dirty="0"/>
          </a:p>
        </p:txBody>
      </p:sp>
      <p:sp>
        <p:nvSpPr>
          <p:cNvPr id="44" name="ikon pelaksana"/>
          <p:cNvSpPr/>
          <p:nvPr/>
        </p:nvSpPr>
        <p:spPr>
          <a:xfrm>
            <a:off x="6035040" y="5760720"/>
            <a:ext cx="438912" cy="438912"/>
          </a:xfrm>
          <a:prstGeom prst="ellipse">
            <a:avLst/>
          </a:prstGeom>
          <a:solidFill>
            <a:schemeClr val="tx2"/>
          </a:solidFill>
          <a:ln/>
        </p:spPr>
      </p:sp>
      <p:pic>
        <p:nvPicPr>
          <p:cNvPr id="45" name="Image 1" descr="FaUserGroup">    </p:cNvPr>
          <p:cNvPicPr>
            <a:picLocks noChangeAspect="1"/>
          </p:cNvPicPr>
          <p:nvPr/>
        </p:nvPicPr>
        <p:blipFill>
          <a:blip r:embed="rId3"/>
          <a:stretch>
            <a:fillRect/>
          </a:stretch>
        </p:blipFill>
        <p:spPr>
          <a:xfrm>
            <a:off x="6144768" y="5870448"/>
            <a:ext cx="219456" cy="219456"/>
          </a:xfrm>
          <a:prstGeom prst="rect">
            <a:avLst/>
          </a:prstGeom>
        </p:spPr>
      </p:pic>
      <p:sp>
        <p:nvSpPr>
          <p:cNvPr id="46" name="pelaksana"/>
          <p:cNvSpPr txBox="1"/>
          <p:nvPr/>
        </p:nvSpPr>
        <p:spPr>
          <a:xfrm>
            <a:off x="6601968" y="5760720"/>
            <a:ext cx="5041087" cy="438912"/>
          </a:xfrm>
          <a:prstGeom prst="rect">
            <a:avLst/>
          </a:prstGeom>
          <a:noFill/>
          <a:ln/>
        </p:spPr>
        <p:txBody>
          <a:bodyPr wrap="square" lIns="0" tIns="0" rIns="0" bIns="0" rtlCol="0" anchor="ctr"/>
          <a:lstStyle/>
          <a:p>
            <a:pPr algn="l" indent="0" marL="0">
              <a:buNone/>
            </a:pPr>
            <a:r>
              <a:rPr lang="en-US" sz="1500" b="1" dirty="0">
                <a:solidFill>
                  <a:schemeClr val="tx2"/>
                </a:solidFill>
              </a:rPr>
              <a:t>Pelaksana: </a:t>
            </a:r>
            <a:pPr algn="l" indent="0" marL="0">
              <a:buNone/>
            </a:pPr>
            <a:r>
              <a:rPr lang="en-US" sz="1500" dirty="0">
                <a:solidFill>
                  <a:schemeClr val="tx1"/>
                </a:solidFill>
              </a:rPr>
              <a:t>operator jaringan distribusi dan pemerintah kota</a:t>
            </a:r>
            <a:endParaRPr lang="en-US" sz="1500" dirty="0"/>
          </a:p>
        </p:txBody>
      </p:sp>
      <p:sp>
        <p:nvSpPr>
          <p:cNvPr id="47" name="sel notebook"/>
          <p:cNvSpPr txBox="1"/>
          <p:nvPr/>
        </p:nvSpPr>
        <p:spPr>
          <a:xfrm>
            <a:off x="3383279" y="6400800"/>
            <a:ext cx="7680960" cy="274320"/>
          </a:xfrm>
          <a:prstGeom prst="rect">
            <a:avLst/>
          </a:prstGeom>
          <a:noFill/>
          <a:ln/>
        </p:spPr>
        <p:txBody>
          <a:bodyPr wrap="square" lIns="0" tIns="0" rIns="0" bIns="0" rtlCol="0" anchor="t"/>
          <a:lstStyle/>
          <a:p>
            <a:pPr algn="r" indent="0" marL="0">
              <a:buNone/>
            </a:pPr>
            <a:r>
              <a:rPr lang="en-US" sz="1200" dirty="0">
                <a:solidFill>
                  <a:schemeClr val="accent5"/>
                </a:solidFill>
              </a:rPr>
              <a:t>Sumber: notebook bagian 7.1 dan 7.3, In [32], [33], [35]; peringkat dan COP per iklim: skrip cek terpisah</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IV · KEBIJAKAN PUBLIK</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3: elektrifikasi kawasan bergas</a:t>
            </a:r>
            <a:br/>
            <a:pPr algn="l" indent="0" marL="0">
              <a:buNone/>
            </a:pPr>
            <a:r>
              <a:rPr lang="en-US" sz="2800" b="1" dirty="0">
                <a:solidFill>
                  <a:schemeClr val="tx2"/>
                </a:solidFill>
              </a:rPr>
              <a:t>dimulai sebagai pilot pompa panas di zona Q2</a:t>
            </a:r>
            <a:endParaRPr lang="en-US" sz="2800" dirty="0"/>
          </a:p>
        </p:txBody>
      </p:sp>
      <p:pic>
        <p:nvPicPr>
          <p:cNvPr id="4" name="Image 0" descr="Dependensi SHAP adopsi terhadap porsi gas jaringan, model penjelas: positif di bawah 40%, negatif di atas 80%">    </p:cNvPr>
          <p:cNvPicPr>
            <a:picLocks noChangeAspect="1"/>
          </p:cNvPicPr>
          <p:nvPr/>
        </p:nvPicPr>
        <p:blipFill>
          <a:blip r:embed="rId1"/>
          <a:stretch>
            <a:fillRect/>
          </a:stretch>
        </p:blipFill>
        <p:spPr>
          <a:xfrm>
            <a:off x="548640" y="1691640"/>
            <a:ext cx="5257800" cy="4343400"/>
          </a:xfrm>
          <a:prstGeom prst="rect">
            <a:avLst/>
          </a:prstGeom>
        </p:spPr>
      </p:pic>
      <p:sp>
        <p:nvSpPr>
          <p:cNvPr id="5" name="rantai TEMUAN"/>
          <p:cNvSpPr/>
          <p:nvPr/>
        </p:nvSpPr>
        <p:spPr>
          <a:xfrm>
            <a:off x="6035040" y="1691640"/>
            <a:ext cx="5608015" cy="850392"/>
          </a:xfrm>
          <a:prstGeom prst="roundRect">
            <a:avLst>
              <a:gd name="adj" fmla="val 8602"/>
            </a:avLst>
          </a:prstGeom>
          <a:solidFill>
            <a:schemeClr val="tx2">
              <a:alpha val="9000"/>
            </a:schemeClr>
          </a:solidFill>
          <a:ln/>
        </p:spPr>
      </p:sp>
      <p:sp>
        <p:nvSpPr>
          <p:cNvPr id="6" name="label TEMUAN"/>
          <p:cNvSpPr/>
          <p:nvPr/>
        </p:nvSpPr>
        <p:spPr>
          <a:xfrm>
            <a:off x="6153912" y="1792224"/>
            <a:ext cx="1572768" cy="310896"/>
          </a:xfrm>
          <a:prstGeom prst="roundRect">
            <a:avLst>
              <a:gd name="adj" fmla="val 17647"/>
            </a:avLst>
          </a:prstGeom>
          <a:solidFill>
            <a:schemeClr val="tx2"/>
          </a:solidFill>
          <a:ln/>
        </p:spPr>
      </p:sp>
      <p:sp>
        <p:nvSpPr>
          <p:cNvPr id="7" name="Text 4"/>
          <p:cNvSpPr txBox="1"/>
          <p:nvPr/>
        </p:nvSpPr>
        <p:spPr>
          <a:xfrm>
            <a:off x="6153912" y="1792224"/>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TEMUAN</a:t>
            </a:r>
            <a:endParaRPr lang="en-US" sz="1400" dirty="0"/>
          </a:p>
        </p:txBody>
      </p:sp>
      <p:sp>
        <p:nvSpPr>
          <p:cNvPr id="8" name="Text 5"/>
          <p:cNvSpPr txBox="1"/>
          <p:nvPr/>
        </p:nvSpPr>
        <p:spPr>
          <a:xfrm>
            <a:off x="7845552" y="1783079"/>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sumbangan SHAP adopsi turun saat gas jaringan naik; tingkat adopsi 9,46% (gas jaringan 60–80%) vs 2,73% (&gt;80%, 70% kawasan)</a:t>
            </a:r>
            <a:endParaRPr lang="en-US" sz="1400" dirty="0"/>
          </a:p>
        </p:txBody>
      </p:sp>
      <p:sp>
        <p:nvSpPr>
          <p:cNvPr id="9" name="panah rantai"/>
          <p:cNvSpPr/>
          <p:nvPr/>
        </p:nvSpPr>
        <p:spPr>
          <a:xfrm flipV="1">
            <a:off x="6803136" y="2578608"/>
            <a:ext cx="274320" cy="109728"/>
          </a:xfrm>
          <a:prstGeom prst="triangle">
            <a:avLst/>
          </a:prstGeom>
          <a:solidFill>
            <a:schemeClr val="accent4"/>
          </a:solidFill>
          <a:ln/>
        </p:spPr>
      </p:sp>
      <p:sp>
        <p:nvSpPr>
          <p:cNvPr id="10" name="rantai INTERPRETASI"/>
          <p:cNvSpPr/>
          <p:nvPr/>
        </p:nvSpPr>
        <p:spPr>
          <a:xfrm>
            <a:off x="6035040" y="2724912"/>
            <a:ext cx="5608015" cy="640080"/>
          </a:xfrm>
          <a:prstGeom prst="roundRect">
            <a:avLst>
              <a:gd name="adj" fmla="val 11429"/>
            </a:avLst>
          </a:prstGeom>
          <a:solidFill>
            <a:schemeClr val="accent3">
              <a:alpha val="9000"/>
            </a:schemeClr>
          </a:solidFill>
          <a:ln/>
        </p:spPr>
      </p:sp>
      <p:sp>
        <p:nvSpPr>
          <p:cNvPr id="11" name="label INTERPRETASI"/>
          <p:cNvSpPr/>
          <p:nvPr/>
        </p:nvSpPr>
        <p:spPr>
          <a:xfrm>
            <a:off x="6153912" y="2825495"/>
            <a:ext cx="1572768" cy="310896"/>
          </a:xfrm>
          <a:prstGeom prst="roundRect">
            <a:avLst>
              <a:gd name="adj" fmla="val 17647"/>
            </a:avLst>
          </a:prstGeom>
          <a:solidFill>
            <a:schemeClr val="accent3"/>
          </a:solidFill>
          <a:ln/>
        </p:spPr>
      </p:sp>
      <p:sp>
        <p:nvSpPr>
          <p:cNvPr id="12" name="Text 9"/>
          <p:cNvSpPr txBox="1"/>
          <p:nvPr/>
        </p:nvSpPr>
        <p:spPr>
          <a:xfrm>
            <a:off x="6153912" y="2825495"/>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INTERPRETASI</a:t>
            </a:r>
            <a:endParaRPr lang="en-US" sz="1400" dirty="0"/>
          </a:p>
        </p:txBody>
      </p:sp>
      <p:sp>
        <p:nvSpPr>
          <p:cNvPr id="13" name="Text 10"/>
          <p:cNvSpPr txBox="1"/>
          <p:nvPr/>
        </p:nvSpPr>
        <p:spPr>
          <a:xfrm>
            <a:off x="7845552" y="2816351"/>
            <a:ext cx="3706063" cy="493775"/>
          </a:xfrm>
          <a:prstGeom prst="rect">
            <a:avLst/>
          </a:prstGeom>
          <a:noFill/>
          <a:ln/>
        </p:spPr>
        <p:txBody>
          <a:bodyPr wrap="square" lIns="0" tIns="0" rIns="0" bIns="0" rtlCol="0" anchor="t"/>
          <a:lstStyle/>
          <a:p>
            <a:pPr algn="l" indent="0" marL="0">
              <a:buNone/>
            </a:pPr>
            <a:r>
              <a:rPr lang="en-US" sz="1400" dirty="0">
                <a:solidFill>
                  <a:schemeClr val="tx1"/>
                </a:solidFill>
              </a:rPr>
              <a:t>elektrifikasi kawasan bergas tertinggal; pola komposisi, bukan sebab-akibat</a:t>
            </a:r>
            <a:endParaRPr lang="en-US" sz="1400" dirty="0"/>
          </a:p>
        </p:txBody>
      </p:sp>
      <p:sp>
        <p:nvSpPr>
          <p:cNvPr id="14" name="panah rantai"/>
          <p:cNvSpPr/>
          <p:nvPr/>
        </p:nvSpPr>
        <p:spPr>
          <a:xfrm flipV="1">
            <a:off x="6803136" y="3401568"/>
            <a:ext cx="274320" cy="109728"/>
          </a:xfrm>
          <a:prstGeom prst="triangle">
            <a:avLst/>
          </a:prstGeom>
          <a:solidFill>
            <a:schemeClr val="accent4"/>
          </a:solidFill>
          <a:ln/>
        </p:spPr>
      </p:sp>
      <p:sp>
        <p:nvSpPr>
          <p:cNvPr id="15" name="rantai REKOMENDASI"/>
          <p:cNvSpPr/>
          <p:nvPr/>
        </p:nvSpPr>
        <p:spPr>
          <a:xfrm>
            <a:off x="6035040" y="3547872"/>
            <a:ext cx="5608015" cy="1298448"/>
          </a:xfrm>
          <a:prstGeom prst="roundRect">
            <a:avLst>
              <a:gd name="adj" fmla="val 8000"/>
            </a:avLst>
          </a:prstGeom>
          <a:solidFill>
            <a:schemeClr val="accent1">
              <a:alpha val="16000"/>
            </a:schemeClr>
          </a:solidFill>
          <a:ln/>
        </p:spPr>
      </p:sp>
      <p:sp>
        <p:nvSpPr>
          <p:cNvPr id="16" name="label REKOMENDASI"/>
          <p:cNvSpPr/>
          <p:nvPr/>
        </p:nvSpPr>
        <p:spPr>
          <a:xfrm>
            <a:off x="6153912" y="3648455"/>
            <a:ext cx="1572768" cy="310896"/>
          </a:xfrm>
          <a:prstGeom prst="roundRect">
            <a:avLst>
              <a:gd name="adj" fmla="val 17647"/>
            </a:avLst>
          </a:prstGeom>
          <a:solidFill>
            <a:schemeClr val="accent1"/>
          </a:solidFill>
          <a:ln/>
        </p:spPr>
      </p:sp>
      <p:sp>
        <p:nvSpPr>
          <p:cNvPr id="17" name="Text 14"/>
          <p:cNvSpPr txBox="1"/>
          <p:nvPr/>
        </p:nvSpPr>
        <p:spPr>
          <a:xfrm>
            <a:off x="6153912" y="3648455"/>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REKOMENDASI</a:t>
            </a:r>
            <a:endParaRPr lang="en-US" sz="1400" dirty="0"/>
          </a:p>
        </p:txBody>
      </p:sp>
      <p:sp>
        <p:nvSpPr>
          <p:cNvPr id="18" name="Text 15"/>
          <p:cNvSpPr txBox="1"/>
          <p:nvPr/>
        </p:nvSpPr>
        <p:spPr>
          <a:xfrm>
            <a:off x="7845552" y="3639311"/>
            <a:ext cx="3706063" cy="457200"/>
          </a:xfrm>
          <a:prstGeom prst="rect">
            <a:avLst/>
          </a:prstGeom>
          <a:noFill/>
          <a:ln/>
        </p:spPr>
        <p:txBody>
          <a:bodyPr wrap="square" lIns="0" tIns="0" rIns="0" bIns="0" rtlCol="0" anchor="t"/>
          <a:lstStyle/>
          <a:p>
            <a:pPr algn="l" indent="0" marL="0">
              <a:buNone/>
            </a:pPr>
            <a:r>
              <a:rPr lang="en-US" sz="1400" b="1" dirty="0">
                <a:solidFill>
                  <a:schemeClr val="tx1"/>
                </a:solidFill>
              </a:rPr>
              <a:t>pilot pompa panas + bantuan bongkar ketel lama di zona Q2, misalnya REG_033</a:t>
            </a:r>
            <a:endParaRPr lang="en-US" sz="1400" dirty="0"/>
          </a:p>
        </p:txBody>
      </p:sp>
      <p:sp>
        <p:nvSpPr>
          <p:cNvPr id="19" name="Text 16"/>
          <p:cNvSpPr txBox="1"/>
          <p:nvPr/>
        </p:nvSpPr>
        <p:spPr>
          <a:xfrm>
            <a:off x="7845552" y="4096512"/>
            <a:ext cx="3706063" cy="694944"/>
          </a:xfrm>
          <a:prstGeom prst="rect">
            <a:avLst/>
          </a:prstGeom>
          <a:noFill/>
          <a:ln/>
        </p:spPr>
        <p:txBody>
          <a:bodyPr wrap="square" lIns="0" tIns="0" rIns="0" bIns="0" rtlCol="0" anchor="t"/>
          <a:lstStyle/>
          <a:p>
            <a:pPr algn="l" indent="0" marL="0">
              <a:buNone/>
            </a:pPr>
            <a:r>
              <a:rPr lang="en-US" sz="1400" dirty="0">
                <a:solidFill>
                  <a:schemeClr val="accent5"/>
                </a:solidFill>
              </a:rPr>
              <a:t>Q2 dipilih: intensitas gas di atas median, kenaikan listrik tahunan (%) di bawah median</a:t>
            </a:r>
            <a:endParaRPr lang="en-US" sz="1400" dirty="0"/>
          </a:p>
          <a:p>
            <a:pPr algn="l" indent="0" marL="0">
              <a:buNone/>
            </a:pPr>
            <a:r>
              <a:rPr lang="en-US" sz="1400" dirty="0">
                <a:solidFill>
                  <a:schemeClr val="accent5"/>
                </a:solidFill>
              </a:rPr>
              <a:t>REG_033: gas jaringan 83,21%, adopsi 4,99%</a:t>
            </a:r>
            <a:endParaRPr lang="en-US" sz="1400" dirty="0"/>
          </a:p>
        </p:txBody>
      </p:sp>
      <p:sp>
        <p:nvSpPr>
          <p:cNvPr id="20" name="panah rantai"/>
          <p:cNvSpPr/>
          <p:nvPr/>
        </p:nvSpPr>
        <p:spPr>
          <a:xfrm flipV="1">
            <a:off x="6803136" y="4882896"/>
            <a:ext cx="274320" cy="109728"/>
          </a:xfrm>
          <a:prstGeom prst="triangle">
            <a:avLst/>
          </a:prstGeom>
          <a:solidFill>
            <a:schemeClr val="accent4"/>
          </a:solidFill>
          <a:ln/>
        </p:spPr>
      </p:sp>
      <p:sp>
        <p:nvSpPr>
          <p:cNvPr id="21" name="rantai LANGKAH"/>
          <p:cNvSpPr/>
          <p:nvPr/>
        </p:nvSpPr>
        <p:spPr>
          <a:xfrm>
            <a:off x="6035040" y="5029200"/>
            <a:ext cx="5608015" cy="640080"/>
          </a:xfrm>
          <a:prstGeom prst="roundRect">
            <a:avLst>
              <a:gd name="adj" fmla="val 8602"/>
            </a:avLst>
          </a:prstGeom>
          <a:solidFill>
            <a:schemeClr val="accent2">
              <a:alpha val="9000"/>
            </a:schemeClr>
          </a:solidFill>
          <a:ln/>
        </p:spPr>
      </p:sp>
      <p:sp>
        <p:nvSpPr>
          <p:cNvPr id="22" name="label LANGKAH"/>
          <p:cNvSpPr/>
          <p:nvPr/>
        </p:nvSpPr>
        <p:spPr>
          <a:xfrm>
            <a:off x="6153912" y="5129783"/>
            <a:ext cx="1572768" cy="310896"/>
          </a:xfrm>
          <a:prstGeom prst="roundRect">
            <a:avLst>
              <a:gd name="adj" fmla="val 17647"/>
            </a:avLst>
          </a:prstGeom>
          <a:solidFill>
            <a:schemeClr val="accent2"/>
          </a:solidFill>
          <a:ln/>
        </p:spPr>
      </p:sp>
      <p:sp>
        <p:nvSpPr>
          <p:cNvPr id="23" name="Text 20"/>
          <p:cNvSpPr txBox="1"/>
          <p:nvPr/>
        </p:nvSpPr>
        <p:spPr>
          <a:xfrm>
            <a:off x="6153912" y="5129783"/>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LANGKAH</a:t>
            </a:r>
            <a:endParaRPr lang="en-US" sz="1400" dirty="0"/>
          </a:p>
        </p:txBody>
      </p:sp>
      <p:sp>
        <p:nvSpPr>
          <p:cNvPr id="24" name="Text 21"/>
          <p:cNvSpPr txBox="1"/>
          <p:nvPr/>
        </p:nvSpPr>
        <p:spPr>
          <a:xfrm>
            <a:off x="7845552" y="5120640"/>
            <a:ext cx="3706063" cy="493775"/>
          </a:xfrm>
          <a:prstGeom prst="rect">
            <a:avLst/>
          </a:prstGeom>
          <a:noFill/>
          <a:ln/>
        </p:spPr>
        <p:txBody>
          <a:bodyPr wrap="square" lIns="0" tIns="0" rIns="0" bIns="0" rtlCol="0" anchor="t"/>
          <a:lstStyle/>
          <a:p>
            <a:pPr algn="l" indent="0" marL="0">
              <a:buNone/>
            </a:pPr>
            <a:r>
              <a:rPr lang="en-US" sz="1400" dirty="0">
                <a:solidFill>
                  <a:schemeClr val="tx1"/>
                </a:solidFill>
              </a:rPr>
              <a:t>cek gardu lokal → pilot dan audit energi dengan pembanding → ukur adopsi → perluas bila terukur</a:t>
            </a:r>
            <a:endParaRPr lang="en-US" sz="1400" dirty="0"/>
          </a:p>
        </p:txBody>
      </p:sp>
      <p:sp>
        <p:nvSpPr>
          <p:cNvPr id="25" name="ikon pelaksana"/>
          <p:cNvSpPr/>
          <p:nvPr/>
        </p:nvSpPr>
        <p:spPr>
          <a:xfrm>
            <a:off x="6035040" y="5760720"/>
            <a:ext cx="438912" cy="438912"/>
          </a:xfrm>
          <a:prstGeom prst="ellipse">
            <a:avLst/>
          </a:prstGeom>
          <a:solidFill>
            <a:schemeClr val="tx2"/>
          </a:solidFill>
          <a:ln/>
        </p:spPr>
      </p:sp>
      <p:pic>
        <p:nvPicPr>
          <p:cNvPr id="26" name="Image 1" descr="FaUserGroup">    </p:cNvPr>
          <p:cNvPicPr>
            <a:picLocks noChangeAspect="1"/>
          </p:cNvPicPr>
          <p:nvPr/>
        </p:nvPicPr>
        <p:blipFill>
          <a:blip r:embed="rId2"/>
          <a:stretch>
            <a:fillRect/>
          </a:stretch>
        </p:blipFill>
        <p:spPr>
          <a:xfrm>
            <a:off x="6144768" y="5870448"/>
            <a:ext cx="219456" cy="219456"/>
          </a:xfrm>
          <a:prstGeom prst="rect">
            <a:avLst/>
          </a:prstGeom>
        </p:spPr>
      </p:pic>
      <p:sp>
        <p:nvSpPr>
          <p:cNvPr id="27" name="pelaksana"/>
          <p:cNvSpPr txBox="1"/>
          <p:nvPr/>
        </p:nvSpPr>
        <p:spPr>
          <a:xfrm>
            <a:off x="6601968" y="5760720"/>
            <a:ext cx="5041087" cy="438912"/>
          </a:xfrm>
          <a:prstGeom prst="rect">
            <a:avLst/>
          </a:prstGeom>
          <a:noFill/>
          <a:ln/>
        </p:spPr>
        <p:txBody>
          <a:bodyPr wrap="square" lIns="0" tIns="0" rIns="0" bIns="0" rtlCol="0" anchor="ctr"/>
          <a:lstStyle/>
          <a:p>
            <a:pPr algn="l" indent="0" marL="0">
              <a:buNone/>
            </a:pPr>
            <a:r>
              <a:rPr lang="en-US" sz="1500" b="1" dirty="0">
                <a:solidFill>
                  <a:schemeClr val="tx2"/>
                </a:solidFill>
              </a:rPr>
              <a:t>Pelaksana: </a:t>
            </a:r>
            <a:pPr algn="l" indent="0" marL="0">
              <a:buNone/>
            </a:pPr>
            <a:r>
              <a:rPr lang="en-US" sz="1500" dirty="0">
                <a:solidFill>
                  <a:schemeClr val="tx1"/>
                </a:solidFill>
              </a:rPr>
              <a:t>pemerintah kota dan penyedia pompa panas</a:t>
            </a:r>
            <a:endParaRPr lang="en-US" sz="1500" dirty="0"/>
          </a:p>
        </p:txBody>
      </p:sp>
      <p:sp>
        <p:nvSpPr>
          <p:cNvPr id="28" name="sel notebook"/>
          <p:cNvSpPr txBox="1"/>
          <p:nvPr/>
        </p:nvSpPr>
        <p:spPr>
          <a:xfrm>
            <a:off x="3383279" y="6400800"/>
            <a:ext cx="7680960" cy="274320"/>
          </a:xfrm>
          <a:prstGeom prst="rect">
            <a:avLst/>
          </a:prstGeom>
          <a:noFill/>
          <a:ln/>
        </p:spPr>
        <p:txBody>
          <a:bodyPr wrap="square" lIns="0" tIns="0" rIns="0" bIns="0" rtlCol="0" anchor="t"/>
          <a:lstStyle/>
          <a:p>
            <a:pPr algn="r" indent="0" marL="0">
              <a:buNone/>
            </a:pPr>
            <a:r>
              <a:rPr lang="en-US" sz="1200" dirty="0">
                <a:solidFill>
                  <a:schemeClr val="accent5"/>
                </a:solidFill>
              </a:rPr>
              <a:t>Sumber: notebook bagian 7.1 dan 7.3, In [33]–[35]; adopsi per kelompok dan REG_033: skrip cek terpisah</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V · KETERBATASAN DAN PENUTUP</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ini dasar prioritas,</a:t>
            </a:r>
            <a:br/>
            <a:pPr algn="l" indent="0" marL="0">
              <a:buNone/>
            </a:pPr>
            <a:r>
              <a:rPr lang="en-US" sz="2800" b="1" dirty="0">
                <a:solidFill>
                  <a:schemeClr val="tx2"/>
                </a:solidFill>
              </a:rPr>
              <a:t>bukan pengganti audit teknis atau validasi lapangan</a:t>
            </a:r>
            <a:endParaRPr lang="en-US" sz="2800" dirty="0"/>
          </a:p>
        </p:txBody>
      </p:sp>
      <p:sp>
        <p:nvSpPr>
          <p:cNvPr id="4" name="belum diketahui 1"/>
          <p:cNvSpPr/>
          <p:nvPr/>
        </p:nvSpPr>
        <p:spPr>
          <a:xfrm>
            <a:off x="548640" y="1828800"/>
            <a:ext cx="3502152" cy="2103120"/>
          </a:xfrm>
          <a:prstGeom prst="roundRect">
            <a:avLst>
              <a:gd name="adj" fmla="val 4348"/>
            </a:avLst>
          </a:prstGeom>
          <a:solidFill>
            <a:schemeClr val="bg2"/>
          </a:solidFill>
          <a:ln/>
        </p:spPr>
      </p:sp>
      <p:sp>
        <p:nvSpPr>
          <p:cNvPr id="5" name="ikon FaGaugeHigh"/>
          <p:cNvSpPr/>
          <p:nvPr/>
        </p:nvSpPr>
        <p:spPr>
          <a:xfrm>
            <a:off x="768096" y="2048256"/>
            <a:ext cx="566928" cy="566928"/>
          </a:xfrm>
          <a:prstGeom prst="ellipse">
            <a:avLst/>
          </a:prstGeom>
          <a:solidFill>
            <a:schemeClr val="accent5"/>
          </a:solidFill>
          <a:ln/>
        </p:spPr>
      </p:sp>
      <p:pic>
        <p:nvPicPr>
          <p:cNvPr id="6" name="Image 0" descr="FaGaugeHigh">    </p:cNvPr>
          <p:cNvPicPr>
            <a:picLocks noChangeAspect="1"/>
          </p:cNvPicPr>
          <p:nvPr/>
        </p:nvPicPr>
        <p:blipFill>
          <a:blip r:embed="rId1"/>
          <a:stretch>
            <a:fillRect/>
          </a:stretch>
        </p:blipFill>
        <p:spPr>
          <a:xfrm>
            <a:off x="909828" y="2189988"/>
            <a:ext cx="283464" cy="283464"/>
          </a:xfrm>
          <a:prstGeom prst="rect">
            <a:avLst/>
          </a:prstGeom>
        </p:spPr>
      </p:pic>
      <p:sp>
        <p:nvSpPr>
          <p:cNvPr id="7" name="label BELUM DIKETAHUI"/>
          <p:cNvSpPr/>
          <p:nvPr/>
        </p:nvSpPr>
        <p:spPr>
          <a:xfrm>
            <a:off x="1463040" y="2176272"/>
            <a:ext cx="1912925" cy="310896"/>
          </a:xfrm>
          <a:prstGeom prst="roundRect">
            <a:avLst>
              <a:gd name="adj" fmla="val 17647"/>
            </a:avLst>
          </a:prstGeom>
          <a:solidFill>
            <a:schemeClr val="accent5"/>
          </a:solidFill>
          <a:ln/>
        </p:spPr>
      </p:sp>
      <p:sp>
        <p:nvSpPr>
          <p:cNvPr id="8" name="Text 5"/>
          <p:cNvSpPr txBox="1"/>
          <p:nvPr/>
        </p:nvSpPr>
        <p:spPr>
          <a:xfrm>
            <a:off x="1463040" y="2176272"/>
            <a:ext cx="1912925"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BELUM DIKETAHUI</a:t>
            </a:r>
            <a:endParaRPr lang="en-US" sz="1400" dirty="0"/>
          </a:p>
        </p:txBody>
      </p:sp>
      <p:sp>
        <p:nvSpPr>
          <p:cNvPr id="9" name="Text 6"/>
          <p:cNvSpPr txBox="1"/>
          <p:nvPr/>
        </p:nvSpPr>
        <p:spPr>
          <a:xfrm>
            <a:off x="822960" y="2788920"/>
            <a:ext cx="2953512" cy="1051560"/>
          </a:xfrm>
          <a:prstGeom prst="rect">
            <a:avLst/>
          </a:prstGeom>
          <a:noFill/>
          <a:ln/>
        </p:spPr>
        <p:txBody>
          <a:bodyPr wrap="square" lIns="0" tIns="0" rIns="0" bIns="0" rtlCol="0" anchor="t"/>
          <a:lstStyle/>
          <a:p>
            <a:pPr algn="l" indent="0" marL="0">
              <a:buNone/>
            </a:pPr>
            <a:r>
              <a:rPr lang="en-US" sz="1700" dirty="0">
                <a:solidFill>
                  <a:schemeClr val="tx1"/>
                </a:solidFill>
              </a:rPr>
              <a:t>Beban puncak dan kapasitas gardu terukur: tidak ada di data</a:t>
            </a:r>
            <a:endParaRPr lang="en-US" sz="1700" dirty="0"/>
          </a:p>
        </p:txBody>
      </p:sp>
      <p:sp>
        <p:nvSpPr>
          <p:cNvPr id="10" name="panah penanganan"/>
          <p:cNvSpPr/>
          <p:nvPr/>
        </p:nvSpPr>
        <p:spPr>
          <a:xfrm>
            <a:off x="2098548" y="4023360"/>
            <a:ext cx="402336" cy="411480"/>
          </a:xfrm>
          <a:prstGeom prst="downArrow">
            <a:avLst/>
          </a:prstGeom>
          <a:solidFill>
            <a:schemeClr val="accent4"/>
          </a:solidFill>
          <a:ln/>
        </p:spPr>
      </p:sp>
      <p:sp>
        <p:nvSpPr>
          <p:cNvPr id="11" name="penanganan 1"/>
          <p:cNvSpPr/>
          <p:nvPr/>
        </p:nvSpPr>
        <p:spPr>
          <a:xfrm>
            <a:off x="548640" y="4526280"/>
            <a:ext cx="3502152" cy="1463040"/>
          </a:xfrm>
          <a:prstGeom prst="roundRect">
            <a:avLst>
              <a:gd name="adj" fmla="val 6250"/>
            </a:avLst>
          </a:prstGeom>
          <a:solidFill>
            <a:schemeClr val="accent2">
              <a:alpha val="12000"/>
            </a:schemeClr>
          </a:solidFill>
          <a:ln/>
        </p:spPr>
      </p:sp>
      <p:sp>
        <p:nvSpPr>
          <p:cNvPr id="12" name="label PENANGANAN"/>
          <p:cNvSpPr/>
          <p:nvPr/>
        </p:nvSpPr>
        <p:spPr>
          <a:xfrm>
            <a:off x="822960" y="4681728"/>
            <a:ext cx="1324051" cy="310896"/>
          </a:xfrm>
          <a:prstGeom prst="roundRect">
            <a:avLst>
              <a:gd name="adj" fmla="val 17647"/>
            </a:avLst>
          </a:prstGeom>
          <a:solidFill>
            <a:schemeClr val="accent2"/>
          </a:solidFill>
          <a:ln/>
        </p:spPr>
      </p:sp>
      <p:sp>
        <p:nvSpPr>
          <p:cNvPr id="13" name="Text 10"/>
          <p:cNvSpPr txBox="1"/>
          <p:nvPr/>
        </p:nvSpPr>
        <p:spPr>
          <a:xfrm>
            <a:off x="822960" y="4681728"/>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PENANGANAN</a:t>
            </a:r>
            <a:endParaRPr lang="en-US" sz="1400" dirty="0"/>
          </a:p>
        </p:txBody>
      </p:sp>
      <p:sp>
        <p:nvSpPr>
          <p:cNvPr id="14" name="Text 11"/>
          <p:cNvSpPr txBox="1"/>
          <p:nvPr/>
        </p:nvSpPr>
        <p:spPr>
          <a:xfrm>
            <a:off x="822960" y="5084064"/>
            <a:ext cx="2953512" cy="822960"/>
          </a:xfrm>
          <a:prstGeom prst="rect">
            <a:avLst/>
          </a:prstGeom>
          <a:noFill/>
          <a:ln/>
        </p:spPr>
        <p:txBody>
          <a:bodyPr wrap="square" lIns="0" tIns="0" rIns="0" bIns="0" rtlCol="0" anchor="t"/>
          <a:lstStyle/>
          <a:p>
            <a:pPr algn="l" indent="0" marL="0">
              <a:buNone/>
            </a:pPr>
            <a:r>
              <a:rPr lang="en-US" sz="1800" b="1" dirty="0">
                <a:solidFill>
                  <a:schemeClr val="tx2"/>
                </a:solidFill>
              </a:rPr>
              <a:t>penilaian operator jaringan</a:t>
            </a:r>
            <a:endParaRPr lang="en-US" sz="1800" dirty="0"/>
          </a:p>
        </p:txBody>
      </p:sp>
      <p:sp>
        <p:nvSpPr>
          <p:cNvPr id="15" name="belum diketahui 2"/>
          <p:cNvSpPr/>
          <p:nvPr/>
        </p:nvSpPr>
        <p:spPr>
          <a:xfrm>
            <a:off x="4344772" y="1828800"/>
            <a:ext cx="3502152" cy="2103120"/>
          </a:xfrm>
          <a:prstGeom prst="roundRect">
            <a:avLst>
              <a:gd name="adj" fmla="val 4348"/>
            </a:avLst>
          </a:prstGeom>
          <a:solidFill>
            <a:schemeClr val="bg2"/>
          </a:solidFill>
          <a:ln/>
        </p:spPr>
      </p:sp>
      <p:sp>
        <p:nvSpPr>
          <p:cNvPr id="16" name="ikon FaCircleQuestion"/>
          <p:cNvSpPr/>
          <p:nvPr/>
        </p:nvSpPr>
        <p:spPr>
          <a:xfrm>
            <a:off x="4564228" y="2048256"/>
            <a:ext cx="566928" cy="566928"/>
          </a:xfrm>
          <a:prstGeom prst="ellipse">
            <a:avLst/>
          </a:prstGeom>
          <a:solidFill>
            <a:schemeClr val="accent5"/>
          </a:solidFill>
          <a:ln/>
        </p:spPr>
      </p:sp>
      <p:pic>
        <p:nvPicPr>
          <p:cNvPr id="17" name="Image 1" descr="FaCircleQuestion">    </p:cNvPr>
          <p:cNvPicPr>
            <a:picLocks noChangeAspect="1"/>
          </p:cNvPicPr>
          <p:nvPr/>
        </p:nvPicPr>
        <p:blipFill>
          <a:blip r:embed="rId2"/>
          <a:stretch>
            <a:fillRect/>
          </a:stretch>
        </p:blipFill>
        <p:spPr>
          <a:xfrm>
            <a:off x="4705960" y="2189988"/>
            <a:ext cx="283464" cy="283464"/>
          </a:xfrm>
          <a:prstGeom prst="rect">
            <a:avLst/>
          </a:prstGeom>
        </p:spPr>
      </p:pic>
      <p:sp>
        <p:nvSpPr>
          <p:cNvPr id="18" name="label BELUM DIKETAHUI"/>
          <p:cNvSpPr/>
          <p:nvPr/>
        </p:nvSpPr>
        <p:spPr>
          <a:xfrm>
            <a:off x="5259172" y="2176272"/>
            <a:ext cx="1912925" cy="310896"/>
          </a:xfrm>
          <a:prstGeom prst="roundRect">
            <a:avLst>
              <a:gd name="adj" fmla="val 17647"/>
            </a:avLst>
          </a:prstGeom>
          <a:solidFill>
            <a:schemeClr val="accent5"/>
          </a:solidFill>
          <a:ln/>
        </p:spPr>
      </p:sp>
      <p:sp>
        <p:nvSpPr>
          <p:cNvPr id="19" name="Text 15"/>
          <p:cNvSpPr txBox="1"/>
          <p:nvPr/>
        </p:nvSpPr>
        <p:spPr>
          <a:xfrm>
            <a:off x="5259172" y="2176272"/>
            <a:ext cx="1912925"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BELUM DIKETAHUI</a:t>
            </a:r>
            <a:endParaRPr lang="en-US" sz="1400" dirty="0"/>
          </a:p>
        </p:txBody>
      </p:sp>
      <p:sp>
        <p:nvSpPr>
          <p:cNvPr id="20" name="Text 16"/>
          <p:cNvSpPr txBox="1"/>
          <p:nvPr/>
        </p:nvSpPr>
        <p:spPr>
          <a:xfrm>
            <a:off x="4619092" y="2788920"/>
            <a:ext cx="2953512" cy="1051560"/>
          </a:xfrm>
          <a:prstGeom prst="rect">
            <a:avLst/>
          </a:prstGeom>
          <a:noFill/>
          <a:ln/>
        </p:spPr>
        <p:txBody>
          <a:bodyPr wrap="square" lIns="0" tIns="0" rIns="0" bIns="0" rtlCol="0" anchor="t"/>
          <a:lstStyle/>
          <a:p>
            <a:pPr algn="l" indent="0" marL="0">
              <a:buNone/>
            </a:pPr>
            <a:r>
              <a:rPr lang="en-US" sz="1700" dirty="0">
                <a:solidFill>
                  <a:schemeClr val="tx1"/>
                </a:solidFill>
              </a:rPr>
              <a:t>COP lokal, ambang median, dan makna kolom: belum pasti</a:t>
            </a:r>
            <a:endParaRPr lang="en-US" sz="1700" dirty="0"/>
          </a:p>
        </p:txBody>
      </p:sp>
      <p:sp>
        <p:nvSpPr>
          <p:cNvPr id="21" name="panah penanganan"/>
          <p:cNvSpPr/>
          <p:nvPr/>
        </p:nvSpPr>
        <p:spPr>
          <a:xfrm>
            <a:off x="5894680" y="4023360"/>
            <a:ext cx="402336" cy="411480"/>
          </a:xfrm>
          <a:prstGeom prst="downArrow">
            <a:avLst/>
          </a:prstGeom>
          <a:solidFill>
            <a:schemeClr val="accent4"/>
          </a:solidFill>
          <a:ln/>
        </p:spPr>
      </p:sp>
      <p:sp>
        <p:nvSpPr>
          <p:cNvPr id="22" name="penanganan 2"/>
          <p:cNvSpPr/>
          <p:nvPr/>
        </p:nvSpPr>
        <p:spPr>
          <a:xfrm>
            <a:off x="4344772" y="4526280"/>
            <a:ext cx="3502152" cy="1463040"/>
          </a:xfrm>
          <a:prstGeom prst="roundRect">
            <a:avLst>
              <a:gd name="adj" fmla="val 6250"/>
            </a:avLst>
          </a:prstGeom>
          <a:solidFill>
            <a:schemeClr val="accent2">
              <a:alpha val="12000"/>
            </a:schemeClr>
          </a:solidFill>
          <a:ln/>
        </p:spPr>
      </p:sp>
      <p:sp>
        <p:nvSpPr>
          <p:cNvPr id="23" name="label PENANGANAN"/>
          <p:cNvSpPr/>
          <p:nvPr/>
        </p:nvSpPr>
        <p:spPr>
          <a:xfrm>
            <a:off x="4619092" y="4681728"/>
            <a:ext cx="1324051" cy="310896"/>
          </a:xfrm>
          <a:prstGeom prst="roundRect">
            <a:avLst>
              <a:gd name="adj" fmla="val 17647"/>
            </a:avLst>
          </a:prstGeom>
          <a:solidFill>
            <a:schemeClr val="accent2"/>
          </a:solidFill>
          <a:ln/>
        </p:spPr>
      </p:sp>
      <p:sp>
        <p:nvSpPr>
          <p:cNvPr id="24" name="Text 20"/>
          <p:cNvSpPr txBox="1"/>
          <p:nvPr/>
        </p:nvSpPr>
        <p:spPr>
          <a:xfrm>
            <a:off x="4619092" y="4681728"/>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PENANGANAN</a:t>
            </a:r>
            <a:endParaRPr lang="en-US" sz="1400" dirty="0"/>
          </a:p>
        </p:txBody>
      </p:sp>
      <p:sp>
        <p:nvSpPr>
          <p:cNvPr id="25" name="Text 21"/>
          <p:cNvSpPr txBox="1"/>
          <p:nvPr/>
        </p:nvSpPr>
        <p:spPr>
          <a:xfrm>
            <a:off x="4619092" y="5084064"/>
            <a:ext cx="2953512" cy="822960"/>
          </a:xfrm>
          <a:prstGeom prst="rect">
            <a:avLst/>
          </a:prstGeom>
          <a:noFill/>
          <a:ln/>
        </p:spPr>
        <p:txBody>
          <a:bodyPr wrap="square" lIns="0" tIns="0" rIns="0" bIns="0" rtlCol="0" anchor="t"/>
          <a:lstStyle/>
          <a:p>
            <a:pPr algn="l" indent="0" marL="0">
              <a:buNone/>
            </a:pPr>
            <a:r>
              <a:rPr lang="en-US" sz="1800" b="1" dirty="0">
                <a:solidFill>
                  <a:schemeClr val="tx2"/>
                </a:solidFill>
              </a:rPr>
              <a:t>daftar zona = kandidat</a:t>
            </a:r>
            <a:endParaRPr lang="en-US" sz="1800" dirty="0"/>
          </a:p>
        </p:txBody>
      </p:sp>
      <p:sp>
        <p:nvSpPr>
          <p:cNvPr id="26" name="belum diketahui 3"/>
          <p:cNvSpPr/>
          <p:nvPr/>
        </p:nvSpPr>
        <p:spPr>
          <a:xfrm>
            <a:off x="8140903" y="1828800"/>
            <a:ext cx="3502152" cy="2103120"/>
          </a:xfrm>
          <a:prstGeom prst="roundRect">
            <a:avLst>
              <a:gd name="adj" fmla="val 4348"/>
            </a:avLst>
          </a:prstGeom>
          <a:solidFill>
            <a:schemeClr val="bg2"/>
          </a:solidFill>
          <a:ln/>
        </p:spPr>
      </p:sp>
      <p:sp>
        <p:nvSpPr>
          <p:cNvPr id="27" name="ikon FaFlask"/>
          <p:cNvSpPr/>
          <p:nvPr/>
        </p:nvSpPr>
        <p:spPr>
          <a:xfrm>
            <a:off x="8360359" y="2048256"/>
            <a:ext cx="566928" cy="566928"/>
          </a:xfrm>
          <a:prstGeom prst="ellipse">
            <a:avLst/>
          </a:prstGeom>
          <a:solidFill>
            <a:schemeClr val="accent5"/>
          </a:solidFill>
          <a:ln/>
        </p:spPr>
      </p:sp>
      <p:pic>
        <p:nvPicPr>
          <p:cNvPr id="28" name="Image 2" descr="FaFlask">    </p:cNvPr>
          <p:cNvPicPr>
            <a:picLocks noChangeAspect="1"/>
          </p:cNvPicPr>
          <p:nvPr/>
        </p:nvPicPr>
        <p:blipFill>
          <a:blip r:embed="rId3"/>
          <a:stretch>
            <a:fillRect/>
          </a:stretch>
        </p:blipFill>
        <p:spPr>
          <a:xfrm>
            <a:off x="8502091" y="2189988"/>
            <a:ext cx="283464" cy="283464"/>
          </a:xfrm>
          <a:prstGeom prst="rect">
            <a:avLst/>
          </a:prstGeom>
        </p:spPr>
      </p:pic>
      <p:sp>
        <p:nvSpPr>
          <p:cNvPr id="29" name="label BELUM DIKETAHUI"/>
          <p:cNvSpPr/>
          <p:nvPr/>
        </p:nvSpPr>
        <p:spPr>
          <a:xfrm>
            <a:off x="9055303" y="2176272"/>
            <a:ext cx="1912925" cy="310896"/>
          </a:xfrm>
          <a:prstGeom prst="roundRect">
            <a:avLst>
              <a:gd name="adj" fmla="val 17647"/>
            </a:avLst>
          </a:prstGeom>
          <a:solidFill>
            <a:schemeClr val="accent5"/>
          </a:solidFill>
          <a:ln/>
        </p:spPr>
      </p:sp>
      <p:sp>
        <p:nvSpPr>
          <p:cNvPr id="30" name="Text 25"/>
          <p:cNvSpPr txBox="1"/>
          <p:nvPr/>
        </p:nvSpPr>
        <p:spPr>
          <a:xfrm>
            <a:off x="9055303" y="2176272"/>
            <a:ext cx="1912925"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BELUM DIKETAHUI</a:t>
            </a:r>
            <a:endParaRPr lang="en-US" sz="1400" dirty="0"/>
          </a:p>
        </p:txBody>
      </p:sp>
      <p:sp>
        <p:nvSpPr>
          <p:cNvPr id="31" name="Text 26"/>
          <p:cNvSpPr txBox="1"/>
          <p:nvPr/>
        </p:nvSpPr>
        <p:spPr>
          <a:xfrm>
            <a:off x="8415223" y="2788920"/>
            <a:ext cx="2953512" cy="1051560"/>
          </a:xfrm>
          <a:prstGeom prst="rect">
            <a:avLst/>
          </a:prstGeom>
          <a:noFill/>
          <a:ln/>
        </p:spPr>
        <p:txBody>
          <a:bodyPr wrap="square" lIns="0" tIns="0" rIns="0" bIns="0" rtlCol="0" anchor="t"/>
          <a:lstStyle/>
          <a:p>
            <a:pPr algn="l" indent="0" marL="0">
              <a:buNone/>
            </a:pPr>
            <a:r>
              <a:rPr lang="en-US" sz="1700" dirty="0">
                <a:solidFill>
                  <a:schemeClr val="tx1"/>
                </a:solidFill>
              </a:rPr>
              <a:t>Efek sebab-akibat dan penghematan nyata: belum terukur</a:t>
            </a:r>
            <a:endParaRPr lang="en-US" sz="1700" dirty="0"/>
          </a:p>
        </p:txBody>
      </p:sp>
      <p:sp>
        <p:nvSpPr>
          <p:cNvPr id="32" name="panah penanganan"/>
          <p:cNvSpPr/>
          <p:nvPr/>
        </p:nvSpPr>
        <p:spPr>
          <a:xfrm>
            <a:off x="9690811" y="4023360"/>
            <a:ext cx="402336" cy="411480"/>
          </a:xfrm>
          <a:prstGeom prst="downArrow">
            <a:avLst/>
          </a:prstGeom>
          <a:solidFill>
            <a:schemeClr val="accent4"/>
          </a:solidFill>
          <a:ln/>
        </p:spPr>
      </p:sp>
      <p:sp>
        <p:nvSpPr>
          <p:cNvPr id="33" name="penanganan 3"/>
          <p:cNvSpPr/>
          <p:nvPr/>
        </p:nvSpPr>
        <p:spPr>
          <a:xfrm>
            <a:off x="8140903" y="4526280"/>
            <a:ext cx="3502152" cy="1463040"/>
          </a:xfrm>
          <a:prstGeom prst="roundRect">
            <a:avLst>
              <a:gd name="adj" fmla="val 6250"/>
            </a:avLst>
          </a:prstGeom>
          <a:solidFill>
            <a:schemeClr val="accent2">
              <a:alpha val="12000"/>
            </a:schemeClr>
          </a:solidFill>
          <a:ln/>
        </p:spPr>
      </p:sp>
      <p:sp>
        <p:nvSpPr>
          <p:cNvPr id="34" name="label PENANGANAN"/>
          <p:cNvSpPr/>
          <p:nvPr/>
        </p:nvSpPr>
        <p:spPr>
          <a:xfrm>
            <a:off x="8415223" y="4681728"/>
            <a:ext cx="1324051" cy="310896"/>
          </a:xfrm>
          <a:prstGeom prst="roundRect">
            <a:avLst>
              <a:gd name="adj" fmla="val 17647"/>
            </a:avLst>
          </a:prstGeom>
          <a:solidFill>
            <a:schemeClr val="accent2"/>
          </a:solidFill>
          <a:ln/>
        </p:spPr>
      </p:sp>
      <p:sp>
        <p:nvSpPr>
          <p:cNvPr id="35" name="Text 30"/>
          <p:cNvSpPr txBox="1"/>
          <p:nvPr/>
        </p:nvSpPr>
        <p:spPr>
          <a:xfrm>
            <a:off x="8415223" y="4681728"/>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PENANGANAN</a:t>
            </a:r>
            <a:endParaRPr lang="en-US" sz="1400" dirty="0"/>
          </a:p>
        </p:txBody>
      </p:sp>
      <p:sp>
        <p:nvSpPr>
          <p:cNvPr id="36" name="Text 31"/>
          <p:cNvSpPr txBox="1"/>
          <p:nvPr/>
        </p:nvSpPr>
        <p:spPr>
          <a:xfrm>
            <a:off x="8415223" y="5084064"/>
            <a:ext cx="2953512" cy="822960"/>
          </a:xfrm>
          <a:prstGeom prst="rect">
            <a:avLst/>
          </a:prstGeom>
          <a:noFill/>
          <a:ln/>
        </p:spPr>
        <p:txBody>
          <a:bodyPr wrap="square" lIns="0" tIns="0" rIns="0" bIns="0" rtlCol="0" anchor="t"/>
          <a:lstStyle/>
          <a:p>
            <a:pPr algn="l" indent="0" marL="0">
              <a:buNone/>
            </a:pPr>
            <a:r>
              <a:rPr lang="en-US" sz="1800" b="1" dirty="0">
                <a:solidFill>
                  <a:schemeClr val="tx2"/>
                </a:solidFill>
              </a:rPr>
              <a:t>audit energi dan pilot dengan zona pembanding</a:t>
            </a:r>
            <a:endParaRPr lang="en-US" sz="1800" dirty="0"/>
          </a:p>
        </p:txBody>
      </p:sp>
      <p:sp>
        <p:nvSpPr>
          <p:cNvPr id="37"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2, 7, 7.2, dan 7.3</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lIns="0" tIns="0" rIns="0" bIns="0" rtlCol="0" anchor="t"/>
          <a:lstStyle/>
          <a:p>
            <a:pPr algn="l" indent="0" marL="0">
              <a:buNone/>
            </a:pPr>
            <a:r>
              <a:rPr lang="en-US" sz="1400" b="1" dirty="0">
                <a:solidFill>
                  <a:schemeClr val="accent1"/>
                </a:solidFill>
              </a:rPr>
              <a:t>PENUTUP</a:t>
            </a:r>
            <a:endParaRPr lang="en-US" sz="1400" dirty="0"/>
          </a:p>
        </p:txBody>
      </p:sp>
      <p:sp>
        <p:nvSpPr>
          <p:cNvPr id="3" name="Text 0"/>
          <p:cNvSpPr/>
          <p:nvPr>
            <p:ph idx="101" type="title" hasCustomPrompt="1"/>
          </p:nvPr>
        </p:nvSpPr>
        <p:spPr>
          <a:xfrm>
            <a:off x="548640" y="804672"/>
            <a:ext cx="11094415" cy="1645920"/>
          </a:xfrm>
          <a:prstGeom prst="rect">
            <a:avLst/>
          </a:prstGeom>
          <a:noFill/>
          <a:ln/>
        </p:spPr>
        <p:txBody>
          <a:bodyPr wrap="square" lIns="0" tIns="0" rIns="0" bIns="0" rtlCol="0" anchor="t"/>
          <a:lstStyle/>
          <a:p>
            <a:pPr algn="l" indent="0" marL="0">
              <a:buNone/>
            </a:pPr>
            <a:r>
              <a:rPr lang="en-US" sz="3200" b="1" dirty="0">
                <a:solidFill>
                  <a:schemeClr val="bg1"/>
                </a:solidFill>
              </a:rPr>
              <a:t>Diurutkan per kuadran: </a:t>
            </a:r>
            <a:pPr algn="l" indent="0" marL="0">
              <a:buNone/>
            </a:pPr>
            <a:r>
              <a:rPr lang="en-US" sz="3200" b="1" i="1" dirty="0">
                <a:solidFill>
                  <a:schemeClr val="bg1"/>
                </a:solidFill>
              </a:rPr>
              <a:t>retrofit</a:t>
            </a:r>
            <a:pPr algn="l" indent="0" marL="0">
              <a:buNone/>
            </a:pPr>
            <a:r>
              <a:rPr lang="en-US" sz="3200" b="1" dirty="0">
                <a:solidFill>
                  <a:schemeClr val="bg1"/>
                </a:solidFill>
              </a:rPr>
              <a:t> dulu di Q1,</a:t>
            </a:r>
            <a:br/>
            <a:pPr algn="l" indent="0" marL="0">
              <a:buNone/>
            </a:pPr>
            <a:r>
              <a:rPr lang="en-US" sz="3200" b="1" dirty="0">
                <a:solidFill>
                  <a:schemeClr val="bg1"/>
                </a:solidFill>
              </a:rPr>
              <a:t>gardu dinilai di Q1 dan Q3,</a:t>
            </a:r>
            <a:br/>
            <a:pPr algn="l" indent="0" marL="0">
              <a:buNone/>
            </a:pPr>
            <a:r>
              <a:rPr lang="en-US" sz="3200" b="1" dirty="0">
                <a:solidFill>
                  <a:schemeClr val="bg1"/>
                </a:solidFill>
              </a:rPr>
              <a:t>pilot pompa panas di Q2</a:t>
            </a:r>
            <a:endParaRPr lang="en-US" sz="3200" dirty="0"/>
          </a:p>
        </p:txBody>
      </p:sp>
      <p:sp>
        <p:nvSpPr>
          <p:cNvPr id="4" name="kartu penutup 1"/>
          <p:cNvSpPr/>
          <p:nvPr/>
        </p:nvSpPr>
        <p:spPr>
          <a:xfrm>
            <a:off x="548640" y="2578608"/>
            <a:ext cx="3502152" cy="1417320"/>
          </a:xfrm>
          <a:prstGeom prst="roundRect">
            <a:avLst>
              <a:gd name="adj" fmla="val 7742"/>
            </a:avLst>
          </a:prstGeom>
          <a:solidFill>
            <a:schemeClr val="bg1">
              <a:alpha val="10000"/>
            </a:schemeClr>
          </a:solidFill>
          <a:ln/>
        </p:spPr>
      </p:sp>
      <p:sp>
        <p:nvSpPr>
          <p:cNvPr id="5" name="nomor 1"/>
          <p:cNvSpPr/>
          <p:nvPr/>
        </p:nvSpPr>
        <p:spPr>
          <a:xfrm>
            <a:off x="749808" y="2779776"/>
            <a:ext cx="512064" cy="512064"/>
          </a:xfrm>
          <a:prstGeom prst="ellipse">
            <a:avLst/>
          </a:prstGeom>
          <a:solidFill>
            <a:schemeClr val="accent1"/>
          </a:solidFill>
          <a:ln/>
        </p:spPr>
      </p:sp>
      <p:sp>
        <p:nvSpPr>
          <p:cNvPr id="6" name="Text 4"/>
          <p:cNvSpPr txBox="1"/>
          <p:nvPr/>
        </p:nvSpPr>
        <p:spPr>
          <a:xfrm>
            <a:off x="749808" y="2779776"/>
            <a:ext cx="512064" cy="512064"/>
          </a:xfrm>
          <a:prstGeom prst="rect">
            <a:avLst/>
          </a:prstGeom>
          <a:noFill/>
          <a:ln/>
        </p:spPr>
        <p:txBody>
          <a:bodyPr wrap="square" lIns="0" tIns="0" rIns="0" bIns="0" rtlCol="0" anchor="ctr"/>
          <a:lstStyle/>
          <a:p>
            <a:pPr algn="ctr" indent="0" marL="0">
              <a:buNone/>
            </a:pPr>
            <a:r>
              <a:rPr lang="en-US" sz="1900" b="1" dirty="0">
                <a:solidFill>
                  <a:schemeClr val="bg1"/>
                </a:solidFill>
              </a:rPr>
              <a:t>1</a:t>
            </a:r>
            <a:endParaRPr lang="en-US" sz="1900" dirty="0"/>
          </a:p>
        </p:txBody>
      </p:sp>
      <p:sp>
        <p:nvSpPr>
          <p:cNvPr id="7" name="Text 5"/>
          <p:cNvSpPr txBox="1"/>
          <p:nvPr/>
        </p:nvSpPr>
        <p:spPr>
          <a:xfrm>
            <a:off x="1389888" y="2743200"/>
            <a:ext cx="2569464" cy="603504"/>
          </a:xfrm>
          <a:prstGeom prst="rect">
            <a:avLst/>
          </a:prstGeom>
          <a:noFill/>
          <a:ln/>
        </p:spPr>
        <p:txBody>
          <a:bodyPr wrap="square" lIns="0" tIns="0" rIns="0" bIns="0" rtlCol="0" anchor="ctr"/>
          <a:lstStyle/>
          <a:p>
            <a:pPr algn="l" indent="0" marL="0">
              <a:buNone/>
            </a:pPr>
            <a:r>
              <a:rPr lang="en-US" sz="2000" b="1" i="1" dirty="0">
                <a:solidFill>
                  <a:schemeClr val="bg1"/>
                </a:solidFill>
              </a:rPr>
              <a:t>Retrofit</a:t>
            </a:r>
            <a:pPr algn="l" indent="0" marL="0">
              <a:buNone/>
            </a:pPr>
            <a:r>
              <a:rPr lang="en-US" sz="2000" b="1" dirty="0">
                <a:solidFill>
                  <a:schemeClr val="bg1"/>
                </a:solidFill>
              </a:rPr>
              <a:t> di Q1</a:t>
            </a:r>
            <a:endParaRPr lang="en-US" sz="2000" dirty="0"/>
          </a:p>
        </p:txBody>
      </p:sp>
      <p:sp>
        <p:nvSpPr>
          <p:cNvPr id="8" name="titik trilema"/>
          <p:cNvSpPr/>
          <p:nvPr/>
        </p:nvSpPr>
        <p:spPr>
          <a:xfrm>
            <a:off x="868680" y="3557016"/>
            <a:ext cx="182880" cy="182880"/>
          </a:xfrm>
          <a:prstGeom prst="ellipse">
            <a:avLst/>
          </a:prstGeom>
          <a:solidFill>
            <a:schemeClr val="accent1"/>
          </a:solidFill>
          <a:ln w="12700">
            <a:solidFill>
              <a:schemeClr val="bg1"/>
            </a:solidFill>
            <a:prstDash val="solid"/>
          </a:ln>
        </p:spPr>
      </p:sp>
      <p:sp>
        <p:nvSpPr>
          <p:cNvPr id="9" name="titik trilema"/>
          <p:cNvSpPr/>
          <p:nvPr/>
        </p:nvSpPr>
        <p:spPr>
          <a:xfrm>
            <a:off x="1106424" y="3557016"/>
            <a:ext cx="182880" cy="182880"/>
          </a:xfrm>
          <a:prstGeom prst="ellipse">
            <a:avLst/>
          </a:prstGeom>
          <a:solidFill>
            <a:schemeClr val="accent3"/>
          </a:solidFill>
          <a:ln w="12700">
            <a:solidFill>
              <a:schemeClr val="bg1"/>
            </a:solidFill>
            <a:prstDash val="solid"/>
          </a:ln>
        </p:spPr>
      </p:sp>
      <p:sp>
        <p:nvSpPr>
          <p:cNvPr id="10" name="Text 8"/>
          <p:cNvSpPr txBox="1"/>
          <p:nvPr/>
        </p:nvSpPr>
        <p:spPr>
          <a:xfrm>
            <a:off x="1389888" y="3447288"/>
            <a:ext cx="2743200" cy="402336"/>
          </a:xfrm>
          <a:prstGeom prst="rect">
            <a:avLst/>
          </a:prstGeom>
          <a:noFill/>
          <a:ln/>
        </p:spPr>
        <p:txBody>
          <a:bodyPr wrap="square" lIns="0" tIns="0" rIns="0" bIns="0" rtlCol="0" anchor="ctr"/>
          <a:lstStyle/>
          <a:p>
            <a:pPr algn="l" indent="0" marL="0">
              <a:buNone/>
            </a:pPr>
            <a:r>
              <a:rPr lang="en-US" sz="1600" dirty="0">
                <a:solidFill>
                  <a:schemeClr val="accent4"/>
                </a:solidFill>
              </a:rPr>
              <a:t>biaya dan emisi</a:t>
            </a:r>
            <a:endParaRPr lang="en-US" sz="1600" dirty="0"/>
          </a:p>
        </p:txBody>
      </p:sp>
      <p:sp>
        <p:nvSpPr>
          <p:cNvPr id="11" name="kartu penutup 2"/>
          <p:cNvSpPr/>
          <p:nvPr/>
        </p:nvSpPr>
        <p:spPr>
          <a:xfrm>
            <a:off x="4344772" y="2578608"/>
            <a:ext cx="3502152" cy="1417320"/>
          </a:xfrm>
          <a:prstGeom prst="roundRect">
            <a:avLst>
              <a:gd name="adj" fmla="val 7742"/>
            </a:avLst>
          </a:prstGeom>
          <a:solidFill>
            <a:schemeClr val="bg1">
              <a:alpha val="10000"/>
            </a:schemeClr>
          </a:solidFill>
          <a:ln/>
        </p:spPr>
      </p:sp>
      <p:sp>
        <p:nvSpPr>
          <p:cNvPr id="12" name="nomor 2"/>
          <p:cNvSpPr/>
          <p:nvPr/>
        </p:nvSpPr>
        <p:spPr>
          <a:xfrm>
            <a:off x="4545940" y="2779776"/>
            <a:ext cx="512064" cy="512064"/>
          </a:xfrm>
          <a:prstGeom prst="ellipse">
            <a:avLst/>
          </a:prstGeom>
          <a:solidFill>
            <a:schemeClr val="bg1"/>
          </a:solidFill>
          <a:ln/>
        </p:spPr>
      </p:sp>
      <p:sp>
        <p:nvSpPr>
          <p:cNvPr id="13" name="Text 11"/>
          <p:cNvSpPr txBox="1"/>
          <p:nvPr/>
        </p:nvSpPr>
        <p:spPr>
          <a:xfrm>
            <a:off x="4545940" y="2779776"/>
            <a:ext cx="512064" cy="512064"/>
          </a:xfrm>
          <a:prstGeom prst="rect">
            <a:avLst/>
          </a:prstGeom>
          <a:noFill/>
          <a:ln/>
        </p:spPr>
        <p:txBody>
          <a:bodyPr wrap="square" lIns="0" tIns="0" rIns="0" bIns="0" rtlCol="0" anchor="ctr"/>
          <a:lstStyle/>
          <a:p>
            <a:pPr algn="ctr" indent="0" marL="0">
              <a:buNone/>
            </a:pPr>
            <a:r>
              <a:rPr lang="en-US" sz="1900" b="1" dirty="0">
                <a:solidFill>
                  <a:schemeClr val="tx2"/>
                </a:solidFill>
              </a:rPr>
              <a:t>2</a:t>
            </a:r>
            <a:endParaRPr lang="en-US" sz="1900" dirty="0"/>
          </a:p>
        </p:txBody>
      </p:sp>
      <p:sp>
        <p:nvSpPr>
          <p:cNvPr id="14" name="Text 12"/>
          <p:cNvSpPr txBox="1"/>
          <p:nvPr/>
        </p:nvSpPr>
        <p:spPr>
          <a:xfrm>
            <a:off x="5186020" y="2743200"/>
            <a:ext cx="2569464" cy="603504"/>
          </a:xfrm>
          <a:prstGeom prst="rect">
            <a:avLst/>
          </a:prstGeom>
          <a:noFill/>
          <a:ln/>
        </p:spPr>
        <p:txBody>
          <a:bodyPr wrap="square" lIns="0" tIns="0" rIns="0" bIns="0" rtlCol="0" anchor="ctr"/>
          <a:lstStyle/>
          <a:p>
            <a:pPr algn="l" indent="0" marL="0">
              <a:buNone/>
            </a:pPr>
            <a:r>
              <a:rPr lang="en-US" sz="2000" b="1" dirty="0">
                <a:solidFill>
                  <a:schemeClr val="bg1"/>
                </a:solidFill>
              </a:rPr>
              <a:t>Gardu di Q1 dan Q3</a:t>
            </a:r>
            <a:endParaRPr lang="en-US" sz="2000" dirty="0"/>
          </a:p>
        </p:txBody>
      </p:sp>
      <p:sp>
        <p:nvSpPr>
          <p:cNvPr id="15" name="titik trilema"/>
          <p:cNvSpPr/>
          <p:nvPr/>
        </p:nvSpPr>
        <p:spPr>
          <a:xfrm>
            <a:off x="4664812" y="3557016"/>
            <a:ext cx="182880" cy="182880"/>
          </a:xfrm>
          <a:prstGeom prst="ellipse">
            <a:avLst/>
          </a:prstGeom>
          <a:solidFill>
            <a:schemeClr val="accent2"/>
          </a:solidFill>
          <a:ln w="12700">
            <a:solidFill>
              <a:schemeClr val="bg1"/>
            </a:solidFill>
            <a:prstDash val="solid"/>
          </a:ln>
        </p:spPr>
      </p:sp>
      <p:sp>
        <p:nvSpPr>
          <p:cNvPr id="16" name="Text 14"/>
          <p:cNvSpPr txBox="1"/>
          <p:nvPr/>
        </p:nvSpPr>
        <p:spPr>
          <a:xfrm>
            <a:off x="4948276" y="3447288"/>
            <a:ext cx="2743200" cy="402336"/>
          </a:xfrm>
          <a:prstGeom prst="rect">
            <a:avLst/>
          </a:prstGeom>
          <a:noFill/>
          <a:ln/>
        </p:spPr>
        <p:txBody>
          <a:bodyPr wrap="square" lIns="0" tIns="0" rIns="0" bIns="0" rtlCol="0" anchor="ctr"/>
          <a:lstStyle/>
          <a:p>
            <a:pPr algn="l" indent="0" marL="0">
              <a:buNone/>
            </a:pPr>
            <a:r>
              <a:rPr lang="en-US" sz="1600" dirty="0">
                <a:solidFill>
                  <a:schemeClr val="accent4"/>
                </a:solidFill>
              </a:rPr>
              <a:t>keandalan jaringan</a:t>
            </a:r>
            <a:endParaRPr lang="en-US" sz="1600" dirty="0"/>
          </a:p>
        </p:txBody>
      </p:sp>
      <p:sp>
        <p:nvSpPr>
          <p:cNvPr id="17" name="kartu penutup 3"/>
          <p:cNvSpPr/>
          <p:nvPr/>
        </p:nvSpPr>
        <p:spPr>
          <a:xfrm>
            <a:off x="8140903" y="2578608"/>
            <a:ext cx="3502152" cy="1417320"/>
          </a:xfrm>
          <a:prstGeom prst="roundRect">
            <a:avLst>
              <a:gd name="adj" fmla="val 7742"/>
            </a:avLst>
          </a:prstGeom>
          <a:solidFill>
            <a:schemeClr val="bg1">
              <a:alpha val="10000"/>
            </a:schemeClr>
          </a:solidFill>
          <a:ln/>
        </p:spPr>
      </p:sp>
      <p:sp>
        <p:nvSpPr>
          <p:cNvPr id="18" name="nomor 3"/>
          <p:cNvSpPr/>
          <p:nvPr/>
        </p:nvSpPr>
        <p:spPr>
          <a:xfrm>
            <a:off x="8342071" y="2779776"/>
            <a:ext cx="512064" cy="512064"/>
          </a:xfrm>
          <a:prstGeom prst="ellipse">
            <a:avLst/>
          </a:prstGeom>
          <a:solidFill>
            <a:schemeClr val="accent2"/>
          </a:solidFill>
          <a:ln/>
        </p:spPr>
      </p:sp>
      <p:sp>
        <p:nvSpPr>
          <p:cNvPr id="19" name="Text 17"/>
          <p:cNvSpPr txBox="1"/>
          <p:nvPr/>
        </p:nvSpPr>
        <p:spPr>
          <a:xfrm>
            <a:off x="8342071" y="2779776"/>
            <a:ext cx="512064" cy="512064"/>
          </a:xfrm>
          <a:prstGeom prst="rect">
            <a:avLst/>
          </a:prstGeom>
          <a:noFill/>
          <a:ln/>
        </p:spPr>
        <p:txBody>
          <a:bodyPr wrap="square" lIns="0" tIns="0" rIns="0" bIns="0" rtlCol="0" anchor="ctr"/>
          <a:lstStyle/>
          <a:p>
            <a:pPr algn="ctr" indent="0" marL="0">
              <a:buNone/>
            </a:pPr>
            <a:r>
              <a:rPr lang="en-US" sz="1900" b="1" dirty="0">
                <a:solidFill>
                  <a:schemeClr val="bg1"/>
                </a:solidFill>
              </a:rPr>
              <a:t>3</a:t>
            </a:r>
            <a:endParaRPr lang="en-US" sz="1900" dirty="0"/>
          </a:p>
        </p:txBody>
      </p:sp>
      <p:sp>
        <p:nvSpPr>
          <p:cNvPr id="20" name="Text 18"/>
          <p:cNvSpPr txBox="1"/>
          <p:nvPr/>
        </p:nvSpPr>
        <p:spPr>
          <a:xfrm>
            <a:off x="8982151" y="2743200"/>
            <a:ext cx="2569464" cy="603504"/>
          </a:xfrm>
          <a:prstGeom prst="rect">
            <a:avLst/>
          </a:prstGeom>
          <a:noFill/>
          <a:ln/>
        </p:spPr>
        <p:txBody>
          <a:bodyPr wrap="square" lIns="0" tIns="0" rIns="0" bIns="0" rtlCol="0" anchor="ctr"/>
          <a:lstStyle/>
          <a:p>
            <a:pPr algn="l" indent="0" marL="0">
              <a:buNone/>
            </a:pPr>
            <a:r>
              <a:rPr lang="en-US" sz="2000" b="1" dirty="0">
                <a:solidFill>
                  <a:schemeClr val="bg1"/>
                </a:solidFill>
              </a:rPr>
              <a:t>Pilot di Q2</a:t>
            </a:r>
            <a:endParaRPr lang="en-US" sz="2000" dirty="0"/>
          </a:p>
        </p:txBody>
      </p:sp>
      <p:sp>
        <p:nvSpPr>
          <p:cNvPr id="21" name="titik trilema"/>
          <p:cNvSpPr/>
          <p:nvPr/>
        </p:nvSpPr>
        <p:spPr>
          <a:xfrm>
            <a:off x="8460943" y="3557016"/>
            <a:ext cx="182880" cy="182880"/>
          </a:xfrm>
          <a:prstGeom prst="ellipse">
            <a:avLst/>
          </a:prstGeom>
          <a:solidFill>
            <a:schemeClr val="accent1"/>
          </a:solidFill>
          <a:ln w="12700">
            <a:solidFill>
              <a:schemeClr val="bg1"/>
            </a:solidFill>
            <a:prstDash val="solid"/>
          </a:ln>
        </p:spPr>
      </p:sp>
      <p:sp>
        <p:nvSpPr>
          <p:cNvPr id="22" name="titik trilema"/>
          <p:cNvSpPr/>
          <p:nvPr/>
        </p:nvSpPr>
        <p:spPr>
          <a:xfrm>
            <a:off x="8698687" y="3557016"/>
            <a:ext cx="182880" cy="182880"/>
          </a:xfrm>
          <a:prstGeom prst="ellipse">
            <a:avLst/>
          </a:prstGeom>
          <a:solidFill>
            <a:schemeClr val="accent2"/>
          </a:solidFill>
          <a:ln w="12700">
            <a:solidFill>
              <a:schemeClr val="bg1"/>
            </a:solidFill>
            <a:prstDash val="solid"/>
          </a:ln>
        </p:spPr>
      </p:sp>
      <p:sp>
        <p:nvSpPr>
          <p:cNvPr id="23" name="Text 21"/>
          <p:cNvSpPr txBox="1"/>
          <p:nvPr/>
        </p:nvSpPr>
        <p:spPr>
          <a:xfrm>
            <a:off x="8982151" y="3447288"/>
            <a:ext cx="2743200" cy="402336"/>
          </a:xfrm>
          <a:prstGeom prst="rect">
            <a:avLst/>
          </a:prstGeom>
          <a:noFill/>
          <a:ln/>
        </p:spPr>
        <p:txBody>
          <a:bodyPr wrap="square" lIns="0" tIns="0" rIns="0" bIns="0" rtlCol="0" anchor="ctr"/>
          <a:lstStyle/>
          <a:p>
            <a:pPr algn="l" indent="0" marL="0">
              <a:buNone/>
            </a:pPr>
            <a:r>
              <a:rPr lang="en-US" sz="1600" dirty="0">
                <a:solidFill>
                  <a:schemeClr val="accent4"/>
                </a:solidFill>
              </a:rPr>
              <a:t>transisi terukur</a:t>
            </a:r>
            <a:endParaRPr lang="en-US" sz="1600" dirty="0"/>
          </a:p>
        </p:txBody>
      </p:sp>
      <p:sp>
        <p:nvSpPr>
          <p:cNvPr id="24" name="Text 22"/>
          <p:cNvSpPr txBox="1"/>
          <p:nvPr/>
        </p:nvSpPr>
        <p:spPr>
          <a:xfrm>
            <a:off x="548640" y="4224528"/>
            <a:ext cx="3657600" cy="365760"/>
          </a:xfrm>
          <a:prstGeom prst="rect">
            <a:avLst/>
          </a:prstGeom>
          <a:noFill/>
          <a:ln/>
        </p:spPr>
        <p:txBody>
          <a:bodyPr wrap="square" lIns="0" tIns="0" rIns="0" bIns="0" rtlCol="0" anchor="t"/>
          <a:lstStyle/>
          <a:p>
            <a:pPr algn="l" indent="0" marL="0">
              <a:buNone/>
            </a:pPr>
            <a:r>
              <a:rPr lang="en-US" sz="1600" b="1" dirty="0">
                <a:solidFill>
                  <a:schemeClr val="accent1"/>
                </a:solidFill>
              </a:rPr>
              <a:t>Langkah berikutnya</a:t>
            </a:r>
            <a:endParaRPr lang="en-US" sz="1600" dirty="0"/>
          </a:p>
        </p:txBody>
      </p:sp>
      <p:sp>
        <p:nvSpPr>
          <p:cNvPr id="25" name="langkah berikutnya R1"/>
          <p:cNvSpPr/>
          <p:nvPr/>
        </p:nvSpPr>
        <p:spPr>
          <a:xfrm>
            <a:off x="548640" y="4645152"/>
            <a:ext cx="3502152" cy="777240"/>
          </a:xfrm>
          <a:prstGeom prst="roundRect">
            <a:avLst>
              <a:gd name="adj" fmla="val 11765"/>
            </a:avLst>
          </a:prstGeom>
          <a:ln w="12700">
            <a:solidFill>
              <a:schemeClr val="accent4"/>
            </a:solidFill>
            <a:prstDash val="solid"/>
          </a:ln>
        </p:spPr>
      </p:sp>
      <p:sp>
        <p:nvSpPr>
          <p:cNvPr id="26" name="Text 24"/>
          <p:cNvSpPr txBox="1"/>
          <p:nvPr/>
        </p:nvSpPr>
        <p:spPr>
          <a:xfrm>
            <a:off x="731520" y="4645152"/>
            <a:ext cx="3136392" cy="777240"/>
          </a:xfrm>
          <a:prstGeom prst="rect">
            <a:avLst/>
          </a:prstGeom>
          <a:noFill/>
          <a:ln/>
        </p:spPr>
        <p:txBody>
          <a:bodyPr wrap="square" lIns="0" tIns="0" rIns="0" bIns="0" rtlCol="0" anchor="ctr"/>
          <a:lstStyle/>
          <a:p>
            <a:pPr algn="l" indent="0" marL="0">
              <a:buNone/>
            </a:pPr>
            <a:r>
              <a:rPr lang="en-US" sz="1600" dirty="0">
                <a:solidFill>
                  <a:schemeClr val="bg1"/>
                </a:solidFill>
              </a:rPr>
              <a:t>audit energi di zona kandidat Q1</a:t>
            </a:r>
            <a:endParaRPr lang="en-US" sz="1600" dirty="0"/>
          </a:p>
        </p:txBody>
      </p:sp>
      <p:sp>
        <p:nvSpPr>
          <p:cNvPr id="27" name="langkah berikutnya R2"/>
          <p:cNvSpPr/>
          <p:nvPr/>
        </p:nvSpPr>
        <p:spPr>
          <a:xfrm>
            <a:off x="4344772" y="4645152"/>
            <a:ext cx="3502152" cy="777240"/>
          </a:xfrm>
          <a:prstGeom prst="roundRect">
            <a:avLst>
              <a:gd name="adj" fmla="val 11765"/>
            </a:avLst>
          </a:prstGeom>
          <a:ln w="12700">
            <a:solidFill>
              <a:schemeClr val="accent4"/>
            </a:solidFill>
            <a:prstDash val="solid"/>
          </a:ln>
        </p:spPr>
      </p:sp>
      <p:sp>
        <p:nvSpPr>
          <p:cNvPr id="28" name="Text 26"/>
          <p:cNvSpPr txBox="1"/>
          <p:nvPr/>
        </p:nvSpPr>
        <p:spPr>
          <a:xfrm>
            <a:off x="4527652" y="4645152"/>
            <a:ext cx="3136392" cy="777240"/>
          </a:xfrm>
          <a:prstGeom prst="rect">
            <a:avLst/>
          </a:prstGeom>
          <a:noFill/>
          <a:ln/>
        </p:spPr>
        <p:txBody>
          <a:bodyPr wrap="square" lIns="0" tIns="0" rIns="0" bIns="0" rtlCol="0" anchor="ctr"/>
          <a:lstStyle/>
          <a:p>
            <a:pPr algn="l" indent="0" marL="0">
              <a:buNone/>
            </a:pPr>
            <a:r>
              <a:rPr lang="en-US" sz="1600" dirty="0">
                <a:solidFill>
                  <a:schemeClr val="bg1"/>
                </a:solidFill>
              </a:rPr>
              <a:t>data beban puncak dan gardu dari operator</a:t>
            </a:r>
            <a:endParaRPr lang="en-US" sz="1600" dirty="0"/>
          </a:p>
        </p:txBody>
      </p:sp>
      <p:sp>
        <p:nvSpPr>
          <p:cNvPr id="29" name="langkah berikutnya R3"/>
          <p:cNvSpPr/>
          <p:nvPr/>
        </p:nvSpPr>
        <p:spPr>
          <a:xfrm>
            <a:off x="8140903" y="4645152"/>
            <a:ext cx="3502152" cy="777240"/>
          </a:xfrm>
          <a:prstGeom prst="roundRect">
            <a:avLst>
              <a:gd name="adj" fmla="val 11765"/>
            </a:avLst>
          </a:prstGeom>
          <a:ln w="12700">
            <a:solidFill>
              <a:schemeClr val="accent4"/>
            </a:solidFill>
            <a:prstDash val="solid"/>
          </a:ln>
        </p:spPr>
      </p:sp>
      <p:sp>
        <p:nvSpPr>
          <p:cNvPr id="30" name="Text 28"/>
          <p:cNvSpPr txBox="1"/>
          <p:nvPr/>
        </p:nvSpPr>
        <p:spPr>
          <a:xfrm>
            <a:off x="8323783" y="4645152"/>
            <a:ext cx="3136392" cy="777240"/>
          </a:xfrm>
          <a:prstGeom prst="rect">
            <a:avLst/>
          </a:prstGeom>
          <a:noFill/>
          <a:ln/>
        </p:spPr>
        <p:txBody>
          <a:bodyPr wrap="square" lIns="0" tIns="0" rIns="0" bIns="0" rtlCol="0" anchor="ctr"/>
          <a:lstStyle/>
          <a:p>
            <a:pPr algn="l" indent="0" marL="0">
              <a:buNone/>
            </a:pPr>
            <a:r>
              <a:rPr lang="en-US" sz="1600" dirty="0">
                <a:solidFill>
                  <a:schemeClr val="bg1"/>
                </a:solidFill>
              </a:rPr>
              <a:t>satu pilot Q2 dengan zona pembanding</a:t>
            </a:r>
            <a:endParaRPr lang="en-US" sz="1600" dirty="0"/>
          </a:p>
        </p:txBody>
      </p:sp>
      <p:sp>
        <p:nvSpPr>
          <p:cNvPr id="31" name="Text 29"/>
          <p:cNvSpPr txBox="1"/>
          <p:nvPr/>
        </p:nvSpPr>
        <p:spPr>
          <a:xfrm>
            <a:off x="548640" y="5669280"/>
            <a:ext cx="5486400" cy="548640"/>
          </a:xfrm>
          <a:prstGeom prst="rect">
            <a:avLst/>
          </a:prstGeom>
          <a:noFill/>
          <a:ln/>
        </p:spPr>
        <p:txBody>
          <a:bodyPr wrap="square" lIns="0" tIns="0" rIns="0" bIns="0" rtlCol="0" anchor="ctr"/>
          <a:lstStyle/>
          <a:p>
            <a:pPr algn="l" indent="0" marL="0">
              <a:buNone/>
            </a:pPr>
            <a:r>
              <a:rPr lang="en-US" sz="2800" b="1" dirty="0">
                <a:solidFill>
                  <a:schemeClr val="bg1"/>
                </a:solidFill>
              </a:rPr>
              <a:t>Terima kasih</a:t>
            </a:r>
            <a:endParaRPr lang="en-US" sz="2800" dirty="0"/>
          </a:p>
        </p:txBody>
      </p:sp>
      <p:sp>
        <p:nvSpPr>
          <p:cNvPr id="32"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4"/>
                </a:solidFill>
              </a:rPr>
              <a:t>Notebook: bagian 7.3</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C1</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Bobot adaptif A2xM2xp2 tidak memburukkan</a:t>
            </a:r>
            <a:br/>
            <a:pPr algn="l" indent="0" marL="0">
              <a:buNone/>
            </a:pPr>
            <a:r>
              <a:rPr lang="en-US" sz="2600" b="1" dirty="0">
                <a:solidFill>
                  <a:schemeClr val="tx2"/>
                </a:solidFill>
              </a:rPr>
              <a:t>kolom mana pun pada skor jujur</a:t>
            </a:r>
            <a:endParaRPr lang="en-US" sz="2600" dirty="0"/>
          </a:p>
        </p:txBody>
      </p:sp>
      <p:sp>
        <p:nvSpPr>
          <p:cNvPr id="5" name="Text 2"/>
          <p:cNvSpPr txBox="1"/>
          <p:nvPr/>
        </p:nvSpPr>
        <p:spPr>
          <a:xfrm>
            <a:off x="548640" y="1691640"/>
            <a:ext cx="5577840" cy="1783080"/>
          </a:xfrm>
          <a:prstGeom prst="rect">
            <a:avLst/>
          </a:prstGeom>
          <a:noFill/>
          <a:ln/>
        </p:spPr>
        <p:txBody>
          <a:bodyPr wrap="square" lIns="0" tIns="0" rIns="0" bIns="0" rtlCol="0" anchor="t"/>
          <a:lstStyle/>
          <a:p>
            <a:pPr algn="l" marL="190500" indent="-190500">
              <a:spcAft>
                <a:spcPts val="600"/>
              </a:spcAft>
              <a:buSzPct val="100000"/>
              <a:buChar char="•"/>
            </a:pPr>
            <a:r>
              <a:rPr lang="en-US" sz="1500" dirty="0">
                <a:solidFill>
                  <a:schemeClr val="tx1"/>
                </a:solidFill>
              </a:rPr>
              <a:t>Bobot berubah halus menurut peringkat luas (A), jumlah meter (M), dan prediksi global (p)</a:t>
            </a:r>
            <a:endParaRPr lang="en-US" sz="1500" dirty="0"/>
          </a:p>
          <a:p>
            <a:pPr algn="l" marL="190500" indent="-190500">
              <a:spcAft>
                <a:spcPts val="600"/>
              </a:spcAft>
              <a:buSzPct val="100000"/>
              <a:buChar char="•"/>
            </a:pPr>
            <a:r>
              <a:rPr lang="en-US" sz="1500" dirty="0">
                <a:solidFill>
                  <a:schemeClr val="tx1"/>
                </a:solidFill>
              </a:rPr>
              <a:t>2 × 2 × 2 = 8 bobot pojok per model, NNLS (bobot tak negatif)</a:t>
            </a:r>
            <a:endParaRPr lang="en-US" sz="1500" dirty="0"/>
          </a:p>
          <a:p>
            <a:pPr algn="l" marL="190500" indent="-190500">
              <a:spcAft>
                <a:spcPts val="600"/>
              </a:spcAft>
              <a:buSzPct val="100000"/>
              <a:buChar char="•"/>
            </a:pPr>
            <a:r>
              <a:rPr lang="en-US" sz="1500" dirty="0">
                <a:solidFill>
                  <a:schemeClr val="tx1"/>
                </a:solidFill>
              </a:rPr>
              <a:t>224 bobot gas, 224 EUI, 104 listrik untuk 429.303 baris</a:t>
            </a:r>
            <a:endParaRPr lang="en-US" sz="1500" dirty="0"/>
          </a:p>
        </p:txBody>
      </p:sp>
      <p:sp>
        <p:nvSpPr>
          <p:cNvPr id="6" name="Text 3"/>
          <p:cNvSpPr txBox="1"/>
          <p:nvPr/>
        </p:nvSpPr>
        <p:spPr>
          <a:xfrm>
            <a:off x="548640" y="3611880"/>
            <a:ext cx="5577840" cy="274320"/>
          </a:xfrm>
          <a:prstGeom prst="rect">
            <a:avLst/>
          </a:prstGeom>
          <a:noFill/>
          <a:ln/>
        </p:spPr>
        <p:txBody>
          <a:bodyPr wrap="square" lIns="0" tIns="0" rIns="0" bIns="0" rtlCol="0" anchor="t"/>
          <a:lstStyle/>
          <a:p>
            <a:pPr algn="l" indent="0" marL="0">
              <a:buNone/>
            </a:pPr>
            <a:r>
              <a:rPr lang="en-US" sz="1400" b="1" dirty="0">
                <a:solidFill>
                  <a:schemeClr val="tx2"/>
                </a:solidFill>
              </a:rPr>
              <a:t>Skor jujur: bobot di-</a:t>
            </a:r>
            <a:pPr algn="l" indent="0" marL="0">
              <a:buNone/>
            </a:pPr>
            <a:r>
              <a:rPr lang="en-US" sz="1400" b="1" i="1" dirty="0">
                <a:solidFill>
                  <a:schemeClr val="tx2"/>
                </a:solidFill>
              </a:rPr>
              <a:t>fit</a:t>
            </a:r>
            <a:pPr algn="l" indent="0" marL="0">
              <a:buNone/>
            </a:pPr>
            <a:r>
              <a:rPr lang="en-US" sz="1400" b="1" dirty="0">
                <a:solidFill>
                  <a:schemeClr val="tx2"/>
                </a:solidFill>
              </a:rPr>
              <a:t> ulang per </a:t>
            </a:r>
            <a:pPr algn="l" indent="0" marL="0">
              <a:buNone/>
            </a:pPr>
            <a:r>
              <a:rPr lang="en-US" sz="1400" b="1" i="1" dirty="0">
                <a:solidFill>
                  <a:schemeClr val="tx2"/>
                </a:solidFill>
              </a:rPr>
              <a:t>fold</a:t>
            </a:r>
            <a:pPr algn="l" indent="0" marL="0">
              <a:buNone/>
            </a:pPr>
            <a:r>
              <a:rPr lang="en-US" sz="1400" b="1" dirty="0">
                <a:solidFill>
                  <a:schemeClr val="tx2"/>
                </a:solidFill>
              </a:rPr>
              <a:t> luar (RMSE/σ)</a:t>
            </a:r>
            <a:endParaRPr lang="en-US" sz="1400" dirty="0"/>
          </a:p>
        </p:txBody>
      </p:sp>
      <p:graphicFrame>
        <p:nvGraphicFramePr>
          <p:cNvPr id="15" name="tabel skor jujur"/>
          <p:cNvGraphicFramePr>
            <a:graphicFrameLocks noGrp="1"/>
          </p:cNvGraphicFramePr>
          <p:nvPr>
            <p:extLst>
              <p:ext uri="{D42A27DB-BD31-4B8C-83A1-F6EECF244321}">
                <p14:modId xmlns:p14="http://schemas.microsoft.com/office/powerpoint/2010/main" val="1579011935"/>
              </p:ext>
            </p:extLst>
          </p:nvPr>
        </p:nvGraphicFramePr>
        <p:xfrm>
          <a:off x="548640" y="3931920"/>
          <a:ext cx="5577840" cy="914400"/>
        </p:xfrm>
        <a:graphic>
          <a:graphicData uri="http://schemas.openxmlformats.org/drawingml/2006/table">
            <a:tbl>
              <a:tblPr/>
              <a:tblGrid>
                <a:gridCol w="1463040"/>
                <a:gridCol w="1371600"/>
                <a:gridCol w="1371600"/>
                <a:gridCol w="1371600"/>
              </a:tblGrid>
              <a:tr h="384048">
                <a:tc>
                  <a:txBody>
                    <a:bodyPr/>
                    <a:lstStyle/>
                    <a:p>
                      <a:pPr algn="l" indent="0" marL="0">
                        <a:buNone/>
                      </a:pPr>
                      <a:r>
                        <a:rPr lang="en-US" sz="1500" b="1" dirty="0">
                          <a:solidFill>
                            <a:srgbClr val="FFFFFF"/>
                          </a:solidFill>
                        </a:rPr>
                        <a:t>Kolom</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Global</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Adaptif</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Selisih</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500" dirty="0">
                          <a:solidFill>
                            <a:srgbClr val="1F2933"/>
                          </a:solidFill>
                        </a:rPr>
                        <a:t>Gas</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0,24494</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0,24480</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−0,000146</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1F2933"/>
                          </a:solidFill>
                        </a:rPr>
                        <a:t>EUI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b="1" dirty="0">
                          <a:solidFill>
                            <a:srgbClr val="1F2933"/>
                          </a:solidFill>
                        </a:rPr>
                        <a:t>0,65023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b="1" dirty="0">
                          <a:solidFill>
                            <a:srgbClr val="1F2933"/>
                          </a:solidFill>
                        </a:rPr>
                        <a:t>0,64978</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b="1" dirty="0">
                          <a:solidFill>
                            <a:srgbClr val="1F2933"/>
                          </a:solidFill>
                        </a:rPr>
                        <a:t>−0,000453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500" dirty="0">
                          <a:solidFill>
                            <a:srgbClr val="1F2933"/>
                          </a:solidFill>
                        </a:rPr>
                        <a:t>Listrik</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0,31587</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0,31585</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−0,000027</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pic>
        <p:nvPicPr>
          <p:cNvPr id="8" name="Image 0" descr="Basis dua simpul bobot adaptif">    </p:cNvPr>
          <p:cNvPicPr>
            <a:picLocks noChangeAspect="1"/>
          </p:cNvPicPr>
          <p:nvPr/>
        </p:nvPicPr>
        <p:blipFill>
          <a:blip r:embed="rId1"/>
          <a:stretch>
            <a:fillRect/>
          </a:stretch>
        </p:blipFill>
        <p:spPr>
          <a:xfrm>
            <a:off x="6400800" y="1691640"/>
            <a:ext cx="5257800" cy="2743200"/>
          </a:xfrm>
          <a:prstGeom prst="rect">
            <a:avLst/>
          </a:prstGeom>
        </p:spPr>
      </p:pic>
      <p:sp>
        <p:nvSpPr>
          <p:cNvPr id="9" name="Text 4"/>
          <p:cNvSpPr txBox="1"/>
          <p:nvPr/>
        </p:nvSpPr>
        <p:spPr>
          <a:xfrm>
            <a:off x="6400800" y="4617720"/>
            <a:ext cx="5239512" cy="1371600"/>
          </a:xfrm>
          <a:prstGeom prst="rect">
            <a:avLst/>
          </a:prstGeom>
          <a:noFill/>
          <a:ln/>
        </p:spPr>
        <p:txBody>
          <a:bodyPr wrap="square" lIns="0" tIns="0" rIns="0" bIns="0" rtlCol="0" anchor="t"/>
          <a:lstStyle/>
          <a:p>
            <a:pPr algn="l" marL="190500" indent="-190500">
              <a:spcAft>
                <a:spcPts val="600"/>
              </a:spcAft>
              <a:buSzPct val="100000"/>
              <a:buChar char="•"/>
            </a:pPr>
            <a:r>
              <a:rPr lang="en-US" sz="1500" dirty="0">
                <a:solidFill>
                  <a:schemeClr val="tx1"/>
                </a:solidFill>
              </a:rPr>
              <a:t>Rata-rata lima target −0,000125; tidak ada kolom memburuk</a:t>
            </a:r>
            <a:endParaRPr lang="en-US" sz="1500" dirty="0"/>
          </a:p>
          <a:p>
            <a:pPr algn="l" marL="190500" indent="-190500">
              <a:spcAft>
                <a:spcPts val="600"/>
              </a:spcAft>
              <a:buSzPct val="100000"/>
              <a:buChar char="•"/>
            </a:pPr>
            <a:r>
              <a:rPr lang="en-US" sz="1500" i="1" dirty="0">
                <a:solidFill>
                  <a:schemeClr val="tx1"/>
                </a:solidFill>
              </a:rPr>
              <a:t>Leaderboard</a:t>
            </a:r>
            <a:pPr algn="l" indent="0" marL="0">
              <a:buNone/>
            </a:pPr>
            <a:r>
              <a:rPr lang="en-US" sz="1500" dirty="0">
                <a:solidFill>
                  <a:schemeClr val="tx1"/>
                </a:solidFill>
              </a:rPr>
              <a:t> publik 0,24934 menjadi 0,24925; tiga simpul tidak lebih baik</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C2</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Koreksi galat tetangga menggeser prediksi</a:t>
            </a:r>
            <a:br/>
            <a:pPr algn="l" indent="0" marL="0">
              <a:buNone/>
            </a:pPr>
            <a:r>
              <a:rPr lang="en-US" sz="2600" b="1" dirty="0">
                <a:solidFill>
                  <a:schemeClr val="tx2"/>
                </a:solidFill>
              </a:rPr>
              <a:t>sebagian kecil mengikuti galat tetangga</a:t>
            </a:r>
            <a:endParaRPr lang="en-US" sz="2600" dirty="0"/>
          </a:p>
        </p:txBody>
      </p:sp>
      <p:sp>
        <p:nvSpPr>
          <p:cNvPr id="5" name="langkah koreksi 1"/>
          <p:cNvSpPr/>
          <p:nvPr/>
        </p:nvSpPr>
        <p:spPr>
          <a:xfrm>
            <a:off x="548640" y="1691640"/>
            <a:ext cx="5486400" cy="731520"/>
          </a:xfrm>
          <a:prstGeom prst="roundRect">
            <a:avLst>
              <a:gd name="adj" fmla="val 10000"/>
            </a:avLst>
          </a:prstGeom>
          <a:solidFill>
            <a:schemeClr val="bg2"/>
          </a:solidFill>
          <a:ln/>
        </p:spPr>
      </p:sp>
      <p:sp>
        <p:nvSpPr>
          <p:cNvPr id="6" name="nomor 1"/>
          <p:cNvSpPr/>
          <p:nvPr/>
        </p:nvSpPr>
        <p:spPr>
          <a:xfrm>
            <a:off x="694944" y="1856232"/>
            <a:ext cx="402336" cy="402336"/>
          </a:xfrm>
          <a:prstGeom prst="ellipse">
            <a:avLst/>
          </a:prstGeom>
          <a:solidFill>
            <a:schemeClr val="accent2"/>
          </a:solidFill>
          <a:ln/>
        </p:spPr>
      </p:sp>
      <p:sp>
        <p:nvSpPr>
          <p:cNvPr id="7" name="Text 4"/>
          <p:cNvSpPr txBox="1"/>
          <p:nvPr/>
        </p:nvSpPr>
        <p:spPr>
          <a:xfrm>
            <a:off x="694944" y="1856232"/>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5"/>
          <p:cNvSpPr txBox="1"/>
          <p:nvPr/>
        </p:nvSpPr>
        <p:spPr>
          <a:xfrm>
            <a:off x="1234440" y="1719072"/>
            <a:ext cx="4681728" cy="676656"/>
          </a:xfrm>
          <a:prstGeom prst="rect">
            <a:avLst/>
          </a:prstGeom>
          <a:noFill/>
          <a:ln/>
        </p:spPr>
        <p:txBody>
          <a:bodyPr wrap="square" lIns="0" tIns="0" rIns="0" bIns="0" rtlCol="0" anchor="ctr"/>
          <a:lstStyle/>
          <a:p>
            <a:pPr algn="l" indent="0" marL="0">
              <a:buNone/>
            </a:pPr>
            <a:r>
              <a:rPr lang="en-US" sz="1400" dirty="0">
                <a:solidFill>
                  <a:schemeClr val="tx1"/>
                </a:solidFill>
              </a:rPr>
              <a:t>Galat </a:t>
            </a:r>
            <a:pPr algn="l" indent="0" marL="0">
              <a:buNone/>
            </a:pPr>
            <a:r>
              <a:rPr lang="en-US" sz="1400" i="1" dirty="0">
                <a:solidFill>
                  <a:schemeClr val="tx1"/>
                </a:solidFill>
              </a:rPr>
              <a:t>out-of-fold</a:t>
            </a:r>
            <a:pPr algn="l" indent="0" marL="0">
              <a:buNone/>
            </a:pPr>
            <a:r>
              <a:rPr lang="en-US" sz="1400" dirty="0">
                <a:solidFill>
                  <a:schemeClr val="tx1"/>
                </a:solidFill>
              </a:rPr>
              <a:t> gabungan (</a:t>
            </a:r>
            <a:pPr algn="l" indent="0" marL="0">
              <a:buNone/>
            </a:pPr>
            <a:r>
              <a:rPr lang="en-US" sz="1400" i="1" dirty="0">
                <a:solidFill>
                  <a:schemeClr val="tx1"/>
                </a:solidFill>
              </a:rPr>
              <a:t>notebook</a:t>
            </a:r>
            <a:pPr algn="l" indent="0" marL="0">
              <a:buNone/>
            </a:pPr>
            <a:r>
              <a:rPr lang="en-US" sz="1400" dirty="0">
                <a:solidFill>
                  <a:schemeClr val="tx1"/>
                </a:solidFill>
              </a:rPr>
              <a:t>: koreksi galat wilayah)</a:t>
            </a:r>
            <a:endParaRPr lang="en-US" sz="1400" dirty="0"/>
          </a:p>
        </p:txBody>
      </p:sp>
      <p:sp>
        <p:nvSpPr>
          <p:cNvPr id="9" name="panah"/>
          <p:cNvSpPr/>
          <p:nvPr/>
        </p:nvSpPr>
        <p:spPr>
          <a:xfrm flipV="1">
            <a:off x="777240" y="2450592"/>
            <a:ext cx="237744" cy="91440"/>
          </a:xfrm>
          <a:prstGeom prst="triangle">
            <a:avLst/>
          </a:prstGeom>
          <a:solidFill>
            <a:schemeClr val="accent4"/>
          </a:solidFill>
          <a:ln/>
        </p:spPr>
      </p:sp>
      <p:sp>
        <p:nvSpPr>
          <p:cNvPr id="10" name="langkah koreksi 2"/>
          <p:cNvSpPr/>
          <p:nvPr/>
        </p:nvSpPr>
        <p:spPr>
          <a:xfrm>
            <a:off x="548640" y="2551176"/>
            <a:ext cx="5486400" cy="731520"/>
          </a:xfrm>
          <a:prstGeom prst="roundRect">
            <a:avLst>
              <a:gd name="adj" fmla="val 10000"/>
            </a:avLst>
          </a:prstGeom>
          <a:solidFill>
            <a:schemeClr val="bg2"/>
          </a:solidFill>
          <a:ln/>
        </p:spPr>
      </p:sp>
      <p:sp>
        <p:nvSpPr>
          <p:cNvPr id="11" name="nomor 2"/>
          <p:cNvSpPr/>
          <p:nvPr/>
        </p:nvSpPr>
        <p:spPr>
          <a:xfrm>
            <a:off x="694944" y="2715768"/>
            <a:ext cx="402336" cy="402336"/>
          </a:xfrm>
          <a:prstGeom prst="ellipse">
            <a:avLst/>
          </a:prstGeom>
          <a:solidFill>
            <a:schemeClr val="accent2"/>
          </a:solidFill>
          <a:ln/>
        </p:spPr>
      </p:sp>
      <p:sp>
        <p:nvSpPr>
          <p:cNvPr id="12" name="Text 9"/>
          <p:cNvSpPr txBox="1"/>
          <p:nvPr/>
        </p:nvSpPr>
        <p:spPr>
          <a:xfrm>
            <a:off x="694944" y="2715768"/>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0"/>
          <p:cNvSpPr txBox="1"/>
          <p:nvPr/>
        </p:nvSpPr>
        <p:spPr>
          <a:xfrm>
            <a:off x="1234440" y="2578608"/>
            <a:ext cx="4681728" cy="676656"/>
          </a:xfrm>
          <a:prstGeom prst="rect">
            <a:avLst/>
          </a:prstGeom>
          <a:noFill/>
          <a:ln/>
        </p:spPr>
        <p:txBody>
          <a:bodyPr wrap="square" lIns="0" tIns="0" rIns="0" bIns="0" rtlCol="0" anchor="ctr"/>
          <a:lstStyle/>
          <a:p>
            <a:pPr algn="l" indent="0" marL="0">
              <a:buNone/>
            </a:pPr>
            <a:r>
              <a:rPr lang="en-US" sz="1400" dirty="0">
                <a:solidFill>
                  <a:schemeClr val="tx1"/>
                </a:solidFill>
              </a:rPr>
              <a:t>Dirata-rata per zona, petak iklim, ±30 subzona, kawasan termirip</a:t>
            </a:r>
            <a:endParaRPr lang="en-US" sz="1400" dirty="0"/>
          </a:p>
        </p:txBody>
      </p:sp>
      <p:sp>
        <p:nvSpPr>
          <p:cNvPr id="14" name="panah"/>
          <p:cNvSpPr/>
          <p:nvPr/>
        </p:nvSpPr>
        <p:spPr>
          <a:xfrm flipV="1">
            <a:off x="777240" y="3310128"/>
            <a:ext cx="237744" cy="91440"/>
          </a:xfrm>
          <a:prstGeom prst="triangle">
            <a:avLst/>
          </a:prstGeom>
          <a:solidFill>
            <a:schemeClr val="accent4"/>
          </a:solidFill>
          <a:ln/>
        </p:spPr>
      </p:sp>
      <p:sp>
        <p:nvSpPr>
          <p:cNvPr id="15" name="langkah koreksi 3"/>
          <p:cNvSpPr/>
          <p:nvPr/>
        </p:nvSpPr>
        <p:spPr>
          <a:xfrm>
            <a:off x="548640" y="3410712"/>
            <a:ext cx="5486400" cy="731520"/>
          </a:xfrm>
          <a:prstGeom prst="roundRect">
            <a:avLst>
              <a:gd name="adj" fmla="val 10000"/>
            </a:avLst>
          </a:prstGeom>
          <a:solidFill>
            <a:schemeClr val="bg2"/>
          </a:solidFill>
          <a:ln/>
        </p:spPr>
      </p:sp>
      <p:sp>
        <p:nvSpPr>
          <p:cNvPr id="16" name="nomor 3"/>
          <p:cNvSpPr/>
          <p:nvPr/>
        </p:nvSpPr>
        <p:spPr>
          <a:xfrm>
            <a:off x="694944" y="3575304"/>
            <a:ext cx="402336" cy="402336"/>
          </a:xfrm>
          <a:prstGeom prst="ellipse">
            <a:avLst/>
          </a:prstGeom>
          <a:solidFill>
            <a:schemeClr val="accent2"/>
          </a:solidFill>
          <a:ln/>
        </p:spPr>
      </p:sp>
      <p:sp>
        <p:nvSpPr>
          <p:cNvPr id="17" name="Text 14"/>
          <p:cNvSpPr txBox="1"/>
          <p:nvPr/>
        </p:nvSpPr>
        <p:spPr>
          <a:xfrm>
            <a:off x="694944" y="3575304"/>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234440" y="3438144"/>
            <a:ext cx="4681728" cy="676656"/>
          </a:xfrm>
          <a:prstGeom prst="rect">
            <a:avLst/>
          </a:prstGeom>
          <a:noFill/>
          <a:ln/>
        </p:spPr>
        <p:txBody>
          <a:bodyPr wrap="square" lIns="0" tIns="0" rIns="0" bIns="0" rtlCol="0" anchor="ctr"/>
          <a:lstStyle/>
          <a:p>
            <a:pPr algn="l" indent="0" marL="0">
              <a:buNone/>
            </a:pPr>
            <a:r>
              <a:rPr lang="en-US" sz="1400" dirty="0">
                <a:solidFill>
                  <a:schemeClr val="tx1"/>
                </a:solidFill>
              </a:rPr>
              <a:t>Dikecilkan n/(n + 30), atau n/(n + 5) bila tetangga sedikit</a:t>
            </a:r>
            <a:endParaRPr lang="en-US" sz="1400" dirty="0"/>
          </a:p>
        </p:txBody>
      </p:sp>
      <p:sp>
        <p:nvSpPr>
          <p:cNvPr id="19" name="panah"/>
          <p:cNvSpPr/>
          <p:nvPr/>
        </p:nvSpPr>
        <p:spPr>
          <a:xfrm flipV="1">
            <a:off x="777240" y="4169664"/>
            <a:ext cx="237744" cy="91440"/>
          </a:xfrm>
          <a:prstGeom prst="triangle">
            <a:avLst/>
          </a:prstGeom>
          <a:solidFill>
            <a:schemeClr val="accent4"/>
          </a:solidFill>
          <a:ln/>
        </p:spPr>
      </p:sp>
      <p:sp>
        <p:nvSpPr>
          <p:cNvPr id="20" name="langkah koreksi 4"/>
          <p:cNvSpPr/>
          <p:nvPr/>
        </p:nvSpPr>
        <p:spPr>
          <a:xfrm>
            <a:off x="548640" y="4270248"/>
            <a:ext cx="5486400" cy="731520"/>
          </a:xfrm>
          <a:prstGeom prst="roundRect">
            <a:avLst>
              <a:gd name="adj" fmla="val 10000"/>
            </a:avLst>
          </a:prstGeom>
          <a:solidFill>
            <a:schemeClr val="tx2"/>
          </a:solidFill>
          <a:ln/>
        </p:spPr>
      </p:sp>
      <p:sp>
        <p:nvSpPr>
          <p:cNvPr id="21" name="nomor 4"/>
          <p:cNvSpPr/>
          <p:nvPr/>
        </p:nvSpPr>
        <p:spPr>
          <a:xfrm>
            <a:off x="694944" y="4434840"/>
            <a:ext cx="402336" cy="402336"/>
          </a:xfrm>
          <a:prstGeom prst="ellipse">
            <a:avLst/>
          </a:prstGeom>
          <a:solidFill>
            <a:schemeClr val="bg1"/>
          </a:solidFill>
          <a:ln/>
        </p:spPr>
      </p:sp>
      <p:sp>
        <p:nvSpPr>
          <p:cNvPr id="22" name="Text 19"/>
          <p:cNvSpPr txBox="1"/>
          <p:nvPr/>
        </p:nvSpPr>
        <p:spPr>
          <a:xfrm>
            <a:off x="694944" y="443484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23" name="Text 20"/>
          <p:cNvSpPr txBox="1"/>
          <p:nvPr/>
        </p:nvSpPr>
        <p:spPr>
          <a:xfrm>
            <a:off x="1234440" y="4297680"/>
            <a:ext cx="4681728" cy="676656"/>
          </a:xfrm>
          <a:prstGeom prst="rect">
            <a:avLst/>
          </a:prstGeom>
          <a:noFill/>
          <a:ln/>
        </p:spPr>
        <p:txBody>
          <a:bodyPr wrap="square" lIns="0" tIns="0" rIns="0" bIns="0" rtlCol="0" anchor="ctr"/>
          <a:lstStyle/>
          <a:p>
            <a:pPr algn="l" indent="0" marL="0">
              <a:buNone/>
            </a:pPr>
            <a:r>
              <a:rPr lang="en-US" sz="1400" dirty="0">
                <a:solidFill>
                  <a:schemeClr val="bg1"/>
                </a:solidFill>
              </a:rPr>
              <a:t>Dikali λ dari </a:t>
            </a:r>
            <a:pPr algn="l" indent="0" marL="0">
              <a:buNone/>
            </a:pPr>
            <a:r>
              <a:rPr lang="en-US" sz="1400" i="1" dirty="0">
                <a:solidFill>
                  <a:schemeClr val="bg1"/>
                </a:solidFill>
              </a:rPr>
              <a:t>holdout set</a:t>
            </a:r>
            <a:pPr algn="l" indent="0" marL="0">
              <a:buNone/>
            </a:pPr>
            <a:r>
              <a:rPr lang="en-US" sz="1400" dirty="0">
                <a:solidFill>
                  <a:schemeClr val="bg1"/>
                </a:solidFill>
              </a:rPr>
              <a:t>, dibekukan di resid_knn.json</a:t>
            </a:r>
            <a:endParaRPr lang="en-US" sz="1400" dirty="0"/>
          </a:p>
        </p:txBody>
      </p:sp>
      <p:sp>
        <p:nvSpPr>
          <p:cNvPr id="24" name="Text 21"/>
          <p:cNvSpPr txBox="1"/>
          <p:nvPr/>
        </p:nvSpPr>
        <p:spPr>
          <a:xfrm>
            <a:off x="6355080" y="1691640"/>
            <a:ext cx="5285232" cy="274320"/>
          </a:xfrm>
          <a:prstGeom prst="rect">
            <a:avLst/>
          </a:prstGeom>
          <a:noFill/>
          <a:ln/>
        </p:spPr>
        <p:txBody>
          <a:bodyPr wrap="square" lIns="0" tIns="0" rIns="0" bIns="0" rtlCol="0" anchor="t"/>
          <a:lstStyle/>
          <a:p>
            <a:pPr algn="l" indent="0" marL="0">
              <a:buNone/>
            </a:pPr>
            <a:r>
              <a:rPr lang="en-US" sz="1400" b="1" dirty="0">
                <a:solidFill>
                  <a:schemeClr val="tx2"/>
                </a:solidFill>
              </a:rPr>
              <a:t>λ untuk gas (W = jendela, k = tetangga)</a:t>
            </a:r>
            <a:endParaRPr lang="en-US" sz="1400" dirty="0"/>
          </a:p>
        </p:txBody>
      </p:sp>
      <p:graphicFrame>
        <p:nvGraphicFramePr>
          <p:cNvPr id="16" name="tabel lambda"/>
          <p:cNvGraphicFramePr>
            <a:graphicFrameLocks noGrp="1"/>
          </p:cNvGraphicFramePr>
          <p:nvPr>
            <p:extLst>
              <p:ext uri="{D42A27DB-BD31-4B8C-83A1-F6EECF244321}">
                <p14:modId xmlns:p14="http://schemas.microsoft.com/office/powerpoint/2010/main" val="1579011935"/>
              </p:ext>
            </p:extLst>
          </p:nvPr>
        </p:nvGraphicFramePr>
        <p:xfrm>
          <a:off x="6355080" y="2029968"/>
          <a:ext cx="5285232" cy="914400"/>
        </p:xfrm>
        <a:graphic>
          <a:graphicData uri="http://schemas.openxmlformats.org/drawingml/2006/table">
            <a:tbl>
              <a:tblPr/>
              <a:tblGrid>
                <a:gridCol w="4187952"/>
                <a:gridCol w="1097280"/>
              </a:tblGrid>
              <a:tr h="329184">
                <a:tc>
                  <a:txBody>
                    <a:bodyPr/>
                    <a:lstStyle/>
                    <a:p>
                      <a:pPr algn="l" indent="0" marL="0">
                        <a:buNone/>
                      </a:pPr>
                      <a:r>
                        <a:rPr lang="en-US" sz="1400" b="1" dirty="0">
                          <a:solidFill>
                            <a:srgbClr val="FFFFFF"/>
                          </a:solidFill>
                        </a:rPr>
                        <a:t>Fitur koreksi (gas)</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λ</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29184">
                <a:tc>
                  <a:txBody>
                    <a:bodyPr/>
                    <a:lstStyle/>
                    <a:p>
                      <a:pPr algn="l" indent="0" marL="0">
                        <a:buNone/>
                      </a:pPr>
                      <a:r>
                        <a:rPr lang="en-US" sz="1400" dirty="0">
                          <a:solidFill>
                            <a:srgbClr val="1F2933"/>
                          </a:solidFill>
                        </a:rPr>
                        <a:t>galat zona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0,453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933"/>
                          </a:solidFill>
                        </a:rPr>
                        <a:t>galat petak iklim</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0,346</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dirty="0">
                          <a:solidFill>
                            <a:srgbClr val="1F2933"/>
                          </a:solidFill>
                        </a:rPr>
                        <a:t>galat ±30 subzona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−0,020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933"/>
                          </a:solidFill>
                        </a:rPr>
                        <a:t>kNN full W100 k20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0,037</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dirty="0">
                          <a:solidFill>
                            <a:srgbClr val="1F2933"/>
                          </a:solidFill>
                        </a:rPr>
                        <a:t>kNN era W30 k20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0,126</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933"/>
                          </a:solidFill>
                        </a:rPr>
                        <a:t>kNN fc W300 k50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0,079</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dirty="0">
                          <a:solidFill>
                            <a:srgbClr val="1F2933"/>
                          </a:solidFill>
                        </a:rPr>
                        <a:t>kNN full W10 k10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0,072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933"/>
                          </a:solidFill>
                        </a:rPr>
                        <a:t>kNN era W300 k50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0,124</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dirty="0">
                          <a:solidFill>
                            <a:srgbClr val="1F2933"/>
                          </a:solidFill>
                        </a:rPr>
                        <a:t>kNN full W3000 k200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0,156</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6" name="Text 22"/>
          <p:cNvSpPr txBox="1"/>
          <p:nvPr/>
        </p:nvSpPr>
        <p:spPr>
          <a:xfrm>
            <a:off x="548640" y="5166360"/>
            <a:ext cx="5486400" cy="777240"/>
          </a:xfrm>
          <a:prstGeom prst="rect">
            <a:avLst/>
          </a:prstGeom>
          <a:noFill/>
          <a:ln/>
        </p:spPr>
        <p:txBody>
          <a:bodyPr wrap="square" lIns="0" tIns="0" rIns="0" bIns="0" rtlCol="0" anchor="t"/>
          <a:lstStyle/>
          <a:p>
            <a:pPr algn="l" marL="190500" indent="-190500">
              <a:spcAft>
                <a:spcPts val="400"/>
              </a:spcAft>
              <a:buSzPct val="100000"/>
              <a:buChar char="•"/>
            </a:pPr>
            <a:r>
              <a:rPr lang="en-US" sz="1400" dirty="0">
                <a:solidFill>
                  <a:schemeClr val="tx1"/>
                </a:solidFill>
              </a:rPr>
              <a:t>Koreksi rms/σ: gas 0,02047; EUI 0,04344; listrik 0,01195</a:t>
            </a:r>
            <a:endParaRPr lang="en-US" sz="1400" dirty="0"/>
          </a:p>
          <a:p>
            <a:pPr algn="l" marL="190500" indent="-190500">
              <a:spcAft>
                <a:spcPts val="400"/>
              </a:spcAft>
              <a:buSzPct val="100000"/>
              <a:buChar char="•"/>
            </a:pPr>
            <a:r>
              <a:rPr lang="en-US" sz="1400" dirty="0">
                <a:solidFill>
                  <a:schemeClr val="tx1"/>
                </a:solidFill>
              </a:rPr>
              <a:t>Setelah koreksi dan penyesuaian akhir: skor </a:t>
            </a:r>
            <a:r>
              <a:rPr lang="en-US" sz="1400" dirty="0" i="1">
                <a:solidFill>
                  <a:schemeClr val="tx1"/>
                </a:solidFill>
              </a:rPr>
              <a:t>leaderboard</a:t>
            </a:r>
            <a:r>
              <a:rPr lang="en-US" sz="1400" dirty="0">
                <a:solidFill>
                  <a:schemeClr val="tx1"/>
                </a:solidFill>
              </a:rPr>
              <a:t> publik 0,24913 (rata-rata lima target)</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C3</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Dua blok fitur bertarget utama diuji dengan label acak pada satu </a:t>
            </a:r>
            <a:pPr algn="l" indent="0" marL="0">
              <a:buNone/>
            </a:pPr>
            <a:r>
              <a:rPr lang="en-US" sz="2600" b="1" i="1" dirty="0">
                <a:solidFill>
                  <a:schemeClr val="tx2"/>
                </a:solidFill>
              </a:rPr>
              <a:t>fold</a:t>
            </a:r>
            <a:endParaRPr lang="en-US" sz="2600" dirty="0"/>
          </a:p>
        </p:txBody>
      </p:sp>
      <p:graphicFrame>
        <p:nvGraphicFramePr>
          <p:cNvPr id="17" name="tabel uji label acak"/>
          <p:cNvGraphicFramePr>
            <a:graphicFrameLocks noGrp="1"/>
          </p:cNvGraphicFramePr>
          <p:nvPr>
            <p:extLst>
              <p:ext uri="{D42A27DB-BD31-4B8C-83A1-F6EECF244321}">
                <p14:modId xmlns:p14="http://schemas.microsoft.com/office/powerpoint/2010/main" val="1579011935"/>
              </p:ext>
            </p:extLst>
          </p:nvPr>
        </p:nvGraphicFramePr>
        <p:xfrm>
          <a:off x="548640" y="1828800"/>
          <a:ext cx="7086600" cy="914400"/>
        </p:xfrm>
        <a:graphic>
          <a:graphicData uri="http://schemas.openxmlformats.org/drawingml/2006/table">
            <a:tbl>
              <a:tblPr/>
              <a:tblGrid>
                <a:gridCol w="3108960"/>
                <a:gridCol w="777240"/>
                <a:gridCol w="1143000"/>
                <a:gridCol w="2057400"/>
              </a:tblGrid>
              <a:tr h="530352">
                <a:tc>
                  <a:txBody>
                    <a:bodyPr/>
                    <a:lstStyle/>
                    <a:p>
                      <a:pPr algn="l" indent="0" marL="0">
                        <a:buNone/>
                      </a:pPr>
                      <a:r>
                        <a:rPr lang="en-US" sz="1400" b="1" dirty="0">
                          <a:solidFill>
                            <a:srgbClr val="FFFFFF"/>
                          </a:solidFill>
                        </a:rPr>
                        <a:t>Blok fitur</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Kolom</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Baris yang diuji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Berubah</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400" dirty="0">
                          <a:solidFill>
                            <a:srgbClr val="1F2933"/>
                          </a:solidFill>
                        </a:rPr>
                        <a:t>kNN-target, validasi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39</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42.931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F2933"/>
                          </a:solidFill>
                        </a:rPr>
                        <a:t>kNN-target, data uji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39</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183.987</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400" dirty="0">
                          <a:solidFill>
                            <a:srgbClr val="1F2933"/>
                          </a:solidFill>
                        </a:rPr>
                        <a:t>rata-rata wilayah, validasi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42.931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F2933"/>
                          </a:solidFill>
                        </a:rPr>
                        <a:t>rata-rata wilayah, data uji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42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183.987</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66928">
                <a:tc>
                  <a:txBody>
                    <a:bodyPr/>
                    <a:lstStyle/>
                    <a:p>
                      <a:pPr algn="l" indent="0" marL="0">
                        <a:buNone/>
                      </a:pPr>
                      <a:r>
                        <a:rPr lang="en-US" sz="1400" dirty="0">
                          <a:solidFill>
                            <a:srgbClr val="1F2933"/>
                          </a:solidFill>
                        </a:rPr>
                        <a:t>kNN-target, latih bagian 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39</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77.275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0; 309.097 baris lain berubah</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F2933"/>
                          </a:solidFill>
                        </a:rPr>
                        <a:t>rata-rata wilayah, latih bagian 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42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77.275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0; 309.097 baris lain berubah</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66928">
                <a:tc>
                  <a:txBody>
                    <a:bodyPr/>
                    <a:lstStyle/>
                    <a:p>
                      <a:pPr algn="l" indent="0" marL="0">
                        <a:buNone/>
                      </a:pPr>
                      <a:r>
                        <a:rPr lang="en-US" sz="1400" b="1" dirty="0">
                          <a:solidFill>
                            <a:srgbClr val="1F2933"/>
                          </a:solidFill>
                        </a:rPr>
                        <a:t>KONTROL: tetangga termasuk baris validasi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c>
                  <a:txBody>
                    <a:bodyPr/>
                    <a:lstStyle/>
                    <a:p>
                      <a:pPr algn="r" indent="0" marL="0">
                        <a:buNone/>
                      </a:pPr>
                      <a:r>
                        <a:rPr lang="en-US" sz="1400" b="1" dirty="0">
                          <a:solidFill>
                            <a:srgbClr val="1F2933"/>
                          </a:solidFill>
                        </a:rPr>
                        <a:t>15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c>
                  <a:txBody>
                    <a:bodyPr/>
                    <a:lstStyle/>
                    <a:p>
                      <a:pPr algn="r" indent="0" marL="0">
                        <a:buNone/>
                      </a:pPr>
                      <a:r>
                        <a:rPr lang="en-US" sz="1400" b="1" dirty="0">
                          <a:solidFill>
                            <a:srgbClr val="1F2933"/>
                          </a:solidFill>
                        </a:rPr>
                        <a:t>42.931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c>
                  <a:txBody>
                    <a:bodyPr/>
                    <a:lstStyle/>
                    <a:p>
                      <a:pPr algn="l" indent="0" marL="0">
                        <a:buNone/>
                      </a:pPr>
                      <a:r>
                        <a:rPr lang="en-US" sz="1400" b="1" dirty="0">
                          <a:solidFill>
                            <a:srgbClr val="1F2933"/>
                          </a:solidFill>
                        </a:rPr>
                        <a:t>42.931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r>
            </a:tbl>
          </a:graphicData>
        </a:graphic>
      </p:graphicFrame>
      <p:sp>
        <p:nvSpPr>
          <p:cNvPr id="6" name="Text 2"/>
          <p:cNvSpPr txBox="1"/>
          <p:nvPr/>
        </p:nvSpPr>
        <p:spPr>
          <a:xfrm>
            <a:off x="7863840" y="1828800"/>
            <a:ext cx="3776472" cy="4069080"/>
          </a:xfrm>
          <a:prstGeom prst="rect">
            <a:avLst/>
          </a:prstGeom>
          <a:noFill/>
          <a:ln/>
        </p:spPr>
        <p:txBody>
          <a:bodyPr wrap="square" lIns="0" tIns="0" rIns="0" bIns="0" rtlCol="0" anchor="t"/>
          <a:lstStyle/>
          <a:p>
            <a:pPr algn="l" marL="190500" indent="-190500">
              <a:spcAft>
                <a:spcPts val="1000"/>
              </a:spcAft>
              <a:buSzPct val="100000"/>
              <a:buChar char="•"/>
            </a:pPr>
            <a:r>
              <a:rPr lang="en-US" sz="1500" dirty="0">
                <a:solidFill>
                  <a:schemeClr val="tx1"/>
                </a:solidFill>
              </a:rPr>
              <a:t>Rasio fisik: per baris, tanpa target</a:t>
            </a:r>
            <a:endParaRPr lang="en-US" sz="1500" dirty="0"/>
          </a:p>
          <a:p>
            <a:pPr algn="l" marL="190500" indent="-190500">
              <a:spcAft>
                <a:spcPts val="1000"/>
              </a:spcAft>
              <a:buSzPct val="100000"/>
              <a:buChar char="•"/>
            </a:pPr>
            <a:r>
              <a:rPr lang="en-US" sz="1500" dirty="0">
                <a:solidFill>
                  <a:schemeClr val="tx1"/>
                </a:solidFill>
              </a:rPr>
              <a:t>Agregat kawasan: fitur latih dan uji, tanpa target</a:t>
            </a:r>
            <a:endParaRPr lang="en-US" sz="1500" dirty="0"/>
          </a:p>
          <a:p>
            <a:pPr algn="l" marL="190500" indent="-190500">
              <a:spcAft>
                <a:spcPts val="1000"/>
              </a:spcAft>
              <a:buSzPct val="100000"/>
              <a:buChar char="•"/>
            </a:pPr>
            <a:r>
              <a:rPr lang="en-US" sz="1500" dirty="0">
                <a:solidFill>
                  <a:schemeClr val="tx1"/>
                </a:solidFill>
              </a:rPr>
              <a:t>Target wilayah dan kawasan termirip:</a:t>
            </a:r>
            <a:br/>
            <a:pPr algn="l" indent="0" marL="0">
              <a:spcAft>
                <a:spcPts val="1000"/>
              </a:spcAft>
              <a:buNone/>
            </a:pPr>
            <a:pPr algn="l" indent="0" marL="0">
              <a:spcAft>
                <a:spcPts val="1000"/>
              </a:spcAft>
              <a:buNone/>
            </a:pPr>
            <a:r>
              <a:rPr lang="en-US" sz="1500" i="1" dirty="0">
                <a:solidFill>
                  <a:schemeClr val="tx1"/>
                </a:solidFill>
              </a:rPr>
              <a:t>out-of-fold</a:t>
            </a:r>
            <a:pPr algn="l" indent="0" marL="0">
              <a:spcAft>
                <a:spcPts val="1000"/>
              </a:spcAft>
              <a:buNone/>
            </a:pPr>
            <a:r>
              <a:rPr lang="en-US" sz="1500" dirty="0">
                <a:solidFill>
                  <a:schemeClr val="tx1"/>
                </a:solidFill>
              </a:rPr>
              <a:t> dua lapis</a:t>
            </a:r>
            <a:endParaRPr lang="en-US" sz="1500" dirty="0"/>
          </a:p>
          <a:p>
            <a:pPr algn="l" marL="190500" indent="-190500">
              <a:spcAft>
                <a:spcPts val="1000"/>
              </a:spcAft>
              <a:buSzPct val="100000"/>
              <a:buChar char="•"/>
            </a:pPr>
            <a:r>
              <a:rPr lang="en-US" sz="1500" dirty="0">
                <a:solidFill>
                  <a:schemeClr val="tx1"/>
                </a:solidFill>
              </a:rPr>
              <a:t>Belum diuji label acak: tetangga model adopsi, koreksi galat, bobot gabungan, penyesuaian akhir</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C4</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Rincian 43 model: 28 jalur gas/EUI, 13 jalur listrik, dan 2 LightGBM adopsi</a:t>
            </a:r>
            <a:endParaRPr lang="en-US" sz="2600" dirty="0"/>
          </a:p>
        </p:txBody>
      </p:sp>
      <p:graphicFrame>
        <p:nvGraphicFramePr>
          <p:cNvPr id="18" name="tabel keluarga model"/>
          <p:cNvGraphicFramePr>
            <a:graphicFrameLocks noGrp="1"/>
          </p:cNvGraphicFramePr>
          <p:nvPr>
            <p:extLst>
              <p:ext uri="{D42A27DB-BD31-4B8C-83A1-F6EECF244321}">
                <p14:modId xmlns:p14="http://schemas.microsoft.com/office/powerpoint/2010/main" val="1579011935"/>
              </p:ext>
            </p:extLst>
          </p:nvPr>
        </p:nvGraphicFramePr>
        <p:xfrm>
          <a:off x="548640" y="1691640"/>
          <a:ext cx="5852160" cy="914400"/>
        </p:xfrm>
        <a:graphic>
          <a:graphicData uri="http://schemas.openxmlformats.org/drawingml/2006/table">
            <a:tbl>
              <a:tblPr/>
              <a:tblGrid>
                <a:gridCol w="3474720"/>
                <a:gridCol w="1188720"/>
                <a:gridCol w="1188720"/>
              </a:tblGrid>
              <a:tr h="402336">
                <a:tc>
                  <a:txBody>
                    <a:bodyPr/>
                    <a:lstStyle/>
                    <a:p>
                      <a:pPr algn="l" indent="0" marL="0">
                        <a:buNone/>
                      </a:pPr>
                      <a:r>
                        <a:rPr lang="en-US" sz="1500" b="1" dirty="0">
                          <a:solidFill>
                            <a:srgbClr val="FFFFFF"/>
                          </a:solidFill>
                        </a:rPr>
                        <a:t>Keluarga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Gas/EUI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Listrik</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402336">
                <a:tc>
                  <a:txBody>
                    <a:bodyPr/>
                    <a:lstStyle/>
                    <a:p>
                      <a:pPr algn="l" indent="0" marL="0">
                        <a:buNone/>
                      </a:pPr>
                      <a:r>
                        <a:rPr lang="en-US" sz="1500" dirty="0">
                          <a:solidFill>
                            <a:srgbClr val="1F2933"/>
                          </a:solidFill>
                        </a:rPr>
                        <a:t>XGBoost, termasuk varian Poisson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16</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1F2933"/>
                          </a:solidFill>
                        </a:rPr>
                        <a:t>LightGBM, termasuk varian Poisson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5</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4</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02336">
                <a:tc>
                  <a:txBody>
                    <a:bodyPr/>
                    <a:lstStyle/>
                    <a:p>
                      <a:pPr algn="l" indent="0" marL="0">
                        <a:buNone/>
                      </a:pPr>
                      <a:r>
                        <a:rPr lang="en-US" sz="1500" dirty="0">
                          <a:solidFill>
                            <a:srgbClr val="1F2933"/>
                          </a:solidFill>
                        </a:rPr>
                        <a:t>MLP standar</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2</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1F2933"/>
                          </a:solidFill>
                        </a:rPr>
                        <a:t>MLP PLR dan TabM-mini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2</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02336">
                <a:tc>
                  <a:txBody>
                    <a:bodyPr/>
                    <a:lstStyle/>
                    <a:p>
                      <a:pPr algn="l" indent="0" marL="0">
                        <a:buNone/>
                      </a:pPr>
                      <a:r>
                        <a:rPr lang="en-US" sz="1500" dirty="0">
                          <a:solidFill>
                            <a:srgbClr val="1F2933"/>
                          </a:solidFill>
                        </a:rPr>
                        <a:t>MLP gas + listrik</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2</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1F2933"/>
                          </a:solidFill>
                        </a:rPr>
                        <a:t>NCA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02336">
                <a:tc>
                  <a:txBody>
                    <a:bodyPr/>
                    <a:lstStyle/>
                    <a:p>
                      <a:pPr algn="l" indent="0" marL="0">
                        <a:buNone/>
                      </a:pPr>
                      <a:r>
                        <a:rPr lang="en-US" sz="1500" b="1" dirty="0">
                          <a:solidFill>
                            <a:srgbClr val="1F2933"/>
                          </a:solidFill>
                        </a:rPr>
                        <a:t>Jumlah</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2"/>
                    </a:solidFill>
                  </a:tcPr>
                </a:tc>
                <a:tc>
                  <a:txBody>
                    <a:bodyPr/>
                    <a:lstStyle/>
                    <a:p>
                      <a:pPr algn="r" indent="0" marL="0">
                        <a:buNone/>
                      </a:pPr>
                      <a:r>
                        <a:rPr lang="en-US" sz="1500" b="1" dirty="0">
                          <a:solidFill>
                            <a:srgbClr val="1F2933"/>
                          </a:solidFill>
                        </a:rPr>
                        <a:t>28</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2"/>
                    </a:solidFill>
                  </a:tcPr>
                </a:tc>
                <a:tc>
                  <a:txBody>
                    <a:bodyPr/>
                    <a:lstStyle/>
                    <a:p>
                      <a:pPr algn="r" indent="0" marL="0">
                        <a:buNone/>
                      </a:pPr>
                      <a:r>
                        <a:rPr lang="en-US" sz="1500" b="1" dirty="0">
                          <a:solidFill>
                            <a:srgbClr val="1F2933"/>
                          </a:solidFill>
                        </a:rPr>
                        <a:t>13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2"/>
                    </a:solidFill>
                  </a:tcPr>
                </a:tc>
              </a:tr>
            </a:tbl>
          </a:graphicData>
        </a:graphic>
      </p:graphicFrame>
      <p:sp>
        <p:nvSpPr>
          <p:cNvPr id="6" name="Text 2"/>
          <p:cNvSpPr txBox="1"/>
          <p:nvPr/>
        </p:nvSpPr>
        <p:spPr>
          <a:xfrm>
            <a:off x="6720840" y="1691640"/>
            <a:ext cx="4919472" cy="3154680"/>
          </a:xfrm>
          <a:prstGeom prst="rect">
            <a:avLst/>
          </a:prstGeom>
          <a:noFill/>
          <a:ln/>
        </p:spPr>
        <p:txBody>
          <a:bodyPr wrap="square" lIns="0" tIns="0" rIns="0" bIns="0" rtlCol="0" anchor="t"/>
          <a:lstStyle/>
          <a:p>
            <a:pPr algn="l" marL="190500" indent="-190500">
              <a:spcAft>
                <a:spcPts val="600"/>
              </a:spcAft>
              <a:buSzPct val="100000"/>
              <a:buChar char="•"/>
            </a:pPr>
            <a:r>
              <a:rPr lang="en-US" sz="1500" dirty="0">
                <a:solidFill>
                  <a:schemeClr val="tx1"/>
                </a:solidFill>
              </a:rPr>
              <a:t>Jalur 3: 2 LightGBM adopsi (q_xent, r_reg) untuk 8,14% kawasan uji, tidak ikut </a:t>
            </a:r>
            <a:pPr algn="l" indent="0" marL="0">
              <a:buNone/>
            </a:pPr>
            <a:r>
              <a:rPr lang="en-US" sz="1500" i="1" dirty="0">
                <a:solidFill>
                  <a:schemeClr val="tx1"/>
                </a:solidFill>
              </a:rPr>
              <a:t>blending</a:t>
            </a:r>
            <a:endParaRPr lang="en-US" sz="1500" dirty="0"/>
          </a:p>
          <a:p>
            <a:pPr algn="l" marL="190500" indent="-190500">
              <a:spcAft>
                <a:spcPts val="600"/>
              </a:spcAft>
              <a:buSzPct val="100000"/>
              <a:buChar char="•"/>
            </a:pPr>
            <a:r>
              <a:rPr lang="en-US" sz="1500" i="1" dirty="0">
                <a:solidFill>
                  <a:schemeClr val="tx1"/>
                </a:solidFill>
              </a:rPr>
              <a:t>Notebook</a:t>
            </a:r>
            <a:pPr algn="l" indent="0" marL="0">
              <a:buNone/>
            </a:pPr>
            <a:r>
              <a:rPr lang="en-US" sz="1500" dirty="0">
                <a:solidFill>
                  <a:schemeClr val="tx1"/>
                </a:solidFill>
              </a:rPr>
              <a:t> melatih 42 model di jalur 1 dan 2; mk1_gpm tidak terpilih</a:t>
            </a:r>
            <a:endParaRPr lang="en-US" sz="1500" dirty="0"/>
          </a:p>
          <a:p>
            <a:pPr algn="l" marL="190500" indent="-190500">
              <a:spcAft>
                <a:spcPts val="600"/>
              </a:spcAft>
              <a:buSzPct val="100000"/>
              <a:buChar char="•"/>
            </a:pPr>
            <a:r>
              <a:rPr lang="en-US" sz="1500" dirty="0">
                <a:solidFill>
                  <a:schemeClr val="tx1"/>
                </a:solidFill>
              </a:rPr>
              <a:t>41 per keluaran: MLP mk2 menyumbang ke dua jalur</a:t>
            </a:r>
            <a:endParaRPr lang="en-US" sz="1500" dirty="0"/>
          </a:p>
          <a:p>
            <a:pPr algn="l" marL="190500" indent="-190500">
              <a:spcAft>
                <a:spcPts val="600"/>
              </a:spcAft>
              <a:buSzPct val="100000"/>
              <a:buChar char="•"/>
            </a:pPr>
            <a:r>
              <a:rPr lang="en-US" sz="1500" dirty="0">
                <a:solidFill>
                  <a:schemeClr val="tx1"/>
                </a:solidFill>
              </a:rPr>
              <a:t>550 model terlatih di balik 41 anggota (per </a:t>
            </a:r>
            <a:pPr algn="l" indent="0" marL="0">
              <a:buNone/>
            </a:pPr>
            <a:r>
              <a:rPr lang="en-US" sz="1500" i="1" dirty="0">
                <a:solidFill>
                  <a:schemeClr val="tx1"/>
                </a:solidFill>
              </a:rPr>
              <a:t>fold</a:t>
            </a:r>
            <a:pPr algn="l" indent="0" marL="0">
              <a:buNone/>
            </a:pPr>
            <a:r>
              <a:rPr lang="en-US" sz="1500" dirty="0">
                <a:solidFill>
                  <a:schemeClr val="tx1"/>
                </a:solidFill>
              </a:rPr>
              <a:t>, sebagian tiga </a:t>
            </a:r>
            <a:pPr algn="l" indent="0" marL="0">
              <a:buNone/>
            </a:pPr>
            <a:r>
              <a:rPr lang="en-US" sz="1500" i="1" dirty="0">
                <a:solidFill>
                  <a:schemeClr val="tx1"/>
                </a:solidFill>
              </a:rPr>
              <a:t>seed</a:t>
            </a:r>
            <a:pPr algn="l" indent="0" marL="0">
              <a:buNone/>
            </a:pPr>
            <a:r>
              <a:rPr lang="en-US" sz="1500" dirty="0">
                <a:solidFill>
                  <a:schemeClr val="tx1"/>
                </a:solidFill>
              </a:rPr>
              <a:t>)</a:t>
            </a:r>
            <a:endParaRPr lang="en-US" sz="1500" dirty="0"/>
          </a:p>
        </p:txBody>
      </p:sp>
      <p:sp>
        <p:nvSpPr>
          <p:cNvPr id="7" name="pita 43"/>
          <p:cNvSpPr/>
          <p:nvPr/>
        </p:nvSpPr>
        <p:spPr>
          <a:xfrm>
            <a:off x="6720840" y="4983480"/>
            <a:ext cx="4919472" cy="731520"/>
          </a:xfrm>
          <a:prstGeom prst="roundRect">
            <a:avLst>
              <a:gd name="adj" fmla="val 12500"/>
            </a:avLst>
          </a:prstGeom>
          <a:solidFill>
            <a:schemeClr val="bg2"/>
          </a:solidFill>
          <a:ln/>
        </p:spPr>
      </p:sp>
      <p:sp>
        <p:nvSpPr>
          <p:cNvPr id="8" name="Text 4"/>
          <p:cNvSpPr txBox="1"/>
          <p:nvPr/>
        </p:nvSpPr>
        <p:spPr>
          <a:xfrm>
            <a:off x="6720840" y="4983480"/>
            <a:ext cx="4919472" cy="731520"/>
          </a:xfrm>
          <a:prstGeom prst="rect">
            <a:avLst/>
          </a:prstGeom>
          <a:noFill/>
          <a:ln/>
        </p:spPr>
        <p:txBody>
          <a:bodyPr wrap="square" lIns="0" tIns="0" rIns="0" bIns="0" rtlCol="0" anchor="ctr"/>
          <a:lstStyle/>
          <a:p>
            <a:pPr algn="ctr" indent="0" marL="0">
              <a:buNone/>
            </a:pPr>
            <a:r>
              <a:rPr lang="en-US" sz="2600" b="1" dirty="0">
                <a:solidFill>
                  <a:schemeClr val="tx2"/>
                </a:solidFill>
              </a:rPr>
              <a:t>43</a:t>
            </a:r>
            <a:pPr algn="ctr" indent="0" marL="0">
              <a:buNone/>
            </a:pPr>
            <a:r>
              <a:rPr lang="en-US" sz="2600" dirty="0">
                <a:solidFill>
                  <a:schemeClr val="accent5"/>
                </a:solidFill>
              </a:rPr>
              <a:t> = </a:t>
            </a:r>
            <a:pPr algn="ctr" indent="0" marL="0">
              <a:buNone/>
            </a:pPr>
            <a:r>
              <a:rPr lang="en-US" sz="2600" b="1" dirty="0">
                <a:solidFill>
                  <a:schemeClr val="accent1"/>
                </a:solidFill>
              </a:rPr>
              <a:t>41</a:t>
            </a:r>
            <a:pPr algn="ctr" indent="0" marL="0">
              <a:buNone/>
            </a:pPr>
            <a:r>
              <a:rPr lang="en-US" sz="2600" dirty="0">
                <a:solidFill>
                  <a:schemeClr val="accent5"/>
                </a:solidFill>
              </a:rPr>
              <a:t> + </a:t>
            </a:r>
            <a:pPr algn="ctr" indent="0" marL="0">
              <a:buNone/>
            </a:pPr>
            <a:r>
              <a:rPr lang="en-US" sz="2600" b="1" dirty="0">
                <a:solidFill>
                  <a:schemeClr val="accent5"/>
                </a:solidFill>
              </a:rPr>
              <a:t>2</a:t>
            </a:r>
            <a:endParaRPr lang="en-US" sz="2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C5</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SHAP dibaca dari model penjelas terpisah</a:t>
            </a:r>
            <a:br/>
            <a:pPr algn="l" indent="0" marL="0">
              <a:buNone/>
            </a:pPr>
            <a:r>
              <a:rPr lang="en-US" sz="2600" b="1" dirty="0">
                <a:solidFill>
                  <a:schemeClr val="tx2"/>
                </a:solidFill>
              </a:rPr>
              <a:t>dan hanya menunjukkan sumbangan pada prediksi</a:t>
            </a:r>
            <a:endParaRPr lang="en-US" sz="2600" dirty="0"/>
          </a:p>
        </p:txBody>
      </p:sp>
      <p:sp>
        <p:nvSpPr>
          <p:cNvPr id="5" name="Text 2"/>
          <p:cNvSpPr txBox="1"/>
          <p:nvPr/>
        </p:nvSpPr>
        <p:spPr>
          <a:xfrm>
            <a:off x="548640" y="1691640"/>
            <a:ext cx="4023360" cy="502920"/>
          </a:xfrm>
          <a:prstGeom prst="rect">
            <a:avLst/>
          </a:prstGeom>
          <a:noFill/>
          <a:ln/>
        </p:spPr>
        <p:txBody>
          <a:bodyPr wrap="square" lIns="0" tIns="0" rIns="0" bIns="0" rtlCol="0" anchor="t"/>
          <a:lstStyle/>
          <a:p>
            <a:pPr algn="l" indent="0" marL="0">
              <a:buNone/>
            </a:pPr>
            <a:r>
              <a:rPr lang="en-US" sz="1400" b="1" dirty="0">
                <a:solidFill>
                  <a:schemeClr val="tx2"/>
                </a:solidFill>
              </a:rPr>
              <a:t>R² model penjelas (data uji internal)</a:t>
            </a:r>
            <a:endParaRPr lang="en-US" sz="1400" dirty="0"/>
          </a:p>
        </p:txBody>
      </p:sp>
      <p:graphicFrame>
        <p:nvGraphicFramePr>
          <p:cNvPr id="19" name="tabel R2"/>
          <p:cNvGraphicFramePr>
            <a:graphicFrameLocks noGrp="1"/>
          </p:cNvGraphicFramePr>
          <p:nvPr>
            <p:extLst>
              <p:ext uri="{D42A27DB-BD31-4B8C-83A1-F6EECF244321}">
                <p14:modId xmlns:p14="http://schemas.microsoft.com/office/powerpoint/2010/main" val="1579011935"/>
              </p:ext>
            </p:extLst>
          </p:nvPr>
        </p:nvGraphicFramePr>
        <p:xfrm>
          <a:off x="548640" y="2267712"/>
          <a:ext cx="4023360" cy="914400"/>
        </p:xfrm>
        <a:graphic>
          <a:graphicData uri="http://schemas.openxmlformats.org/drawingml/2006/table">
            <a:tbl>
              <a:tblPr/>
              <a:tblGrid>
                <a:gridCol w="2834640"/>
                <a:gridCol w="1188720"/>
              </a:tblGrid>
              <a:tr h="384048">
                <a:tc>
                  <a:txBody>
                    <a:bodyPr/>
                    <a:lstStyle/>
                    <a:p>
                      <a:pPr algn="l" indent="0" marL="0">
                        <a:buNone/>
                      </a:pPr>
                      <a:r>
                        <a:rPr lang="en-US" sz="1500" b="1" dirty="0">
                          <a:solidFill>
                            <a:srgbClr val="FFFFFF"/>
                          </a:solidFill>
                        </a:rPr>
                        <a:t>Model penjelas</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R²</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500" dirty="0">
                          <a:solidFill>
                            <a:srgbClr val="1F2933"/>
                          </a:solidFill>
                        </a:rPr>
                        <a:t>log EUI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0,563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1F2933"/>
                          </a:solidFill>
                        </a:rPr>
                        <a:t>log gas per meter</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0,747</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500" dirty="0">
                          <a:solidFill>
                            <a:srgbClr val="1F2933"/>
                          </a:solidFill>
                        </a:rPr>
                        <a:t>log listrik per meter</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0,491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1F2933"/>
                          </a:solidFill>
                        </a:rPr>
                        <a:t>adopsi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0,991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7" name="Text 3"/>
          <p:cNvSpPr txBox="1"/>
          <p:nvPr/>
        </p:nvSpPr>
        <p:spPr>
          <a:xfrm>
            <a:off x="4846320" y="1691640"/>
            <a:ext cx="6793992" cy="502920"/>
          </a:xfrm>
          <a:prstGeom prst="rect">
            <a:avLst/>
          </a:prstGeom>
          <a:noFill/>
          <a:ln/>
        </p:spPr>
        <p:txBody>
          <a:bodyPr wrap="square" lIns="0" tIns="0" rIns="0" bIns="0" rtlCol="0" anchor="t"/>
          <a:lstStyle/>
          <a:p>
            <a:pPr algn="l" indent="0" marL="0">
              <a:buNone/>
            </a:pPr>
            <a:r>
              <a:rPr lang="en-US" sz="1400" b="1" dirty="0">
                <a:solidFill>
                  <a:schemeClr val="tx2"/>
                </a:solidFill>
              </a:rPr>
              <a:t>Porsi SHAP per kelompok fitur (</a:t>
            </a:r>
            <a:pPr algn="l" indent="0" marL="0">
              <a:buNone/>
            </a:pPr>
            <a:r>
              <a:rPr lang="en-US" sz="1400" b="1" i="1" dirty="0">
                <a:solidFill>
                  <a:schemeClr val="tx2"/>
                </a:solidFill>
              </a:rPr>
              <a:t>writeup</a:t>
            </a:r>
            <a:pPr algn="l" indent="0" marL="0">
              <a:buNone/>
            </a:pPr>
            <a:r>
              <a:rPr lang="en-US" sz="1400" b="1" dirty="0">
                <a:solidFill>
                  <a:schemeClr val="tx2"/>
                </a:solidFill>
              </a:rPr>
              <a:t> B Tabel 3)</a:t>
            </a:r>
            <a:endParaRPr lang="en-US" sz="1400" dirty="0"/>
          </a:p>
        </p:txBody>
      </p:sp>
      <p:graphicFrame>
        <p:nvGraphicFramePr>
          <p:cNvPr id="37" name="tabel porsi kelompok"/>
          <p:cNvGraphicFramePr>
            <a:graphicFrameLocks noGrp="1"/>
          </p:cNvGraphicFramePr>
          <p:nvPr>
            <p:extLst>
              <p:ext uri="{D42A27DB-BD31-4B8C-83A1-F6EECF244321}">
                <p14:modId xmlns:p14="http://schemas.microsoft.com/office/powerpoint/2010/main" val="1579011935"/>
              </p:ext>
            </p:extLst>
          </p:nvPr>
        </p:nvGraphicFramePr>
        <p:xfrm>
          <a:off x="4846320" y="2267712"/>
          <a:ext cx="6793992" cy="914400"/>
        </p:xfrm>
        <a:graphic>
          <a:graphicData uri="http://schemas.openxmlformats.org/drawingml/2006/table">
            <a:tbl>
              <a:tblPr/>
              <a:tblGrid>
                <a:gridCol w="1188720"/>
                <a:gridCol w="1344168"/>
                <a:gridCol w="868680"/>
                <a:gridCol w="960120"/>
                <a:gridCol w="960120"/>
                <a:gridCol w="548640"/>
                <a:gridCol w="923544"/>
              </a:tblGrid>
              <a:tr h="585216">
                <a:tc>
                  <a:txBody>
                    <a:bodyPr/>
                    <a:lstStyle/>
                    <a:p>
                      <a:pPr algn="l" indent="0" marL="0">
                        <a:buNone/>
                      </a:pPr>
                      <a:r>
                        <a:rPr lang="en-US" sz="1400" b="1" dirty="0">
                          <a:solidFill>
                            <a:srgbClr val="FFFFFF"/>
                          </a:solidFill>
                        </a:rPr>
                        <a:t>Target</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Sosiodemografi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Rasio fisik</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Periode bangunan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Dimensi bangunan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Iklim</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Komposisi pemanas</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400" dirty="0">
                          <a:solidFill>
                            <a:srgbClr val="1F2933"/>
                          </a:solidFill>
                        </a:rPr>
                        <a:t>EUI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30%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25%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9%</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1F2933"/>
                          </a:solidFill>
                        </a:rPr>
                        <a:t>Gas per meter</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28%</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30%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11%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11%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8%</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12064">
                <a:tc>
                  <a:txBody>
                    <a:bodyPr/>
                    <a:lstStyle/>
                    <a:p>
                      <a:pPr algn="l" indent="0" marL="0">
                        <a:buNone/>
                      </a:pPr>
                      <a:r>
                        <a:rPr lang="en-US" sz="1400" dirty="0">
                          <a:solidFill>
                            <a:srgbClr val="1F2933"/>
                          </a:solidFill>
                        </a:rPr>
                        <a:t>Listrik per meter</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26%</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5B4A86"/>
                          </a:solidFill>
                        </a:rPr>
                        <a:t>Adopsi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15%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81%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9" name="Text 4"/>
          <p:cNvSpPr txBox="1"/>
          <p:nvPr/>
        </p:nvSpPr>
        <p:spPr>
          <a:xfrm>
            <a:off x="4846320" y="4681728"/>
            <a:ext cx="6793992" cy="274320"/>
          </a:xfrm>
          <a:prstGeom prst="rect">
            <a:avLst/>
          </a:prstGeom>
          <a:noFill/>
          <a:ln/>
        </p:spPr>
        <p:txBody>
          <a:bodyPr wrap="square" lIns="0" tIns="0" rIns="0" bIns="0" rtlCol="0" anchor="t"/>
          <a:lstStyle/>
          <a:p>
            <a:pPr algn="l" indent="0" marL="0">
              <a:buNone/>
            </a:pPr>
            <a:r>
              <a:rPr lang="en-US" sz="1400" dirty="0">
                <a:solidFill>
                  <a:schemeClr val="accent5"/>
                </a:solidFill>
              </a:rPr>
              <a:t>Sisa porsi tiap baris: kelompok lokasi dan agregat kawasan</a:t>
            </a:r>
            <a:endParaRPr lang="en-US" sz="1400" dirty="0"/>
          </a:p>
        </p:txBody>
      </p:sp>
      <p:sp>
        <p:nvSpPr>
          <p:cNvPr id="10" name="kotak penegas"/>
          <p:cNvSpPr/>
          <p:nvPr/>
        </p:nvSpPr>
        <p:spPr>
          <a:xfrm>
            <a:off x="548640" y="5074920"/>
            <a:ext cx="11094415" cy="1005840"/>
          </a:xfrm>
          <a:prstGeom prst="roundRect">
            <a:avLst>
              <a:gd name="adj" fmla="val 7273"/>
            </a:avLst>
          </a:prstGeom>
          <a:solidFill>
            <a:schemeClr val="accent3">
              <a:alpha val="10000"/>
            </a:schemeClr>
          </a:solidFill>
          <a:ln/>
        </p:spPr>
      </p:sp>
      <p:sp>
        <p:nvSpPr>
          <p:cNvPr id="11" name="Text 6"/>
          <p:cNvSpPr txBox="1"/>
          <p:nvPr/>
        </p:nvSpPr>
        <p:spPr>
          <a:xfrm>
            <a:off x="777240" y="5120640"/>
            <a:ext cx="10637215" cy="914400"/>
          </a:xfrm>
          <a:prstGeom prst="rect">
            <a:avLst/>
          </a:prstGeom>
          <a:noFill/>
          <a:ln/>
        </p:spPr>
        <p:txBody>
          <a:bodyPr wrap="square" lIns="0" tIns="0" rIns="0" bIns="0" rtlCol="0" anchor="ctr"/>
          <a:lstStyle/>
          <a:p>
            <a:pPr algn="l" indent="0" marL="0">
              <a:buNone/>
            </a:pPr>
            <a:r>
              <a:rPr lang="en-US" sz="1700" dirty="0">
                <a:solidFill>
                  <a:schemeClr val="tx1"/>
                </a:solidFill>
              </a:rPr>
              <a:t>SHAP = sumbangan pada prediksi model penjelas, bukan sebab-akibat</a:t>
            </a:r>
            <a:endParaRPr lang="en-US" sz="17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C6</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Celah data dan rencana validasi lapangan</a:t>
            </a:r>
            <a:endParaRPr lang="en-US" sz="2600" dirty="0"/>
          </a:p>
        </p:txBody>
      </p:sp>
      <p:sp>
        <p:nvSpPr>
          <p:cNvPr id="5" name="Text 2"/>
          <p:cNvSpPr txBox="1"/>
          <p:nvPr/>
        </p:nvSpPr>
        <p:spPr>
          <a:xfrm>
            <a:off x="548640" y="1691640"/>
            <a:ext cx="2743200" cy="274320"/>
          </a:xfrm>
          <a:prstGeom prst="rect">
            <a:avLst/>
          </a:prstGeom>
          <a:noFill/>
          <a:ln/>
        </p:spPr>
        <p:txBody>
          <a:bodyPr wrap="square" lIns="0" tIns="0" rIns="0" bIns="0" rtlCol="0" anchor="t"/>
          <a:lstStyle/>
          <a:p>
            <a:pPr algn="l" indent="0" marL="0">
              <a:buNone/>
            </a:pPr>
            <a:r>
              <a:rPr lang="en-US" sz="1400" b="1" dirty="0">
                <a:solidFill>
                  <a:schemeClr val="tx2"/>
                </a:solidFill>
              </a:rPr>
              <a:t>Celah data</a:t>
            </a:r>
            <a:endParaRPr lang="en-US" sz="1400" dirty="0"/>
          </a:p>
        </p:txBody>
      </p:sp>
      <p:sp>
        <p:nvSpPr>
          <p:cNvPr id="6" name="celah beban puncak (kW)"/>
          <p:cNvSpPr/>
          <p:nvPr/>
        </p:nvSpPr>
        <p:spPr>
          <a:xfrm>
            <a:off x="548640" y="2039112"/>
            <a:ext cx="1797710" cy="365760"/>
          </a:xfrm>
          <a:prstGeom prst="roundRect">
            <a:avLst>
              <a:gd name="adj" fmla="val 50000"/>
            </a:avLst>
          </a:prstGeom>
          <a:solidFill>
            <a:schemeClr val="bg2"/>
          </a:solidFill>
          <a:ln w="9525">
            <a:solidFill>
              <a:schemeClr val="accent4"/>
            </a:solidFill>
            <a:prstDash val="solid"/>
          </a:ln>
        </p:spPr>
      </p:sp>
      <p:sp>
        <p:nvSpPr>
          <p:cNvPr id="7" name="Text 4"/>
          <p:cNvSpPr txBox="1"/>
          <p:nvPr/>
        </p:nvSpPr>
        <p:spPr>
          <a:xfrm>
            <a:off x="548640" y="2039112"/>
            <a:ext cx="1797710" cy="365760"/>
          </a:xfrm>
          <a:prstGeom prst="rect">
            <a:avLst/>
          </a:prstGeom>
          <a:noFill/>
          <a:ln/>
        </p:spPr>
        <p:txBody>
          <a:bodyPr wrap="square" lIns="0" tIns="0" rIns="0" bIns="0" rtlCol="0" anchor="ctr"/>
          <a:lstStyle/>
          <a:p>
            <a:pPr algn="ctr" indent="0" marL="0">
              <a:buNone/>
            </a:pPr>
            <a:r>
              <a:rPr lang="en-US" sz="1400" dirty="0">
                <a:solidFill>
                  <a:schemeClr val="tx1"/>
                </a:solidFill>
              </a:rPr>
              <a:t>beban puncak (kW)</a:t>
            </a:r>
            <a:endParaRPr lang="en-US" sz="1400" dirty="0"/>
          </a:p>
        </p:txBody>
      </p:sp>
      <p:sp>
        <p:nvSpPr>
          <p:cNvPr id="8" name="celah kapasitas gardu"/>
          <p:cNvSpPr/>
          <p:nvPr/>
        </p:nvSpPr>
        <p:spPr>
          <a:xfrm>
            <a:off x="2456078" y="2039112"/>
            <a:ext cx="1618488" cy="365760"/>
          </a:xfrm>
          <a:prstGeom prst="roundRect">
            <a:avLst>
              <a:gd name="adj" fmla="val 50000"/>
            </a:avLst>
          </a:prstGeom>
          <a:solidFill>
            <a:schemeClr val="bg2"/>
          </a:solidFill>
          <a:ln w="9525">
            <a:solidFill>
              <a:schemeClr val="accent4"/>
            </a:solidFill>
            <a:prstDash val="solid"/>
          </a:ln>
        </p:spPr>
      </p:sp>
      <p:sp>
        <p:nvSpPr>
          <p:cNvPr id="9" name="Text 6"/>
          <p:cNvSpPr txBox="1"/>
          <p:nvPr/>
        </p:nvSpPr>
        <p:spPr>
          <a:xfrm>
            <a:off x="2456078" y="2039112"/>
            <a:ext cx="1618488" cy="365760"/>
          </a:xfrm>
          <a:prstGeom prst="rect">
            <a:avLst/>
          </a:prstGeom>
          <a:noFill/>
          <a:ln/>
        </p:spPr>
        <p:txBody>
          <a:bodyPr wrap="square" lIns="0" tIns="0" rIns="0" bIns="0" rtlCol="0" anchor="ctr"/>
          <a:lstStyle/>
          <a:p>
            <a:pPr algn="ctr" indent="0" marL="0">
              <a:buNone/>
            </a:pPr>
            <a:r>
              <a:rPr lang="en-US" sz="1400" dirty="0">
                <a:solidFill>
                  <a:schemeClr val="tx1"/>
                </a:solidFill>
              </a:rPr>
              <a:t>kapasitas gardu</a:t>
            </a:r>
            <a:endParaRPr lang="en-US" sz="1400" dirty="0"/>
          </a:p>
        </p:txBody>
      </p:sp>
      <p:sp>
        <p:nvSpPr>
          <p:cNvPr id="10" name="celah COP lokal"/>
          <p:cNvSpPr/>
          <p:nvPr/>
        </p:nvSpPr>
        <p:spPr>
          <a:xfrm>
            <a:off x="4184294" y="2039112"/>
            <a:ext cx="1080821" cy="365760"/>
          </a:xfrm>
          <a:prstGeom prst="roundRect">
            <a:avLst>
              <a:gd name="adj" fmla="val 50000"/>
            </a:avLst>
          </a:prstGeom>
          <a:solidFill>
            <a:schemeClr val="bg2"/>
          </a:solidFill>
          <a:ln w="9525">
            <a:solidFill>
              <a:schemeClr val="accent4"/>
            </a:solidFill>
            <a:prstDash val="solid"/>
          </a:ln>
        </p:spPr>
      </p:sp>
      <p:sp>
        <p:nvSpPr>
          <p:cNvPr id="11" name="Text 8"/>
          <p:cNvSpPr txBox="1"/>
          <p:nvPr/>
        </p:nvSpPr>
        <p:spPr>
          <a:xfrm>
            <a:off x="4184294" y="2039112"/>
            <a:ext cx="1080821" cy="365760"/>
          </a:xfrm>
          <a:prstGeom prst="rect">
            <a:avLst/>
          </a:prstGeom>
          <a:noFill/>
          <a:ln/>
        </p:spPr>
        <p:txBody>
          <a:bodyPr wrap="square" lIns="0" tIns="0" rIns="0" bIns="0" rtlCol="0" anchor="ctr"/>
          <a:lstStyle/>
          <a:p>
            <a:pPr algn="ctr" indent="0" marL="0">
              <a:buNone/>
            </a:pPr>
            <a:r>
              <a:rPr lang="en-US" sz="1400" dirty="0">
                <a:solidFill>
                  <a:schemeClr val="tx1"/>
                </a:solidFill>
              </a:rPr>
              <a:t>COP lokal</a:t>
            </a:r>
            <a:endParaRPr lang="en-US" sz="1400" dirty="0"/>
          </a:p>
        </p:txBody>
      </p:sp>
      <p:sp>
        <p:nvSpPr>
          <p:cNvPr id="12" name="celah koordinat geografis"/>
          <p:cNvSpPr/>
          <p:nvPr/>
        </p:nvSpPr>
        <p:spPr>
          <a:xfrm>
            <a:off x="5374843" y="2039112"/>
            <a:ext cx="1976933" cy="365760"/>
          </a:xfrm>
          <a:prstGeom prst="roundRect">
            <a:avLst>
              <a:gd name="adj" fmla="val 50000"/>
            </a:avLst>
          </a:prstGeom>
          <a:solidFill>
            <a:schemeClr val="bg2"/>
          </a:solidFill>
          <a:ln w="9525">
            <a:solidFill>
              <a:schemeClr val="accent4"/>
            </a:solidFill>
            <a:prstDash val="solid"/>
          </a:ln>
        </p:spPr>
      </p:sp>
      <p:sp>
        <p:nvSpPr>
          <p:cNvPr id="13" name="Text 10"/>
          <p:cNvSpPr txBox="1"/>
          <p:nvPr/>
        </p:nvSpPr>
        <p:spPr>
          <a:xfrm>
            <a:off x="5374843" y="2039112"/>
            <a:ext cx="1976933" cy="365760"/>
          </a:xfrm>
          <a:prstGeom prst="rect">
            <a:avLst/>
          </a:prstGeom>
          <a:noFill/>
          <a:ln/>
        </p:spPr>
        <p:txBody>
          <a:bodyPr wrap="square" lIns="0" tIns="0" rIns="0" bIns="0" rtlCol="0" anchor="ctr"/>
          <a:lstStyle/>
          <a:p>
            <a:pPr algn="ctr" indent="0" marL="0">
              <a:buNone/>
            </a:pPr>
            <a:r>
              <a:rPr lang="en-US" sz="1400" dirty="0">
                <a:solidFill>
                  <a:schemeClr val="tx1"/>
                </a:solidFill>
              </a:rPr>
              <a:t>koordinat geografis</a:t>
            </a:r>
            <a:endParaRPr lang="en-US" sz="1400" dirty="0"/>
          </a:p>
        </p:txBody>
      </p:sp>
      <p:sp>
        <p:nvSpPr>
          <p:cNvPr id="14" name="celah biaya retrofit"/>
          <p:cNvSpPr/>
          <p:nvPr/>
        </p:nvSpPr>
        <p:spPr>
          <a:xfrm>
            <a:off x="7461504" y="2039112"/>
            <a:ext cx="1528877" cy="365760"/>
          </a:xfrm>
          <a:prstGeom prst="roundRect">
            <a:avLst>
              <a:gd name="adj" fmla="val 50000"/>
            </a:avLst>
          </a:prstGeom>
          <a:solidFill>
            <a:schemeClr val="bg2"/>
          </a:solidFill>
          <a:ln w="9525">
            <a:solidFill>
              <a:schemeClr val="accent4"/>
            </a:solidFill>
            <a:prstDash val="solid"/>
          </a:ln>
        </p:spPr>
      </p:sp>
      <p:sp>
        <p:nvSpPr>
          <p:cNvPr id="15" name="Text 12"/>
          <p:cNvSpPr txBox="1"/>
          <p:nvPr/>
        </p:nvSpPr>
        <p:spPr>
          <a:xfrm>
            <a:off x="7461504" y="2039112"/>
            <a:ext cx="1528877" cy="365760"/>
          </a:xfrm>
          <a:prstGeom prst="rect">
            <a:avLst/>
          </a:prstGeom>
          <a:noFill/>
          <a:ln/>
        </p:spPr>
        <p:txBody>
          <a:bodyPr wrap="square" lIns="0" tIns="0" rIns="0" bIns="0" rtlCol="0" anchor="ctr"/>
          <a:lstStyle/>
          <a:p>
            <a:pPr algn="ctr" indent="0" marL="0">
              <a:buNone/>
            </a:pPr>
            <a:r>
              <a:rPr lang="en-US" sz="1400" dirty="0">
                <a:solidFill>
                  <a:schemeClr val="tx1"/>
                </a:solidFill>
              </a:rPr>
              <a:t>biaya </a:t>
            </a:r>
            <a:pPr algn="ctr" indent="0" marL="0">
              <a:buNone/>
            </a:pPr>
            <a:r>
              <a:rPr lang="en-US" sz="1400" i="1" dirty="0">
                <a:solidFill>
                  <a:schemeClr val="tx1"/>
                </a:solidFill>
              </a:rPr>
              <a:t>retrofit</a:t>
            </a:r>
            <a:endParaRPr lang="en-US" sz="1400" dirty="0"/>
          </a:p>
        </p:txBody>
      </p:sp>
      <p:sp>
        <p:nvSpPr>
          <p:cNvPr id="16" name="celah tarif"/>
          <p:cNvSpPr/>
          <p:nvPr/>
        </p:nvSpPr>
        <p:spPr>
          <a:xfrm>
            <a:off x="9100109" y="2039112"/>
            <a:ext cx="722376" cy="365760"/>
          </a:xfrm>
          <a:prstGeom prst="roundRect">
            <a:avLst>
              <a:gd name="adj" fmla="val 50000"/>
            </a:avLst>
          </a:prstGeom>
          <a:solidFill>
            <a:schemeClr val="bg2"/>
          </a:solidFill>
          <a:ln w="9525">
            <a:solidFill>
              <a:schemeClr val="accent4"/>
            </a:solidFill>
            <a:prstDash val="solid"/>
          </a:ln>
        </p:spPr>
      </p:sp>
      <p:sp>
        <p:nvSpPr>
          <p:cNvPr id="17" name="Text 14"/>
          <p:cNvSpPr txBox="1"/>
          <p:nvPr/>
        </p:nvSpPr>
        <p:spPr>
          <a:xfrm>
            <a:off x="9100109" y="2039112"/>
            <a:ext cx="722376" cy="365760"/>
          </a:xfrm>
          <a:prstGeom prst="rect">
            <a:avLst/>
          </a:prstGeom>
          <a:noFill/>
          <a:ln/>
        </p:spPr>
        <p:txBody>
          <a:bodyPr wrap="square" lIns="0" tIns="0" rIns="0" bIns="0" rtlCol="0" anchor="ctr"/>
          <a:lstStyle/>
          <a:p>
            <a:pPr algn="ctr" indent="0" marL="0">
              <a:buNone/>
            </a:pPr>
            <a:r>
              <a:rPr lang="en-US" sz="1400" dirty="0">
                <a:solidFill>
                  <a:schemeClr val="tx1"/>
                </a:solidFill>
              </a:rPr>
              <a:t>tarif</a:t>
            </a:r>
            <a:endParaRPr lang="en-US" sz="1400" dirty="0"/>
          </a:p>
        </p:txBody>
      </p:sp>
      <p:sp>
        <p:nvSpPr>
          <p:cNvPr id="18" name="celah intensitas karbon listrik"/>
          <p:cNvSpPr/>
          <p:nvPr/>
        </p:nvSpPr>
        <p:spPr>
          <a:xfrm>
            <a:off x="548640" y="2478024"/>
            <a:ext cx="2514600" cy="365760"/>
          </a:xfrm>
          <a:prstGeom prst="roundRect">
            <a:avLst>
              <a:gd name="adj" fmla="val 50000"/>
            </a:avLst>
          </a:prstGeom>
          <a:solidFill>
            <a:schemeClr val="bg2"/>
          </a:solidFill>
          <a:ln w="9525">
            <a:solidFill>
              <a:schemeClr val="accent4"/>
            </a:solidFill>
            <a:prstDash val="solid"/>
          </a:ln>
        </p:spPr>
      </p:sp>
      <p:sp>
        <p:nvSpPr>
          <p:cNvPr id="19" name="Text 16"/>
          <p:cNvSpPr txBox="1"/>
          <p:nvPr/>
        </p:nvSpPr>
        <p:spPr>
          <a:xfrm>
            <a:off x="548640" y="2478024"/>
            <a:ext cx="2514600" cy="365760"/>
          </a:xfrm>
          <a:prstGeom prst="rect">
            <a:avLst/>
          </a:prstGeom>
          <a:noFill/>
          <a:ln/>
        </p:spPr>
        <p:txBody>
          <a:bodyPr wrap="square" lIns="0" tIns="0" rIns="0" bIns="0" rtlCol="0" anchor="ctr"/>
          <a:lstStyle/>
          <a:p>
            <a:pPr algn="ctr" indent="0" marL="0">
              <a:buNone/>
            </a:pPr>
            <a:r>
              <a:rPr lang="en-US" sz="1400" dirty="0">
                <a:solidFill>
                  <a:schemeClr val="tx1"/>
                </a:solidFill>
              </a:rPr>
              <a:t>intensitas karbon listrik</a:t>
            </a:r>
            <a:endParaRPr lang="en-US" sz="1400" dirty="0"/>
          </a:p>
        </p:txBody>
      </p:sp>
      <p:sp>
        <p:nvSpPr>
          <p:cNvPr id="20" name="Text 17"/>
          <p:cNvSpPr txBox="1"/>
          <p:nvPr/>
        </p:nvSpPr>
        <p:spPr>
          <a:xfrm>
            <a:off x="548640" y="3072384"/>
            <a:ext cx="2743200" cy="274320"/>
          </a:xfrm>
          <a:prstGeom prst="rect">
            <a:avLst/>
          </a:prstGeom>
          <a:noFill/>
          <a:ln/>
        </p:spPr>
        <p:txBody>
          <a:bodyPr wrap="square" lIns="0" tIns="0" rIns="0" bIns="0" rtlCol="0" anchor="t"/>
          <a:lstStyle/>
          <a:p>
            <a:pPr algn="l" indent="0" marL="0">
              <a:buNone/>
            </a:pPr>
            <a:r>
              <a:rPr lang="en-US" sz="1400" b="1" dirty="0">
                <a:solidFill>
                  <a:schemeClr val="tx2"/>
                </a:solidFill>
              </a:rPr>
              <a:t>Rencana validasi</a:t>
            </a:r>
            <a:endParaRPr lang="en-US" sz="1400" dirty="0"/>
          </a:p>
        </p:txBody>
      </p:sp>
      <p:graphicFrame>
        <p:nvGraphicFramePr>
          <p:cNvPr id="20" name="tabel rencana validasi"/>
          <p:cNvGraphicFramePr>
            <a:graphicFrameLocks noGrp="1"/>
          </p:cNvGraphicFramePr>
          <p:nvPr>
            <p:extLst>
              <p:ext uri="{D42A27DB-BD31-4B8C-83A1-F6EECF244321}">
                <p14:modId xmlns:p14="http://schemas.microsoft.com/office/powerpoint/2010/main" val="1579011935"/>
              </p:ext>
            </p:extLst>
          </p:nvPr>
        </p:nvGraphicFramePr>
        <p:xfrm>
          <a:off x="548640" y="3392424"/>
          <a:ext cx="11094415" cy="914400"/>
        </p:xfrm>
        <a:graphic>
          <a:graphicData uri="http://schemas.openxmlformats.org/drawingml/2006/table">
            <a:tbl>
              <a:tblPr/>
              <a:tblGrid>
                <a:gridCol w="1874520"/>
                <a:gridCol w="2697480"/>
                <a:gridCol w="3520440"/>
                <a:gridCol w="3001975"/>
              </a:tblGrid>
              <a:tr h="384048">
                <a:tc>
                  <a:txBody>
                    <a:bodyPr/>
                    <a:lstStyle/>
                    <a:p>
                      <a:pPr algn="l" indent="0" marL="0">
                        <a:buNone/>
                      </a:pPr>
                      <a:r>
                        <a:rPr lang="en-US" sz="1400" b="1" dirty="0">
                          <a:solidFill>
                            <a:srgbClr val="FFFFFF"/>
                          </a:solidFill>
                        </a:rPr>
                        <a:t>Rekomendasi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Pelaksana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Validasi sebelum perluasan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Ukuran keberhasilan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603504">
                <a:tc>
                  <a:txBody>
                    <a:bodyPr/>
                    <a:lstStyle/>
                    <a:p>
                      <a:pPr algn="l" indent="0" marL="0">
                        <a:buNone/>
                      </a:pPr>
                      <a:r>
                        <a:rPr lang="en-US" sz="1400" dirty="0">
                          <a:solidFill>
                            <a:srgbClr val="1F2933"/>
                          </a:solidFill>
                        </a:rPr>
                        <a:t>R1 </a:t>
                      </a:r>
                      <a:pPr algn="l" indent="0" marL="0">
                        <a:buNone/>
                      </a:pPr>
                      <a:r>
                        <a:rPr lang="en-US" sz="1400" i="1" dirty="0">
                          <a:solidFill>
                            <a:srgbClr val="1F2933"/>
                          </a:solidFill>
                        </a:rPr>
                        <a:t>retrofit</a:t>
                      </a:r>
                      <a:pPr algn="l" indent="0" marL="0">
                        <a:buNone/>
                      </a:pPr>
                      <a:r>
                        <a:rPr lang="en-US" sz="1400" dirty="0">
                          <a:solidFill>
                            <a:srgbClr val="1F2933"/>
                          </a:solidFill>
                        </a:rPr>
                        <a:t> Q1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pemerintah kota, penyedia jasa </a:t>
                      </a:r>
                      <a:pPr algn="l" indent="0" marL="0">
                        <a:buNone/>
                      </a:pPr>
                      <a:r>
                        <a:rPr lang="en-US" sz="1400" i="1" dirty="0">
                          <a:solidFill>
                            <a:srgbClr val="1F2933"/>
                          </a:solidFill>
                        </a:rPr>
                        <a:t>retrofit</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audit energi REG_273, REG_270, REG_045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gas per m² turun vs pembanding</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algn="l" indent="0" marL="0">
                        <a:buNone/>
                      </a:pPr>
                      <a:r>
                        <a:rPr lang="en-US" sz="1400" dirty="0">
                          <a:solidFill>
                            <a:srgbClr val="1F2933"/>
                          </a:solidFill>
                        </a:rPr>
                        <a:t>R2 gardu Q1 dan Q3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operator jaringan, pemerintah kota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beban puncak dan kapasitas gardu REG_263, REG_270, REG_045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tidak ada gardu melampaui kapasitas</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603504">
                <a:tc>
                  <a:txBody>
                    <a:bodyPr/>
                    <a:lstStyle/>
                    <a:p>
                      <a:pPr algn="l" indent="0" marL="0">
                        <a:buNone/>
                      </a:pPr>
                      <a:r>
                        <a:rPr lang="en-US" sz="1400" dirty="0">
                          <a:solidFill>
                            <a:srgbClr val="1F2933"/>
                          </a:solidFill>
                        </a:rPr>
                        <a:t>R3 pilot Q2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pemerintah kota, penyedia pompa panas</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cek gardu lokal, pilot bergiliran dan audit energi (REG_033)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adopsi naik vs pembanding</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C7</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Validasi acak per baris meniru data uji,</a:t>
            </a:r>
            <a:br/>
            <a:pPr algn="l" indent="0" marL="0">
              <a:buNone/>
            </a:pPr>
            <a:r>
              <a:rPr lang="en-US" sz="2600" b="1" dirty="0">
                <a:solidFill>
                  <a:schemeClr val="tx2"/>
                </a:solidFill>
              </a:rPr>
              <a:t>sedangkan validasi per zona akan membuang fitur yang berguna</a:t>
            </a:r>
            <a:endParaRPr lang="en-US" sz="2600" dirty="0"/>
          </a:p>
        </p:txBody>
      </p:sp>
      <p:sp>
        <p:nvSpPr>
          <p:cNvPr id="5" name="Text 2"/>
          <p:cNvSpPr txBox="1"/>
          <p:nvPr/>
        </p:nvSpPr>
        <p:spPr>
          <a:xfrm>
            <a:off x="548640" y="1691640"/>
            <a:ext cx="6400800" cy="274320"/>
          </a:xfrm>
          <a:prstGeom prst="rect">
            <a:avLst/>
          </a:prstGeom>
          <a:noFill/>
          <a:ln/>
        </p:spPr>
        <p:txBody>
          <a:bodyPr wrap="square" lIns="0" tIns="0" rIns="0" bIns="0" rtlCol="0" anchor="t"/>
          <a:lstStyle/>
          <a:p>
            <a:pPr algn="l" indent="0" marL="0">
              <a:buNone/>
            </a:pPr>
            <a:r>
              <a:rPr lang="en-US" sz="1400" b="1" i="1" dirty="0">
                <a:solidFill>
                  <a:schemeClr val="tx2"/>
                </a:solidFill>
              </a:rPr>
              <a:t>Writeup</a:t>
            </a:r>
            <a:pPr algn="l" indent="0" marL="0">
              <a:buNone/>
            </a:pPr>
            <a:r>
              <a:rPr lang="en-US" sz="1400" b="1" dirty="0">
                <a:solidFill>
                  <a:schemeClr val="tx2"/>
                </a:solidFill>
              </a:rPr>
              <a:t> B Tabel 1: LightGBM, RMSE/σ</a:t>
            </a:r>
            <a:endParaRPr lang="en-US" sz="1400" dirty="0"/>
          </a:p>
        </p:txBody>
      </p:sp>
      <p:graphicFrame>
        <p:nvGraphicFramePr>
          <p:cNvPr id="21" name="tabel skema validasi"/>
          <p:cNvGraphicFramePr>
            <a:graphicFrameLocks noGrp="1"/>
          </p:cNvGraphicFramePr>
          <p:nvPr>
            <p:extLst>
              <p:ext uri="{D42A27DB-BD31-4B8C-83A1-F6EECF244321}">
                <p14:modId xmlns:p14="http://schemas.microsoft.com/office/powerpoint/2010/main" val="1579011935"/>
              </p:ext>
            </p:extLst>
          </p:nvPr>
        </p:nvGraphicFramePr>
        <p:xfrm>
          <a:off x="548640" y="2029968"/>
          <a:ext cx="6583680" cy="914400"/>
        </p:xfrm>
        <a:graphic>
          <a:graphicData uri="http://schemas.openxmlformats.org/drawingml/2006/table">
            <a:tbl>
              <a:tblPr/>
              <a:tblGrid>
                <a:gridCol w="1554480"/>
                <a:gridCol w="1600200"/>
                <a:gridCol w="1143000"/>
                <a:gridCol w="1143000"/>
                <a:gridCol w="1143000"/>
              </a:tblGrid>
              <a:tr h="621792">
                <a:tc>
                  <a:txBody>
                    <a:bodyPr/>
                    <a:lstStyle/>
                    <a:p>
                      <a:pPr algn="l" indent="0" marL="0">
                        <a:buNone/>
                      </a:pPr>
                      <a:r>
                        <a:rPr lang="en-US" sz="1600" b="1" dirty="0">
                          <a:solidFill>
                            <a:srgbClr val="FFFFFF"/>
                          </a:solidFill>
                        </a:rPr>
                        <a:t>Skema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600" b="1" dirty="0">
                          <a:solidFill>
                            <a:srgbClr val="FFFFFF"/>
                          </a:solidFill>
                        </a:rPr>
                        <a:t>Rata-rata wilayah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Gas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EUI</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Listrik</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502920">
                <a:tc>
                  <a:txBody>
                    <a:bodyPr/>
                    <a:lstStyle/>
                    <a:p>
                      <a:pPr algn="l" indent="0" marL="0">
                        <a:buNone/>
                      </a:pPr>
                      <a:r>
                        <a:rPr lang="en-US" sz="1600" dirty="0">
                          <a:solidFill>
                            <a:srgbClr val="1F2933"/>
                          </a:solidFill>
                        </a:rPr>
                        <a:t>acak per baris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3"/>
                          </a:solidFill>
                        </a:rPr>
                        <a:t>tanpa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0,2573</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0,6721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0,3262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algn="l" indent="0" marL="0">
                        <a:buNone/>
                      </a:pPr>
                      <a:r>
                        <a:rPr lang="en-US" sz="1600" dirty="0">
                          <a:solidFill>
                            <a:srgbClr val="1F2933"/>
                          </a:solidFill>
                        </a:rPr>
                        <a:t>acak per baris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600" dirty="0">
                          <a:solidFill>
                            <a:srgbClr val="1F2933"/>
                          </a:solidFill>
                        </a:rPr>
                        <a:t>dengan</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0,2562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0,6699</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0,3255</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02920">
                <a:tc>
                  <a:txBody>
                    <a:bodyPr/>
                    <a:lstStyle/>
                    <a:p>
                      <a:pPr algn="l" indent="0" marL="0">
                        <a:buNone/>
                      </a:pPr>
                      <a:r>
                        <a:rPr lang="en-US" sz="1600" dirty="0">
                          <a:solidFill>
                            <a:srgbClr val="1F2933"/>
                          </a:solidFill>
                        </a:rPr>
                        <a:t>per zona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3"/>
                          </a:solidFill>
                        </a:rPr>
                        <a:t>tanpa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0,2708</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0,6923</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0,3302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algn="l" indent="0" marL="0">
                        <a:buNone/>
                      </a:pPr>
                      <a:r>
                        <a:rPr lang="en-US" sz="1600" b="1" dirty="0">
                          <a:solidFill>
                            <a:srgbClr val="B83A3A"/>
                          </a:solidFill>
                        </a:rPr>
                        <a:t>per zona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600" b="1" dirty="0">
                          <a:solidFill>
                            <a:srgbClr val="B83A3A"/>
                          </a:solidFill>
                        </a:rPr>
                        <a:t>dengan</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b="1" dirty="0">
                          <a:solidFill>
                            <a:srgbClr val="B83A3A"/>
                          </a:solidFill>
                        </a:rPr>
                        <a:t>0,3637</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b="1" dirty="0">
                          <a:solidFill>
                            <a:srgbClr val="B83A3A"/>
                          </a:solidFill>
                        </a:rPr>
                        <a:t>0,8331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b="1" dirty="0">
                          <a:solidFill>
                            <a:srgbClr val="B83A3A"/>
                          </a:solidFill>
                        </a:rPr>
                        <a:t>0,3474</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7" name="Text 3"/>
          <p:cNvSpPr txBox="1"/>
          <p:nvPr/>
        </p:nvSpPr>
        <p:spPr>
          <a:xfrm>
            <a:off x="7498080" y="1691640"/>
            <a:ext cx="4142232" cy="4023360"/>
          </a:xfrm>
          <a:prstGeom prst="rect">
            <a:avLst/>
          </a:prstGeom>
          <a:noFill/>
          <a:ln/>
        </p:spPr>
        <p:txBody>
          <a:bodyPr wrap="square" lIns="0" tIns="0" rIns="0" bIns="0" rtlCol="0" anchor="t"/>
          <a:lstStyle/>
          <a:p>
            <a:pPr algn="l" marL="190500" indent="-190500">
              <a:spcAft>
                <a:spcPts val="1200"/>
              </a:spcAft>
              <a:buSzPct val="100000"/>
              <a:buChar char="•"/>
            </a:pPr>
            <a:r>
              <a:rPr lang="en-US" sz="1600" dirty="0">
                <a:solidFill>
                  <a:schemeClr val="tx1"/>
                </a:solidFill>
              </a:rPr>
              <a:t>Pemisahan data: AUC adversarial 0,4997; kawasan uji di subzona baru 8,14% vs harapan 8,17%</a:t>
            </a:r>
            <a:endParaRPr lang="en-US" sz="1600" dirty="0"/>
          </a:p>
          <a:p>
            <a:pPr algn="l" marL="190500" indent="-190500">
              <a:spcAft>
                <a:spcPts val="1200"/>
              </a:spcAft>
              <a:buSzPct val="100000"/>
              <a:buChar char="•"/>
            </a:pPr>
            <a:r>
              <a:rPr lang="en-US" sz="1600" dirty="0">
                <a:solidFill>
                  <a:schemeClr val="tx1"/>
                </a:solidFill>
              </a:rPr>
              <a:t>Konsisten dengan tidak </a:t>
            </a:r>
            <a:pPr algn="l" indent="0" marL="0">
              <a:spcAft>
                <a:spcPts val="1200"/>
              </a:spcAft>
              <a:buNone/>
            </a:pPr>
            <a:r>
              <a:rPr lang="en-US" sz="1600" i="1" dirty="0">
                <a:solidFill>
                  <a:schemeClr val="tx1"/>
                </a:solidFill>
              </a:rPr>
              <a:t>overfit</a:t>
            </a:r>
            <a:pPr algn="l" indent="0" marL="0">
              <a:spcAft>
                <a:spcPts val="1200"/>
              </a:spcAft>
              <a:buNone/>
            </a:pPr>
            <a:r>
              <a:rPr lang="en-US" sz="1600" dirty="0">
                <a:solidFill>
                  <a:schemeClr val="tx1"/>
                </a:solidFill>
              </a:rPr>
              <a:t>: privat 0,24844 vs publik 0,24913</a:t>
            </a:r>
            <a:endParaRPr lang="en-US" sz="1600" dirty="0"/>
          </a:p>
          <a:p>
            <a:pPr algn="l" marL="190500" indent="-190500">
              <a:spcAft>
                <a:spcPts val="1200"/>
              </a:spcAft>
              <a:buSzPct val="100000"/>
              <a:buChar char="•"/>
            </a:pPr>
            <a:r>
              <a:rPr lang="en-US" sz="1600" i="1" dirty="0">
                <a:solidFill>
                  <a:schemeClr val="tx1"/>
                </a:solidFill>
              </a:rPr>
              <a:t>Leaderboard</a:t>
            </a:r>
            <a:pPr algn="l" indent="0" marL="0">
              <a:spcAft>
                <a:spcPts val="1200"/>
              </a:spcAft>
              <a:buNone/>
            </a:pPr>
            <a:r>
              <a:rPr lang="en-US" sz="1600" dirty="0">
                <a:solidFill>
                  <a:schemeClr val="tx1"/>
                </a:solidFill>
              </a:rPr>
              <a:t> hanya konfirmasi arah; satu perubahan batal karena tidak terkonfirmasi (0,24938 vs 0,24934)</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C8</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Penyesuaian akhir menangani dua batas data,</a:t>
            </a:r>
            <a:br/>
            <a:pPr algn="l" indent="0" marL="0">
              <a:buNone/>
            </a:pPr>
            <a:r>
              <a:rPr lang="en-US" sz="2600" b="1" dirty="0">
                <a:solidFill>
                  <a:schemeClr val="tx2"/>
                </a:solidFill>
              </a:rPr>
              <a:t>dan hasilnya identik setiap diulang di perangkat yang sama</a:t>
            </a:r>
            <a:endParaRPr lang="en-US" sz="2600" dirty="0"/>
          </a:p>
        </p:txBody>
      </p:sp>
      <p:graphicFrame>
        <p:nvGraphicFramePr>
          <p:cNvPr id="22" name="tabel penyesuaian akhir"/>
          <p:cNvGraphicFramePr>
            <a:graphicFrameLocks noGrp="1"/>
          </p:cNvGraphicFramePr>
          <p:nvPr>
            <p:extLst>
              <p:ext uri="{D42A27DB-BD31-4B8C-83A1-F6EECF244321}">
                <p14:modId xmlns:p14="http://schemas.microsoft.com/office/powerpoint/2010/main" val="1579011935"/>
              </p:ext>
            </p:extLst>
          </p:nvPr>
        </p:nvGraphicFramePr>
        <p:xfrm>
          <a:off x="548640" y="1691640"/>
          <a:ext cx="6400800" cy="914400"/>
        </p:xfrm>
        <a:graphic>
          <a:graphicData uri="http://schemas.openxmlformats.org/drawingml/2006/table">
            <a:tbl>
              <a:tblPr/>
              <a:tblGrid>
                <a:gridCol w="2697480"/>
                <a:gridCol w="1234440"/>
                <a:gridCol w="1234440"/>
                <a:gridCol w="1234440"/>
              </a:tblGrid>
              <a:tr h="548640">
                <a:tc>
                  <a:txBody>
                    <a:bodyPr/>
                    <a:lstStyle/>
                    <a:p>
                      <a:pPr algn="l" indent="0" marL="0">
                        <a:buNone/>
                      </a:pPr>
                      <a:r>
                        <a:rPr lang="en-US" sz="1600" b="1" dirty="0">
                          <a:solidFill>
                            <a:srgbClr val="FFFFFF"/>
                          </a:solidFill>
                        </a:rPr>
                        <a:t>Langkah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Gas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EUI</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Listrik</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548640">
                <a:tc>
                  <a:txBody>
                    <a:bodyPr/>
                    <a:lstStyle/>
                    <a:p>
                      <a:pPr algn="l" indent="0" marL="0">
                        <a:buNone/>
                      </a:pPr>
                      <a:r>
                        <a:rPr lang="en-US" sz="1600" dirty="0">
                          <a:solidFill>
                            <a:srgbClr val="1F2933"/>
                          </a:solidFill>
                        </a:rPr>
                        <a:t>S1: kawasan 2 sampai 3 meter</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+20,1%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+18,4%</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+18,7%</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1F2933"/>
                          </a:solidFill>
                        </a:rPr>
                        <a:t>S1: kawasan 4 meter</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+6,4%</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+3,2%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+7,1%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48640">
                <a:tc>
                  <a:txBody>
                    <a:bodyPr/>
                    <a:lstStyle/>
                    <a:p>
                      <a:pPr algn="l" indent="0" marL="0">
                        <a:buNone/>
                      </a:pPr>
                      <a:r>
                        <a:rPr lang="en-US" sz="1600" dirty="0">
                          <a:solidFill>
                            <a:srgbClr val="1F2933"/>
                          </a:solidFill>
                        </a:rPr>
                        <a:t>S3: faktor k</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0,505</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0,657</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tidak dipakai</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1F2933"/>
                          </a:solidFill>
                        </a:rPr>
                        <a:t>S4: batas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batas latih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batas latih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batas latih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6" name="Text 2"/>
          <p:cNvSpPr txBox="1"/>
          <p:nvPr/>
        </p:nvSpPr>
        <p:spPr>
          <a:xfrm>
            <a:off x="7269480" y="1691640"/>
            <a:ext cx="4370832" cy="4206240"/>
          </a:xfrm>
          <a:prstGeom prst="rect">
            <a:avLst/>
          </a:prstGeom>
          <a:noFill/>
          <a:ln/>
        </p:spPr>
        <p:txBody>
          <a:bodyPr wrap="square" lIns="0" tIns="0" rIns="0" bIns="0" rtlCol="0" anchor="t"/>
          <a:lstStyle/>
          <a:p>
            <a:pPr algn="l" marL="190500" indent="-190500">
              <a:spcAft>
                <a:spcPts val="1200"/>
              </a:spcAft>
              <a:buSzPct val="100000"/>
              <a:buChar char="•"/>
            </a:pPr>
            <a:r>
              <a:rPr lang="en-US" sz="1600" dirty="0">
                <a:solidFill>
                  <a:schemeClr val="tx1"/>
                </a:solidFill>
              </a:rPr>
              <a:t>S3: tebakan gas dekat batas 999.765 kWh ditarik turun; S4: dipotong ke batas data latih</a:t>
            </a:r>
            <a:endParaRPr lang="en-US" sz="1600" dirty="0"/>
          </a:p>
          <a:p>
            <a:pPr algn="l" marL="190500" indent="-190500">
              <a:spcAft>
                <a:spcPts val="1200"/>
              </a:spcAft>
              <a:buSzPct val="100000"/>
              <a:buChar char="•"/>
            </a:pPr>
            <a:r>
              <a:rPr lang="en-US" sz="1600" dirty="0">
                <a:solidFill>
                  <a:schemeClr val="tx1"/>
                </a:solidFill>
              </a:rPr>
              <a:t>S1, S3, dan S4: </a:t>
            </a:r>
            <a:pPr algn="l" indent="0" marL="0">
              <a:spcAft>
                <a:spcPts val="1200"/>
              </a:spcAft>
              <a:buNone/>
            </a:pPr>
            <a:r>
              <a:rPr lang="en-US" sz="1600" i="1" dirty="0">
                <a:solidFill>
                  <a:schemeClr val="tx1"/>
                </a:solidFill>
              </a:rPr>
              <a:t>leaderboard</a:t>
            </a:r>
            <a:pPr algn="l" indent="0" marL="0">
              <a:spcAft>
                <a:spcPts val="1200"/>
              </a:spcAft>
              <a:buNone/>
            </a:pPr>
            <a:r>
              <a:rPr lang="en-US" sz="1600" dirty="0">
                <a:solidFill>
                  <a:schemeClr val="tx1"/>
                </a:solidFill>
              </a:rPr>
              <a:t> 0,24920 menjadi 0,24913</a:t>
            </a:r>
            <a:endParaRPr lang="en-US" sz="1600" dirty="0"/>
          </a:p>
          <a:p>
            <a:pPr algn="l" marL="190500" indent="-190500">
              <a:spcAft>
                <a:spcPts val="1200"/>
              </a:spcAft>
              <a:buSzPct val="100000"/>
              <a:buChar char="•"/>
            </a:pPr>
            <a:r>
              <a:rPr lang="en-US" sz="1600" dirty="0">
                <a:solidFill>
                  <a:schemeClr val="tx1"/>
                </a:solidFill>
              </a:rPr>
              <a:t>77 kawasan uji identik dengan kawasan latih disalin</a:t>
            </a:r>
            <a:endParaRPr lang="en-US" sz="1600" dirty="0"/>
          </a:p>
          <a:p>
            <a:pPr algn="l" marL="190500" indent="-190500">
              <a:spcAft>
                <a:spcPts val="1200"/>
              </a:spcAft>
              <a:buSzPct val="100000"/>
              <a:buChar char="•"/>
            </a:pPr>
            <a:r>
              <a:rPr lang="en-US" sz="1600" i="1" dirty="0">
                <a:solidFill>
                  <a:schemeClr val="tx1"/>
                </a:solidFill>
              </a:rPr>
              <a:t>Seed</a:t>
            </a:r>
            <a:pPr algn="l" indent="0" marL="0">
              <a:spcAft>
                <a:spcPts val="1200"/>
              </a:spcAft>
              <a:buNone/>
            </a:pPr>
            <a:r>
              <a:rPr lang="en-US" sz="1600" dirty="0">
                <a:solidFill>
                  <a:schemeClr val="tx1"/>
                </a:solidFill>
              </a:rPr>
              <a:t> dikunci, mode deterministik, sha256 aec745ab…d66e</a:t>
            </a:r>
            <a:endParaRPr lang="en-US" sz="1600" dirty="0"/>
          </a:p>
          <a:p>
            <a:pPr algn="l" marL="190500" indent="-190500">
              <a:spcAft>
                <a:spcPts val="1200"/>
              </a:spcAft>
              <a:buSzPct val="100000"/>
              <a:buChar char="•"/>
            </a:pPr>
            <a:r>
              <a:rPr lang="en-US" sz="1600" dirty="0">
                <a:solidFill>
                  <a:schemeClr val="tx1"/>
                </a:solidFill>
              </a:rPr>
              <a:t>Pelatihan penuh sekitar 20 jam; tanpa pelatihan sekitar 5 jam</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C9</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Adopsi di subzona baru dimodelkan sebagai</a:t>
            </a:r>
            <a:br/>
            <a:pPr algn="l" indent="0" marL="0">
              <a:buNone/>
            </a:pPr>
            <a:r>
              <a:rPr lang="en-US" sz="2600" b="1" dirty="0">
                <a:solidFill>
                  <a:schemeClr val="tx2"/>
                </a:solidFill>
              </a:rPr>
              <a:t>peluang dari jumlah rumah tangga</a:t>
            </a:r>
            <a:endParaRPr lang="en-US" sz="2600" dirty="0"/>
          </a:p>
        </p:txBody>
      </p:sp>
      <p:sp>
        <p:nvSpPr>
          <p:cNvPr id="5" name="Text 2"/>
          <p:cNvSpPr txBox="1"/>
          <p:nvPr/>
        </p:nvSpPr>
        <p:spPr>
          <a:xfrm>
            <a:off x="548640" y="1691640"/>
            <a:ext cx="6035040" cy="274320"/>
          </a:xfrm>
          <a:prstGeom prst="rect">
            <a:avLst/>
          </a:prstGeom>
          <a:noFill/>
          <a:ln/>
        </p:spPr>
        <p:txBody>
          <a:bodyPr wrap="square" lIns="0" tIns="0" rIns="0" bIns="0" rtlCol="0" anchor="t"/>
          <a:lstStyle/>
          <a:p>
            <a:pPr algn="l" indent="0" marL="0">
              <a:buNone/>
            </a:pPr>
            <a:r>
              <a:rPr lang="en-US" sz="1400" b="1" dirty="0">
                <a:solidFill>
                  <a:schemeClr val="tx2"/>
                </a:solidFill>
              </a:rPr>
              <a:t>N rumah tangga di satu subzona</a:t>
            </a:r>
            <a:endParaRPr lang="en-US" sz="1400" dirty="0"/>
          </a:p>
        </p:txBody>
      </p:sp>
      <p:sp>
        <p:nvSpPr>
          <p:cNvPr id="6" name="kategori tercatat"/>
          <p:cNvSpPr/>
          <p:nvPr/>
        </p:nvSpPr>
        <p:spPr>
          <a:xfrm>
            <a:off x="548640" y="2103120"/>
            <a:ext cx="3741725" cy="685800"/>
          </a:xfrm>
          <a:prstGeom prst="rect">
            <a:avLst/>
          </a:prstGeom>
          <a:solidFill>
            <a:schemeClr val="accent4">
              <a:alpha val="60000"/>
            </a:schemeClr>
          </a:solidFill>
          <a:ln/>
        </p:spPr>
      </p:sp>
      <p:sp>
        <p:nvSpPr>
          <p:cNvPr id="7" name="Text 4"/>
          <p:cNvSpPr txBox="1"/>
          <p:nvPr/>
        </p:nvSpPr>
        <p:spPr>
          <a:xfrm>
            <a:off x="548640" y="2103120"/>
            <a:ext cx="3741725" cy="685800"/>
          </a:xfrm>
          <a:prstGeom prst="rect">
            <a:avLst/>
          </a:prstGeom>
          <a:noFill/>
          <a:ln/>
        </p:spPr>
        <p:txBody>
          <a:bodyPr wrap="square" lIns="0" tIns="0" rIns="0" bIns="0" rtlCol="0" anchor="ctr"/>
          <a:lstStyle/>
          <a:p>
            <a:pPr algn="ctr" indent="0" marL="0">
              <a:buNone/>
            </a:pPr>
            <a:r>
              <a:rPr lang="en-US" sz="1400" dirty="0">
                <a:solidFill>
                  <a:schemeClr val="tx1"/>
                </a:solidFill>
              </a:rPr>
              <a:t>kategori pemanas tercatat (pecahan N)</a:t>
            </a:r>
            <a:endParaRPr lang="en-US" sz="1400" dirty="0"/>
          </a:p>
        </p:txBody>
      </p:sp>
      <p:sp>
        <p:nvSpPr>
          <p:cNvPr id="8" name="K"/>
          <p:cNvSpPr/>
          <p:nvPr/>
        </p:nvSpPr>
        <p:spPr>
          <a:xfrm>
            <a:off x="4290365" y="2103120"/>
            <a:ext cx="2293315" cy="685800"/>
          </a:xfrm>
          <a:prstGeom prst="rect">
            <a:avLst/>
          </a:prstGeom>
          <a:solidFill>
            <a:schemeClr val="accent2"/>
          </a:solidFill>
          <a:ln/>
        </p:spPr>
      </p:sp>
      <p:sp>
        <p:nvSpPr>
          <p:cNvPr id="9" name="Text 6"/>
          <p:cNvSpPr txBox="1"/>
          <p:nvPr/>
        </p:nvSpPr>
        <p:spPr>
          <a:xfrm>
            <a:off x="4290365" y="2103120"/>
            <a:ext cx="2293315" cy="685800"/>
          </a:xfrm>
          <a:prstGeom prst="rect">
            <a:avLst/>
          </a:prstGeom>
          <a:noFill/>
          <a:ln/>
        </p:spPr>
        <p:txBody>
          <a:bodyPr wrap="square" lIns="0" tIns="0" rIns="0" bIns="0" rtlCol="0" anchor="ctr"/>
          <a:lstStyle/>
          <a:p>
            <a:pPr algn="ctr" indent="0" marL="0">
              <a:buNone/>
            </a:pPr>
            <a:r>
              <a:rPr lang="en-US" sz="2200" b="1" dirty="0">
                <a:solidFill>
                  <a:schemeClr val="bg1"/>
                </a:solidFill>
              </a:rPr>
              <a:t>K</a:t>
            </a:r>
            <a:endParaRPr lang="en-US" sz="2200" dirty="0"/>
          </a:p>
        </p:txBody>
      </p:sp>
      <p:sp>
        <p:nvSpPr>
          <p:cNvPr id="10" name="Shape 7"/>
          <p:cNvSpPr/>
          <p:nvPr/>
        </p:nvSpPr>
        <p:spPr>
          <a:xfrm flipH="1">
            <a:off x="3867912" y="2816352"/>
            <a:ext cx="1569110" cy="539496"/>
          </a:xfrm>
          <a:prstGeom prst="line">
            <a:avLst/>
          </a:prstGeom>
          <a:noFill/>
          <a:ln w="19050">
            <a:solidFill>
              <a:schemeClr val="accent2"/>
            </a:solidFill>
            <a:prstDash val="solid"/>
            <a:tailEnd type="triangle"/>
          </a:ln>
        </p:spPr>
      </p:sp>
      <p:sp>
        <p:nvSpPr>
          <p:cNvPr id="11" name="Shape 8"/>
          <p:cNvSpPr/>
          <p:nvPr/>
        </p:nvSpPr>
        <p:spPr>
          <a:xfrm>
            <a:off x="5437022" y="2816352"/>
            <a:ext cx="422453" cy="539496"/>
          </a:xfrm>
          <a:prstGeom prst="line">
            <a:avLst/>
          </a:prstGeom>
          <a:noFill/>
          <a:ln w="19050">
            <a:solidFill>
              <a:schemeClr val="accent2"/>
            </a:solidFill>
            <a:prstDash val="solid"/>
            <a:tailEnd type="triangle"/>
          </a:ln>
        </p:spPr>
      </p:sp>
      <p:sp>
        <p:nvSpPr>
          <p:cNvPr id="12" name="pemanas listrik"/>
          <p:cNvSpPr/>
          <p:nvPr/>
        </p:nvSpPr>
        <p:spPr>
          <a:xfrm>
            <a:off x="2721254" y="3383280"/>
            <a:ext cx="2293315" cy="685800"/>
          </a:xfrm>
          <a:prstGeom prst="rect">
            <a:avLst/>
          </a:prstGeom>
          <a:solidFill>
            <a:schemeClr val="accent2">
              <a:alpha val="25000"/>
            </a:schemeClr>
          </a:solidFill>
          <a:ln/>
        </p:spPr>
      </p:sp>
      <p:sp>
        <p:nvSpPr>
          <p:cNvPr id="13" name="Text 10"/>
          <p:cNvSpPr txBox="1"/>
          <p:nvPr/>
        </p:nvSpPr>
        <p:spPr>
          <a:xfrm>
            <a:off x="2721254" y="3383280"/>
            <a:ext cx="2293315" cy="685800"/>
          </a:xfrm>
          <a:prstGeom prst="rect">
            <a:avLst/>
          </a:prstGeom>
          <a:noFill/>
          <a:ln/>
        </p:spPr>
        <p:txBody>
          <a:bodyPr wrap="square" lIns="0" tIns="0" rIns="0" bIns="0" rtlCol="0" anchor="ctr"/>
          <a:lstStyle/>
          <a:p>
            <a:pPr algn="ctr" indent="0" marL="0">
              <a:buNone/>
            </a:pPr>
            <a:r>
              <a:rPr lang="en-US" sz="1400" b="1" dirty="0">
                <a:solidFill>
                  <a:schemeClr val="tx2"/>
                </a:solidFill>
              </a:rPr>
              <a:t>pemanas listrik (adopsi)</a:t>
            </a:r>
            <a:endParaRPr lang="en-US" sz="1400" dirty="0"/>
          </a:p>
        </p:txBody>
      </p:sp>
      <p:sp>
        <p:nvSpPr>
          <p:cNvPr id="14" name="kategori lain"/>
          <p:cNvSpPr/>
          <p:nvPr/>
        </p:nvSpPr>
        <p:spPr>
          <a:xfrm>
            <a:off x="5135270" y="3383280"/>
            <a:ext cx="1448410" cy="685800"/>
          </a:xfrm>
          <a:prstGeom prst="rect">
            <a:avLst/>
          </a:prstGeom>
          <a:solidFill>
            <a:schemeClr val="accent3">
              <a:alpha val="25000"/>
            </a:schemeClr>
          </a:solidFill>
          <a:ln/>
        </p:spPr>
      </p:sp>
      <p:sp>
        <p:nvSpPr>
          <p:cNvPr id="15" name="Text 12"/>
          <p:cNvSpPr txBox="1"/>
          <p:nvPr/>
        </p:nvSpPr>
        <p:spPr>
          <a:xfrm>
            <a:off x="5135270" y="3383280"/>
            <a:ext cx="1448410" cy="685800"/>
          </a:xfrm>
          <a:prstGeom prst="rect">
            <a:avLst/>
          </a:prstGeom>
          <a:noFill/>
          <a:ln/>
        </p:spPr>
        <p:txBody>
          <a:bodyPr wrap="square" lIns="0" tIns="0" rIns="0" bIns="0" rtlCol="0" anchor="ctr"/>
          <a:lstStyle/>
          <a:p>
            <a:pPr algn="ctr" indent="0" marL="0">
              <a:buNone/>
            </a:pPr>
            <a:r>
              <a:rPr lang="en-US" sz="1400" b="1" dirty="0">
                <a:solidFill>
                  <a:schemeClr val="accent3"/>
                </a:solidFill>
              </a:rPr>
              <a:t>kategori lain</a:t>
            </a:r>
            <a:endParaRPr lang="en-US" sz="1400" dirty="0"/>
          </a:p>
        </p:txBody>
      </p:sp>
      <p:sp>
        <p:nvSpPr>
          <p:cNvPr id="16" name="Text 13"/>
          <p:cNvSpPr txBox="1"/>
          <p:nvPr/>
        </p:nvSpPr>
        <p:spPr>
          <a:xfrm>
            <a:off x="548640" y="4297680"/>
            <a:ext cx="6035040" cy="1828800"/>
          </a:xfrm>
          <a:prstGeom prst="rect">
            <a:avLst/>
          </a:prstGeom>
          <a:noFill/>
          <a:ln/>
        </p:spPr>
        <p:txBody>
          <a:bodyPr wrap="square" lIns="0" tIns="0" rIns="0" bIns="0" rtlCol="0" anchor="t"/>
          <a:lstStyle/>
          <a:p>
            <a:pPr algn="l" marL="190500" indent="-190500">
              <a:spcAft>
                <a:spcPts val="600"/>
              </a:spcAft>
              <a:buSzPct val="100000"/>
              <a:buChar char="•"/>
            </a:pPr>
            <a:r>
              <a:rPr lang="en-US" sz="1400" dirty="0">
                <a:solidFill>
                  <a:schemeClr val="tx1"/>
                </a:solidFill>
              </a:rPr>
              <a:t>N: bilangan bulat terkecil yang membuat semua pecahan komposisi bulat</a:t>
            </a:r>
            <a:endParaRPr lang="en-US" sz="1400" dirty="0"/>
          </a:p>
          <a:p>
            <a:pPr algn="l" marL="190500" indent="-190500">
              <a:spcAft>
                <a:spcPts val="600"/>
              </a:spcAft>
              <a:buSzPct val="100000"/>
              <a:buChar char="•"/>
            </a:pPr>
            <a:r>
              <a:rPr lang="en-US" sz="1400" dirty="0">
                <a:solidFill>
                  <a:schemeClr val="tx1"/>
                </a:solidFill>
              </a:rPr>
              <a:t>K: rumah tangga di luar kategori tercatat</a:t>
            </a:r>
            <a:endParaRPr lang="en-US" sz="1400" dirty="0"/>
          </a:p>
          <a:p>
            <a:pPr algn="l" marL="190500" indent="-190500">
              <a:spcAft>
                <a:spcPts val="600"/>
              </a:spcAft>
              <a:buSzPct val="100000"/>
              <a:buChar char="•"/>
            </a:pPr>
            <a:r>
              <a:rPr lang="en-US" sz="1400" dirty="0">
                <a:solidFill>
                  <a:schemeClr val="tx1"/>
                </a:solidFill>
              </a:rPr>
              <a:t>q_xent menebak peluang K di kategori lain; r_reg menebak porsinya; adopsi = sisa</a:t>
            </a:r>
            <a:endParaRPr lang="en-US" sz="1400" dirty="0"/>
          </a:p>
        </p:txBody>
      </p:sp>
      <p:sp>
        <p:nvSpPr>
          <p:cNvPr id="17" name="Text 14"/>
          <p:cNvSpPr txBox="1"/>
          <p:nvPr/>
        </p:nvSpPr>
        <p:spPr>
          <a:xfrm>
            <a:off x="6949440" y="1691640"/>
            <a:ext cx="4690872" cy="502920"/>
          </a:xfrm>
          <a:prstGeom prst="rect">
            <a:avLst/>
          </a:prstGeom>
          <a:noFill/>
          <a:ln/>
        </p:spPr>
        <p:txBody>
          <a:bodyPr wrap="square" lIns="0" tIns="0" rIns="0" bIns="0" rtlCol="0" anchor="t"/>
          <a:lstStyle/>
          <a:p>
            <a:pPr algn="l" indent="0" marL="0">
              <a:buNone/>
            </a:pPr>
            <a:r>
              <a:rPr lang="en-US" sz="1400" b="1" dirty="0">
                <a:solidFill>
                  <a:schemeClr val="tx2"/>
                </a:solidFill>
              </a:rPr>
              <a:t>Skor validasi, dibobot ke subzona baru</a:t>
            </a:r>
            <a:endParaRPr lang="en-US" sz="1400" dirty="0"/>
          </a:p>
        </p:txBody>
      </p:sp>
      <p:graphicFrame>
        <p:nvGraphicFramePr>
          <p:cNvPr id="23" name="tabel skor adopsi"/>
          <p:cNvGraphicFramePr>
            <a:graphicFrameLocks noGrp="1"/>
          </p:cNvGraphicFramePr>
          <p:nvPr>
            <p:extLst>
              <p:ext uri="{D42A27DB-BD31-4B8C-83A1-F6EECF244321}">
                <p14:modId xmlns:p14="http://schemas.microsoft.com/office/powerpoint/2010/main" val="1579011935"/>
              </p:ext>
            </p:extLst>
          </p:nvPr>
        </p:nvGraphicFramePr>
        <p:xfrm>
          <a:off x="6949440" y="2286000"/>
          <a:ext cx="4690872" cy="914400"/>
        </p:xfrm>
        <a:graphic>
          <a:graphicData uri="http://schemas.openxmlformats.org/drawingml/2006/table">
            <a:tbl>
              <a:tblPr/>
              <a:tblGrid>
                <a:gridCol w="3044952"/>
                <a:gridCol w="1645920"/>
              </a:tblGrid>
              <a:tr h="402336">
                <a:tc>
                  <a:txBody>
                    <a:bodyPr/>
                    <a:lstStyle/>
                    <a:p>
                      <a:pPr algn="l" indent="0" marL="0">
                        <a:buNone/>
                      </a:pPr>
                      <a:r>
                        <a:rPr lang="en-US" sz="1500" b="1" dirty="0">
                          <a:solidFill>
                            <a:srgbClr val="FFFFFF"/>
                          </a:solidFill>
                        </a:rPr>
                        <a:t>Model</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Skor (poin)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402336">
                <a:tc>
                  <a:txBody>
                    <a:bodyPr/>
                    <a:lstStyle/>
                    <a:p>
                      <a:pPr algn="l" indent="0" marL="0">
                        <a:buNone/>
                      </a:pPr>
                      <a:r>
                        <a:rPr lang="en-US" sz="1500" dirty="0">
                          <a:solidFill>
                            <a:srgbClr val="1F2933"/>
                          </a:solidFill>
                        </a:rPr>
                        <a:t>q_xent</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1,0329</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1F2933"/>
                          </a:solidFill>
                        </a:rPr>
                        <a:t>r_reg</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1,0351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02336">
                <a:tc>
                  <a:txBody>
                    <a:bodyPr/>
                    <a:lstStyle/>
                    <a:p>
                      <a:pPr algn="l" indent="0" marL="0">
                        <a:buNone/>
                      </a:pPr>
                      <a:r>
                        <a:rPr lang="en-US" sz="1500" b="1" dirty="0">
                          <a:solidFill>
                            <a:srgbClr val="1F2933"/>
                          </a:solidFill>
                        </a:rPr>
                        <a:t>rata-rata keduanya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1F4"/>
                    </a:solidFill>
                  </a:tcPr>
                </a:tc>
                <a:tc>
                  <a:txBody>
                    <a:bodyPr/>
                    <a:lstStyle/>
                    <a:p>
                      <a:pPr algn="r" indent="0" marL="0">
                        <a:buNone/>
                      </a:pPr>
                      <a:r>
                        <a:rPr lang="en-US" sz="1500" b="1" dirty="0">
                          <a:solidFill>
                            <a:srgbClr val="1F2933"/>
                          </a:solidFill>
                        </a:rPr>
                        <a:t>1,0303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1F4"/>
                    </a:solidFill>
                  </a:tcPr>
                </a:tc>
              </a:tr>
            </a:tbl>
          </a:graphicData>
        </a:graphic>
      </p:graphicFrame>
      <p:sp>
        <p:nvSpPr>
          <p:cNvPr id="19" name="Text 15"/>
          <p:cNvSpPr txBox="1"/>
          <p:nvPr/>
        </p:nvSpPr>
        <p:spPr>
          <a:xfrm>
            <a:off x="6949440" y="4114800"/>
            <a:ext cx="4690872" cy="1371600"/>
          </a:xfrm>
          <a:prstGeom prst="rect">
            <a:avLst/>
          </a:prstGeom>
          <a:noFill/>
          <a:ln/>
        </p:spPr>
        <p:txBody>
          <a:bodyPr wrap="square" lIns="0" tIns="0" rIns="0" bIns="0" rtlCol="0" anchor="t"/>
          <a:lstStyle/>
          <a:p>
            <a:pPr algn="l" marL="190500" indent="-190500">
              <a:spcAft>
                <a:spcPts val="600"/>
              </a:spcAft>
              <a:buSzPct val="100000"/>
              <a:buChar char="•"/>
            </a:pPr>
            <a:r>
              <a:rPr lang="en-US" sz="1500" dirty="0">
                <a:solidFill>
                  <a:schemeClr val="tx1"/>
                </a:solidFill>
              </a:rPr>
              <a:t>1,0303 poin = 0,143 setelah dibagi σ adopsi</a:t>
            </a:r>
            <a:endParaRPr lang="en-US" sz="1500" dirty="0"/>
          </a:p>
          <a:p>
            <a:pPr algn="l" marL="190500" indent="-190500">
              <a:spcAft>
                <a:spcPts val="600"/>
              </a:spcAft>
              <a:buSzPct val="100000"/>
              <a:buChar char="•"/>
            </a:pPr>
            <a:r>
              <a:rPr lang="en-US" sz="1500" dirty="0">
                <a:solidFill>
                  <a:schemeClr val="tx1"/>
                </a:solidFill>
              </a:rPr>
              <a:t>8,14% adalah porsi kawasan uji (harapan 8,17%), bukan porsi subzona</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C10</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Urutan zona tahan derau acak; zona contoh tetap pada kedua skenario COP</a:t>
            </a:r>
            <a:endParaRPr lang="en-US" sz="2600" dirty="0"/>
          </a:p>
        </p:txBody>
      </p:sp>
      <p:sp>
        <p:nvSpPr>
          <p:cNvPr id="5" name="uji ketahanan 1"/>
          <p:cNvSpPr/>
          <p:nvPr/>
        </p:nvSpPr>
        <p:spPr>
          <a:xfrm>
            <a:off x="548640" y="1691640"/>
            <a:ext cx="5478628" cy="868680"/>
          </a:xfrm>
          <a:prstGeom prst="roundRect">
            <a:avLst>
              <a:gd name="adj" fmla="val 8421"/>
            </a:avLst>
          </a:prstGeom>
          <a:solidFill>
            <a:schemeClr val="accent2">
              <a:alpha val="12000"/>
            </a:schemeClr>
          </a:solidFill>
          <a:ln/>
        </p:spPr>
      </p:sp>
      <p:sp>
        <p:nvSpPr>
          <p:cNvPr id="6" name="Text 3"/>
          <p:cNvSpPr txBox="1"/>
          <p:nvPr/>
        </p:nvSpPr>
        <p:spPr>
          <a:xfrm>
            <a:off x="685800" y="1746504"/>
            <a:ext cx="5204308" cy="274320"/>
          </a:xfrm>
          <a:prstGeom prst="rect">
            <a:avLst/>
          </a:prstGeom>
          <a:noFill/>
          <a:ln/>
        </p:spPr>
        <p:txBody>
          <a:bodyPr wrap="square" lIns="0" tIns="0" rIns="0" bIns="0" rtlCol="0" anchor="t"/>
          <a:lstStyle/>
          <a:p>
            <a:pPr algn="l" indent="0" marL="0">
              <a:buNone/>
            </a:pPr>
            <a:r>
              <a:rPr lang="en-US" sz="1400" b="1" dirty="0">
                <a:solidFill>
                  <a:schemeClr val="accent2"/>
                </a:solidFill>
              </a:rPr>
              <a:t>Derau prediksi acak (200 simulasi)</a:t>
            </a:r>
            <a:endParaRPr lang="en-US" sz="1400" dirty="0"/>
          </a:p>
        </p:txBody>
      </p:sp>
      <p:sp>
        <p:nvSpPr>
          <p:cNvPr id="7" name="Text 4"/>
          <p:cNvSpPr txBox="1"/>
          <p:nvPr/>
        </p:nvSpPr>
        <p:spPr>
          <a:xfrm>
            <a:off x="685800" y="2020824"/>
            <a:ext cx="5204308" cy="512064"/>
          </a:xfrm>
          <a:prstGeom prst="rect">
            <a:avLst/>
          </a:prstGeom>
          <a:noFill/>
          <a:ln/>
        </p:spPr>
        <p:txBody>
          <a:bodyPr wrap="square" lIns="0" tIns="0" rIns="0" bIns="0" rtlCol="0" anchor="t"/>
          <a:lstStyle/>
          <a:p>
            <a:pPr algn="l" indent="0" marL="0">
              <a:buNone/>
            </a:pPr>
            <a:r>
              <a:rPr lang="en-US" sz="1400" dirty="0">
                <a:solidFill>
                  <a:schemeClr val="tx1"/>
                </a:solidFill>
              </a:rPr>
              <a:t>Spearman 0,998 · median 8 zona pindah kuadran · 5 zona teratas tetap</a:t>
            </a:r>
            <a:endParaRPr lang="en-US" sz="1400" dirty="0"/>
          </a:p>
        </p:txBody>
      </p:sp>
      <p:sp>
        <p:nvSpPr>
          <p:cNvPr id="8" name="uji ketahanan 2"/>
          <p:cNvSpPr/>
          <p:nvPr/>
        </p:nvSpPr>
        <p:spPr>
          <a:xfrm>
            <a:off x="6164428" y="1691640"/>
            <a:ext cx="5478628" cy="868680"/>
          </a:xfrm>
          <a:prstGeom prst="roundRect">
            <a:avLst>
              <a:gd name="adj" fmla="val 8421"/>
            </a:avLst>
          </a:prstGeom>
          <a:solidFill>
            <a:schemeClr val="accent1">
              <a:alpha val="12000"/>
            </a:schemeClr>
          </a:solidFill>
          <a:ln/>
        </p:spPr>
      </p:sp>
      <p:sp>
        <p:nvSpPr>
          <p:cNvPr id="9" name="Text 6"/>
          <p:cNvSpPr txBox="1"/>
          <p:nvPr/>
        </p:nvSpPr>
        <p:spPr>
          <a:xfrm>
            <a:off x="6301588" y="1746504"/>
            <a:ext cx="5204308" cy="274320"/>
          </a:xfrm>
          <a:prstGeom prst="rect">
            <a:avLst/>
          </a:prstGeom>
          <a:noFill/>
          <a:ln/>
        </p:spPr>
        <p:txBody>
          <a:bodyPr wrap="square" lIns="0" tIns="0" rIns="0" bIns="0" rtlCol="0" anchor="t"/>
          <a:lstStyle/>
          <a:p>
            <a:pPr algn="l" indent="0" marL="0">
              <a:buNone/>
            </a:pPr>
            <a:r>
              <a:rPr lang="en-US" sz="1400" b="1" dirty="0">
                <a:solidFill>
                  <a:schemeClr val="accent1"/>
                </a:solidFill>
              </a:rPr>
              <a:t>COP 2,5 sampai 3,5 menurut iklim zona</a:t>
            </a:r>
            <a:endParaRPr lang="en-US" sz="1400" dirty="0"/>
          </a:p>
        </p:txBody>
      </p:sp>
      <p:sp>
        <p:nvSpPr>
          <p:cNvPr id="10" name="Text 7"/>
          <p:cNvSpPr txBox="1"/>
          <p:nvPr/>
        </p:nvSpPr>
        <p:spPr>
          <a:xfrm>
            <a:off x="6301588" y="2020824"/>
            <a:ext cx="5204308" cy="512064"/>
          </a:xfrm>
          <a:prstGeom prst="rect">
            <a:avLst/>
          </a:prstGeom>
          <a:noFill/>
          <a:ln/>
        </p:spPr>
        <p:txBody>
          <a:bodyPr wrap="square" lIns="0" tIns="0" rIns="0" bIns="0" rtlCol="0" anchor="t"/>
          <a:lstStyle/>
          <a:p>
            <a:pPr algn="l" indent="0" marL="0">
              <a:buNone/>
            </a:pPr>
            <a:r>
              <a:rPr lang="en-US" sz="1400" dirty="0">
                <a:solidFill>
                  <a:schemeClr val="tx1"/>
                </a:solidFill>
              </a:rPr>
              <a:t>Spearman 0,81 · 68 zona pindah kuadran · 1 dari 5 zona teratas tetap</a:t>
            </a:r>
            <a:endParaRPr lang="en-US" sz="1400" dirty="0"/>
          </a:p>
        </p:txBody>
      </p:sp>
      <p:graphicFrame>
        <p:nvGraphicFramePr>
          <p:cNvPr id="24" name="tabel zona contoh"/>
          <p:cNvGraphicFramePr>
            <a:graphicFrameLocks noGrp="1"/>
          </p:cNvGraphicFramePr>
          <p:nvPr>
            <p:extLst>
              <p:ext uri="{D42A27DB-BD31-4B8C-83A1-F6EECF244321}">
                <p14:modId xmlns:p14="http://schemas.microsoft.com/office/powerpoint/2010/main" val="1579011935"/>
              </p:ext>
            </p:extLst>
          </p:nvPr>
        </p:nvGraphicFramePr>
        <p:xfrm>
          <a:off x="548640" y="2834640"/>
          <a:ext cx="11094415" cy="914400"/>
        </p:xfrm>
        <a:graphic>
          <a:graphicData uri="http://schemas.openxmlformats.org/drawingml/2006/table">
            <a:tbl>
              <a:tblPr/>
              <a:tblGrid>
                <a:gridCol w="2057400"/>
                <a:gridCol w="1645920"/>
                <a:gridCol w="2377440"/>
                <a:gridCol w="2697480"/>
                <a:gridCol w="2316175"/>
              </a:tblGrid>
              <a:tr h="566928">
                <a:tc>
                  <a:txBody>
                    <a:bodyPr/>
                    <a:lstStyle/>
                    <a:p>
                      <a:pPr algn="l" indent="0" marL="0">
                        <a:buNone/>
                      </a:pPr>
                      <a:r>
                        <a:rPr lang="en-US" sz="1400" b="1" dirty="0">
                          <a:solidFill>
                            <a:srgbClr val="FFFFFF"/>
                          </a:solidFill>
                        </a:rPr>
                        <a:t>Zona</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Peran</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ctr" indent="0" marL="0">
                        <a:buNone/>
                      </a:pPr>
                      <a:r>
                        <a:rPr lang="en-US" sz="1400" b="1" dirty="0">
                          <a:solidFill>
                            <a:srgbClr val="FFFFFF"/>
                          </a:solidFill>
                        </a:rPr>
                        <a:t>Kuadran (COP 3 → per iklim)</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ctr" indent="0" marL="0">
                        <a:buNone/>
                      </a:pPr>
                      <a:r>
                        <a:rPr lang="en-US" sz="1400" b="1" dirty="0">
                          <a:solidFill>
                            <a:srgbClr val="FFFFFF"/>
                          </a:solidFill>
                        </a:rPr>
                        <a:t>Peringkat kenaikan %</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ctr" indent="0" marL="0">
                        <a:buNone/>
                      </a:pPr>
                      <a:r>
                        <a:rPr lang="en-US" sz="1400" b="1" dirty="0">
                          <a:solidFill>
                            <a:srgbClr val="FFFFFF"/>
                          </a:solidFill>
                        </a:rPr>
                        <a:t>Peringkat tambahan TWh</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29184">
                <a:tc>
                  <a:txBody>
                    <a:bodyPr/>
                    <a:lstStyle/>
                    <a:p>
                      <a:pPr algn="l" indent="0" marL="0">
                        <a:buNone/>
                      </a:pPr>
                      <a:r>
                        <a:rPr lang="en-US" sz="1400" b="1" dirty="0">
                          <a:solidFill>
                            <a:srgbClr val="1F2933"/>
                          </a:solidFill>
                        </a:rPr>
                        <a:t>REG_273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awal R1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47 → 32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2 → 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b="1" dirty="0">
                          <a:solidFill>
                            <a:srgbClr val="1F2933"/>
                          </a:solidFill>
                        </a:rPr>
                        <a:t>REG_270</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b="1" dirty="0">
                          <a:solidFill>
                            <a:srgbClr val="1F2933"/>
                          </a:solidFill>
                        </a:rPr>
                        <a:t>awal R1, R2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5 → 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4 → 4</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b="1" dirty="0">
                          <a:solidFill>
                            <a:srgbClr val="1F2933"/>
                          </a:solidFill>
                        </a:rPr>
                        <a:t>REG_045</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awal R1, R2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9 → 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3 → 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b="1" dirty="0">
                          <a:solidFill>
                            <a:srgbClr val="1F2933"/>
                          </a:solidFill>
                        </a:rPr>
                        <a:t>REG_263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b="1" dirty="0">
                          <a:solidFill>
                            <a:srgbClr val="1F2933"/>
                          </a:solidFill>
                        </a:rPr>
                        <a:t>awal R2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25 → 51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1 → 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dirty="0">
                          <a:solidFill>
                            <a:srgbClr val="1F2933"/>
                          </a:solidFill>
                        </a:rPr>
                        <a:t>REG_290</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skrining R2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rPr>
                        <a:t>1 → 47</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rPr>
                        <a:t>46 → 60</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933"/>
                          </a:solidFill>
                        </a:rPr>
                        <a:t>REG_259, REG_275</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skrining R2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F2933"/>
                          </a:solidFill>
                        </a:rPr>
                        <a:t>2, 3 → 6, 7</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F2933"/>
                          </a:solidFill>
                        </a:rPr>
                        <a:t>25, 53 → 17, 41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b="1" dirty="0">
                          <a:solidFill>
                            <a:srgbClr val="1F2933"/>
                          </a:solidFill>
                        </a:rPr>
                        <a:t>REG_033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contoh R3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Q2 → Q2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kenaikan +84,92% → +78,37%</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C11</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Target efisiensi dan target emisi perlu dipisahkan</a:t>
            </a:r>
            <a:endParaRPr lang="en-US" sz="2600" dirty="0"/>
          </a:p>
        </p:txBody>
      </p:sp>
      <p:pic>
        <p:nvPicPr>
          <p:cNvPr id="5" name="Image 0" descr="Dependensi SHAP ukuran rumah: gas per m2 dan listrik per rumah">    </p:cNvPr>
          <p:cNvPicPr>
            <a:picLocks noChangeAspect="1"/>
          </p:cNvPicPr>
          <p:nvPr/>
        </p:nvPicPr>
        <p:blipFill>
          <a:blip r:embed="rId1"/>
          <a:stretch>
            <a:fillRect/>
          </a:stretch>
        </p:blipFill>
        <p:spPr>
          <a:xfrm>
            <a:off x="548640" y="1691640"/>
            <a:ext cx="6675120" cy="3154680"/>
          </a:xfrm>
          <a:prstGeom prst="rect">
            <a:avLst/>
          </a:prstGeom>
        </p:spPr>
      </p:pic>
      <p:sp>
        <p:nvSpPr>
          <p:cNvPr id="6" name="Text 2"/>
          <p:cNvSpPr txBox="1"/>
          <p:nvPr/>
        </p:nvSpPr>
        <p:spPr>
          <a:xfrm>
            <a:off x="548640" y="4983480"/>
            <a:ext cx="6675120" cy="1188720"/>
          </a:xfrm>
          <a:prstGeom prst="rect">
            <a:avLst/>
          </a:prstGeom>
          <a:noFill/>
          <a:ln/>
        </p:spPr>
        <p:txBody>
          <a:bodyPr wrap="square" lIns="0" tIns="0" rIns="0" bIns="0" rtlCol="0" anchor="t"/>
          <a:lstStyle/>
          <a:p>
            <a:pPr algn="l" marL="190500" indent="-190500">
              <a:spcAft>
                <a:spcPts val="300"/>
              </a:spcAft>
              <a:buSzPct val="100000"/>
              <a:buChar char="•"/>
            </a:pPr>
            <a:r>
              <a:rPr lang="en-US" sz="1500" dirty="0">
                <a:solidFill>
                  <a:schemeClr val="tx1"/>
                </a:solidFill>
              </a:rPr>
              <a:t>Rumah kecil: sumbangan gas per m² sekitar +65%</a:t>
            </a:r>
            <a:endParaRPr lang="en-US" sz="1500" dirty="0"/>
          </a:p>
          <a:p>
            <a:pPr algn="l" marL="190500" indent="-190500">
              <a:spcAft>
                <a:spcPts val="300"/>
              </a:spcAft>
              <a:buSzPct val="100000"/>
              <a:buChar char="•"/>
            </a:pPr>
            <a:r>
              <a:rPr lang="en-US" sz="1500" dirty="0">
                <a:solidFill>
                  <a:schemeClr val="tx1"/>
                </a:solidFill>
              </a:rPr>
              <a:t>Rumah besar: sumbangan listrik per rumah sekitar +75%</a:t>
            </a:r>
            <a:endParaRPr lang="en-US" sz="1500" dirty="0"/>
          </a:p>
          <a:p>
            <a:pPr algn="l" marL="190500" indent="-190500">
              <a:spcAft>
                <a:spcPts val="300"/>
              </a:spcAft>
              <a:buSzPct val="100000"/>
              <a:buChar char="•"/>
            </a:pPr>
            <a:r>
              <a:rPr lang="en-US" sz="1500" dirty="0">
                <a:solidFill>
                  <a:schemeClr val="tx1"/>
                </a:solidFill>
              </a:rPr>
              <a:t>Pita 5% ekstrem; antarkuartil +34% dan +35%</a:t>
            </a:r>
            <a:endParaRPr lang="en-US" sz="1500" dirty="0"/>
          </a:p>
        </p:txBody>
      </p:sp>
      <p:sp>
        <p:nvSpPr>
          <p:cNvPr id="7" name="Text 3"/>
          <p:cNvSpPr txBox="1"/>
          <p:nvPr/>
        </p:nvSpPr>
        <p:spPr>
          <a:xfrm>
            <a:off x="7589520" y="1691640"/>
            <a:ext cx="4050792" cy="502920"/>
          </a:xfrm>
          <a:prstGeom prst="rect">
            <a:avLst/>
          </a:prstGeom>
          <a:noFill/>
          <a:ln/>
        </p:spPr>
        <p:txBody>
          <a:bodyPr wrap="square" lIns="0" tIns="0" rIns="0" bIns="0" rtlCol="0" anchor="t"/>
          <a:lstStyle/>
          <a:p>
            <a:pPr algn="l" indent="0" marL="0">
              <a:buNone/>
            </a:pPr>
            <a:r>
              <a:rPr lang="en-US" sz="1400" b="1" dirty="0">
                <a:solidFill>
                  <a:schemeClr val="tx2"/>
                </a:solidFill>
              </a:rPr>
              <a:t>Target lomba dan aspek trilema (</a:t>
            </a:r>
            <a:pPr algn="l" indent="0" marL="0">
              <a:buNone/>
            </a:pPr>
            <a:r>
              <a:rPr lang="en-US" sz="1400" b="1" i="1" dirty="0">
                <a:solidFill>
                  <a:schemeClr val="tx2"/>
                </a:solidFill>
              </a:rPr>
              <a:t>writeup</a:t>
            </a:r>
            <a:pPr algn="l" indent="0" marL="0">
              <a:buNone/>
            </a:pPr>
            <a:r>
              <a:rPr lang="en-US" sz="1400" b="1" dirty="0">
                <a:solidFill>
                  <a:schemeClr val="tx2"/>
                </a:solidFill>
              </a:rPr>
              <a:t> bab 1)</a:t>
            </a:r>
            <a:endParaRPr lang="en-US" sz="1400" dirty="0"/>
          </a:p>
        </p:txBody>
      </p:sp>
      <p:graphicFrame>
        <p:nvGraphicFramePr>
          <p:cNvPr id="25" name="tabel target dan trilema"/>
          <p:cNvGraphicFramePr>
            <a:graphicFrameLocks noGrp="1"/>
          </p:cNvGraphicFramePr>
          <p:nvPr>
            <p:extLst>
              <p:ext uri="{D42A27DB-BD31-4B8C-83A1-F6EECF244321}">
                <p14:modId xmlns:p14="http://schemas.microsoft.com/office/powerpoint/2010/main" val="1579011935"/>
              </p:ext>
            </p:extLst>
          </p:nvPr>
        </p:nvGraphicFramePr>
        <p:xfrm>
          <a:off x="7589520" y="2267712"/>
          <a:ext cx="4050792" cy="914400"/>
        </p:xfrm>
        <a:graphic>
          <a:graphicData uri="http://schemas.openxmlformats.org/drawingml/2006/table">
            <a:tbl>
              <a:tblPr/>
              <a:tblGrid>
                <a:gridCol w="2148840"/>
                <a:gridCol w="1901952"/>
              </a:tblGrid>
              <a:tr h="420624">
                <a:tc>
                  <a:txBody>
                    <a:bodyPr/>
                    <a:lstStyle/>
                    <a:p>
                      <a:pPr algn="l" indent="0" marL="0">
                        <a:buNone/>
                      </a:pPr>
                      <a:r>
                        <a:rPr lang="en-US" sz="1500" b="1" dirty="0">
                          <a:solidFill>
                            <a:srgbClr val="FFFFFF"/>
                          </a:solidFill>
                        </a:rPr>
                        <a:t>Target</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500" b="1" dirty="0">
                          <a:solidFill>
                            <a:srgbClr val="FFFFFF"/>
                          </a:solidFill>
                        </a:rPr>
                        <a:t>Aspek trilema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420624">
                <a:tc>
                  <a:txBody>
                    <a:bodyPr/>
                    <a:lstStyle/>
                    <a:p>
                      <a:pPr algn="l" indent="0" marL="0">
                        <a:buNone/>
                      </a:pPr>
                      <a:r>
                        <a:rPr lang="en-US" sz="1500" dirty="0">
                          <a:solidFill>
                            <a:srgbClr val="1F2933"/>
                          </a:solidFill>
                        </a:rPr>
                        <a:t>gas total</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3"/>
                          </a:solidFill>
                        </a:rPr>
                        <a:t>emisi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1F2933"/>
                          </a:solidFill>
                        </a:rPr>
                        <a:t>listrik total</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933"/>
                          </a:solidFill>
                        </a:rPr>
                        <a:t>beban jaringan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20624">
                <a:tc>
                  <a:txBody>
                    <a:bodyPr/>
                    <a:lstStyle/>
                    <a:p>
                      <a:pPr algn="l" indent="0" marL="0">
                        <a:buNone/>
                      </a:pPr>
                      <a:r>
                        <a:rPr lang="en-US" sz="1500" dirty="0">
                          <a:solidFill>
                            <a:srgbClr val="1F2933"/>
                          </a:solidFill>
                        </a:rPr>
                        <a:t>EUI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3"/>
                          </a:solidFill>
                        </a:rPr>
                        <a:t>emisi dan biaya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1F2933"/>
                          </a:solidFill>
                        </a:rPr>
                        <a:t>porsi bangunan bersih</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933"/>
                          </a:solidFill>
                        </a:rPr>
                        <a:t>emisi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20624">
                <a:tc>
                  <a:txBody>
                    <a:bodyPr/>
                    <a:lstStyle/>
                    <a:p>
                      <a:pPr algn="l" indent="0" marL="0">
                        <a:buNone/>
                      </a:pPr>
                      <a:r>
                        <a:rPr lang="en-US" sz="1500" dirty="0">
                          <a:solidFill>
                            <a:srgbClr val="1F2933"/>
                          </a:solidFill>
                        </a:rPr>
                        <a:t>adopsi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3"/>
                          </a:solidFill>
                        </a:rPr>
                        <a:t>transisi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C12</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Tidak ada pencilan yang dibuang</a:t>
            </a:r>
            <a:endParaRPr lang="en-US" sz="2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25</a:t>
            </a:fld>
            <a:endParaRPr lang="en-US"/>
          </a:p>
        </p:txBody>
      </p:sp>
      <p:graphicFrame>
        <p:nvGraphicFramePr>
          <p:cNvPr id="26" name="tabel pra-pemrosesan"/>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3291839"/>
        </p:xfrm>
        <a:graphic>
          <a:graphicData uri="http://schemas.openxmlformats.org/drawingml/2006/table">
            <a:tbl>
              <a:tblPr/>
              <a:tblGrid>
                <a:gridCol w="2011680"/>
                <a:gridCol w="9082735"/>
              </a:tblGrid>
              <a:tr h="658368">
                <a:tc>
                  <a:txBody>
                    <a:bodyPr/>
                    <a:lstStyle/>
                    <a:p>
                      <a:pPr algn="l" indent="0" marL="0">
                        <a:buNone/>
                      </a:pPr>
                      <a:r>
                        <a:rPr lang="en-US" sz="1500" b="1" dirty="0">
                          <a:solidFill>
                            <a:srgbClr val="FFFFFF"/>
                          </a:solidFill>
                        </a:rPr>
                        <a:t>Aspek</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500" b="1" dirty="0">
                          <a:solidFill>
                            <a:srgbClr val="FFFFFF"/>
                          </a:solidFill>
                        </a:rPr>
                        <a:t>Penanganan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658368">
                <a:tc>
                  <a:txBody>
                    <a:bodyPr/>
                    <a:lstStyle/>
                    <a:p>
                      <a:pPr algn="l" indent="0" marL="0">
                        <a:buNone/>
                      </a:pPr>
                      <a:r>
                        <a:rPr lang="en-US" sz="1500" dirty="0">
                          <a:solidFill>
                            <a:srgbClr val="1F2933"/>
                          </a:solidFill>
                        </a:rPr>
                        <a:t>Nilai hilang</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3"/>
                          </a:solidFill>
                        </a:rPr>
                        <a:t>XGBoost/LightGBM membaca NaN; MLP/NCA mengisi 0 plus penanda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algn="l" indent="0" marL="0">
                        <a:buNone/>
                      </a:pPr>
                      <a:r>
                        <a:rPr lang="en-US" sz="1500" dirty="0">
                          <a:solidFill>
                            <a:srgbClr val="1F2933"/>
                          </a:solidFill>
                        </a:rPr>
                        <a:t>Pencilan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933"/>
                          </a:solidFill>
                        </a:rPr>
                        <a:t>tidak dibuang; fitur MLP/NCA dipotong ±6 simpangan baku</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658368">
                <a:tc>
                  <a:txBody>
                    <a:bodyPr/>
                    <a:lstStyle/>
                    <a:p>
                      <a:pPr algn="l" indent="0" marL="0">
                        <a:buNone/>
                      </a:pPr>
                      <a:r>
                        <a:rPr lang="en-US" sz="1500" dirty="0">
                          <a:solidFill>
                            <a:srgbClr val="1F2933"/>
                          </a:solidFill>
                        </a:rPr>
                        <a:t>Batas data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3"/>
                          </a:solidFill>
                        </a:rPr>
                        <a:t>tebakan kawasan 2–4 meter dinaikkan; gas dekat 999.765 kWh ditarik turun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algn="l" indent="0" marL="0">
                        <a:buNone/>
                      </a:pPr>
                      <a:r>
                        <a:rPr lang="en-US" sz="1500" dirty="0">
                          <a:solidFill>
                            <a:srgbClr val="1F2933"/>
                          </a:solidFill>
                        </a:rPr>
                        <a:t>Target log</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933"/>
                          </a:solidFill>
                        </a:rPr>
                        <a:t>10 dari 41 anggota menebak log, digabung di skala asli; [PERLU DIISI: alasan log target]</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Tree>
  </p:cSld>
  <p:clrMapOvr>
    <a:masterClrMapping/>
  </p:clrMapOvr>
</p:sld>
</file>

<file path=ppt/theme/theme1.xml><?xml version="1.0" encoding="utf-8"?>
<a:theme xmlns:a="http://schemas.openxmlformats.org/drawingml/2006/main" name="BISMILLAH Final v4">
  <a:themeElements>
    <a:clrScheme name="BISMILLAH Final v4">
      <a:dk1>
        <a:srgbClr val="1F2933"/>
      </a:dk1>
      <a:lt1>
        <a:srgbClr val="FFFFFF"/>
      </a:lt1>
      <a:dk2>
        <a:srgbClr val="16324F"/>
      </a:dk2>
      <a:lt2>
        <a:srgbClr val="EEF2F6"/>
      </a:lt2>
      <a:accent1>
        <a:srgbClr val="D97B29"/>
      </a:accent1>
      <a:accent2>
        <a:srgbClr val="1F7A8C"/>
      </a:accent2>
      <a:accent3>
        <a:srgbClr val="5B4A86"/>
      </a:accent3>
      <a:accent4>
        <a:srgbClr val="A7B1BD"/>
      </a:accent4>
      <a:accent5>
        <a:srgbClr val="5F6B7A"/>
      </a:accent5>
      <a:accent6>
        <a:srgbClr val="B83A3A"/>
      </a:accent6>
      <a:hlink>
        <a:srgbClr val="1F7A8C"/>
      </a:hlink>
      <a:folHlink>
        <a:srgbClr val="5B4A86"/>
      </a:folHlink>
    </a:clrScheme>
    <a:fontScheme name="BISMILLAH Final v4">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Tim BISMILLAH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DICE FEST 2026 Babak Final: Tim BISMILLAH</dc:title>
  <dc:subject>Presentasi final v4 (top-down, 9 menit 30 detik)</dc:subject>
  <dc:creator>Tim BISMILLAH</dc:creator>
  <cp:lastModifiedBy>Tim BISMILLAH</cp:lastModifiedBy>
  <cp:revision>1</cp:revision>
  <dcterms:created xsi:type="dcterms:W3CDTF">2026-10-28T08:42:58Z</dcterms:created>
  <dcterms:modified xsi:type="dcterms:W3CDTF">2026-10-28T08:42:58Z</dcterms:modified>
</cp:coreProperties>
</file>